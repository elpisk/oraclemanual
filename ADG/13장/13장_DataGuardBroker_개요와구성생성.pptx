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12장까지 직접 해 본 작업을 떠올려 보면 부담이 어디서 오는지 분명해집니다. Primary의 목적지 이름을 바꾸면 Standby의 LOG_ARCHIVE_CONFIG도 고쳐야 하고, 한쪽을 빠뜨리면 전송이 거부되는데 오류 메시지는 어느 쪽이 틀렸는지 알려 주지 않습니다. 감시도 마찬가지라 7장의 V$ 뷰를 각 인스턴스에 들어가 따로 봐야 합니다. 가장 부담이 큰 순간은 Switchover와 Failover입니다. 새벽 장애 때 절차서를 넘기며 양쪽 서버에 명령을 순서대로 입력하다 보면 한 단계를 빠뜨리기 쉽습니다.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Broker가 없어도 Data Guard는 완전하게 동작합니다. 리두 전송과 적용은 원래부터 있던 기능이고, Broker는 그 위에서 기능들을 묶어 다루는 관리 계층입니다. 실질적인 차이는 역할 전환에서 크게 납니다. SQL로는 양쪽 인스턴스에서 여러 명령을 정해진 순서로 실행하고 목적지 설정까지 손봐야 하지만, Broker에서는 SWITCHOVER TO 한 줄이 그 전부를 대신합니다. Observer가 사람 대신 Failover를 결정하는 Fast-Start Failover는 Broker 없이는 쓸 수 없는 기능이고, 16장에서 자세히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라이선스 질문이 자주 나옵니다. Broker는 Enterprise Edition에 포함된 Data Guard의 일부라서 Active Data Guard 옵션이 없어도 쓸 수 있습니다. 사용 여부는 선택이고 SQL로 관리하는 구성도 공식적으로 지원됩니다. 다만 한 구성 안에서 일부는 Broker로, 일부는 SQL로 바꾸기 시작하면 13.8절에서 보게 될 충돌이 생깁니다. 운영 현장에서는 역할 전환 자동화 때문에 대부분 Broker를 쓰고, SQL 관리는 Broker 도입 전부터 이어져 온 구성에서 주로 만납니다.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DGMGRL로 Standby에 접속해도 구성 전체를 보고 Switchover까지 지시할 수 있습니다. 구성 정보가 클라이언트에 있지 않고 각 멤버의 DMON이 들고 있기 때문입니다. 덕분에 Primary 서버가 장애로 접속되지 않을 때도 살아 있는 Standby에 붙어서 Failover를 지시하는 운영이 가능합니다. EM Cloud Control은 같은 작업을 화면으로 제공합니다. 이 과정은 EM 설치를 전제할 수 없어서 DGMGRL로 실습하는데, EM의 버튼 하나하나가 DGMGRL 명령에 대응하므로 명령 체계를 알면 화면도 금방 읽힙니다.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DGMGRL에서 명령을 내리면 접속한 인스턴스의 DMON이 먼저 받습니다. 로컬에서 처리할 부분은 직접 하고, 나머지는 다른 사이트의 DMON에게 넘겨 진행합니다. SGA에서 쓰는 메모리는 사이트당 수십 KB 정도라 부담은 거의 없습니다. 실제로 SQL을 실행하는 일은 RSM0, 다른 사이트와의 네트워크 통신은 NSV 프로세스가 맡는데, 12.2 이후에는 V$DATAGUARD_PROCESS에서 이 프로세스들이 역할 이름과 함께 보입니다. 7장에서 MRP와 RFS를 보던 그 뷰라서 따로 외울 것이 많지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구성 파일은 Broker의 기억 장치입니다. 어떤 멤버가 구성에 있고 각자 어떤 속성과 의도한 상태를 갖는지가 여기에 들어 있습니다. 두 벌을 두는 이유는 갱신 도중 문제가 생겨도 직전의 정상 구성을 남겨 두기 위해서입니다. 파일은 구성을 처음 만들 때 생기므로 Broker를 켜기만 한 단계에서는 보이지 않습니다. RAC에서는 모든 인스턴스가 같은 파일을 봐야 하므로 ASM 같은 공유 위치로 지정해야 하고, 읽기 전용 Oracle Home 설치에서는 dbs 위치가 달라지니 경로는 SHOW PARAMETER로 확인하는 습관을 들이는 편이 좋습니다.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DG_BROKER_START는 재기동 없이 바뀌는 동적 파라미터입니다. 한쪽만 켜면 다른 멤버의 DMON이 없어 구성 추가나 활성화에서 실패하므로 Far Sync까지 모든 멤버에서 켜야 합니다. 켜는 것만으로는 파라미터가 하나도 바뀌지 않아 운영 시간에 해도 안전합니다. Broker 명령이 실패했을 때 DGMGRL 화면에는 ORA 번호 하나만 남는 경우가 많은데, 어느 멤버의 어느 단계에서 실패했는지는 drc 로그에 시간순으로 기록됩니다. Primary와 대상 멤버의 로그를 나란히 놓고 보면 원인이 대부분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DGMGRL 명령은 모두 동사와 객체의 조합입니다. CONFIGURATION, DATABASE, FAR_SYNC, INSTANCE라는 객체 이름에 ADD, EDIT, ENABLE, REMOVE 같은 동사가 붙습니다. 이 구조를 알면 처음 보는 명령도 무엇을 대상으로 하는지 짐작할 수 있습니다. 구성 이름은 마음대로 지어도 되지만 멤버 이름은 반드시 DB_UNIQUE_NAME과 같아야 합니다. 인스턴스 객체는 RAC에서 의미가 있고, 이 과정의 단일 인스턴스 구성에서는 데이터베이스와 인스턴스가 일대일이라 따로 다룰 일이 거의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CONFIGURATION 출력에서 boston이 chicago 아래로 들여쓰기돼 있다면 boston이 chicago에게서 리두를 받는 관계입니다. Far Sync를 사이에 두면 한 단계가 더 들어가서 경로가 그림처럼 보입니다. 별도로 정하지 않으면 Primary가 모든 목적지에 직접 보내는데, 10장에서 Far Sync를 구성할 때 쓴 RedoRoutes 속성으로 이 경로를 바꿉니다. 규칙 안에 SYNC나 ASYNC를 적으면 받는 멤버의 LogXptMode 값보다 그쪽이 우선합니다. 출력의 나머지 부분을 읽는 법은 14장에서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7장에서는 Standby를 재기동하면 적용을 다시 켜는 명령을 따로 내야 했습니다. Broker 구성에서는 그럴 필요가 없습니다. Broker가 boston의 의도한 상태를 APPLY-ON으로 기억하고 있어서, 인스턴스가 올라오면 그 상태에 맞춰 적용을 기동합니다. 반대로 실제 상태가 의도와 다르면 경고를 띄웁니다. 적용을 SQL로 멈추면 Broker 입장에서는 원하는 상태가 깨진 것이므로 Standby에 경고나 오류가 표시됩니다. 실습 7에서 재기동 뒤 Broker가 적용을 다시 띄우는 장면을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SPFILE 조건이 가장 자주 걸립니다. Broker는 속성을 바꿀 때 구성 파일, SPFILE, 메모리를 함께 고치는데, PFILE로 기동한 인스턴스에는 영구 기록할 곳이 없습니다. SPFILE에 남은 Broker 설정은 나중에 Broker를 꺼도 그대로 남아 Data Guard가 계속 동작하게 해 줍니다. Broker는 꺼진 인스턴스를 처음부터 띄우지 못하므로 구성에 넣을 멤버는 최소한 MOUNT 상태여야 합니다. COMPATIBLE은 19c 신기능을 쓰고 싶을 때 올리는 값이고 Broker 사용 자체의 필수 조건은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평소에는 이 서비스가 없어도 아무 문제가 드러나지 않습니다. 문제는 첫 Switchover에서 나타납니다. Broker는 역할을 바꾸는 도중 옛 Primary를 내렸다가 다시 올려야 하는데, 인스턴스가 꺼진 순간에는 동적으로 등록된 서비스가 리스너에서 사라집니다. 정적으로 등록된 _DGMGRL 서비스가 있어야 꺼진 인스턴스에 SYSDBA로 붙어 STARTUP을 보낼 수 있습니다. 등록 형식은 3장에서 다뤘습니다. Oracle Restart나 Clusterware가 있는 환경은 클러스터웨어로 기동할 수 있어 의존이 줄지만, 이 과정 구성에서는 필수입니다.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ORA-16698 메시지를 잘 읽어 보면 값이 틀렸다는 말은 없고, SERVICE 목적지가 설정돼 있다는 사실만 지적합니다. Broker는 원격 목적지를 자기 속성으로 다시 만들어 쓰므로 사람이 적어 둔 값과 공존할 수 없습니다. 둘이 같이 있으면 역할이 바뀌는 순간 어느 쪽이 기준인지 정할 수 없게 됩니다. 정리할 때는 Primary와 Standby 양쪽의 원격 목적지만 비우고 로컬 아카이브 목적지는 건드리지 않습니다. 비운 순간부터 활성화까지 전송이 멈추므로 운영 구성이라면 작업 시간대를 잡아 두는 편이 안전합니다.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DGMGRL은 SQL*Plus처럼 AS SYSDBA를 붙이지 않습니다. SYSDG 권한으로 먼저 접속을 시도하고 실패하면 SYSDBA로 다시 시도합니다. SYSDG는 Data Guard 관리에 필요한 작업만 허용하고 업무 데이터 조회 권한은 주지 않아서, 운영 환경에서는 SYS 대신 SYSDG만 가진 관리 계정을 두는 방식이 권장됩니다. 접속 직후의 오류 번호는 진행 상황을 알려 주는 신호로 쓰입니다. ORA-16525는 Broker가 아직 켜지지 않은 상태, ORA-16532는 켜졌지만 구성이 없는 상태라서 16532로 바뀌었다면 한 단계 나아간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 식별자 확인을 tnsping으로 끝내는 경우가 많은데, tnsping은 리스너까지 닿는지만 봅니다. 비밀번호 파일이 어긋나 있으면 tnsping은 성공해도 Broker 통신은 실패합니다. 각 서버에서 상대 쪽으로 sqlplus sys@boston as sysdba 접속까지 해 봐야 확인이 끝납니다. 이 점검을 건너뛰면 ENABLE 단계에서 ORA 번호 하나만 남기고 실패하고, 그때부터는 drc 로그와 양쪽 알림 로그를 거꾸로 뒤져야 합니다. 다섯 항목을 멤버마다 표로 만들어 체크하는 방식이 실습에서도 운영에서도 가장 빠릅니다.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명령은 CREATE CONFIGURATION 'dg_chicago' AS PRIMARY DATABASE IS 'chicago' CONNECT IDENTIFIER IS chicago 형태입니다. 세 이름이 서로 다른 것을 가리킨다는 데서 혼동이 생깁니다. 첫 번째는 관리자가 정하는 구성 이름, 두 번째는 Primary의 DB_UNIQUE_NAME, 세 번째는 다른 멤버들이 이 데이터베이스에 접속할 때 쓰는 연결 식별자입니다. 예제에서는 셋이 비슷해 보이지만 운영 환경에서는 서비스 이름과 DB_UNIQUE_NAME이 다른 경우가 흔합니다. 만든 직후의 구성은 아직 비활성이라 파라미터는 하나도 바뀌지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CONNECT IDENTIFIER 절은 문법상 생략할 수 있습니다. 생략하면 Broker가 Primary의 LOG_ARCHIVE_DEST_n에서 해당 Standby를 가리키는 항목을 찾는데, 12.1부터는 그 목적지를 미리 비워야 하니 찾을 것이 없습니다. 실제로는 항상 적는 절이라고 보면 됩니다. 식별자는 모든 멤버에서 같은 대상으로 해석돼야 하며, Primary 서버에서만 통하는 별칭을 쓰면 역할 전환 뒤에 문제가 됩니다. 추가 직후 보이는 ORA-16905는 활성화 전 멤버에 붙는 안내라 조치할 것이 없고, 예전 버전처럼 MAINTAINED AS PHYSICAL을 붙일 필요도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ENABLE CONFIGURATION은 금방 돌아오지만 실제 처리는 그 뒤에 이어집니다. Broker가 각 멤버에 목적지를 쓰고 적용을 기동하고 상태를 점검하는 데 시간이 걸려서, 직후의 SHOW CONFIGURATION에 잠깐 경고가 보였다가 SUCCESS로 바뀌는 일이 흔합니다. 한 번 보고 판단하지 말고 잠시 뒤에 다시 확인합니다. 경고가 계속 남으면 표시된 ORA 번호와 drc 로그를 단서로 원인을 찾습니다. Standby에 SRL이 준비돼 있으면 Broker는 실시간 적용으로 기동하므로, 7장에서 손으로 하던 기동 명령을 따로 낼 필요가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활성화 직후 파라미터를 조회하면 목적지 문자열이 훨씬 길어진 것을 보게 됩니다. delay=0, reopen=300, net_timeout=30처럼 기본값까지 적혀 있는데, 속성 하나가 문자열 한 조각에 대응하기 때문에 바꿀 자리를 미리 만들어 둔 것입니다. VALID_FOR가 ALL_ROLES로 바뀐 것도 의미가 있습니다. 역할이 바뀌어도 같은 문자열을 쓸 수 있으니 Switchover 때 사람이 목적지를 고칠 필요가 없어집니다. Primary의 FAL_SERVER가 비어 있어도 Broker가 구성 정보로 갭 해소 대상을 알고 있어서 기능이 사라진 것은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이관 작업에서 미리 할 수 있는 일은 최대한 전날로 옮깁니다. 전제 조건 점검과 DG_BROKER_START는 기존 동작에 영향이 없으니 전날 끝내 둡니다. 당일에는 기존 목적지 문자열과 LOG_ARCHIVE_CONFIG, FAL_SERVER 값을 먼저 기록해 두는데, 되돌려야 할 때 이 기록이 없으면 SQL 구성을 다시 짜 맞추기 어렵습니다. 전송이 멈추는 구간은 원격 목적지를 비운 순간부터 활성화까지라서 명령을 미리 준비해 두고 연달아 실행합니다. 끝나면 운영 스크립트 중 SQL로 적용을 켜고 끄던 부분을 DGMGRL 명령으로 바꿔 둡니다.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Broker 구성에서 설정을 바꾸는 단위는 속성입니다. 속성은 세 부류로 나뉩니다. 구성 전체에 하나씩 있는 구성 속성, 멤버마다 값을 갖는 설정 속성, 그리고 읽기만 하는 상태 속성입니다. 진단할 때 이 구분이 쓸모가 있습니다. 설정 속성은 원하는 모습을, 상태 속성은 현재 모습을 보여 주니 둘이 어긋나는 곳이 문제의 위치입니다. 멤버의 전체 속성은 SHOW DATABASE VERBOSE로, 특정 속성 하나는 SHOW DATABASE 'boston' 'LogXptMode'처럼 이름을 붙여 조회합니다.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EDIT 명령은 대상 객체 이름만 바꿔 같은 형식으로 씁니다. 예를 들어 EDIT DATABASE 'boston' SET PROPERTY 'NetTimeout'=60처럼 씁니다. 속성을 바꾸면 Broker가 구성 파일과 SPFILE, 메모리 값을 한꺼번에 맞추므로 각 인스턴스에 들어가 ALTER SYSTEM을 따로 낼 일이 없습니다. 구성이 비활성일 때도 값은 바뀌는데, 이때 Broker는 검증 없이 저장만 해 두었다가 활성화하는 순간 파라미터에 반영합니다. 오래 비활성화해 둔 구성을 다시 켤 때 예상하지 못한 값이 적용되는 원인이 여기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2장에서 LOG_ARCHIVE_DEST_n에 적던 속성들이 여기서는 이름 있는 Broker 속성으로 바뀌었습니다. 설정 위치는 리두를 받는 쪽입니다. boston으로 가는 전송을 SYNC로 바꾸려면 Primary의 속성을 찾을 것 없이 boston의 LogXptMode를 바꿉니다. chicago에도 값을 미리 정해 두면 Switchover 뒤 chicago가 Standby가 됐을 때 새 Primary가 그 값으로 목적지를 만듭니다. 두 Threshold 속성은 대응하는 파라미터가 없는 Broker 고유 속성으로, 지연이 기준을 넘으면 경고 상태로 판정하게 합니다. RedoCompression으로 압축을 켜려면 Advanced Compression 옵션이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값의 차이는 Standby가 언제 확인 응답을 보내느냐에 있습니다. ASYNC는 커밋이 응답을 기다리지 않고, SYNC는 Standby가 SRL에 기록한 뒤 응답합니다. FASTSYNC는 그 중간이라 받은 직후, 디스크에 쓰기 전에 응답해서 커밋 지연이 줄어듭니다. 대신 Primary와 Standby가 동시에 장애를 겪으면 Standby 메모리에만 있던 리두를 잃을 수 있습니다. 이 위험 때문에 MaxProtection은 SYNC만 허용합니다. 어느 모드든 Standby에 SRL이 있어야 하고, 없으면 실시간 적용도 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19c에서는 초기화 파라미터 하나와 일대일로 대응하던 속성 아홉 개가 디프리케이트됐습니다. 이 속성들은 더는 구성 파일에 저장되지 않고, 대신 DGMGRL에서 파라미터를 직접 바꾸는 SET PARAMETER 명령을 씁니다. 예를 들어 EDIT DATABASE 'boston' SET PARAMETER log_archive_trace=1처럼 쓰며, SCOPE와 SID 옵션은 작은따옴표 안에 적습니다. 이 명령은 대상 인스턴스에 즉시 적용되고 구성 파일에는 남지 않습니다. Standby 서버에 따로 로그인하지 않고도 DGMGRL 한 곳에서 파라미터를 고칠 수 있다는 것이 실무상 장점입니다.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공식 교재가 꼽는 Broker 관리 대상은 전송과 아카이브에 관련된 파라미터 대부분입니다. 목록에는 SQL 문장도 하나 들어 있습니다. 적용을 켜고 끄는 RECOVER MANAGED STANDBY DATABASE도 Broker가 관리하므로, Broker 구성에서 이 명령을 SQL로 내면 의도한 상태와 실제 상태가 어긋납니다. 반면 SGA_TARGET이나 DB_RECOVERY_FILE_DEST_SIZE처럼 Data Guard와 무관한 파라미터는 Broker가 관여하지 않아 지금처럼 SQL로 바꿔도 됩니다.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Broker는 SQL을 가로채지 않아서 ALTER SYSTEM은 아무 문제 없이 성공합니다. 그 순간부터 Broker가 기억하는 값과 인스턴스가 쓰는 값이 달라집니다. 이 차이가 SHOW CONFIGURATION이나 InconsistentProperties에 곧바로 나타난다고 기대하면 안 됩니다. 실습 6에서도 한동안 SUCCESS가 유지됩니다. 문제는 Broker가 속성을 다시 적용할 때 드러납니다. 장애 대응 중 SQL로 NET_TIMEOUT을 늘려 두었다면 며칠 뒤 다른 속성을 바꾸는 순간 원래 값으로 돌아가고, 그 사실을 아무도 알아채지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목적지 문자열이 Broker 형식과 다르게 바뀐 것을 발견하면, 해당 멤버의 LogXptMode를 현재 값 그대로 다시 설정하는 방법이 있습니다. 값이 같아도 Broker는 문자열 전체를 다시 만들기 때문에 Broker 형식이 돌아옵니다. 다만 SQL로 바꾼 값이 실제로 필요한 변경이었다면 순서에 주의합니다. 그 값을 대응하는 속성에 먼저 넣은 뒤에 다시 쓰게 해야 필요한 변경까지 지워지지 않습니다. 어떤 파라미터가 관리 대상인지 애매하면 SHOW DATABASE VERBOSE에서 대응 속성이 있는지부터 찾습니다.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APPLY-OFF와 SQL의 CANCEL은 결과적으로 MRP를 내린다는 점에서 같아 보이지만 Broker의 판단은 정반대입니다. APPLY-OFF는 의도한 상태 자체를 바꾸므로 Broker는 적용이 멈춘 것을 정상으로 보고 SUCCESS를 유지하며, 재기동해도 적용을 켜지 않습니다. SQL로 멈추면 의도는 여전히 APPLY-ON이라 경고가 뜹니다. TRANSPORT-OFF는 모든 Standby로의 전송을 멈추므로 범위가 넓습니다. Standby 하나만 멈추려면 그 멤버의 LogShipping을 OFF로 두는 편이 낫고, 멈춘 동안 Primary를 잃으면 보내지 못한 리두는 복구할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열린 상태의 Standby에 APPLY-OFF를 주면 데이터베이스는 READ ONLY로 남고, 다시 APPLY-ON을 주면 열린 채로 적용이 재개돼 READ ONLY WITH APPLY가 됩니다. 7장에서 SQL로 할 때 만났던 열기와 적용 순서 문제를 Broker가 알아서 처리해 줍니다. 이 상태는 9장에서 다룬 실시간 조회라 Active Data Guard 옵션 라이선스가 있어야 합니다. 마운트 상태에서 적용만 하는 Standby는 기본 기능입니다. APPLY-OFF는 재기동 뒤에도 유지되므로 작업 종료 체크리스트에 APPLY-ON 복구를 넣어 두어야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MaxAvailability를 지탱하려면 SYNC나 FASTSYNC로 리두를 받는 Standby가 적어도 하나 있어야 합니다. 이 조건 없이 보호 모드부터 올리면 Broker가 ORA-16627로 거부합니다. SQL로 할 때는 조건이 맞지 않는 모드가 설정된 채 남을 수 있었는데, Broker는 미리 확인해서 막아 주는 셈입니다. Primary인 chicago에도 LogXptMode를 정해 두는 이유는 역할 전환 대비입니다. Switchover 뒤 chicago가 Standby가 되면 새 Primary가 그 값으로 전송하므로 보호 모드가 그대로 유지됩니다.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올릴 때와 내릴 때의 순서가 반대인 이유는 같습니다. 보호 모드가 요구하는 전송 방식이 없는 순간이 생기지 않게 하려는 것입니다. 변경 뒤에는 SHOW CONFIGURATION의 Protection Mode와 Primary의 V$DATABASE.PROTECTION_LEVEL을 함께 봅니다. 모드는 바뀌었는데 레벨이 따라오지 않았다면 동기 전송이 실제로는 성립하지 않은 상태입니다. SYNC는 커밋마다 네트워크 왕복 시간을 더하므로, 바꾼 뒤 업무 부하에서 커밋 응답 시간을 다시 재 보고 원거리라면 10장의 Far Sync를 고려합니다.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비활성화는 유지 보수나 시험 중에 Broker가 끼어들지 않게 할 때 씁니다. 비활성화해도 Data Guard 자체는 멈추지 않습니다. SPFILE에 남은 목적지로 전송이 계속되고 기동돼 있던 적용도 그대로 돕니다. Primary는 멤버 단위로 비활성화할 수 없어 DISABLE CONFIGURATION으로 구성 전체를 내려야 합니다. 구성 파일 위치를 바꾸려면 비활성화, DG_BROKER_START=FALSE, 경로 변경, 다시 켜기 순서로 진행합니다. 비활성 상태에서 바꾼 속성은 검증 없이 저장됐다가 활성화 때 반영되니 다시 켜기 전에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REMOVE를 기본 형태로 실행하면 Broker가 만들었던 LOG_ARCHIVE_DEST_n과 LOG_ARCHIVE_CONFIG도 함께 지워져 그 순간 전송이 멈춥니다. SQL 관리로 돌아갈 계획이라면 PRESERVE DESTINATIONS를 붙여 목적지를 남기는 것이 안전합니다. 이 옵션은 Broker에게 목적지 설정을 만들게 한 뒤 Broker만 걷어 내는 용도로도 쓰입니다. 반대로 같은 데이터베이스로 구성을 다시 만들 때는 남겨 둔 목적지가 ORA-16698의 원인이 되므로 다시 비워야 합니다. Fast-Start Failover를 쓰고 있다면 먼저 꺼야 제거가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구성 파일은 데이터베이스 백업과 별개입니다. RMAN이 구성 파일을 백업하지 않으므로 구성을 크게 바꾸거나 지우기 전에는 EXPORT CONFIGURATION으로 메타데이터를 남겨 둡니다. 파일은 접속한 인스턴스의 trace 디렉터리에 생기고 위치를 지정할 수 없습니다. trace 디렉터리는 ADR 정리 정책에 따라 비워질 수 있으니 만든 뒤 다른 곳으로 복사해 둡니다. 공식 교재는 소프트웨어를 이전 버전으로 내린 뒤 구성을 처음부터 만들지 않고 복원하는 용도를 대표 사례로 듭니다. SHOW DATABASE VERBOSE 출력도 함께 보관하면 비교가 쉽습니다.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주의점은 대부분 평소에는 드러나지 않다가 역할 전환이나 재기동 때 터진다는 공통점이 있습니다. 정적 서비스가 빠져도, 한 서버의 tnsnames 별칭만 바뀌어도, DG_BROKER_START를 메모리에만 켜 두어도 평상시 SHOW CONFIGURATION은 SUCCESS입니다. 문제는 첫 Switchover나 다음 재기동에서 나타납니다. 리스너나 tnsnames를 손댈 때마다 Broker 관련 항목을 함께 확인하는 절차를 만들어 둡니다. Broker 도입 직후에는 야간 배치나 모니터링 스크립트에 남은 SQL 적용 제어를 찾아 DGMGRL 명령으로 바꿉니다.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Database 19c Active Data Guard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Data Guard Broker 개요와 구성 생성</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흩어진 파라미터를 하나의 구성으로 묶는다</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제13장</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Broker가 덜어 주는 관리 부담을 설명한다</a:t>
            </a:r>
          </a:p>
          <a:p>
            <a:pPr algn="l">
              <a:spcAft>
                <a:spcPts val="1000"/>
              </a:spcAft>
            </a:pPr>
            <a:r>
              <a:rPr sz="1600" b="0">
                <a:solidFill>
                  <a:srgbClr val="222222"/>
                </a:solidFill>
                <a:latin typeface="맑은 고딕"/>
              </a:rPr>
              <a:t>•  DMON, 구성 파일, DG_BROKER_START의 역할을 구분한다</a:t>
            </a:r>
          </a:p>
          <a:p>
            <a:pPr algn="l">
              <a:spcAft>
                <a:spcPts val="1000"/>
              </a:spcAft>
            </a:pPr>
            <a:r>
              <a:rPr sz="1600" b="0">
                <a:solidFill>
                  <a:srgbClr val="222222"/>
                </a:solidFill>
                <a:latin typeface="맑은 고딕"/>
              </a:rPr>
              <a:t>•  구성·멤버·인스턴스 객체 모델을 명령과 연결한다</a:t>
            </a:r>
          </a:p>
          <a:p>
            <a:pPr algn="l">
              <a:spcAft>
                <a:spcPts val="1000"/>
              </a:spcAft>
            </a:pPr>
            <a:r>
              <a:rPr sz="1600" b="0">
                <a:solidFill>
                  <a:srgbClr val="222222"/>
                </a:solidFill>
                <a:latin typeface="맑은 고딕"/>
              </a:rPr>
              <a:t>•  _DGMGRL 정적 서비스와 전제 조건을 점검한다</a:t>
            </a:r>
          </a:p>
          <a:p>
            <a:pPr algn="l">
              <a:spcAft>
                <a:spcPts val="1000"/>
              </a:spcAft>
            </a:pPr>
            <a:r>
              <a:rPr sz="1600" b="0">
                <a:solidFill>
                  <a:srgbClr val="222222"/>
                </a:solidFill>
                <a:latin typeface="맑은 고딕"/>
              </a:rPr>
              <a:t>•  구성을 만들고 속성·상태·보호 모드를 바꾼다</a:t>
            </a:r>
          </a:p>
          <a:p>
            <a:pPr algn="l">
              <a:spcAft>
                <a:spcPts val="1000"/>
              </a:spcAft>
            </a:pPr>
            <a:r>
              <a:rPr sz="1600" b="0">
                <a:solidFill>
                  <a:srgbClr val="222222"/>
                </a:solidFill>
                <a:latin typeface="맑은 고딕"/>
              </a:rPr>
              <a:t>•  SQL 변경의 충돌을 이해하고 구성을 제거한다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13.2  Broker가 해결하는 문제  /  13.3  Broker 아키텍처</a:t>
            </a:r>
          </a:p>
          <a:p>
            <a:pPr algn="l">
              <a:spcAft>
                <a:spcPts val="1000"/>
              </a:spcAft>
            </a:pPr>
            <a:r>
              <a:rPr sz="1600" b="0">
                <a:solidFill>
                  <a:srgbClr val="222222"/>
                </a:solidFill>
                <a:latin typeface="맑은 고딕"/>
              </a:rPr>
              <a:t>•  13.4  구성 객체 모델  /  13.5  구성 생성 전제 조건</a:t>
            </a:r>
          </a:p>
          <a:p>
            <a:pPr algn="l">
              <a:spcAft>
                <a:spcPts val="1000"/>
              </a:spcAft>
            </a:pPr>
            <a:r>
              <a:rPr sz="1600" b="0">
                <a:solidFill>
                  <a:srgbClr val="222222"/>
                </a:solidFill>
                <a:latin typeface="맑은 고딕"/>
              </a:rPr>
              <a:t>•  13.6  구성 생성 절차</a:t>
            </a:r>
          </a:p>
          <a:p>
            <a:pPr algn="l">
              <a:spcAft>
                <a:spcPts val="1000"/>
              </a:spcAft>
            </a:pPr>
            <a:r>
              <a:rPr sz="1600" b="0">
                <a:solidFill>
                  <a:srgbClr val="222222"/>
                </a:solidFill>
                <a:latin typeface="맑은 고딕"/>
              </a:rPr>
              <a:t>•  13.7  속성과 EDIT 명령</a:t>
            </a:r>
          </a:p>
          <a:p>
            <a:pPr algn="l">
              <a:spcAft>
                <a:spcPts val="1000"/>
              </a:spcAft>
            </a:pPr>
            <a:r>
              <a:rPr sz="1600" b="0">
                <a:solidFill>
                  <a:srgbClr val="222222"/>
                </a:solidFill>
                <a:latin typeface="맑은 고딕"/>
              </a:rPr>
              <a:t>•  13.8  Broker 관리 파라미터와 SQL 충돌</a:t>
            </a:r>
          </a:p>
          <a:p>
            <a:pPr algn="l">
              <a:spcAft>
                <a:spcPts val="1000"/>
              </a:spcAft>
            </a:pPr>
            <a:r>
              <a:rPr sz="1600" b="0">
                <a:solidFill>
                  <a:srgbClr val="222222"/>
                </a:solidFill>
                <a:latin typeface="맑은 고딕"/>
              </a:rPr>
              <a:t>•  13.9  상태 전환과 보호 모드  /  13.10  비활성화와 제거  /  13.11  운영 시 주의점</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13.2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Broker가 해결하는 문제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SQL만으로 관리할 때의 부담</a:t>
            </a:r>
          </a:p>
          <a:p>
            <a:pPr algn="l">
              <a:spcAft>
                <a:spcPts val="800"/>
              </a:spcAft>
            </a:pPr>
            <a:r>
              <a:rPr sz="1600" b="0">
                <a:solidFill>
                  <a:srgbClr val="FFFFFF"/>
                </a:solidFill>
                <a:latin typeface="맑은 고딕"/>
              </a:rPr>
              <a:t>•  Broker가 대신 맡는 일</a:t>
            </a:r>
          </a:p>
          <a:p>
            <a:pPr algn="l">
              <a:spcAft>
                <a:spcPts val="800"/>
              </a:spcAft>
            </a:pPr>
            <a:r>
              <a:rPr sz="1600" b="0">
                <a:solidFill>
                  <a:srgbClr val="FFFFFF"/>
                </a:solidFill>
                <a:latin typeface="맑은 고딕"/>
              </a:rPr>
              <a:t>•  Broker 유무에 따른 비교</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SQL만으로 관리할 때의 부담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설정은 여러 인스턴스의 파라미터에 흩어져 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전송은 Primary의 LOG_ARCHIVE_DEST_n에</a:t>
            </a:r>
          </a:p>
          <a:p>
            <a:pPr algn="l">
              <a:spcAft>
                <a:spcPts val="1000"/>
              </a:spcAft>
            </a:pPr>
            <a:r>
              <a:rPr sz="1700" b="0">
                <a:solidFill>
                  <a:srgbClr val="222222"/>
                </a:solidFill>
                <a:latin typeface="맑은 고딕"/>
              </a:rPr>
              <a:t>•  갭 해소 대상은 Standby의 FAL_SERVER에</a:t>
            </a:r>
          </a:p>
          <a:p>
            <a:pPr algn="l">
              <a:spcAft>
                <a:spcPts val="1000"/>
              </a:spcAft>
            </a:pPr>
            <a:r>
              <a:rPr sz="1700" b="0">
                <a:solidFill>
                  <a:srgbClr val="222222"/>
                </a:solidFill>
                <a:latin typeface="맑은 고딕"/>
              </a:rPr>
              <a:t>•  짝이 맞지 않으면 사람이 양쪽을 비교해야 한다</a:t>
            </a:r>
          </a:p>
          <a:p>
            <a:pPr algn="l">
              <a:spcAft>
                <a:spcPts val="1000"/>
              </a:spcAft>
            </a:pPr>
            <a:r>
              <a:rPr sz="1700" b="0">
                <a:solidFill>
                  <a:srgbClr val="222222"/>
                </a:solidFill>
                <a:latin typeface="맑은 고딕"/>
              </a:rPr>
              <a:t>•  감시도 인스턴스마다 따로 조회</a:t>
            </a:r>
          </a:p>
          <a:p>
            <a:pPr algn="l">
              <a:spcAft>
                <a:spcPts val="1000"/>
              </a:spcAft>
            </a:pPr>
            <a:r>
              <a:rPr sz="1700" b="0">
                <a:solidFill>
                  <a:srgbClr val="222222"/>
                </a:solidFill>
                <a:latin typeface="맑은 고딕"/>
              </a:rPr>
              <a:t>•  역할 전환은 순서가 정해진 SQL 여러 개</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Broker가 대신 맡는 일</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새 기능을 더하기보다 다루는 방식을 바꾼다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구성 생성과 Standby·Far Sync 추가 자동화</a:t>
            </a:r>
          </a:p>
          <a:p>
            <a:pPr algn="l">
              <a:spcAft>
                <a:spcPts val="1000"/>
              </a:spcAft>
            </a:pPr>
            <a:r>
              <a:rPr sz="1700" b="0">
                <a:solidFill>
                  <a:srgbClr val="222222"/>
                </a:solidFill>
                <a:latin typeface="맑은 고딕"/>
              </a:rPr>
              <a:t>•  아무 멤버에 접속해도 구성 전체를 관리</a:t>
            </a:r>
          </a:p>
          <a:p>
            <a:pPr algn="l">
              <a:spcAft>
                <a:spcPts val="1000"/>
              </a:spcAft>
            </a:pPr>
            <a:r>
              <a:rPr sz="1700" b="0">
                <a:solidFill>
                  <a:srgbClr val="222222"/>
                </a:solidFill>
                <a:latin typeface="맑은 고딕"/>
              </a:rPr>
              <a:t>•  DMON이 상태를 계속 감시하고 통계 수집</a:t>
            </a:r>
          </a:p>
          <a:p>
            <a:pPr algn="l">
              <a:spcAft>
                <a:spcPts val="1000"/>
              </a:spcAft>
            </a:pPr>
            <a:r>
              <a:rPr sz="1700" b="0">
                <a:solidFill>
                  <a:srgbClr val="222222"/>
                </a:solidFill>
                <a:latin typeface="맑은 고딕"/>
              </a:rPr>
              <a:t>•  SWITCHOVER, FAILOVER 명령 한 줄</a:t>
            </a:r>
          </a:p>
          <a:p>
            <a:pPr algn="l">
              <a:spcAft>
                <a:spcPts val="1000"/>
              </a:spcAft>
            </a:pPr>
            <a:r>
              <a:rPr sz="1700" b="0">
                <a:solidFill>
                  <a:srgbClr val="222222"/>
                </a:solidFill>
                <a:latin typeface="맑은 고딕"/>
              </a:rPr>
              <a:t>•  Fast-Start Failover는 Broker가 전제</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Broker 유무에 따른 관리 방식</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EE 기본 기능, ADG 옵션 불필요</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관리 단위: 데이터베이스별 → 구성 전체</a:t>
            </a:r>
          </a:p>
          <a:p>
            <a:pPr algn="l">
              <a:spcAft>
                <a:spcPts val="1000"/>
              </a:spcAft>
            </a:pPr>
            <a:r>
              <a:rPr sz="1700" b="0">
                <a:solidFill>
                  <a:srgbClr val="222222"/>
                </a:solidFill>
                <a:latin typeface="맑은 고딕"/>
              </a:rPr>
              <a:t>•  전송·적용 설정: 파라미터 → 속성</a:t>
            </a:r>
          </a:p>
          <a:p>
            <a:pPr algn="l">
              <a:spcAft>
                <a:spcPts val="1000"/>
              </a:spcAft>
            </a:pPr>
            <a:r>
              <a:rPr sz="1700" b="0">
                <a:solidFill>
                  <a:srgbClr val="222222"/>
                </a:solidFill>
                <a:latin typeface="맑은 고딕"/>
              </a:rPr>
              <a:t>•  감시: 인스턴스별 V$ 뷰 → 구성 단위 상태</a:t>
            </a:r>
          </a:p>
          <a:p>
            <a:pPr algn="l">
              <a:spcAft>
                <a:spcPts val="1000"/>
              </a:spcAft>
            </a:pPr>
            <a:r>
              <a:rPr sz="1700" b="0">
                <a:solidFill>
                  <a:srgbClr val="222222"/>
                </a:solidFill>
                <a:latin typeface="맑은 고딕"/>
              </a:rPr>
              <a:t>•  역할 전환: 여러 사이트의 명령 → 명령 하나</a:t>
            </a:r>
          </a:p>
          <a:p>
            <a:pPr algn="l">
              <a:spcAft>
                <a:spcPts val="1000"/>
              </a:spcAft>
            </a:pPr>
            <a:r>
              <a:rPr sz="1700" b="0">
                <a:solidFill>
                  <a:srgbClr val="222222"/>
                </a:solidFill>
                <a:latin typeface="맑은 고딕"/>
              </a:rPr>
              <a:t>•  사용은 선택, 단 한 구성에서 섞어 쓰지 않는다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13.3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Broker 아키텍처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클라이언트: DGMGRL, EM Cloud Control</a:t>
            </a:r>
          </a:p>
          <a:p>
            <a:pPr algn="l">
              <a:spcAft>
                <a:spcPts val="800"/>
              </a:spcAft>
            </a:pPr>
            <a:r>
              <a:rPr sz="1600" b="0">
                <a:solidFill>
                  <a:srgbClr val="FFFFFF"/>
                </a:solidFill>
                <a:latin typeface="맑은 고딕"/>
              </a:rPr>
              <a:t>•  서버: DMON 프로세스와 구성 파일</a:t>
            </a:r>
          </a:p>
          <a:p>
            <a:pPr algn="l">
              <a:spcAft>
                <a:spcPts val="800"/>
              </a:spcAft>
            </a:pPr>
            <a:r>
              <a:rPr sz="1600" b="0">
                <a:solidFill>
                  <a:srgbClr val="FFFFFF"/>
                </a:solidFill>
                <a:latin typeface="맑은 고딕"/>
              </a:rPr>
              <a:t>•  DG_BROKER_START와 Broker 로그</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클라이언트 구성 요소</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명령을 전달할 뿐, 정보는 서버 쪽에 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DGMGRL: 명령행 인터페이스, 스크립트 가능</a:t>
            </a:r>
          </a:p>
          <a:p>
            <a:pPr algn="l">
              <a:spcAft>
                <a:spcPts val="1000"/>
              </a:spcAft>
            </a:pPr>
            <a:r>
              <a:rPr sz="1700" b="0">
                <a:solidFill>
                  <a:srgbClr val="222222"/>
                </a:solidFill>
                <a:latin typeface="맑은 고딕"/>
              </a:rPr>
              <a:t>•  구성의 어느 멤버에 접속해도 전체를 관리</a:t>
            </a:r>
          </a:p>
          <a:p>
            <a:pPr algn="l">
              <a:spcAft>
                <a:spcPts val="1000"/>
              </a:spcAft>
            </a:pPr>
            <a:r>
              <a:rPr sz="1700" b="0">
                <a:solidFill>
                  <a:srgbClr val="222222"/>
                </a:solidFill>
                <a:latin typeface="맑은 고딕"/>
              </a:rPr>
              <a:t>•  EM Cloud Control: 마법사, 버튼식 역할 전환</a:t>
            </a:r>
          </a:p>
          <a:p>
            <a:pPr algn="l">
              <a:spcAft>
                <a:spcPts val="1000"/>
              </a:spcAft>
            </a:pPr>
            <a:r>
              <a:rPr sz="1700" b="0">
                <a:solidFill>
                  <a:srgbClr val="222222"/>
                </a:solidFill>
                <a:latin typeface="맑은 고딕"/>
              </a:rPr>
              <a:t>•  EM은 이벤트를 메일 등으로 통지</a:t>
            </a:r>
          </a:p>
          <a:p>
            <a:pPr algn="l">
              <a:spcAft>
                <a:spcPts val="1000"/>
              </a:spcAft>
            </a:pPr>
            <a:r>
              <a:rPr sz="1700" b="0">
                <a:solidFill>
                  <a:srgbClr val="222222"/>
                </a:solidFill>
                <a:latin typeface="맑은 고딕"/>
              </a:rPr>
              <a:t>•  실습은 DGMGRL과 SQL*Plus로 진행</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DMON 프로세스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Broker가 관리하는 모든 인스턴스에 하나씩</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 Standby, Far Sync 모두에서 실행</a:t>
            </a:r>
          </a:p>
          <a:p>
            <a:pPr algn="l">
              <a:spcAft>
                <a:spcPts val="1000"/>
              </a:spcAft>
            </a:pPr>
            <a:r>
              <a:rPr sz="1700" b="0">
                <a:solidFill>
                  <a:srgbClr val="222222"/>
                </a:solidFill>
                <a:latin typeface="맑은 고딕"/>
              </a:rPr>
              <a:t>•  명령을 받아 로컬 처리, 다른 DMON과 통신</a:t>
            </a:r>
          </a:p>
          <a:p>
            <a:pPr algn="l">
              <a:spcAft>
                <a:spcPts val="1000"/>
              </a:spcAft>
            </a:pPr>
            <a:r>
              <a:rPr sz="1700" b="0">
                <a:solidFill>
                  <a:srgbClr val="222222"/>
                </a:solidFill>
                <a:latin typeface="맑은 고딕"/>
              </a:rPr>
              <a:t>•  모든 멤버의 구성 파일을 같은 내용으로 유지</a:t>
            </a:r>
          </a:p>
          <a:p>
            <a:pPr algn="l">
              <a:spcAft>
                <a:spcPts val="1000"/>
              </a:spcAft>
            </a:pPr>
            <a:r>
              <a:rPr sz="1700" b="0">
                <a:solidFill>
                  <a:srgbClr val="222222"/>
                </a:solidFill>
                <a:latin typeface="맑은 고딕"/>
              </a:rPr>
              <a:t>•  역할 전환 때 파라미터를 고쳐 쓴다</a:t>
            </a:r>
          </a:p>
          <a:p>
            <a:pPr algn="l">
              <a:spcAft>
                <a:spcPts val="1000"/>
              </a:spcAft>
            </a:pPr>
            <a:r>
              <a:rPr sz="1700" b="0">
                <a:solidFill>
                  <a:srgbClr val="222222"/>
                </a:solidFill>
                <a:latin typeface="맑은 고딕"/>
              </a:rPr>
              <a:t>•  RSM0, NSVn 등 보조 프로세스와 함께 동작</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브로커 구성 파일</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멤버마다 두 벌, 바이너리, 편집 불가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dr1&lt;db_unique_name&gt;.dat, dr2&lt;db_unique_name&gt;.dat</a:t>
            </a:r>
          </a:p>
          <a:p>
            <a:pPr algn="l">
              <a:spcAft>
                <a:spcPts val="1000"/>
              </a:spcAft>
            </a:pPr>
            <a:r>
              <a:rPr sz="1700" b="0">
                <a:solidFill>
                  <a:srgbClr val="222222"/>
                </a:solidFill>
                <a:latin typeface="맑은 고딕"/>
              </a:rPr>
              <a:t>•  기본 위치: Linux $ORACLE_HOME/dbs</a:t>
            </a:r>
          </a:p>
          <a:p>
            <a:pPr algn="l">
              <a:spcAft>
                <a:spcPts val="1000"/>
              </a:spcAft>
            </a:pPr>
            <a:r>
              <a:rPr sz="1700" b="0">
                <a:solidFill>
                  <a:srgbClr val="222222"/>
                </a:solidFill>
                <a:latin typeface="맑은 고딕"/>
              </a:rPr>
              <a:t>•  멤버 목록, 역할, 속성, 의도한 상태를 기록</a:t>
            </a:r>
          </a:p>
          <a:p>
            <a:pPr algn="l">
              <a:spcAft>
                <a:spcPts val="1000"/>
              </a:spcAft>
            </a:pPr>
            <a:r>
              <a:rPr sz="1700" b="0">
                <a:solidFill>
                  <a:srgbClr val="222222"/>
                </a:solidFill>
                <a:latin typeface="맑은 고딕"/>
              </a:rPr>
              <a:t>•  두 벌인 이유: 마지막 유효 상태 보존</a:t>
            </a:r>
          </a:p>
          <a:p>
            <a:pPr algn="l">
              <a:spcAft>
                <a:spcPts val="1000"/>
              </a:spcAft>
            </a:pPr>
            <a:r>
              <a:rPr sz="1700" b="0">
                <a:solidFill>
                  <a:srgbClr val="222222"/>
                </a:solidFill>
                <a:latin typeface="맑은 고딕"/>
              </a:rPr>
              <a:t>•  RAC는 DG_BROKER_CONFIG_FILEn을 공유 위치로</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DG_BROKER_START와 Broker 로그</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켜기만 해서는 아무것도 바뀌지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동적 파라미터, SCOPE=BOTH로 모든 멤버에서</a:t>
            </a:r>
          </a:p>
          <a:p>
            <a:pPr algn="l">
              <a:spcAft>
                <a:spcPts val="1000"/>
              </a:spcAft>
            </a:pPr>
            <a:r>
              <a:rPr sz="1700" b="0">
                <a:solidFill>
                  <a:srgbClr val="222222"/>
                </a:solidFill>
                <a:latin typeface="맑은 고딕"/>
              </a:rPr>
              <a:t>•  TRUE로 바꾸면 DMON 기동</a:t>
            </a:r>
          </a:p>
          <a:p>
            <a:pPr algn="l">
              <a:spcAft>
                <a:spcPts val="1000"/>
              </a:spcAft>
            </a:pPr>
            <a:r>
              <a:rPr sz="1700" b="0">
                <a:solidFill>
                  <a:srgbClr val="222222"/>
                </a:solidFill>
                <a:latin typeface="맑은 고딕"/>
              </a:rPr>
              <a:t>•  기존 전송·적용에는 영향 없음</a:t>
            </a:r>
          </a:p>
          <a:p>
            <a:pPr algn="l">
              <a:spcAft>
                <a:spcPts val="1000"/>
              </a:spcAft>
            </a:pPr>
            <a:r>
              <a:rPr sz="1700" b="0">
                <a:solidFill>
                  <a:srgbClr val="222222"/>
                </a:solidFill>
                <a:latin typeface="맑은 고딕"/>
              </a:rPr>
              <a:t>•  로그: trace 디렉터리의 drc&lt;SID&gt;.log</a:t>
            </a:r>
          </a:p>
          <a:p>
            <a:pPr algn="l">
              <a:spcAft>
                <a:spcPts val="1000"/>
              </a:spcAft>
            </a:pPr>
            <a:r>
              <a:rPr sz="1700" b="0">
                <a:solidFill>
                  <a:srgbClr val="222222"/>
                </a:solidFill>
                <a:latin typeface="맑은 고딕"/>
              </a:rPr>
              <a:t>•  클라이언트 추적 SET TRACE_LEVEL, 서버는 TraceLevel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13.4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구성 객체 모델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구성, 멤버, 인스턴스</a:t>
            </a:r>
          </a:p>
          <a:p>
            <a:pPr algn="l">
              <a:spcAft>
                <a:spcPts val="800"/>
              </a:spcAft>
            </a:pPr>
            <a:r>
              <a:rPr sz="1600" b="0">
                <a:solidFill>
                  <a:srgbClr val="FFFFFF"/>
                </a:solidFill>
                <a:latin typeface="맑은 고딕"/>
              </a:rPr>
              <a:t>•  리두 경로의 표현</a:t>
            </a:r>
          </a:p>
          <a:p>
            <a:pPr algn="l">
              <a:spcAft>
                <a:spcPts val="800"/>
              </a:spcAft>
            </a:pPr>
            <a:r>
              <a:rPr sz="1600" b="0">
                <a:solidFill>
                  <a:srgbClr val="FFFFFF"/>
                </a:solidFill>
                <a:latin typeface="맑은 고딕"/>
              </a:rPr>
              <a:t>•  의도한 상태와 현재 상태</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구성, 멤버, 인스턴스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명령 이름이 곧 대상 객체다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구성: 멤버 프로필의 집합, 보호 모드 보유</a:t>
            </a:r>
          </a:p>
          <a:p>
            <a:pPr algn="l">
              <a:spcAft>
                <a:spcPts val="1000"/>
              </a:spcAft>
            </a:pPr>
            <a:r>
              <a:rPr sz="1700" b="0">
                <a:solidFill>
                  <a:srgbClr val="222222"/>
                </a:solidFill>
                <a:latin typeface="맑은 고딕"/>
              </a:rPr>
              <a:t>•  데이터베이스 멤버: Primary, 각종 Standby</a:t>
            </a:r>
          </a:p>
          <a:p>
            <a:pPr algn="l">
              <a:spcAft>
                <a:spcPts val="1000"/>
              </a:spcAft>
            </a:pPr>
            <a:r>
              <a:rPr sz="1700" b="0">
                <a:solidFill>
                  <a:srgbClr val="222222"/>
                </a:solidFill>
                <a:latin typeface="맑은 고딕"/>
              </a:rPr>
              <a:t>•  Far Sync 멤버: 리두를 받아 넘기는 인스턴스</a:t>
            </a:r>
          </a:p>
          <a:p>
            <a:pPr algn="l">
              <a:spcAft>
                <a:spcPts val="1000"/>
              </a:spcAft>
            </a:pPr>
            <a:r>
              <a:rPr sz="1700" b="0">
                <a:solidFill>
                  <a:srgbClr val="222222"/>
                </a:solidFill>
                <a:latin typeface="맑은 고딕"/>
              </a:rPr>
              <a:t>•  멤버 이름은 DB_UNIQUE_NAME</a:t>
            </a:r>
          </a:p>
          <a:p>
            <a:pPr algn="l">
              <a:spcAft>
                <a:spcPts val="1000"/>
              </a:spcAft>
            </a:pPr>
            <a:r>
              <a:rPr sz="1700" b="0">
                <a:solidFill>
                  <a:srgbClr val="222222"/>
                </a:solidFill>
                <a:latin typeface="맑은 고딕"/>
              </a:rPr>
              <a:t>•  Primary 1 + Standby·Far Sync 최대 30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리두 경로의 표현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들여쓰기 한 단계 = 위 멤버에게서 받는다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SHOW CONFIGURATION은 들여쓰기로 경로 표시</a:t>
            </a:r>
          </a:p>
          <a:p>
            <a:pPr algn="l">
              <a:spcAft>
                <a:spcPts val="1000"/>
              </a:spcAft>
            </a:pPr>
            <a:r>
              <a:rPr sz="1700" b="0">
                <a:solidFill>
                  <a:srgbClr val="222222"/>
                </a:solidFill>
                <a:latin typeface="맑은 고딕"/>
              </a:rPr>
              <a:t>•  기본은 Primary가 모든 Standby로 직접 전송</a:t>
            </a:r>
          </a:p>
          <a:p>
            <a:pPr algn="l">
              <a:spcAft>
                <a:spcPts val="1000"/>
              </a:spcAft>
            </a:pPr>
            <a:r>
              <a:rPr sz="1700" b="0">
                <a:solidFill>
                  <a:srgbClr val="222222"/>
                </a:solidFill>
                <a:latin typeface="맑은 고딕"/>
              </a:rPr>
              <a:t>•  경로 변경은 RedoRoutes 속성(10장)</a:t>
            </a:r>
          </a:p>
          <a:p>
            <a:pPr algn="l">
              <a:spcAft>
                <a:spcPts val="1000"/>
              </a:spcAft>
            </a:pPr>
            <a:r>
              <a:rPr sz="1700" b="0">
                <a:solidFill>
                  <a:srgbClr val="222222"/>
                </a:solidFill>
                <a:latin typeface="맑은 고딕"/>
              </a:rPr>
              <a:t>•  기본값 NULL은 (LOCAL : ALL)</a:t>
            </a:r>
          </a:p>
          <a:p>
            <a:pPr algn="l">
              <a:spcAft>
                <a:spcPts val="1000"/>
              </a:spcAft>
            </a:pPr>
            <a:r>
              <a:rPr sz="1700" b="0">
                <a:solidFill>
                  <a:srgbClr val="222222"/>
                </a:solidFill>
                <a:latin typeface="맑은 고딕"/>
              </a:rPr>
              <a:t>•  RedoRoutes의 전송 방식이 LogXptMode보다 우선</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의도한 상태와 현재 상태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Broker는 "어때야 하는가"를 기억한다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의도한 상태(intended state)를 구성 파일에 저장</a:t>
            </a:r>
          </a:p>
          <a:p>
            <a:pPr algn="l">
              <a:spcAft>
                <a:spcPts val="1000"/>
              </a:spcAft>
            </a:pPr>
            <a:r>
              <a:rPr sz="1700" b="0">
                <a:solidFill>
                  <a:srgbClr val="222222"/>
                </a:solidFill>
                <a:latin typeface="맑은 고딕"/>
              </a:rPr>
              <a:t>•  Standby는 보통 APPLY-ON</a:t>
            </a:r>
          </a:p>
          <a:p>
            <a:pPr algn="l">
              <a:spcAft>
                <a:spcPts val="1000"/>
              </a:spcAft>
            </a:pPr>
            <a:r>
              <a:rPr sz="1700" b="0">
                <a:solidFill>
                  <a:srgbClr val="222222"/>
                </a:solidFill>
                <a:latin typeface="맑은 고딕"/>
              </a:rPr>
              <a:t>•  실제와 비교해 SUCCESS, WARNING, ERROR 판정</a:t>
            </a:r>
          </a:p>
          <a:p>
            <a:pPr algn="l">
              <a:spcAft>
                <a:spcPts val="1000"/>
              </a:spcAft>
            </a:pPr>
            <a:r>
              <a:rPr sz="1700" b="0">
                <a:solidFill>
                  <a:srgbClr val="222222"/>
                </a:solidFill>
                <a:latin typeface="맑은 고딕"/>
              </a:rPr>
              <a:t>•  재기동 뒤에도 의도한 상태대로 적용 기동</a:t>
            </a:r>
          </a:p>
          <a:p>
            <a:pPr algn="l">
              <a:spcAft>
                <a:spcPts val="1000"/>
              </a:spcAft>
            </a:pPr>
            <a:r>
              <a:rPr sz="1700" b="0">
                <a:solidFill>
                  <a:srgbClr val="222222"/>
                </a:solidFill>
                <a:latin typeface="맑은 고딕"/>
              </a:rPr>
              <a:t>•  SQL로 켠 적용은 재기동하면 사라졌다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13.5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구성 생성 전제 조건</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데이터베이스 측 조건</a:t>
            </a:r>
          </a:p>
          <a:p>
            <a:pPr algn="l">
              <a:spcAft>
                <a:spcPts val="800"/>
              </a:spcAft>
            </a:pPr>
            <a:r>
              <a:rPr sz="1600" b="0">
                <a:solidFill>
                  <a:srgbClr val="FFFFFF"/>
                </a:solidFill>
                <a:latin typeface="맑은 고딕"/>
              </a:rPr>
              <a:t>•  Oracle Net과 _DGMGRL 정적 서비스</a:t>
            </a:r>
          </a:p>
          <a:p>
            <a:pPr algn="l">
              <a:spcAft>
                <a:spcPts val="800"/>
              </a:spcAft>
            </a:pPr>
            <a:r>
              <a:rPr sz="1600" b="0">
                <a:solidFill>
                  <a:srgbClr val="FFFFFF"/>
                </a:solidFill>
                <a:latin typeface="맑은 고딕"/>
              </a:rPr>
              <a:t>•  수동 원격 목적지 정리와 접속 권한</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데이터베이스 측 조건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하나라도 빠지면 생성이나 첫 전환에서 막힌다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Enterprise Edition, Primary는 ARCHIVELOG</a:t>
            </a:r>
          </a:p>
          <a:p>
            <a:pPr algn="l">
              <a:spcAft>
                <a:spcPts val="1000"/>
              </a:spcAft>
            </a:pPr>
            <a:r>
              <a:rPr sz="1700" b="0">
                <a:solidFill>
                  <a:srgbClr val="222222"/>
                </a:solidFill>
                <a:latin typeface="맑은 고딕"/>
              </a:rPr>
              <a:t>•  모든 멤버가 SPFILE로 기동</a:t>
            </a:r>
          </a:p>
          <a:p>
            <a:pPr algn="l">
              <a:spcAft>
                <a:spcPts val="1000"/>
              </a:spcAft>
            </a:pPr>
            <a:r>
              <a:rPr sz="1700" b="0">
                <a:solidFill>
                  <a:srgbClr val="222222"/>
                </a:solidFill>
                <a:latin typeface="맑은 고딕"/>
              </a:rPr>
              <a:t>•  모든 멤버가 MOUNT 이상</a:t>
            </a:r>
          </a:p>
          <a:p>
            <a:pPr algn="l">
              <a:spcAft>
                <a:spcPts val="1000"/>
              </a:spcAft>
            </a:pPr>
            <a:r>
              <a:rPr sz="1700" b="0">
                <a:solidFill>
                  <a:srgbClr val="222222"/>
                </a:solidFill>
                <a:latin typeface="맑은 고딕"/>
              </a:rPr>
              <a:t>•  모든 멤버에서 DG_BROKER_START=TRUE</a:t>
            </a:r>
          </a:p>
          <a:p>
            <a:pPr algn="l">
              <a:spcAft>
                <a:spcPts val="1000"/>
              </a:spcAft>
            </a:pPr>
            <a:r>
              <a:rPr sz="1700" b="0">
                <a:solidFill>
                  <a:srgbClr val="222222"/>
                </a:solidFill>
                <a:latin typeface="맑은 고딕"/>
              </a:rPr>
              <a:t>•  COMPATIBLE 19.0.0 이상은 신기능용(필수 아님)</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_DGMGRL 정적 서비스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꺼진 인스턴스에 접속할 통로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이름: &lt;db_unique_name&gt;_DGMGRL.&lt;db_domain&gt;</a:t>
            </a:r>
          </a:p>
          <a:p>
            <a:pPr algn="l">
              <a:spcAft>
                <a:spcPts val="1000"/>
              </a:spcAft>
            </a:pPr>
            <a:r>
              <a:rPr sz="1700" b="0">
                <a:solidFill>
                  <a:srgbClr val="222222"/>
                </a:solidFill>
                <a:latin typeface="맑은 고딕"/>
              </a:rPr>
              <a:t>•  리스너 SID_LIST에 GLOBAL_DBNAME으로 등록</a:t>
            </a:r>
          </a:p>
          <a:p>
            <a:pPr algn="l">
              <a:spcAft>
                <a:spcPts val="1000"/>
              </a:spcAft>
            </a:pPr>
            <a:r>
              <a:rPr sz="1700" b="0">
                <a:solidFill>
                  <a:srgbClr val="222222"/>
                </a:solidFill>
                <a:latin typeface="맑은 고딕"/>
              </a:rPr>
              <a:t>•  동적 서비스는 인스턴스가 꺼지면 사라진다</a:t>
            </a:r>
          </a:p>
          <a:p>
            <a:pPr algn="l">
              <a:spcAft>
                <a:spcPts val="1000"/>
              </a:spcAft>
            </a:pPr>
            <a:r>
              <a:rPr sz="1700" b="0">
                <a:solidFill>
                  <a:srgbClr val="222222"/>
                </a:solidFill>
                <a:latin typeface="맑은 고딕"/>
              </a:rPr>
              <a:t>•  Switchover 중 재기동에 필요</a:t>
            </a:r>
          </a:p>
          <a:p>
            <a:pPr algn="l">
              <a:spcAft>
                <a:spcPts val="1000"/>
              </a:spcAft>
            </a:pPr>
            <a:r>
              <a:rPr sz="1700" b="0">
                <a:solidFill>
                  <a:srgbClr val="222222"/>
                </a:solidFill>
                <a:latin typeface="맑은 고딕"/>
              </a:rPr>
              <a:t>•  상태 UNKNOWN은 정적 등록의 정상 모습</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수동 원격 목적지 정리</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12.1부터 SERVICE 목적지가 있으면 추가 불가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대상: SERVICE 속성이 있는 LOG_ARCHIVE_DEST_n</a:t>
            </a:r>
          </a:p>
          <a:p>
            <a:pPr algn="l">
              <a:spcAft>
                <a:spcPts val="1000"/>
              </a:spcAft>
            </a:pPr>
            <a:r>
              <a:rPr sz="1700" b="0">
                <a:solidFill>
                  <a:srgbClr val="222222"/>
                </a:solidFill>
                <a:latin typeface="맑은 고딕"/>
              </a:rPr>
              <a:t>•  남아 있으면 ORA-16698</a:t>
            </a:r>
          </a:p>
          <a:p>
            <a:pPr algn="l">
              <a:spcAft>
                <a:spcPts val="1000"/>
              </a:spcAft>
            </a:pPr>
            <a:r>
              <a:rPr sz="1700" b="0">
                <a:solidFill>
                  <a:srgbClr val="222222"/>
                </a:solidFill>
                <a:latin typeface="맑은 고딕"/>
              </a:rPr>
              <a:t>•  로컬 LOCATION 목적지는 그대로 둔다</a:t>
            </a:r>
          </a:p>
          <a:p>
            <a:pPr algn="l">
              <a:spcAft>
                <a:spcPts val="1000"/>
              </a:spcAft>
            </a:pPr>
            <a:r>
              <a:rPr sz="1700" b="0">
                <a:solidFill>
                  <a:srgbClr val="222222"/>
                </a:solidFill>
                <a:latin typeface="맑은 고딕"/>
              </a:rPr>
              <a:t>•  Primary 목적지를 비우면 전송이 멈춘다</a:t>
            </a:r>
          </a:p>
          <a:p>
            <a:pPr algn="l">
              <a:spcAft>
                <a:spcPts val="1000"/>
              </a:spcAft>
            </a:pPr>
            <a:r>
              <a:rPr sz="1700" b="0">
                <a:solidFill>
                  <a:srgbClr val="222222"/>
                </a:solidFill>
                <a:latin typeface="맑은 고딕"/>
              </a:rPr>
              <a:t>•  활성화 후 갭 해소로 따라온다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DGMGRL 접속과 권한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SYSDG 먼저, 실패하면 SYSDBA</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CONNECT sys@chicago, AS 절은 쓰지 않는다</a:t>
            </a:r>
          </a:p>
          <a:p>
            <a:pPr algn="l">
              <a:spcAft>
                <a:spcPts val="1000"/>
              </a:spcAft>
            </a:pPr>
            <a:r>
              <a:rPr sz="1700" b="0">
                <a:solidFill>
                  <a:srgbClr val="222222"/>
                </a:solidFill>
                <a:latin typeface="맑은 고딕"/>
              </a:rPr>
              <a:t>•  원격 접속은 비밀번호 파일 인증</a:t>
            </a:r>
          </a:p>
          <a:p>
            <a:pPr algn="l">
              <a:spcAft>
                <a:spcPts val="1000"/>
              </a:spcAft>
            </a:pPr>
            <a:r>
              <a:rPr sz="1700" b="0">
                <a:solidFill>
                  <a:srgbClr val="222222"/>
                </a:solidFill>
                <a:latin typeface="맑은 고딕"/>
              </a:rPr>
              <a:t>•  운영 계정은 SYSDG만 부여 권장</a:t>
            </a:r>
          </a:p>
          <a:p>
            <a:pPr algn="l">
              <a:spcAft>
                <a:spcPts val="1000"/>
              </a:spcAft>
            </a:pPr>
            <a:r>
              <a:rPr sz="1700" b="0">
                <a:solidFill>
                  <a:srgbClr val="222222"/>
                </a:solidFill>
                <a:latin typeface="맑은 고딕"/>
              </a:rPr>
              <a:t>•  ORA-16525: DMON 없음</a:t>
            </a:r>
          </a:p>
          <a:p>
            <a:pPr algn="l">
              <a:spcAft>
                <a:spcPts val="1000"/>
              </a:spcAft>
            </a:pPr>
            <a:r>
              <a:rPr sz="1700" b="0">
                <a:solidFill>
                  <a:srgbClr val="222222"/>
                </a:solidFill>
                <a:latin typeface="맑은 고딕"/>
              </a:rPr>
              <a:t>•  ORA-16532: DMON은 있으나 구성 없음</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구성 생성 전 점검 순서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명령을 내기 전에 각 멤버에서 확인</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SPFILE 기동 여부</a:t>
            </a:r>
          </a:p>
          <a:p>
            <a:pPr algn="l">
              <a:spcAft>
                <a:spcPts val="1000"/>
              </a:spcAft>
            </a:pPr>
            <a:r>
              <a:rPr sz="1700" b="0">
                <a:solidFill>
                  <a:srgbClr val="222222"/>
                </a:solidFill>
                <a:latin typeface="맑은 고딕"/>
              </a:rPr>
              <a:t>•  DG_BROKER_START=TRUE</a:t>
            </a:r>
          </a:p>
          <a:p>
            <a:pPr algn="l">
              <a:spcAft>
                <a:spcPts val="1000"/>
              </a:spcAft>
            </a:pPr>
            <a:r>
              <a:rPr sz="1700" b="0">
                <a:solidFill>
                  <a:srgbClr val="222222"/>
                </a:solidFill>
                <a:latin typeface="맑은 고딕"/>
              </a:rPr>
              <a:t>•  리스너의 _DGMGRL 정적 서비스</a:t>
            </a:r>
          </a:p>
          <a:p>
            <a:pPr algn="l">
              <a:spcAft>
                <a:spcPts val="1000"/>
              </a:spcAft>
            </a:pPr>
            <a:r>
              <a:rPr sz="1700" b="0">
                <a:solidFill>
                  <a:srgbClr val="222222"/>
                </a:solidFill>
                <a:latin typeface="맑은 고딕"/>
              </a:rPr>
              <a:t>•  연결 식별자 양방향 해석과 SYSDBA 원격 접속</a:t>
            </a:r>
          </a:p>
          <a:p>
            <a:pPr algn="l">
              <a:spcAft>
                <a:spcPts val="1000"/>
              </a:spcAft>
            </a:pPr>
            <a:r>
              <a:rPr sz="1700" b="0">
                <a:solidFill>
                  <a:srgbClr val="222222"/>
                </a:solidFill>
                <a:latin typeface="맑은 고딕"/>
              </a:rPr>
              <a:t>•  SERVICE 목적지 유무</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13.6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구성 생성 절차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CREATE CONFIGURATION</a:t>
            </a:r>
          </a:p>
          <a:p>
            <a:pPr algn="l">
              <a:spcAft>
                <a:spcPts val="800"/>
              </a:spcAft>
            </a:pPr>
            <a:r>
              <a:rPr sz="1600" b="0">
                <a:solidFill>
                  <a:srgbClr val="FFFFFF"/>
                </a:solidFill>
                <a:latin typeface="맑은 고딕"/>
              </a:rPr>
              <a:t>•  ADD DATABASE, ADD FAR_SYNC</a:t>
            </a:r>
          </a:p>
          <a:p>
            <a:pPr algn="l">
              <a:spcAft>
                <a:spcPts val="800"/>
              </a:spcAft>
            </a:pPr>
            <a:r>
              <a:rPr sz="1600" b="0">
                <a:solidFill>
                  <a:srgbClr val="FFFFFF"/>
                </a:solidFill>
                <a:latin typeface="맑은 고딕"/>
              </a:rPr>
              <a:t>•  ENABLE CONFIGURATION과 Broker의 인수</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CREATE CONFIGURATION</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구성 파일이 이 순간 처음 생긴다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Primary에 접속한 상태에서 실행</a:t>
            </a:r>
          </a:p>
          <a:p>
            <a:pPr algn="l">
              <a:spcAft>
                <a:spcPts val="1000"/>
              </a:spcAft>
            </a:pPr>
            <a:r>
              <a:rPr sz="1700" b="0">
                <a:solidFill>
                  <a:srgbClr val="222222"/>
                </a:solidFill>
                <a:latin typeface="맑은 고딕"/>
              </a:rPr>
              <a:t>•  PRIMARY DATABASE IS 뒤에는 DB_UNIQUE_NAME</a:t>
            </a:r>
          </a:p>
          <a:p>
            <a:pPr algn="l">
              <a:spcAft>
                <a:spcPts val="1000"/>
              </a:spcAft>
            </a:pPr>
            <a:r>
              <a:rPr sz="1700" b="0">
                <a:solidFill>
                  <a:srgbClr val="222222"/>
                </a:solidFill>
                <a:latin typeface="맑은 고딕"/>
              </a:rPr>
              <a:t>•  CONNECT IDENTIFIER는 다른 멤버가 쓸 식별자</a:t>
            </a:r>
          </a:p>
          <a:p>
            <a:pPr algn="l">
              <a:spcAft>
                <a:spcPts val="1000"/>
              </a:spcAft>
            </a:pPr>
            <a:r>
              <a:rPr sz="1700" b="0">
                <a:solidFill>
                  <a:srgbClr val="222222"/>
                </a:solidFill>
                <a:latin typeface="맑은 고딕"/>
              </a:rPr>
              <a:t>•  식별자는 DGConnectIdentifier 속성으로 저장</a:t>
            </a:r>
          </a:p>
          <a:p>
            <a:pPr algn="l">
              <a:spcAft>
                <a:spcPts val="1000"/>
              </a:spcAft>
            </a:pPr>
            <a:r>
              <a:rPr sz="1700" b="0">
                <a:solidFill>
                  <a:srgbClr val="222222"/>
                </a:solidFill>
                <a:latin typeface="맑은 고딕"/>
              </a:rPr>
              <a:t>•  생성 직후는 DISABLED, MaxPerformance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ADD DATABASE와 ADD FAR_SYNC</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멤버 종류는 Broker가 판별한다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ADD DATABASE 'boston' AS CONNECT IDENTIFIER IS boston</a:t>
            </a:r>
          </a:p>
          <a:p>
            <a:pPr algn="l">
              <a:spcAft>
                <a:spcPts val="1000"/>
              </a:spcAft>
            </a:pPr>
            <a:r>
              <a:rPr sz="1700" b="0">
                <a:solidFill>
                  <a:srgbClr val="222222"/>
                </a:solidFill>
                <a:latin typeface="맑은 고딕"/>
              </a:rPr>
              <a:t>•  이름은 Standby의 DB_UNIQUE_NAME</a:t>
            </a:r>
          </a:p>
          <a:p>
            <a:pPr algn="l">
              <a:spcAft>
                <a:spcPts val="1000"/>
              </a:spcAft>
            </a:pPr>
            <a:r>
              <a:rPr sz="1700" b="0">
                <a:solidFill>
                  <a:srgbClr val="222222"/>
                </a:solidFill>
                <a:latin typeface="맑은 고딕"/>
              </a:rPr>
              <a:t>•  연결 식별자 절은 사실상 필수</a:t>
            </a:r>
          </a:p>
          <a:p>
            <a:pPr algn="l">
              <a:spcAft>
                <a:spcPts val="1000"/>
              </a:spcAft>
            </a:pPr>
            <a:r>
              <a:rPr sz="1700" b="0">
                <a:solidFill>
                  <a:srgbClr val="222222"/>
                </a:solidFill>
                <a:latin typeface="맑은 고딕"/>
              </a:rPr>
              <a:t>•  추가 직후 ORA-16905: 아직 활성화 전</a:t>
            </a:r>
          </a:p>
          <a:p>
            <a:pPr algn="l">
              <a:spcAft>
                <a:spcPts val="1000"/>
              </a:spcAft>
            </a:pPr>
            <a:r>
              <a:rPr sz="1700" b="0">
                <a:solidFill>
                  <a:srgbClr val="222222"/>
                </a:solidFill>
                <a:latin typeface="맑은 고딕"/>
              </a:rPr>
              <a:t>•  ADD FAR_SYNC도 같은 형식</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ENABLE CONFIGURATION</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이때부터 Broker가 책임진다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구성과 모든 멤버를 Broker 관리로 전환</a:t>
            </a:r>
          </a:p>
          <a:p>
            <a:pPr algn="l">
              <a:spcAft>
                <a:spcPts val="1000"/>
              </a:spcAft>
            </a:pPr>
            <a:r>
              <a:rPr sz="1700" b="0">
                <a:solidFill>
                  <a:srgbClr val="222222"/>
                </a:solidFill>
                <a:latin typeface="맑은 고딕"/>
              </a:rPr>
              <a:t>•  속성을 파라미터로 내려 쓴다</a:t>
            </a:r>
          </a:p>
          <a:p>
            <a:pPr algn="l">
              <a:spcAft>
                <a:spcPts val="1000"/>
              </a:spcAft>
            </a:pPr>
            <a:r>
              <a:rPr sz="1700" b="0">
                <a:solidFill>
                  <a:srgbClr val="222222"/>
                </a:solidFill>
                <a:latin typeface="맑은 고딕"/>
              </a:rPr>
              <a:t>•  Standby에서 Redo Apply 기동(SRL 있으면 실시간)</a:t>
            </a:r>
          </a:p>
          <a:p>
            <a:pPr algn="l">
              <a:spcAft>
                <a:spcPts val="1000"/>
              </a:spcAft>
            </a:pPr>
            <a:r>
              <a:rPr sz="1700" b="0">
                <a:solidFill>
                  <a:srgbClr val="222222"/>
                </a:solidFill>
                <a:latin typeface="맑은 고딕"/>
              </a:rPr>
              <a:t>•  처리는 비동기, 안정되기까지 수십 초</a:t>
            </a:r>
          </a:p>
          <a:p>
            <a:pPr algn="l">
              <a:spcAft>
                <a:spcPts val="1000"/>
              </a:spcAft>
            </a:pPr>
            <a:r>
              <a:rPr sz="1700" b="0">
                <a:solidFill>
                  <a:srgbClr val="222222"/>
                </a:solidFill>
                <a:latin typeface="맑은 고딕"/>
              </a:rPr>
              <a:t>•  멤버 단위는 ENABLE DATABASE, ENABLE FAR_SYNC</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활성화 후 Broker가 다시 쓰는 파라미터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손으로 쓴 것과 모양이 다르다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목적지: 기본값까지 모두 적은 긴 문자열</a:t>
            </a:r>
          </a:p>
          <a:p>
            <a:pPr algn="l">
              <a:spcAft>
                <a:spcPts val="1000"/>
              </a:spcAft>
            </a:pPr>
            <a:r>
              <a:rPr sz="1700" b="0">
                <a:solidFill>
                  <a:srgbClr val="222222"/>
                </a:solidFill>
                <a:latin typeface="맑은 고딕"/>
              </a:rPr>
              <a:t>•  VALID_FOR=(ONLINE_LOGFILE,ALL_ROLES)</a:t>
            </a:r>
          </a:p>
          <a:p>
            <a:pPr algn="l">
              <a:spcAft>
                <a:spcPts val="1000"/>
              </a:spcAft>
            </a:pPr>
            <a:r>
              <a:rPr sz="1700" b="0">
                <a:solidFill>
                  <a:srgbClr val="222222"/>
                </a:solidFill>
                <a:latin typeface="맑은 고딕"/>
              </a:rPr>
              <a:t>•  LOG_ARCHIVE_CONFIG를 멤버 목록으로 재작성</a:t>
            </a:r>
          </a:p>
          <a:p>
            <a:pPr algn="l">
              <a:spcAft>
                <a:spcPts val="1000"/>
              </a:spcAft>
            </a:pPr>
            <a:r>
              <a:rPr sz="1700" b="0">
                <a:solidFill>
                  <a:srgbClr val="222222"/>
                </a:solidFill>
                <a:latin typeface="맑은 고딕"/>
              </a:rPr>
              <a:t>•  Primary의 FAL_SERVER는 비워질 수 있다</a:t>
            </a:r>
          </a:p>
          <a:p>
            <a:pPr algn="l">
              <a:spcAft>
                <a:spcPts val="1000"/>
              </a:spcAft>
            </a:pPr>
            <a:r>
              <a:rPr sz="1700" b="0">
                <a:solidFill>
                  <a:srgbClr val="222222"/>
                </a:solidFill>
                <a:latin typeface="맑은 고딕"/>
              </a:rPr>
              <a:t>•  적용은 의도한 상태에 따라 Broker가 기동</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SQL 구성을 Broker로 옮기는 작업</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운영 중단 없이 저녁 한 시간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전날: 전제 조건 점검, DG_BROKER_START 켜기</a:t>
            </a:r>
          </a:p>
          <a:p>
            <a:pPr algn="l">
              <a:spcAft>
                <a:spcPts val="1000"/>
              </a:spcAft>
            </a:pPr>
            <a:r>
              <a:rPr sz="1700" b="0">
                <a:solidFill>
                  <a:srgbClr val="222222"/>
                </a:solidFill>
                <a:latin typeface="맑은 고딕"/>
              </a:rPr>
              <a:t>•  당일: 기존 목적지·LOG_ARCHIVE_CONFIG 값 기록</a:t>
            </a:r>
          </a:p>
          <a:p>
            <a:pPr algn="l">
              <a:spcAft>
                <a:spcPts val="1000"/>
              </a:spcAft>
            </a:pPr>
            <a:r>
              <a:rPr sz="1700" b="0">
                <a:solidFill>
                  <a:srgbClr val="222222"/>
                </a:solidFill>
                <a:latin typeface="맑은 고딕"/>
              </a:rPr>
              <a:t>•  원격 목적지 비우기 → 생성 → 추가 → 활성화</a:t>
            </a:r>
          </a:p>
          <a:p>
            <a:pPr algn="l">
              <a:spcAft>
                <a:spcPts val="1000"/>
              </a:spcAft>
            </a:pPr>
            <a:r>
              <a:rPr sz="1700" b="0">
                <a:solidFill>
                  <a:srgbClr val="222222"/>
                </a:solidFill>
                <a:latin typeface="맑은 고딕"/>
              </a:rPr>
              <a:t>•  비운 시점부터 활성화까지 전송 중단 구간</a:t>
            </a:r>
          </a:p>
          <a:p>
            <a:pPr algn="l">
              <a:spcAft>
                <a:spcPts val="1000"/>
              </a:spcAft>
            </a:pPr>
            <a:r>
              <a:rPr sz="1700" b="0">
                <a:solidFill>
                  <a:srgbClr val="222222"/>
                </a:solidFill>
                <a:latin typeface="맑은 고딕"/>
              </a:rPr>
              <a:t>•  로그 전환으로 적용 진행 확인, 스크립트 정비</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13.7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속성과 EDIT 명령</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속성의 분류</a:t>
            </a:r>
          </a:p>
          <a:p>
            <a:pPr algn="l">
              <a:spcAft>
                <a:spcPts val="800"/>
              </a:spcAft>
            </a:pPr>
            <a:r>
              <a:rPr sz="1600" b="0">
                <a:solidFill>
                  <a:srgbClr val="FFFFFF"/>
                </a:solidFill>
                <a:latin typeface="맑은 고딕"/>
              </a:rPr>
              <a:t>•  EDIT 명령과 주요 전송 속성</a:t>
            </a:r>
          </a:p>
          <a:p>
            <a:pPr algn="l">
              <a:spcAft>
                <a:spcPts val="800"/>
              </a:spcAft>
            </a:pPr>
            <a:r>
              <a:rPr sz="1600" b="0">
                <a:solidFill>
                  <a:srgbClr val="FFFFFF"/>
                </a:solidFill>
                <a:latin typeface="맑은 고딕"/>
              </a:rPr>
              <a:t>•  19c의 SET PARAMETER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속성의 분류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설정하는 값과 읽기만 하는 값</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구성 속성: OperationTimeout, TraceLevel 등</a:t>
            </a:r>
          </a:p>
          <a:p>
            <a:pPr algn="l">
              <a:spcAft>
                <a:spcPts val="1000"/>
              </a:spcAft>
            </a:pPr>
            <a:r>
              <a:rPr sz="1700" b="0">
                <a:solidFill>
                  <a:srgbClr val="222222"/>
                </a:solidFill>
                <a:latin typeface="맑은 고딕"/>
              </a:rPr>
              <a:t>•  설정 속성: LogXptMode, DGConnectIdentifier 등</a:t>
            </a:r>
          </a:p>
          <a:p>
            <a:pPr algn="l">
              <a:spcAft>
                <a:spcPts val="1000"/>
              </a:spcAft>
            </a:pPr>
            <a:r>
              <a:rPr sz="1700" b="0">
                <a:solidFill>
                  <a:srgbClr val="222222"/>
                </a:solidFill>
                <a:latin typeface="맑은 고딕"/>
              </a:rPr>
              <a:t>•  상태 속성: StatusReport, InconsistentProperties 등</a:t>
            </a:r>
          </a:p>
          <a:p>
            <a:pPr algn="l">
              <a:spcAft>
                <a:spcPts val="1000"/>
              </a:spcAft>
            </a:pPr>
            <a:r>
              <a:rPr sz="1700" b="0">
                <a:solidFill>
                  <a:srgbClr val="222222"/>
                </a:solidFill>
                <a:latin typeface="맑은 고딕"/>
              </a:rPr>
              <a:t>•  설정 속성은 구성 파일에 저장된다</a:t>
            </a:r>
          </a:p>
          <a:p>
            <a:pPr algn="l">
              <a:spcAft>
                <a:spcPts val="1000"/>
              </a:spcAft>
            </a:pPr>
            <a:r>
              <a:rPr sz="1700" b="0">
                <a:solidFill>
                  <a:srgbClr val="222222"/>
                </a:solidFill>
                <a:latin typeface="맑은 고딕"/>
              </a:rPr>
              <a:t>•  상태 속성은 조회 시점에 계산, 변경 불가</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EDIT 명령의 형태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객체 모델과 그대로 대응</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EDIT CONFIGURATION / DATABASE / FAR_SYNC / INSTANCE</a:t>
            </a:r>
          </a:p>
          <a:p>
            <a:pPr algn="l">
              <a:spcAft>
                <a:spcPts val="1000"/>
              </a:spcAft>
            </a:pPr>
            <a:r>
              <a:rPr sz="1700" b="0">
                <a:solidFill>
                  <a:srgbClr val="222222"/>
                </a:solidFill>
                <a:latin typeface="맑은 고딕"/>
              </a:rPr>
              <a:t>•  SET PROPERTY로 변경, RESET PROPERTY로 기본값</a:t>
            </a:r>
          </a:p>
          <a:p>
            <a:pPr algn="l">
              <a:spcAft>
                <a:spcPts val="1000"/>
              </a:spcAft>
            </a:pPr>
            <a:r>
              <a:rPr sz="1700" b="0">
                <a:solidFill>
                  <a:srgbClr val="222222"/>
                </a:solidFill>
                <a:latin typeface="맑은 고딕"/>
              </a:rPr>
              <a:t>•  구성 파일, SPFILE, 메모리를 함께 수정</a:t>
            </a:r>
          </a:p>
          <a:p>
            <a:pPr algn="l">
              <a:spcAft>
                <a:spcPts val="1000"/>
              </a:spcAft>
            </a:pPr>
            <a:r>
              <a:rPr sz="1700" b="0">
                <a:solidFill>
                  <a:srgbClr val="222222"/>
                </a:solidFill>
                <a:latin typeface="맑은 고딕"/>
              </a:rPr>
              <a:t>•  정적 파라미터 대응 속성은 재기동 후 반영</a:t>
            </a:r>
          </a:p>
          <a:p>
            <a:pPr algn="l">
              <a:spcAft>
                <a:spcPts val="1000"/>
              </a:spcAft>
            </a:pPr>
            <a:r>
              <a:rPr sz="1700" b="0">
                <a:solidFill>
                  <a:srgbClr val="222222"/>
                </a:solidFill>
                <a:latin typeface="맑은 고딕"/>
              </a:rPr>
              <a:t>•  비활성 상태에서도 변경 가능, 활성화 때 반영</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전송과 적용의 주요 설정 속성</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목적지 문자열의 조각마다 이름이 붙었다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LogXptMode, DGConnectIdentifier, LogShipping</a:t>
            </a:r>
          </a:p>
          <a:p>
            <a:pPr algn="l">
              <a:spcAft>
                <a:spcPts val="1000"/>
              </a:spcAft>
            </a:pPr>
            <a:r>
              <a:rPr sz="1700" b="0">
                <a:solidFill>
                  <a:srgbClr val="222222"/>
                </a:solidFill>
                <a:latin typeface="맑은 고딕"/>
              </a:rPr>
              <a:t>•  NetTimeout, ReopenSecs, MaxFailure, Binding</a:t>
            </a:r>
          </a:p>
          <a:p>
            <a:pPr algn="l">
              <a:spcAft>
                <a:spcPts val="1000"/>
              </a:spcAft>
            </a:pPr>
            <a:r>
              <a:rPr sz="1700" b="0">
                <a:solidFill>
                  <a:srgbClr val="222222"/>
                </a:solidFill>
                <a:latin typeface="맑은 고딕"/>
              </a:rPr>
              <a:t>•  RedoCompression(압축은 별도 옵션), DelayMins</a:t>
            </a:r>
          </a:p>
          <a:p>
            <a:pPr algn="l">
              <a:spcAft>
                <a:spcPts val="1000"/>
              </a:spcAft>
            </a:pPr>
            <a:r>
              <a:rPr sz="1700" b="0">
                <a:solidFill>
                  <a:srgbClr val="222222"/>
                </a:solidFill>
                <a:latin typeface="맑은 고딕"/>
              </a:rPr>
              <a:t>•  ApplyLagThreshold, TransportLagThreshold</a:t>
            </a:r>
          </a:p>
          <a:p>
            <a:pPr algn="l">
              <a:spcAft>
                <a:spcPts val="1000"/>
              </a:spcAft>
            </a:pPr>
            <a:r>
              <a:rPr sz="1700" b="0">
                <a:solidFill>
                  <a:srgbClr val="222222"/>
                </a:solidFill>
                <a:latin typeface="맑은 고딕"/>
              </a:rPr>
              <a:t>•  속성은 리두를 받는 멤버 쪽에 설정</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LogXptMode와 목적지 속성</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세 모드 모두 SRL이 필요하다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ASYNC = ASYNC NOAFFIRM</a:t>
            </a:r>
          </a:p>
          <a:p>
            <a:pPr algn="l">
              <a:spcAft>
                <a:spcPts val="1000"/>
              </a:spcAft>
            </a:pPr>
            <a:r>
              <a:rPr sz="1700" b="0">
                <a:solidFill>
                  <a:srgbClr val="222222"/>
                </a:solidFill>
                <a:latin typeface="맑은 고딕"/>
              </a:rPr>
              <a:t>•  FASTSYNC = SYNC NOAFFIRM (12.2 추가)</a:t>
            </a:r>
          </a:p>
          <a:p>
            <a:pPr algn="l">
              <a:spcAft>
                <a:spcPts val="1000"/>
              </a:spcAft>
            </a:pPr>
            <a:r>
              <a:rPr sz="1700" b="0">
                <a:solidFill>
                  <a:srgbClr val="222222"/>
                </a:solidFill>
                <a:latin typeface="맑은 고딕"/>
              </a:rPr>
              <a:t>•  SYNC = SYNC AFFIRM</a:t>
            </a:r>
          </a:p>
          <a:p>
            <a:pPr algn="l">
              <a:spcAft>
                <a:spcPts val="1000"/>
              </a:spcAft>
            </a:pPr>
            <a:r>
              <a:rPr sz="1700" b="0">
                <a:solidFill>
                  <a:srgbClr val="222222"/>
                </a:solidFill>
                <a:latin typeface="맑은 고딕"/>
              </a:rPr>
              <a:t>•  MaxProtection은 SYNC만 허용</a:t>
            </a:r>
          </a:p>
          <a:p>
            <a:pPr algn="l">
              <a:spcAft>
                <a:spcPts val="1000"/>
              </a:spcAft>
            </a:pPr>
            <a:r>
              <a:rPr sz="1700" b="0">
                <a:solidFill>
                  <a:srgbClr val="222222"/>
                </a:solidFill>
                <a:latin typeface="맑은 고딕"/>
              </a:rPr>
              <a:t>•  MaxAvailability는 SYNC 또는 FASTSYNC</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19c의 SET PARAMETER</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파라미터 계열 속성 일부가 디프리케이트</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LogArchiveTrace, StandbyFileManagement 등 9개</a:t>
            </a:r>
          </a:p>
          <a:p>
            <a:pPr algn="l">
              <a:spcAft>
                <a:spcPts val="1000"/>
              </a:spcAft>
            </a:pPr>
            <a:r>
              <a:rPr sz="1700" b="0">
                <a:solidFill>
                  <a:srgbClr val="222222"/>
                </a:solidFill>
                <a:latin typeface="맑은 고딕"/>
              </a:rPr>
              <a:t>•  DbFileNameConvert, LogFileNameConvert 포함</a:t>
            </a:r>
          </a:p>
          <a:p>
            <a:pPr algn="l">
              <a:spcAft>
                <a:spcPts val="1000"/>
              </a:spcAft>
            </a:pPr>
            <a:r>
              <a:rPr sz="1700" b="0">
                <a:solidFill>
                  <a:srgbClr val="222222"/>
                </a:solidFill>
                <a:latin typeface="맑은 고딕"/>
              </a:rPr>
              <a:t>•  구성 파일에 저장되지 않는다</a:t>
            </a:r>
          </a:p>
          <a:p>
            <a:pPr algn="l">
              <a:spcAft>
                <a:spcPts val="1000"/>
              </a:spcAft>
            </a:pPr>
            <a:r>
              <a:rPr sz="1700" b="0">
                <a:solidFill>
                  <a:srgbClr val="222222"/>
                </a:solidFill>
                <a:latin typeface="맑은 고딕"/>
              </a:rPr>
              <a:t>•  EDIT DATABASE ... SET PARAMETER / RESET PARAMETER</a:t>
            </a:r>
          </a:p>
          <a:p>
            <a:pPr algn="l">
              <a:spcAft>
                <a:spcPts val="1000"/>
              </a:spcAft>
            </a:pPr>
            <a:r>
              <a:rPr sz="1700" b="0">
                <a:solidFill>
                  <a:srgbClr val="222222"/>
                </a:solidFill>
                <a:latin typeface="맑은 고딕"/>
              </a:rPr>
              <a:t>•  SET PROPERTY는 속성, SET PARAMETER는 파라미터</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13.8</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Broker 관리 파라미터와 SQL 충돌</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Broker가 관리하는 대상</a:t>
            </a:r>
          </a:p>
          <a:p>
            <a:pPr algn="l">
              <a:spcAft>
                <a:spcPts val="800"/>
              </a:spcAft>
            </a:pPr>
            <a:r>
              <a:rPr sz="1600" b="0">
                <a:solidFill>
                  <a:srgbClr val="FFFFFF"/>
                </a:solidFill>
                <a:latin typeface="맑은 고딕"/>
              </a:rPr>
              <a:t>•  SQL로 바꾸면 생기는 일</a:t>
            </a:r>
          </a:p>
          <a:p>
            <a:pPr algn="l">
              <a:spcAft>
                <a:spcPts val="800"/>
              </a:spcAft>
            </a:pPr>
            <a:r>
              <a:rPr sz="1600" b="0">
                <a:solidFill>
                  <a:srgbClr val="FFFFFF"/>
                </a:solidFill>
                <a:latin typeface="맑은 고딕"/>
              </a:rPr>
              <a:t>•  회복과 운영 원칙</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Broker가 관리하는 대상</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파라미터와 적용 제어 SQL까지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LOG_ARCHIVE_DEST_n, _STATE_n, LOG_ARCHIVE_CONFIG</a:t>
            </a:r>
          </a:p>
          <a:p>
            <a:pPr algn="l">
              <a:spcAft>
                <a:spcPts val="1000"/>
              </a:spcAft>
            </a:pPr>
            <a:r>
              <a:rPr sz="1700" b="0">
                <a:solidFill>
                  <a:srgbClr val="222222"/>
                </a:solidFill>
                <a:latin typeface="맑은 고딕"/>
              </a:rPr>
              <a:t>•  ARCHIVE_LAG_TARGET, LOG_ARCHIVE_* 계열</a:t>
            </a:r>
          </a:p>
          <a:p>
            <a:pPr algn="l">
              <a:spcAft>
                <a:spcPts val="1000"/>
              </a:spcAft>
            </a:pPr>
            <a:r>
              <a:rPr sz="1700" b="0">
                <a:solidFill>
                  <a:srgbClr val="222222"/>
                </a:solidFill>
                <a:latin typeface="맑은 고딕"/>
              </a:rPr>
              <a:t>•  STANDBY_FILE_MANAGEMENT, *_FILE_NAME_CONVERT</a:t>
            </a:r>
          </a:p>
          <a:p>
            <a:pPr algn="l">
              <a:spcAft>
                <a:spcPts val="1000"/>
              </a:spcAft>
            </a:pPr>
            <a:r>
              <a:rPr sz="1700" b="0">
                <a:solidFill>
                  <a:srgbClr val="222222"/>
                </a:solidFill>
                <a:latin typeface="맑은 고딕"/>
              </a:rPr>
              <a:t>•  논리 Standby의 SQL Apply 설정</a:t>
            </a:r>
          </a:p>
          <a:p>
            <a:pPr algn="l">
              <a:spcAft>
                <a:spcPts val="1000"/>
              </a:spcAft>
            </a:pPr>
            <a:r>
              <a:rPr sz="1700" b="0">
                <a:solidFill>
                  <a:srgbClr val="222222"/>
                </a:solidFill>
                <a:latin typeface="맑은 고딕"/>
              </a:rPr>
              <a:t>•  RECOVER MANAGED STANDBY DATABASE 문장</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SQL로 바꾸면 생기는 일</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명령은 성공하고 문제는 나중에 온다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ALTER SYSTEM은 그대로 성공한다</a:t>
            </a:r>
          </a:p>
          <a:p>
            <a:pPr algn="l">
              <a:spcAft>
                <a:spcPts val="1000"/>
              </a:spcAft>
            </a:pPr>
            <a:r>
              <a:rPr sz="1700" b="0">
                <a:solidFill>
                  <a:srgbClr val="222222"/>
                </a:solidFill>
                <a:latin typeface="맑은 고딕"/>
              </a:rPr>
              <a:t>•  구성 파일 값과 실제 값이 어긋난다</a:t>
            </a:r>
          </a:p>
          <a:p>
            <a:pPr algn="l">
              <a:spcAft>
                <a:spcPts val="1000"/>
              </a:spcAft>
            </a:pPr>
            <a:r>
              <a:rPr sz="1700" b="0">
                <a:solidFill>
                  <a:srgbClr val="222222"/>
                </a:solidFill>
                <a:latin typeface="맑은 고딕"/>
              </a:rPr>
              <a:t>•  즉시 경고가 뜬다는 보장이 없다</a:t>
            </a:r>
          </a:p>
          <a:p>
            <a:pPr algn="l">
              <a:spcAft>
                <a:spcPts val="1000"/>
              </a:spcAft>
            </a:pPr>
            <a:r>
              <a:rPr sz="1700" b="0">
                <a:solidFill>
                  <a:srgbClr val="222222"/>
                </a:solidFill>
                <a:latin typeface="맑은 고딕"/>
              </a:rPr>
              <a:t>•  재활성화, 역할 전환, 속성 변경 때 덮어쓴다</a:t>
            </a:r>
          </a:p>
          <a:p>
            <a:pPr algn="l">
              <a:spcAft>
                <a:spcPts val="1000"/>
              </a:spcAft>
            </a:pPr>
            <a:r>
              <a:rPr sz="1700" b="0">
                <a:solidFill>
                  <a:srgbClr val="222222"/>
                </a:solidFill>
                <a:latin typeface="맑은 고딕"/>
              </a:rPr>
              <a:t>•  필요한 변경이었다면 조용히 사라진다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어긋남의 회복과 운영 원칙</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Broker를 켰으면 Broker로만 바꾼다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같은 값으로 전송 속성 하나를 다시 설정</a:t>
            </a:r>
          </a:p>
          <a:p>
            <a:pPr algn="l">
              <a:spcAft>
                <a:spcPts val="1000"/>
              </a:spcAft>
            </a:pPr>
            <a:r>
              <a:rPr sz="1700" b="0">
                <a:solidFill>
                  <a:srgbClr val="222222"/>
                </a:solidFill>
                <a:latin typeface="맑은 고딕"/>
              </a:rPr>
              <a:t>•  Broker가 목적지 문자열 전체를 다시 쓴다</a:t>
            </a:r>
          </a:p>
          <a:p>
            <a:pPr algn="l">
              <a:spcAft>
                <a:spcPts val="1000"/>
              </a:spcAft>
            </a:pPr>
            <a:r>
              <a:rPr sz="1700" b="0">
                <a:solidFill>
                  <a:srgbClr val="222222"/>
                </a:solidFill>
                <a:latin typeface="맑은 고딕"/>
              </a:rPr>
              <a:t>•  필요한 변경은 먼저 속성에 넣고 나서</a:t>
            </a:r>
          </a:p>
          <a:p>
            <a:pPr algn="l">
              <a:spcAft>
                <a:spcPts val="1000"/>
              </a:spcAft>
            </a:pPr>
            <a:r>
              <a:rPr sz="1700" b="0">
                <a:solidFill>
                  <a:srgbClr val="222222"/>
                </a:solidFill>
                <a:latin typeface="맑은 고딕"/>
              </a:rPr>
              <a:t>•  속성 있는 설정은 SET PROPERTY</a:t>
            </a:r>
          </a:p>
          <a:p>
            <a:pPr algn="l">
              <a:spcAft>
                <a:spcPts val="1000"/>
              </a:spcAft>
            </a:pPr>
            <a:r>
              <a:rPr sz="1700" b="0">
                <a:solidFill>
                  <a:srgbClr val="222222"/>
                </a:solidFill>
                <a:latin typeface="맑은 고딕"/>
              </a:rPr>
              <a:t>•  디프리케이트된 파라미터는 SET PARAMETER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13.9</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상태 전환과 보호 모드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멤버 상태 네 가지</a:t>
            </a:r>
          </a:p>
          <a:p>
            <a:pPr algn="l">
              <a:spcAft>
                <a:spcPts val="800"/>
              </a:spcAft>
            </a:pPr>
            <a:r>
              <a:rPr sz="1600" b="0">
                <a:solidFill>
                  <a:srgbClr val="FFFFFF"/>
                </a:solidFill>
                <a:latin typeface="맑은 고딕"/>
              </a:rPr>
              <a:t>•  APPLY-OFF와 SQL 중지의 차이</a:t>
            </a:r>
          </a:p>
          <a:p>
            <a:pPr algn="l">
              <a:spcAft>
                <a:spcPts val="800"/>
              </a:spcAft>
            </a:pPr>
            <a:r>
              <a:rPr sz="1600" b="0">
                <a:solidFill>
                  <a:srgbClr val="FFFFFF"/>
                </a:solidFill>
                <a:latin typeface="맑은 고딕"/>
              </a:rPr>
              <a:t>•  보호 모드 변경 순서</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멤버 상태 네 가지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EDIT DATABASE ... SET STATE</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TRANSPORT-ON / TRANSPORT-OFF: Primary 전용</a:t>
            </a:r>
          </a:p>
          <a:p>
            <a:pPr algn="l">
              <a:spcAft>
                <a:spcPts val="1000"/>
              </a:spcAft>
            </a:pPr>
            <a:r>
              <a:rPr sz="1700" b="0">
                <a:solidFill>
                  <a:srgbClr val="222222"/>
                </a:solidFill>
                <a:latin typeface="맑은 고딕"/>
              </a:rPr>
              <a:t>•  APPLY-ON / APPLY-OFF: Standby 전용</a:t>
            </a:r>
          </a:p>
          <a:p>
            <a:pPr algn="l">
              <a:spcAft>
                <a:spcPts val="1000"/>
              </a:spcAft>
            </a:pPr>
            <a:r>
              <a:rPr sz="1700" b="0">
                <a:solidFill>
                  <a:srgbClr val="222222"/>
                </a:solidFill>
                <a:latin typeface="맑은 고딕"/>
              </a:rPr>
              <a:t>•  APPLY-OFF는 의도한 상태를 바꾼다</a:t>
            </a:r>
          </a:p>
          <a:p>
            <a:pPr algn="l">
              <a:spcAft>
                <a:spcPts val="1000"/>
              </a:spcAft>
            </a:pPr>
            <a:r>
              <a:rPr sz="1700" b="0">
                <a:solidFill>
                  <a:srgbClr val="222222"/>
                </a:solidFill>
                <a:latin typeface="맑은 고딕"/>
              </a:rPr>
              <a:t>•  SQL로 멈추면 Broker는 이상으로 판정</a:t>
            </a:r>
          </a:p>
          <a:p>
            <a:pPr algn="l">
              <a:spcAft>
                <a:spcPts val="1000"/>
              </a:spcAft>
            </a:pPr>
            <a:r>
              <a:rPr sz="1700" b="0">
                <a:solidFill>
                  <a:srgbClr val="222222"/>
                </a:solidFill>
                <a:latin typeface="맑은 고딕"/>
              </a:rPr>
              <a:t>•  Standby 하나만 멈출 땐 LogShipping=OFF</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열린 Standby와 상태 전환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라이선스 경계를 함께 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READ ONLY WITH APPLY에서 APPLY-OFF → READ ONLY</a:t>
            </a:r>
          </a:p>
          <a:p>
            <a:pPr algn="l">
              <a:spcAft>
                <a:spcPts val="1000"/>
              </a:spcAft>
            </a:pPr>
            <a:r>
              <a:rPr sz="1700" b="0">
                <a:solidFill>
                  <a:srgbClr val="222222"/>
                </a:solidFill>
                <a:latin typeface="맑은 고딕"/>
              </a:rPr>
              <a:t>•  다시 APPLY-ON → 실시간 조회 재개</a:t>
            </a:r>
          </a:p>
          <a:p>
            <a:pPr algn="l">
              <a:spcAft>
                <a:spcPts val="1000"/>
              </a:spcAft>
            </a:pPr>
            <a:r>
              <a:rPr sz="1700" b="0">
                <a:solidFill>
                  <a:srgbClr val="222222"/>
                </a:solidFill>
                <a:latin typeface="맑은 고딕"/>
              </a:rPr>
              <a:t>•  실시간 조회는 Active Data Guard 옵션 필요</a:t>
            </a:r>
          </a:p>
          <a:p>
            <a:pPr algn="l">
              <a:spcAft>
                <a:spcPts val="1000"/>
              </a:spcAft>
            </a:pPr>
            <a:r>
              <a:rPr sz="1700" b="0">
                <a:solidFill>
                  <a:srgbClr val="222222"/>
                </a:solidFill>
                <a:latin typeface="맑은 고딕"/>
              </a:rPr>
              <a:t>•  마운트 Standby의 APPLY-ON은 기본 기능</a:t>
            </a:r>
          </a:p>
          <a:p>
            <a:pPr algn="l">
              <a:spcAft>
                <a:spcPts val="1000"/>
              </a:spcAft>
            </a:pPr>
            <a:r>
              <a:rPr sz="1700" b="0">
                <a:solidFill>
                  <a:srgbClr val="222222"/>
                </a:solidFill>
                <a:latin typeface="맑은 고딕"/>
              </a:rPr>
              <a:t>•  유지 보수 후 APPLY-ON을 체크리스트에</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보호 모드 변경</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EDIT CONFIGURATION SET PROTECTION MODE AS</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보호 모드는 구성 전체의 설정</a:t>
            </a:r>
          </a:p>
          <a:p>
            <a:pPr algn="l">
              <a:spcAft>
                <a:spcPts val="1000"/>
              </a:spcAft>
            </a:pPr>
            <a:r>
              <a:rPr sz="1700" b="0">
                <a:solidFill>
                  <a:srgbClr val="222222"/>
                </a:solidFill>
                <a:latin typeface="맑은 고딕"/>
              </a:rPr>
              <a:t>•  먼저 Standby의 LogXptMode를 SYNC로</a:t>
            </a:r>
          </a:p>
          <a:p>
            <a:pPr algn="l">
              <a:spcAft>
                <a:spcPts val="1000"/>
              </a:spcAft>
            </a:pPr>
            <a:r>
              <a:rPr sz="1700" b="0">
                <a:solidFill>
                  <a:srgbClr val="222222"/>
                </a:solidFill>
                <a:latin typeface="맑은 고딕"/>
              </a:rPr>
              <a:t>•  Primary에도 LogXptMode를 정해 둔다</a:t>
            </a:r>
          </a:p>
          <a:p>
            <a:pPr algn="l">
              <a:spcAft>
                <a:spcPts val="1000"/>
              </a:spcAft>
            </a:pPr>
            <a:r>
              <a:rPr sz="1700" b="0">
                <a:solidFill>
                  <a:srgbClr val="222222"/>
                </a:solidFill>
                <a:latin typeface="맑은 고딕"/>
              </a:rPr>
              <a:t>•  그다음 MaxAvailability로 올린다</a:t>
            </a:r>
          </a:p>
          <a:p>
            <a:pPr algn="l">
              <a:spcAft>
                <a:spcPts val="1000"/>
              </a:spcAft>
            </a:pPr>
            <a:r>
              <a:rPr sz="1700" b="0">
                <a:solidFill>
                  <a:srgbClr val="222222"/>
                </a:solidFill>
                <a:latin typeface="맑은 고딕"/>
              </a:rPr>
              <a:t>•  순서가 틀리면 ORA-16627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보호 모드를 올리고 내리는 순서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요구 조건이 빠지는 순간을 만들지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올릴 때: 전송 방식 → 보호 모드</a:t>
            </a:r>
          </a:p>
          <a:p>
            <a:pPr algn="l">
              <a:spcAft>
                <a:spcPts val="1000"/>
              </a:spcAft>
            </a:pPr>
            <a:r>
              <a:rPr sz="1700" b="0">
                <a:solidFill>
                  <a:srgbClr val="222222"/>
                </a:solidFill>
                <a:latin typeface="맑은 고딕"/>
              </a:rPr>
              <a:t>•  내릴 때: 보호 모드 → 전송 방식</a:t>
            </a:r>
          </a:p>
          <a:p>
            <a:pPr algn="l">
              <a:spcAft>
                <a:spcPts val="1000"/>
              </a:spcAft>
            </a:pPr>
            <a:r>
              <a:rPr sz="1700" b="0">
                <a:solidFill>
                  <a:srgbClr val="222222"/>
                </a:solidFill>
                <a:latin typeface="맑은 고딕"/>
              </a:rPr>
              <a:t>•  Protection Mode와 PROTECTION_LEVEL 함께 확인</a:t>
            </a:r>
          </a:p>
          <a:p>
            <a:pPr algn="l">
              <a:spcAft>
                <a:spcPts val="1000"/>
              </a:spcAft>
            </a:pPr>
            <a:r>
              <a:rPr sz="1700" b="0">
                <a:solidFill>
                  <a:srgbClr val="222222"/>
                </a:solidFill>
                <a:latin typeface="맑은 고딕"/>
              </a:rPr>
              <a:t>•  SYNC 전환 후 커밋 응답 시간 재측정</a:t>
            </a:r>
          </a:p>
          <a:p>
            <a:pPr algn="l">
              <a:spcAft>
                <a:spcPts val="1000"/>
              </a:spcAft>
            </a:pPr>
            <a:r>
              <a:rPr sz="1700" b="0">
                <a:solidFill>
                  <a:srgbClr val="222222"/>
                </a:solidFill>
                <a:latin typeface="맑은 고딕"/>
              </a:rPr>
              <a:t>•  원거리라면 FASTSYNC나 Far Sync 검토</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13.10</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구성 비활성화와 제거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DISABLE: 관리만 멈춘다</a:t>
            </a:r>
          </a:p>
          <a:p>
            <a:pPr algn="l">
              <a:spcAft>
                <a:spcPts val="800"/>
              </a:spcAft>
            </a:pPr>
            <a:r>
              <a:rPr sz="1600" b="0">
                <a:solidFill>
                  <a:srgbClr val="FFFFFF"/>
                </a:solidFill>
                <a:latin typeface="맑은 고딕"/>
              </a:rPr>
              <a:t>•  REMOVE: 구성 정보까지 지운다</a:t>
            </a:r>
          </a:p>
          <a:p>
            <a:pPr algn="l">
              <a:spcAft>
                <a:spcPts val="800"/>
              </a:spcAft>
            </a:pPr>
            <a:r>
              <a:rPr sz="1600" b="0">
                <a:solidFill>
                  <a:srgbClr val="FFFFFF"/>
                </a:solidFill>
                <a:latin typeface="맑은 고딕"/>
              </a:rPr>
              <a:t>•  EXPORT / IMPORT CONFIGURATION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비활성화</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Data Guard는 계속 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DISABLE CONFIGURATION / DATABASE / FAR_SYNC</a:t>
            </a:r>
          </a:p>
          <a:p>
            <a:pPr algn="l">
              <a:spcAft>
                <a:spcPts val="1000"/>
              </a:spcAft>
            </a:pPr>
            <a:r>
              <a:rPr sz="1700" b="0">
                <a:solidFill>
                  <a:srgbClr val="222222"/>
                </a:solidFill>
                <a:latin typeface="맑은 고딕"/>
              </a:rPr>
              <a:t>•  전송과 적용은 SPFILE 설정대로 계속</a:t>
            </a:r>
          </a:p>
          <a:p>
            <a:pPr algn="l">
              <a:spcAft>
                <a:spcPts val="1000"/>
              </a:spcAft>
            </a:pPr>
            <a:r>
              <a:rPr sz="1700" b="0">
                <a:solidFill>
                  <a:srgbClr val="222222"/>
                </a:solidFill>
                <a:latin typeface="맑은 고딕"/>
              </a:rPr>
              <a:t>•  사라지는 것은 Broker로 관리하는 능력</a:t>
            </a:r>
          </a:p>
          <a:p>
            <a:pPr algn="l">
              <a:spcAft>
                <a:spcPts val="1000"/>
              </a:spcAft>
            </a:pPr>
            <a:r>
              <a:rPr sz="1700" b="0">
                <a:solidFill>
                  <a:srgbClr val="222222"/>
                </a:solidFill>
                <a:latin typeface="맑은 고딕"/>
              </a:rPr>
              <a:t>•  Primary는 구성 전체로만 비활성화</a:t>
            </a:r>
          </a:p>
          <a:p>
            <a:pPr algn="l">
              <a:spcAft>
                <a:spcPts val="1000"/>
              </a:spcAft>
            </a:pPr>
            <a:r>
              <a:rPr sz="1700" b="0">
                <a:solidFill>
                  <a:srgbClr val="222222"/>
                </a:solidFill>
                <a:latin typeface="맑은 고딕"/>
              </a:rPr>
              <a:t>•  구성 파일 위치 변경 전에는 반드시 비활성화</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제거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기본 동작은 목적지까지 지운다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REMOVE DATABASE, REMOVE FAR_SYNC</a:t>
            </a:r>
          </a:p>
          <a:p>
            <a:pPr algn="l">
              <a:spcAft>
                <a:spcPts val="1000"/>
              </a:spcAft>
            </a:pPr>
            <a:r>
              <a:rPr sz="1700" b="0">
                <a:solidFill>
                  <a:srgbClr val="222222"/>
                </a:solidFill>
                <a:latin typeface="맑은 고딕"/>
              </a:rPr>
              <a:t>•  REMOVE CONFIGURATION: 프로필과 구성 정보 삭제</a:t>
            </a:r>
          </a:p>
          <a:p>
            <a:pPr algn="l">
              <a:spcAft>
                <a:spcPts val="1000"/>
              </a:spcAft>
            </a:pPr>
            <a:r>
              <a:rPr sz="1700" b="0">
                <a:solidFill>
                  <a:srgbClr val="222222"/>
                </a:solidFill>
                <a:latin typeface="맑은 고딕"/>
              </a:rPr>
              <a:t>•  데이터베이스 자체는 영향 없음</a:t>
            </a:r>
          </a:p>
          <a:p>
            <a:pPr algn="l">
              <a:spcAft>
                <a:spcPts val="1000"/>
              </a:spcAft>
            </a:pPr>
            <a:r>
              <a:rPr sz="1700" b="0">
                <a:solidFill>
                  <a:srgbClr val="222222"/>
                </a:solidFill>
                <a:latin typeface="맑은 고딕"/>
              </a:rPr>
              <a:t>•  PRESERVE DESTINATIONS로 목적지 보존</a:t>
            </a:r>
          </a:p>
          <a:p>
            <a:pPr algn="l">
              <a:spcAft>
                <a:spcPts val="1000"/>
              </a:spcAft>
            </a:pPr>
            <a:r>
              <a:rPr sz="1700" b="0">
                <a:solidFill>
                  <a:srgbClr val="222222"/>
                </a:solidFill>
                <a:latin typeface="맑은 고딕"/>
              </a:rPr>
              <a:t>•  Fast-Start Failover가 켜져 있으면 제거 불가</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구성 메타데이터 보존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구성 파일은 RMAN 백업에 들어가지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EXPORT CONFIGURATION TO '파일명'</a:t>
            </a:r>
          </a:p>
          <a:p>
            <a:pPr algn="l">
              <a:spcAft>
                <a:spcPts val="1000"/>
              </a:spcAft>
            </a:pPr>
            <a:r>
              <a:rPr sz="1700" b="0">
                <a:solidFill>
                  <a:srgbClr val="222222"/>
                </a:solidFill>
                <a:latin typeface="맑은 고딕"/>
              </a:rPr>
              <a:t>•  trace 디렉터리에 텍스트로 저장</a:t>
            </a:r>
          </a:p>
          <a:p>
            <a:pPr algn="l">
              <a:spcAft>
                <a:spcPts val="1000"/>
              </a:spcAft>
            </a:pPr>
            <a:r>
              <a:rPr sz="1700" b="0">
                <a:solidFill>
                  <a:srgbClr val="222222"/>
                </a:solidFill>
                <a:latin typeface="맑은 고딕"/>
              </a:rPr>
              <a:t>•  IMPORT CONFIGURATION FROM '파일명'</a:t>
            </a:r>
          </a:p>
          <a:p>
            <a:pPr algn="l">
              <a:spcAft>
                <a:spcPts val="1000"/>
              </a:spcAft>
            </a:pPr>
            <a:r>
              <a:rPr sz="1700" b="0">
                <a:solidFill>
                  <a:srgbClr val="222222"/>
                </a:solidFill>
                <a:latin typeface="맑은 고딕"/>
              </a:rPr>
              <a:t>•  버전 다운그레이드 후 구성 복원에 사용</a:t>
            </a:r>
          </a:p>
          <a:p>
            <a:pPr algn="l">
              <a:spcAft>
                <a:spcPts val="1000"/>
              </a:spcAft>
            </a:pPr>
            <a:r>
              <a:rPr sz="1700" b="0">
                <a:solidFill>
                  <a:srgbClr val="222222"/>
                </a:solidFill>
                <a:latin typeface="맑은 고딕"/>
              </a:rPr>
              <a:t>•  내보낸 파일은 별도 위치로 복사 보관</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13.11</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운영 시 주의점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혼합 운영 금지</a:t>
            </a:r>
          </a:p>
          <a:p>
            <a:pPr algn="l">
              <a:spcAft>
                <a:spcPts val="800"/>
              </a:spcAft>
            </a:pPr>
            <a:r>
              <a:rPr sz="1600" b="0">
                <a:solidFill>
                  <a:srgbClr val="FFFFFF"/>
                </a:solidFill>
                <a:latin typeface="맑은 고딕"/>
              </a:rPr>
              <a:t>•  평소에 드러나지 않는 설정 점검</a:t>
            </a:r>
          </a:p>
          <a:p>
            <a:pPr algn="l">
              <a:spcAft>
                <a:spcPts val="800"/>
              </a:spcAft>
            </a:pPr>
            <a:r>
              <a:rPr sz="1600" b="0">
                <a:solidFill>
                  <a:srgbClr val="FFFFFF"/>
                </a:solidFill>
                <a:latin typeface="맑은 고딕"/>
              </a:rPr>
              <a:t>•  의도한 상태를 절차에 반영</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운영 시 주의점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평소에는 티가 나지 않는 것들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모든 멤버를 Broker로, 혼합 운영 금지</a:t>
            </a:r>
          </a:p>
          <a:p>
            <a:pPr algn="l">
              <a:spcAft>
                <a:spcPts val="1000"/>
              </a:spcAft>
            </a:pPr>
            <a:r>
              <a:rPr sz="1700" b="0">
                <a:solidFill>
                  <a:srgbClr val="222222"/>
                </a:solidFill>
                <a:latin typeface="맑은 고딕"/>
              </a:rPr>
              <a:t>•  기존 스크립트의 SQL 적용 제어를 DGMGRL로</a:t>
            </a:r>
          </a:p>
          <a:p>
            <a:pPr algn="l">
              <a:spcAft>
                <a:spcPts val="1000"/>
              </a:spcAft>
            </a:pPr>
            <a:r>
              <a:rPr sz="1700" b="0">
                <a:solidFill>
                  <a:srgbClr val="222222"/>
                </a:solidFill>
                <a:latin typeface="맑은 고딕"/>
              </a:rPr>
              <a:t>•  리스너 변경 때 _DGMGRL 정적 서비스 확인</a:t>
            </a:r>
          </a:p>
          <a:p>
            <a:pPr algn="l">
              <a:spcAft>
                <a:spcPts val="1000"/>
              </a:spcAft>
            </a:pPr>
            <a:r>
              <a:rPr sz="1700" b="0">
                <a:solidFill>
                  <a:srgbClr val="222222"/>
                </a:solidFill>
                <a:latin typeface="맑은 고딕"/>
              </a:rPr>
              <a:t>•  연결 식별자는 모든 멤버에서 같게</a:t>
            </a:r>
          </a:p>
          <a:p>
            <a:pPr algn="l">
              <a:spcAft>
                <a:spcPts val="1000"/>
              </a:spcAft>
            </a:pPr>
            <a:r>
              <a:rPr sz="1700" b="0">
                <a:solidFill>
                  <a:srgbClr val="222222"/>
                </a:solidFill>
                <a:latin typeface="맑은 고딕"/>
              </a:rPr>
              <a:t>•  DG_BROKER_START는 SCOPE=BOTH로</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Broker: 생성·관리·감시·역할 전환을 구성 단위로</a:t>
            </a:r>
          </a:p>
          <a:p>
            <a:pPr algn="l">
              <a:spcAft>
                <a:spcPts val="1000"/>
              </a:spcAft>
            </a:pPr>
            <a:r>
              <a:rPr sz="1600" b="0">
                <a:solidFill>
                  <a:srgbClr val="222222"/>
                </a:solidFill>
                <a:latin typeface="맑은 고딕"/>
              </a:rPr>
              <a:t>•  DMON + 구성 파일 dr1/dr2, DG_BROKER_START, drc 로그</a:t>
            </a:r>
          </a:p>
          <a:p>
            <a:pPr algn="l">
              <a:spcAft>
                <a:spcPts val="1000"/>
              </a:spcAft>
            </a:pPr>
            <a:r>
              <a:rPr sz="1600" b="0">
                <a:solidFill>
                  <a:srgbClr val="222222"/>
                </a:solidFill>
                <a:latin typeface="맑은 고딕"/>
              </a:rPr>
              <a:t>•  멤버 이름은 DB_UNIQUE_NAME, Primary 1 + 최대 30</a:t>
            </a:r>
          </a:p>
          <a:p>
            <a:pPr algn="l">
              <a:spcAft>
                <a:spcPts val="1000"/>
              </a:spcAft>
            </a:pPr>
            <a:r>
              <a:rPr sz="1600" b="0">
                <a:solidFill>
                  <a:srgbClr val="222222"/>
                </a:solidFill>
                <a:latin typeface="맑은 고딕"/>
              </a:rPr>
              <a:t>•  전제: SPFILE, _DGMGRL 정적 서비스, SERVICE 목적지 정리</a:t>
            </a:r>
          </a:p>
          <a:p>
            <a:pPr algn="l">
              <a:spcAft>
                <a:spcPts val="1000"/>
              </a:spcAft>
            </a:pPr>
            <a:r>
              <a:rPr sz="1600" b="0">
                <a:solidFill>
                  <a:srgbClr val="222222"/>
                </a:solidFill>
                <a:latin typeface="맑은 고딕"/>
              </a:rPr>
              <a:t>•  CREATE → ADD → ENABLE, 속성은 SET PROPERTY</a:t>
            </a:r>
          </a:p>
          <a:p>
            <a:pPr algn="l">
              <a:spcAft>
                <a:spcPts val="1000"/>
              </a:spcAft>
            </a:pPr>
            <a:r>
              <a:rPr sz="1600" b="0">
                <a:solidFill>
                  <a:srgbClr val="222222"/>
                </a:solidFill>
                <a:latin typeface="맑은 고딕"/>
              </a:rPr>
              <a:t>•  SQL 변경은 덮어쓰임, 상태 전환과 보호 모드 순서</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퀴즈 (1/2)</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Q1. 접속 후 ORA-16525이면? → DG_BROKER_START 확인</a:t>
            </a:r>
          </a:p>
          <a:p>
            <a:pPr algn="l">
              <a:spcAft>
                <a:spcPts val="1000"/>
              </a:spcAft>
            </a:pPr>
            <a:r>
              <a:rPr sz="1600" b="0">
                <a:solidFill>
                  <a:srgbClr val="222222"/>
                </a:solidFill>
                <a:latin typeface="맑은 고딕"/>
              </a:rPr>
              <a:t>•  Q2. ADD DATABASE에서 ORA-16698이면? → SERVICE 목적지 정리</a:t>
            </a:r>
          </a:p>
          <a:p>
            <a:pPr algn="l">
              <a:spcAft>
                <a:spcPts val="1000"/>
              </a:spcAft>
            </a:pPr>
            <a:r>
              <a:rPr sz="1600" b="0">
                <a:solidFill>
                  <a:srgbClr val="222222"/>
                </a:solidFill>
                <a:latin typeface="맑은 고딕"/>
              </a:rPr>
              <a:t>•  Q3. 구성 파일은 멤버당 몇 벌? → 두 벌</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퀴즈 (2/2)</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Q4. _DGMGRL 정적 서비스가 필요한 이유는? → 꺼진 인스턴스 기동</a:t>
            </a:r>
          </a:p>
          <a:p>
            <a:pPr algn="l">
              <a:spcAft>
                <a:spcPts val="1000"/>
              </a:spcAft>
            </a:pPr>
            <a:r>
              <a:rPr sz="1600" b="0">
                <a:solidFill>
                  <a:srgbClr val="222222"/>
                </a:solidFill>
                <a:latin typeface="맑은 고딕"/>
              </a:rPr>
              <a:t>•  Q5. 관리 파라미터를 SQL로 바꾸면? → 다음 속성 적용 때 덮어씀</a:t>
            </a:r>
          </a:p>
          <a:p>
            <a:pPr algn="l">
              <a:spcAft>
                <a:spcPts val="1000"/>
              </a:spcAft>
            </a:pPr>
            <a:r>
              <a:rPr sz="1600" b="0">
                <a:solidFill>
                  <a:srgbClr val="222222"/>
                </a:solidFill>
                <a:latin typeface="맑은 고딕"/>
              </a:rPr>
              <a:t>•  Q6. 보호 모드 변경에서 ORA-16627이면? → LogXptMode 먼저</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실습 개요</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01 전제 조건 점검 / 02 Broker 켜기 (13.3, 13.5)</a:t>
            </a:r>
          </a:p>
          <a:p>
            <a:pPr algn="l">
              <a:spcAft>
                <a:spcPts val="1000"/>
              </a:spcAft>
            </a:pPr>
            <a:r>
              <a:rPr sz="1600" b="0">
                <a:solidFill>
                  <a:srgbClr val="222222"/>
                </a:solidFill>
                <a:latin typeface="맑은 고딕"/>
              </a:rPr>
              <a:t>•  03 구성 만들기와 ORA-16698 (13.5.3, 13.6)</a:t>
            </a:r>
          </a:p>
          <a:p>
            <a:pPr algn="l">
              <a:spcAft>
                <a:spcPts val="1000"/>
              </a:spcAft>
            </a:pPr>
            <a:r>
              <a:rPr sz="1600" b="0">
                <a:solidFill>
                  <a:srgbClr val="222222"/>
                </a:solidFill>
                <a:latin typeface="맑은 고딕"/>
              </a:rPr>
              <a:t>•  04 활성화와 인수 확인 (13.6.3, 13.6.4)</a:t>
            </a:r>
          </a:p>
          <a:p>
            <a:pPr algn="l">
              <a:spcAft>
                <a:spcPts val="1000"/>
              </a:spcAft>
            </a:pPr>
            <a:r>
              <a:rPr sz="1600" b="0">
                <a:solidFill>
                  <a:srgbClr val="222222"/>
                </a:solidFill>
                <a:latin typeface="맑은 고딕"/>
              </a:rPr>
              <a:t>•  05 상태 제어와 속성 (13.7, 13.9)</a:t>
            </a:r>
          </a:p>
          <a:p>
            <a:pPr algn="l">
              <a:spcAft>
                <a:spcPts val="1000"/>
              </a:spcAft>
            </a:pPr>
            <a:r>
              <a:rPr sz="1600" b="0">
                <a:solidFill>
                  <a:srgbClr val="222222"/>
                </a:solidFill>
                <a:latin typeface="맑은 고딕"/>
              </a:rPr>
              <a:t>•  06 SQL로 바꾸면 (13.8)</a:t>
            </a:r>
          </a:p>
          <a:p>
            <a:pPr algn="l">
              <a:spcAft>
                <a:spcPts val="1000"/>
              </a:spcAft>
            </a:pPr>
            <a:r>
              <a:rPr sz="1600" b="0">
                <a:solidFill>
                  <a:srgbClr val="222222"/>
                </a:solidFill>
                <a:latin typeface="맑은 고딕"/>
              </a:rPr>
              <a:t>•  07 재기동 검증과 스냅샷 (13.4.3)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
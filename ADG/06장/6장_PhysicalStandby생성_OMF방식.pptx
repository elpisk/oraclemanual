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 DUPLICATE가 실패했던 경우를 떠올려 보면 거의 모두 파일 이름과 경로 문제였습니다. 치환 쌍이 PDB 디렉터리를 놓쳤거나, 치환 결과 디렉터리를 만들어 두지 않았거나, 같은 이름 때문에 이름 검사에 걸린 경우입니다. 이 일들은 Standby를 한 번 만들고 끝나지도 않습니다. Primary 쪽에 새 마운트 지점이 생기면 Standby의 규칙도 고쳐야 하고, 파라미터 길이 제한 255자에 걸리는 일도 생깁니다. OMF는 이 작업을 데이터베이스 쪽으로 옮겨 놓은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OMF에는 켜고 끄는 스위치가 따로 없습니다. DB_CREATE_FILE_DEST 같은 파라미터에 값이 있으면 이름을 생략한 파일 생성이 OMF로 처리되고, 값이 없으면 이름을 생략할 수 없을 뿐입니다. CREATE TABLESPACE에 크기만 적었을 때 ORA-02236이 나면 그 데이터베이스는 OMF 위치가 설정되지 않은 상태입니다. 4장에서 아카이브 목적지를 USE_DB_RECOVERY_FILE_DEST로 잡았다면 아카이브 로그는 이미 OMF 이름으로 쌓이고 있었다는 것도 함께 확인해 보면 OMF가 낯선 기능이 아니게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 지정 방식으로 오래 운영한 서버에는 데이터 사전에서는 사라졌는데 디스크에는 남은 파일이 꽤 있습니다. 테이블스페이스를 지울 때 옵션을 빠뜨렸기 때문입니다. OMF 파일은 데이터베이스가 소유하므로 테이블스페이스나 로그 그룹을 지우면 파일도 함께 지워집니다. 기존 일반 파일을 OMF로 정리하고 싶다면 ALTER DATABASE MOVE DATAFILE을 TO 절 없이 실행하면 됩니다. DB_CREATE_FILE_DEST 아래로 온라인 상태에서 옮겨지고 이름도 OMF 형식으로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 문서에 OMF로 만들었다고 적혀 있어도 실제로는 그렇지 않은 경우가 있습니다. DBCA의 datafileDestination 옵션은 파일을 둘 최상위 경로를 정할 뿐이라서, 템플릿이 정한 이름인 system01.dbf 같은 일반 파일이 만들어지고 DB_CREATE_FILE_DEST도 비어 있을 수 있습니다. 생성 후에 DB_CREATE_FILE_DEST를 설정하면 그 뒤에 만드는 파일부터 OMF가 되고 기존 파일은 일반 파일로 남습니다. 어느 쪽이든 V$DATAFILE의 이름을 직접 보고 판단하는 습관이 가장 확실합니다.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파라미터 하나만 설정해도 OMF는 동작합니다. 온라인 로그 전용 위치가 없으면 온라인 로그와 컨트롤 파일도 이 위치를 씁니다. 동적 파라미터라서 값을 바꾸면 그 뒤에 만드는 파일부터 새 위치에 생기고, 이미 있는 파일은 움직이지 않습니다. 세션 단위로 바꿔 특정 테이블스페이스만 다른 볼륨에 둘 수도 있지만, Standby는 Primary의 세션 설정을 모르므로 Standby에서는 그 파일도 Standby의 기본 위치에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 배치를 확실하게 통제하고 싶을 때 쓰는 파라미터입니다. 하나라도 설정되면 DB_CREATE_FILE_DEST와 FRA는 로그 배치에서 빠지고, 설정한 위치 수만큼 멤버가 만들어집니다. 로그를 한 벌만 두고 싶을 때도 이 파라미터 하나만 설정하는 방법을 씁니다. Standby Redo Log도 같은 규칙을 따르므로 ADD STANDBY LOGFILE에 그룹 번호와 크기만 주면 됩니다. 4장에서 배운 SRL 크기와 개수 규칙은 배치 방식과 상관없이 그대로 지켜야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OMF로 Standby를 만든 뒤 가장 많이 놀라는 부분이 여기입니다. 온라인 로그 전용 위치를 주지 않고 DB_CREATE_FILE_DEST와 FRA를 둘 다 설정하면 온라인 로그와 SRL이 두 위치에 하나씩 만들어집니다. 다중화 자체는 바람직하지만, FRA 크기를 아카이브 로그만 생각하고 잡아 두었다면 로그 한 벌만큼 여유가 줄어듭니다. 온라인 로그는 지울 수 있는 파일이 아니어서 FRA의 회수 가능 공간에도 들어가지 않으니, 경보 기준과 크기를 함께 다시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정리하면 단순합니다. 온라인 로그 전용 위치가 있으면 그것이 이기고, 없으면 DB_CREATE_FILE_DEST와 FRA 가운데 값이 있는 곳마다 하나씩 만들어집니다. 컨트롤 파일도 같은 규칙을 따르지만 조건이 하나 붙습니다. 컨트롤 파일을 처음 만드는 시점에 CONTROL_FILES가 비어 있어야 합니다. 값이 이미 있으면 OMF 규칙은 적용되지 않는데, 이 조건이 6.7절의 컨트롤 파일 문제로 이어집니다. Primary와 Standby의 배치를 똑같이 맞출 필요는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 지정 방식에서는 convert 결과 디렉터리가 없어도 인스턴스는 잘 뜨고, DUPLICATE가 파일을 만들 때에야 실패합니다. OMF 위치는 인스턴스가 기동할 때 검사하므로 오류가 훨씬 앞에서 나타납니다. 이때 인스턴스가 뜨지 않으니 RMAN에서는 ORA-01034 같은 접속 오류로만 보이는데, 원인은 Standby 쪽 기동 로그에 있습니다. 반대로 파라미터를 아예 빠뜨리면 검사할 값이 없어 기동은 정상이고, 문제는 DUPLICATE 단계까지 미뤄집니다.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경로를 한 단계씩 읽으면 많은 정보가 나옵니다. 최상위는 관리자가 준 위치이고, 그 아래가 데이터베이스를 구분하는 DB_UNIQUE_NAME, 그 아래가 파일 종류입니다. CDB라면 PDB 파일 앞에 32자리 GUID 디렉터리가 하나 더 들어가고, 루트 컨테이너 파일은 GUID 없이 바로 datafile 아래에 있습니다. FRA 쪽 아카이브 로그와 백업은 날짜 디렉터리로 한 번 더 나뉘어서, 특정 날짜의 아카이브를 찾을 때 경로만 보고도 범위를 좁힐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DB_NAME으로 디렉터리를 만들었다면 Primary와 Standby가 같은 CHICAGO 디렉터리를 쓰게 되고, 한 서버에 둘을 올리면 충돌합니다. DB_UNIQUE_NAME은 구성 안에서 데이터베이스마다 다른 값이라 이 문제가 없습니다. PDB는 이름이 바뀌거나 다른 CDB로 옮겨질 수 있어서 바뀌지 않는 GUID를 씁니다. 물리 Standby는 블록 복제본이므로 GUID도 Primary와 같고, 그래서 두 서버의 파일을 대조할 때 GUID 부분이 좋은 기준이 됩니다. 대신 어느 PDB인지는 V$PDBS를 조회해야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고유 문자열은 파일을 만들 때마다 새로 생기므로 같은 테이블스페이스에 파일을 여러 번 추가해도 이름이 겹치지 않습니다. 대신 system01.dbf처럼 이름에 들어 있던 번호 정보가 사라집니다. 파일 번호를 알려면 V$DATAFILE을 봐야 하고, 온라인 로그와 SRL은 이름 형식이 같아서 V$LOGFILE의 TYPE 열로 구분합니다. 확장자는 도움이 됩니다. 임시 파일이 .tmp로 끝나서 데이터 파일과 같은 디렉터리에 있어도 쉽게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OMF가 켜져 있어도 경로와 이름을 적어 파일을 만드는 것은 허용되고, 그 파일은 일반 파일로 관리됩니다. 반대로 사람이 o1_mf_ 형식의 이름을 직접 붙이려 하면 거부됩니다. 이 제약 덕분에 o1_mf_로 시작하는 파일은 데이터베이스가 만든 것이라고 믿을 수 있습니다. RMAN에서 복원할 때 SET NEWNAME에 TO NEW를 쓰면 위치만 정하고 이름은 OMF가 새로 짓게 할 수 있어서, 백업 스크립트에 파일 이름을 하드코딩하지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교재는 Standby가 OMF를 쓰면 DB_FILE_NAME_CONVERT와 LOG_FILE_NAME_CONVERT를 설정하지 말라고 적어 둡니다. 금지 규칙으로 외우기보다 원리에서 출발하면 자연스럽습니다. convert는 Primary의 파일 이름을 입력으로 받아 일부를 바꾸는 방식이고, OMF는 Primary 이름을 참고하지 않고 Standby 쪽 위치와 DB_UNIQUE_NAME으로 이름을 새로 짓습니다. 입력이 Standby 설정뿐이니 Primary의 디렉터리 구조를 몰라도 되고, CDB와 PDB의 경로 차이도 GUID 계층이 흡수합니다.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검사는 복제본이 원본 파일을 덮어쓰지 못하게 막는 장치입니다. 경로 지정 방식에서 Primary와 Standby를 같은 경로 구조로 맞추기로 했다면 이름이 같을 수밖에 없어서 검사를 꺼야 했습니다. OMF 이름에는 DB_UNIQUE_NAME 디렉터리와 고유 문자열이 들어가므로 원본과 같아지지 않습니다. 검사를 끌 이유가 없고, 켜 두면 실수로 같은 서버의 원본 파일을 가리키는 설정이 섞였을 때 RMAN이 멈춰 줍니다. 실습 서버처럼 한 대에 여러 데이터베이스를 올리는 환경에서 특히 의미가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흔한 상황은 오래 운영한 비OMF Primary 옆에 새 Standby를 붙이는 경우입니다. Standby 파일 이름은 Standby 쪽 파라미터로만 정해지므로 Primary가 어떤 방식이든 Standby는 OMF로 만들 수 있습니다. 반대로 OMF Primary에서 일반 파일 Standby를 만들려면 Primary의 OMF 경로를 Standby 경로로 바꾸는 규칙을 줘야 하는데, 고유 문자열이 섞인 이름이라 다루기 번거롭습니다. 혼합 구성에서 역할 전환 후 생기는 일은 6.10.3에서 이어서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RMAN은 복제본 데이터 파일 이름을 정할 때 위에서부터 차례로 확인하고 처음 찾은 지시를 씁니다. DB_CREATE_FILE_DEST는 마지막 순위라서 convert 값이 남아 있으면 OMF는 쓰이지 않고, 파일이 치환 결과 경로에 일반 이름으로 생깁니다. 오류도 나지 않아 눈치채기 어렵습니다. 5장에서 쓰던 Standby 스크립트나 spfile을 고쳐 OMF로 바꿀 때 가장 흔한 실수가 convert 줄을 하나 남겨 두는 것입니다. 복제 전에 스크립트와 pfile을 같이 훑어보는 것으로 막을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테스트 서버 한 대에 검증용 Standby를 두 개 올리는 상황을 생각해 보겠습니다. 경로 지정 방식이라면 Standby마다 디렉터리 구조를 정하고 convert 쌍을 따로 만들어야 합니다. OMF에서는 두 Standby가 같은 DB_CREATE_FILE_DEST를 쓰더라도 DB_UNIQUE_NAME이 boston과 boston2로 다르니 디렉터리가 자동으로 나뉩니다. 다만 파일 배치 이외의 준비는 그대로 남습니다. Primary의 LOG_ARCHIVE_CONFIG, 전송 목적지, 리스너 등록은 3장과 4장에서 한 것처럼 Standby마다 따로 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5장과 같습니다. Standby 인스턴스를 NOMOUNT로 띄우고 RMAN으로 target과 auxiliary에 연결해 DUPLICATE를 실행합니다. 달라지는 것은 준비량입니다. 5장에서 PDB 디렉터리를 빠뜨려 ORA-19505로 멈췄던 실패는 OMF에서는 생길 수 없습니다. 하위 디렉터리를 데이터베이스가 만들기 때문입니다. 초기 pfile에 DB_CREATE_FILE_DEST를 넣어 두는 데에도 이유가 있습니다. NOMOUNT 단계에서 경로가 검사되므로 잘못된 경로를 DUPLICATE 전에 발견할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SPFILE 절은 Primary의 spfile을 복사한 다음 SET으로 준 값만 덮어씁니다. 그래서 Primary의 DB_CREATE_FILE_DEST가 비어 있으면 Standby도 비어 있게 되고, SET으로 명시해야 Standby가 OMF가 됩니다. 같은 성질 때문에 CONTROL_FILES도 Primary 값이 그대로 들어옵니다. 설치 문서 가운데는 convert 줄을 지우면서 CONTROL_FILES 줄까지 지운 것이 있는데, 그 결과는 6.7절에서 봅니다. 경로가 Primary와 같더라도 OMF 관련 값은 명시해 두면 스크립트만 보고 의도가 읽힙니다.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두 경우는 오류가 나서 오히려 다루기 쉽습니다. 두 번째 경우 RMAN은 배치 지시가 없다는 경고 RMAN-05538을 내고 원본과 같은 이름을 쓰려다 이름 검사에 걸립니다. 5장에서 convert를 빼고 실행했을 때와 같은 오류입니다. 아래 두 경우는 복제가 성공으로 끝납니다. 그래서 OMF 방식에서는 성공 메시지를 확인한 다음 파일 위치를 한 번 더 보는 단계가 필요합니다. 실습 2와 3이 위의 두 실패를 차례로 재현합니다.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종류의 파일 이름을 UNION ALL로 한 번에 뽑아 경로 앞부분으로 묶어 보면 예외가 눈에 띕니다. 모든 행이 BOSTON 계층 아래에 있어야 하고, 한 줄이라도 벗어나면 그 파일 종류의 설정을 다시 봅니다. 로그 멤버 수는 FRA를 함께 설정했다면 2가 정상입니다. 운영체제에서 CHICAGO나 Chicago 같은 디렉터리가 Standby 서버에 새로 생겼는지도 확인합니다. 생겼다면 Primary에서 상속된 경로 파라미터가 있다는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 파일은 OMF 대상이지만 조건부입니다. 컨트롤 파일을 처음 만드는 순간 CONTROL_FILES가 비어 있어야 OMF가 이름과 위치를 정합니다. 이렇게 만들어진 이름은 spfile의 CONTROL_FILES에 기록되고, 다음 기동부터는 일반 데이터베이스처럼 그 값을 읽습니다. CONTROL_FILES는 정적 파라미터라서 SCOPE=BOTH로 바꾸려 하면 거부되고, SPFILE에 기록한 뒤 재기동해야 반영됩니다. 이 두 가지 성질이 다음 슬라이드의 상속 문제와 교정 순서를 설명해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 지정 방식 스크립트에는 SET CONTROL_FILES 줄이 있었습니다. OMF 방식으로 바꾸며 이 줄을 지우면 Primary의 값이 그대로 남고, Standby 서버의 같은 경로에 컨트롤 파일이 만들어집니다. 동작에는 문제가 없지만 관리 면에서 위험합니다. 운영자가 Standby 서버에서 Chicago 디렉터리를 보고 Primary 잔재라고 판단해 지우면 Standby는 다음 기동 때 마운트되지 않습니다. Primary의 컨트롤 파일이 OMF 이름이면 RMAN이 Standby 쪽에 새 OMF 이름으로 만드는 경우가 많지만, 확인 없이 가정하지는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확실한 방법은 SPFILE 절에서 컨트롤 파일 경로를 직접 적는 것입니다. 이렇게 지정한 컨트롤 파일은 일반 이름이지만, OMF와 같은 BOSTON 계층 아래에 두면 모든 파일이 한 계층에 모여 관리 부담이 거의 없습니다. 직접 지정한 경로는 OMF가 관리하지 않으므로 디렉터리를 미리 만들어 두는 편이 안전합니다. PARAMETER_VALUE_CONVERT로 이름을 일괄 치환하는 방법도 있지만, 모든 파라미터 값의 문자열이 바뀌므로 의도하지 않은 값까지 바뀌지 않는지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중요한 이유는 파라미터와 실제 파일 위치가 어긋나는 시간을 만들지 않기 위해서입니다. 새 값을 spfile에 먼저 기록해 두고, 인스턴스를 내린 상태에서 파일을 옮긴 뒤 기동합니다. 복사가 아닌 이동을 쓰는 것도 같은 맥락으로, 옛 위치에 사본이 남으면 나중에 정리하는 사람이 현재 파일을 지울 수 있습니다. CONTROL_FILES에 적힌 파일 중 하나만 없어도 마운트가 실패합니다. ORA-00205는 STARTUP 출력 맨 끝에 한 줄로 붙어 나오므로 Database mounted 문구가 있는지로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 문서 중에는 복제가 끝난 뒤 초기 pfile로 spfile을 다시 만들라고 안내하는 것이 있습니다. 인스턴스가 이미 spfile로 돌고 있으면 ORA-32002로 거부되어 다행히 실행되지 않습니다. 만약 실행된다면 결과는 심각합니다. 초기 pfile은 세 줄짜리라 DB_UNIQUE_NAME, FAL_SERVER, LOG_ARCHIVE_CONFIG, STANDBY_FILE_MANAGEMENT, CONTROL_FILES가 모두 사라지고, 다음 기동 때 Standby는 자신을 chicago로 인식합니다. 복제 후에는 SHOW PARAMETER spfile로 spfile 사용 여부만 확인하고 변경은 ALTER SYSTEM으로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환경의 Data Guard는 ASM 위에 구성되는 경우가 많고, ASM에 만드는 파일은 기본적으로 OMF입니다. 이름 모양은 파일 시스템 OMF와 다릅니다. o1_mf_ 접두어 대신 태그와 두 개의 숫자가 붙는데, 숫자는 ASM 안의 파일 번호와 생성 시점에서 나온 값이라 사람이 정할 수 없습니다. 계층 구조는 같아서 DB_UNIQUE_NAME, PDB GUID, 파일 종류 순서로 내려갑니다. 디스크 그룹 관리 자체는 ADMIN 과정의 ASM 장에서 다루고, 이 과정의 실습은 파일 시스템으로 진행합니다.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교재는 파일 시스템이라면 백업 복사로 Standby를 만들 수도 있지만 ASM이면 RMAN을 써야 한다고 정리합니다. 교재에는 DB_FILE_NAME_CONVERT로 +DATA를 +SBDAT로 바꾸는 예도 있는데, ASM 파일 이름의 뒷부분은 어차피 Standby에서 새로 정해지므로 Standby의 OMF 위치를 자기 디스크 그룹으로 주는 편이 단순합니다. ASM 환경에서는 리스너가 Grid 홈에서, 데이터베이스는 DB 홈에서 돌기 때문에 환경 변수를 잘못 잡아 명령이 엉뚱한 홈에서 실행되는 일이 잦습니다.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Standby를 만든 뒤에도 Primary에서는 데이터 파일이 계속 늘어납니다. AUTO로 두면 Redo Apply가 Standby에서도 같은 파일을 만들어 주는데, 이름은 Standby 쪽 설정으로 정해집니다. OMF Standby라면 Primary가 어느 디렉터리에 파일을 만들든 결과는 Standby의 OMF 위치입니다. 경로 지정 방식에서는 Primary가 새 마운트 지점을 쓰기 시작하면 convert 규칙이 그 경로를 덮지 못해 적용이 멈추거나 UNNAMED 파일이 생깁니다. 이 상황의 진단과 복구 절차는 8장에서 실습으로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가지를 한 묶음으로 생각하면 설정 누락이 줄어듭니다. 특히 Primary에도 같은 설정을 해 두는 것이 중요한데, Switchover 뒤에는 지금의 Primary가 Standby가 되어 파일을 받아 만들어야 하기 때문입니다. 점검할 때는 양쪽에서 같은 V$PARAMETER 조회를 실행해 결과를 나란히 놓고 봅니다. 한쪽에만 convert 값이 남아 있는 상태가 가장 찾기 어렵습니다. 평소에는 아무 증상이 없다가 파일 추가나 역할 전환 때에야 드러나기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방식으로 만든 Standby는 내용이 같은 물리 Standby입니다. 파일 번호도, 크기도, PDB GUID도 같고 달라지는 것은 이름과 위치뿐입니다. 그 차이가 준비 작업, 실패 양상, 이후 운영에서 조금씩 다른 결과를 냅니다. OMF가 모든 항목에서 유리한 것은 아닙니다. 파일 이름의 가독성은 경로 지정 방식이 낫고, 이름에 파일 번호가 들어 있어 운영자가 다루기도 편합니다. 어느 항목에 무게를 둘지는 조직의 운영 습관에 따라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구축한다면 OMF를 먼저 검토하는 것이 무난합니다. 반대로 파일 이름에 업무 의미를 담는 사내 규칙이 있거나, 파일마다 서로 다른 마운트 지점에 정밀하게 배치해야 하는 구성이라면 경로 지정 방식이 맞습니다. OMF는 데이터 파일을 한 위치로 모으기 때문입니다. 기존 모니터링이나 용량 점검 스크립트가 system01.dbf 같은 이름 패턴으로 파일을 찾고 있다면 OMF로 바꾸는 순간 조용히 결과가 비게 되므로, 전환 전에 반드시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혼합 구성은 평소에는 아무 문제가 없어서 역할 전환을 해 보기 전까지 위험이 드러나지 않습니다. 전환 뒤 boston이 Primary가 되어 OMF 파일을 만들면, chicago는 Standby로서 그 파일을 자기 쪽에 만들어야 합니다. 이때 chicago에 OMF 위치가 없으면 OMF 경로를 일반 경로로 바꾸는 convert 규칙이 필요한데, 미리 맞춰 두기가 번거롭습니다. chicago에도 DB_CREATE_FILE_DEST를 설정해 두면 기존 파일은 그대로 두고 새 파일만 OMF로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 운영된 시스템에서 자주 만나는 구성입니다. 데이터 파일이 /data01부터 /data06까지 흩어져 있고 새 재해 복구 서버에는 큰 볼륨 하나만 있습니다. 경로 지정 방식이라면 치환 쌍 여섯 개에 PDB 디렉터리까지 대응시켜야 하지만 OMF는 한 줄입니다. 그래도 계획서에 세 가지는 꼭 들어가야 합니다. 컨트롤 파일 경로를 SET으로 명시할 것, 로그 다중화를 고려해 FRA 크기를 다시 잡을 것, Switchover 시험 전에 Primary에도 OMF 위치를 설정할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OMF는 이름을 사람이 정하지 않는 대신 몇 가지 운영 습관을 바꾸게 합니다. 파일을 옮길 때 운영체제 명령을 쓰지 않고 데이터베이스 명령을 씁니다. Standby를 재구축할 때마다 고유 문자열이 바뀌므로 운영 문서에 파일 이름을 적어 두면 금방 맞지 않게 됩니다. 정리 작업에서는 대소문자만 다른 Boston과 BOSTON 같은 디렉터리가 사고의 원인이 되기 쉽습니다. 디렉터리를 지우기 전에 V$CONTROLFILE, V$DATAFILE, V$LOGFILE에서 그 경로를 쓰는 파일이 없는지 먼저 조회합니다.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Physical Standby 생성 ② OMF 방식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파일 이름은 데이터베이스가, 위치는 관리자가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제6장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OMF가 관리하는 파일과 수명 관리 방식을 설명한다</a:t>
            </a:r>
          </a:p>
          <a:p>
            <a:pPr algn="l">
              <a:spcAft>
                <a:spcPts val="1000"/>
              </a:spcAft>
            </a:pPr>
            <a:r>
              <a:rPr sz="1600" b="0">
                <a:solidFill>
                  <a:srgbClr val="222222"/>
                </a:solidFill>
                <a:latin typeface="맑은 고딕"/>
              </a:rPr>
              <a:t>•  OMF 파라미터 조합별 파일 배치를 판단한다</a:t>
            </a:r>
          </a:p>
          <a:p>
            <a:pPr algn="l">
              <a:spcAft>
                <a:spcPts val="1000"/>
              </a:spcAft>
            </a:pPr>
            <a:r>
              <a:rPr sz="1600" b="0">
                <a:solidFill>
                  <a:srgbClr val="222222"/>
                </a:solidFill>
                <a:latin typeface="맑은 고딕"/>
              </a:rPr>
              <a:t>•  OMF 디렉터리 계층과 이름 형식을 읽는다</a:t>
            </a:r>
          </a:p>
          <a:p>
            <a:pPr algn="l">
              <a:spcAft>
                <a:spcPts val="1000"/>
              </a:spcAft>
            </a:pPr>
            <a:r>
              <a:rPr sz="1600" b="0">
                <a:solidFill>
                  <a:srgbClr val="222222"/>
                </a:solidFill>
                <a:latin typeface="맑은 고딕"/>
              </a:rPr>
              <a:t>•  OMF Standby에 convert가 필요 없는 이유를 설명한다</a:t>
            </a:r>
          </a:p>
          <a:p>
            <a:pPr algn="l">
              <a:spcAft>
                <a:spcPts val="1000"/>
              </a:spcAft>
            </a:pPr>
            <a:r>
              <a:rPr sz="1600" b="0">
                <a:solidFill>
                  <a:srgbClr val="222222"/>
                </a:solidFill>
                <a:latin typeface="맑은 고딕"/>
              </a:rPr>
              <a:t>•  SPFILE 절의 CONTROL_FILES 상속을 예방·교정한다</a:t>
            </a:r>
          </a:p>
          <a:p>
            <a:pPr algn="l">
              <a:spcAft>
                <a:spcPts val="1000"/>
              </a:spcAft>
            </a:pPr>
            <a:r>
              <a:rPr sz="1600" b="0">
                <a:solidFill>
                  <a:srgbClr val="222222"/>
                </a:solidFill>
                <a:latin typeface="맑은 고딕"/>
              </a:rPr>
              <a:t>•  ASM, AUTO와의 관계를 알고 두 방식 중 하나를 고른다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6.2  OMF가 해결하는 문제  /  6.3  OMF 파라미터와 배치 규칙</a:t>
            </a:r>
          </a:p>
          <a:p>
            <a:pPr algn="l">
              <a:spcAft>
                <a:spcPts val="1000"/>
              </a:spcAft>
            </a:pPr>
            <a:r>
              <a:rPr sz="1600" b="0">
                <a:solidFill>
                  <a:srgbClr val="222222"/>
                </a:solidFill>
                <a:latin typeface="맑은 고딕"/>
              </a:rPr>
              <a:t>•  6.4  OMF 파일 이름 규칙</a:t>
            </a:r>
          </a:p>
          <a:p>
            <a:pPr algn="l">
              <a:spcAft>
                <a:spcPts val="1000"/>
              </a:spcAft>
            </a:pPr>
            <a:r>
              <a:rPr sz="1600" b="0">
                <a:solidFill>
                  <a:srgbClr val="222222"/>
                </a:solidFill>
                <a:latin typeface="맑은 고딕"/>
              </a:rPr>
              <a:t>•  6.5  convert 파라미터가 필요 없는 이유</a:t>
            </a:r>
          </a:p>
          <a:p>
            <a:pPr algn="l">
              <a:spcAft>
                <a:spcPts val="1000"/>
              </a:spcAft>
            </a:pPr>
            <a:r>
              <a:rPr sz="1600" b="0">
                <a:solidFill>
                  <a:srgbClr val="222222"/>
                </a:solidFill>
                <a:latin typeface="맑은 고딕"/>
              </a:rPr>
              <a:t>•  6.6  OMF 방식 DUPLICATE  /  6.7  컨트롤 파일과 CONTROL_FILES</a:t>
            </a:r>
          </a:p>
          <a:p>
            <a:pPr algn="l">
              <a:spcAft>
                <a:spcPts val="1000"/>
              </a:spcAft>
            </a:pPr>
            <a:r>
              <a:rPr sz="1600" b="0">
                <a:solidFill>
                  <a:srgbClr val="222222"/>
                </a:solidFill>
                <a:latin typeface="맑은 고딕"/>
              </a:rPr>
              <a:t>•  6.8  ASM  /  6.9  STANDBY_FILE_MANAGEMENT=AUTO</a:t>
            </a:r>
          </a:p>
          <a:p>
            <a:pPr algn="l">
              <a:spcAft>
                <a:spcPts val="1000"/>
              </a:spcAft>
            </a:pPr>
            <a:r>
              <a:rPr sz="1600" b="0">
                <a:solidFill>
                  <a:srgbClr val="222222"/>
                </a:solidFill>
                <a:latin typeface="맑은 고딕"/>
              </a:rPr>
              <a:t>•  6.10  두 방식의 비교와 선택  /  6.11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OMF가 해결하는 문제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경로 지정 방식에서 사람이 맡던 일</a:t>
            </a:r>
          </a:p>
          <a:p>
            <a:pPr algn="l">
              <a:spcAft>
                <a:spcPts val="800"/>
              </a:spcAft>
            </a:pPr>
            <a:r>
              <a:rPr sz="1600" b="0">
                <a:solidFill>
                  <a:srgbClr val="FFFFFF"/>
                </a:solidFill>
                <a:latin typeface="맑은 고딕"/>
              </a:rPr>
              <a:t>•  OMF의 정의와 대상 파일</a:t>
            </a:r>
          </a:p>
          <a:p>
            <a:pPr algn="l">
              <a:spcAft>
                <a:spcPts val="800"/>
              </a:spcAft>
            </a:pPr>
            <a:r>
              <a:rPr sz="1600" b="0">
                <a:solidFill>
                  <a:srgbClr val="FFFFFF"/>
                </a:solidFill>
                <a:latin typeface="맑은 고딕"/>
              </a:rPr>
              <a:t>•  파일 수명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경로 지정 방식에서 관리자가 맡던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이름은 Primary 이름의 문자열 치환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 규칙이 Primary 디렉터리를 모두 덮어야 함</a:t>
            </a:r>
          </a:p>
          <a:p>
            <a:pPr algn="l">
              <a:spcAft>
                <a:spcPts val="1000"/>
              </a:spcAft>
            </a:pPr>
            <a:r>
              <a:rPr sz="1700" b="0">
                <a:solidFill>
                  <a:srgbClr val="222222"/>
                </a:solidFill>
                <a:latin typeface="맑은 고딕"/>
              </a:rPr>
              <a:t>•  치환 결과 디렉터리는 Standby에 미리 생성</a:t>
            </a:r>
          </a:p>
          <a:p>
            <a:pPr algn="l">
              <a:spcAft>
                <a:spcPts val="1000"/>
              </a:spcAft>
            </a:pPr>
            <a:r>
              <a:rPr sz="1700" b="0">
                <a:solidFill>
                  <a:srgbClr val="222222"/>
                </a:solidFill>
                <a:latin typeface="맑은 고딕"/>
              </a:rPr>
              <a:t>•  CONTROL_FILES 별도 지정, 필요하면 NOFILENAMECHECK</a:t>
            </a:r>
          </a:p>
          <a:p>
            <a:pPr algn="l">
              <a:spcAft>
                <a:spcPts val="1000"/>
              </a:spcAft>
            </a:pPr>
            <a:r>
              <a:rPr sz="1700" b="0">
                <a:solidFill>
                  <a:srgbClr val="222222"/>
                </a:solidFill>
                <a:latin typeface="맑은 고딕"/>
              </a:rPr>
              <a:t>•  Primary에 새 경로가 생기면 규칙도 다시 손봄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OMF의 정의와 대상 파일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위치만 주면 이름은 데이터베이스가 짓는다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파일, 임시 파일, 온라인 로그, SRL</a:t>
            </a:r>
          </a:p>
          <a:p>
            <a:pPr algn="l">
              <a:spcAft>
                <a:spcPts val="1000"/>
              </a:spcAft>
            </a:pPr>
            <a:r>
              <a:rPr sz="1700" b="0">
                <a:solidFill>
                  <a:srgbClr val="222222"/>
                </a:solidFill>
                <a:latin typeface="맑은 고딕"/>
              </a:rPr>
              <a:t>•  컨트롤 파일은 CONTROL_FILES가 비어 있을 때만</a:t>
            </a:r>
          </a:p>
          <a:p>
            <a:pPr algn="l">
              <a:spcAft>
                <a:spcPts val="1000"/>
              </a:spcAft>
            </a:pPr>
            <a:r>
              <a:rPr sz="1700" b="0">
                <a:solidFill>
                  <a:srgbClr val="222222"/>
                </a:solidFill>
                <a:latin typeface="맑은 고딕"/>
              </a:rPr>
              <a:t>•  FRA의 아카이브 로그, 백업, Flashback 로그</a:t>
            </a:r>
          </a:p>
          <a:p>
            <a:pPr algn="l">
              <a:spcAft>
                <a:spcPts val="1000"/>
              </a:spcAft>
            </a:pPr>
            <a:r>
              <a:rPr sz="1700" b="0">
                <a:solidFill>
                  <a:srgbClr val="222222"/>
                </a:solidFill>
                <a:latin typeface="맑은 고딕"/>
              </a:rPr>
              <a:t>•  패스워드 파일, 경보 로그, 트레이스는 대상 아님</a:t>
            </a:r>
          </a:p>
          <a:p>
            <a:pPr algn="l">
              <a:spcAft>
                <a:spcPts val="1000"/>
              </a:spcAft>
            </a:pPr>
            <a:r>
              <a:rPr sz="1700" b="0">
                <a:solidFill>
                  <a:srgbClr val="222222"/>
                </a:solidFill>
                <a:latin typeface="맑은 고딕"/>
              </a:rPr>
              <a:t>•  파라미터가 비어 있으면 이름 생략 시 ORA-02236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 파일의 수명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만든 파일은 지우는 것까지 책임진다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DROP TABLESPACE 시 OMF 데이터 파일도 삭제</a:t>
            </a:r>
          </a:p>
          <a:p>
            <a:pPr algn="l">
              <a:spcAft>
                <a:spcPts val="1000"/>
              </a:spcAft>
            </a:pPr>
            <a:r>
              <a:rPr sz="1700" b="0">
                <a:solidFill>
                  <a:srgbClr val="222222"/>
                </a:solidFill>
                <a:latin typeface="맑은 고딕"/>
              </a:rPr>
              <a:t>•  일반 파일은 INCLUDING ... DATAFILES 없으면 남음</a:t>
            </a:r>
          </a:p>
          <a:p>
            <a:pPr algn="l">
              <a:spcAft>
                <a:spcPts val="1000"/>
              </a:spcAft>
            </a:pPr>
            <a:r>
              <a:rPr sz="1700" b="0">
                <a:solidFill>
                  <a:srgbClr val="222222"/>
                </a:solidFill>
                <a:latin typeface="맑은 고딕"/>
              </a:rPr>
              <a:t>•  DROP LOGFILE GROUP도 OMF 멤버 파일 삭제</a:t>
            </a:r>
          </a:p>
          <a:p>
            <a:pPr algn="l">
              <a:spcAft>
                <a:spcPts val="1000"/>
              </a:spcAft>
            </a:pPr>
            <a:r>
              <a:rPr sz="1700" b="0">
                <a:solidFill>
                  <a:srgbClr val="222222"/>
                </a:solidFill>
                <a:latin typeface="맑은 고딕"/>
              </a:rPr>
              <a:t>•  OMF 파일과 일반 파일의 공존은 정상</a:t>
            </a:r>
          </a:p>
          <a:p>
            <a:pPr algn="l">
              <a:spcAft>
                <a:spcPts val="1000"/>
              </a:spcAft>
            </a:pPr>
            <a:r>
              <a:rPr sz="1700" b="0">
                <a:solidFill>
                  <a:srgbClr val="222222"/>
                </a:solidFill>
                <a:latin typeface="맑은 고딕"/>
              </a:rPr>
              <a:t>•  MOVE DATAFILE을 TO 없이 쓰면 OMF로 이동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DBCA로 만든 데이터베이스가 OMF인가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최상위 경로 지정과 OMF는 다른 설정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datafileDestination만으로 OMF가 되지 않음</a:t>
            </a:r>
          </a:p>
          <a:p>
            <a:pPr algn="l">
              <a:spcAft>
                <a:spcPts val="1000"/>
              </a:spcAft>
            </a:pPr>
            <a:r>
              <a:rPr sz="1700" b="0">
                <a:solidFill>
                  <a:srgbClr val="222222"/>
                </a:solidFill>
                <a:latin typeface="맑은 고딕"/>
              </a:rPr>
              <a:t>•  기본 템플릿은 system01.dbf 같은 이름으로 생성</a:t>
            </a:r>
          </a:p>
          <a:p>
            <a:pPr algn="l">
              <a:spcAft>
                <a:spcPts val="1000"/>
              </a:spcAft>
            </a:pPr>
            <a:r>
              <a:rPr sz="1700" b="0">
                <a:solidFill>
                  <a:srgbClr val="222222"/>
                </a:solidFill>
                <a:latin typeface="맑은 고딕"/>
              </a:rPr>
              <a:t>•  OMF로 만들려면 useOMF true 또는 생성 후 설정</a:t>
            </a:r>
          </a:p>
          <a:p>
            <a:pPr algn="l">
              <a:spcAft>
                <a:spcPts val="1000"/>
              </a:spcAft>
            </a:pPr>
            <a:r>
              <a:rPr sz="1700" b="0">
                <a:solidFill>
                  <a:srgbClr val="222222"/>
                </a:solidFill>
                <a:latin typeface="맑은 고딕"/>
              </a:rPr>
              <a:t>•  판단은 V$DATAFILE 이름의 o1_mf_ 접두어로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 파라미터와 파일 배치 규칙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DB_CREATE_FILE_DEST</a:t>
            </a:r>
          </a:p>
          <a:p>
            <a:pPr algn="l">
              <a:spcAft>
                <a:spcPts val="800"/>
              </a:spcAft>
            </a:pPr>
            <a:r>
              <a:rPr sz="1600" b="0">
                <a:solidFill>
                  <a:srgbClr val="FFFFFF"/>
                </a:solidFill>
                <a:latin typeface="맑은 고딕"/>
              </a:rPr>
              <a:t>•  DB_CREATE_ONLINE_LOG_DEST_n</a:t>
            </a:r>
          </a:p>
          <a:p>
            <a:pPr algn="l">
              <a:spcAft>
                <a:spcPts val="800"/>
              </a:spcAft>
            </a:pPr>
            <a:r>
              <a:rPr sz="1600" b="0">
                <a:solidFill>
                  <a:srgbClr val="FFFFFF"/>
                </a:solidFill>
                <a:latin typeface="맑은 고딕"/>
              </a:rPr>
              <a:t>•  DB_RECOVERY_FILE_DEST와 조합별 배치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DB_CREATE_FILE_DEST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 파일과 임시 파일의 기본 위치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값은 디렉터리 경로 또는 +디스크그룹</a:t>
            </a:r>
          </a:p>
          <a:p>
            <a:pPr algn="l">
              <a:spcAft>
                <a:spcPts val="1000"/>
              </a:spcAft>
            </a:pPr>
            <a:r>
              <a:rPr sz="1700" b="0">
                <a:solidFill>
                  <a:srgbClr val="222222"/>
                </a:solidFill>
                <a:latin typeface="맑은 고딕"/>
              </a:rPr>
              <a:t>•  최상위 디렉터리는 미리 있어야 하고 쓰기 가능해야</a:t>
            </a:r>
          </a:p>
          <a:p>
            <a:pPr algn="l">
              <a:spcAft>
                <a:spcPts val="1000"/>
              </a:spcAft>
            </a:pPr>
            <a:r>
              <a:rPr sz="1700" b="0">
                <a:solidFill>
                  <a:srgbClr val="222222"/>
                </a:solidFill>
                <a:latin typeface="맑은 고딕"/>
              </a:rPr>
              <a:t>•  하위 디렉터리는 데이터베이스가 필요할 때 생성</a:t>
            </a:r>
          </a:p>
          <a:p>
            <a:pPr algn="l">
              <a:spcAft>
                <a:spcPts val="1000"/>
              </a:spcAft>
            </a:pPr>
            <a:r>
              <a:rPr sz="1700" b="0">
                <a:solidFill>
                  <a:srgbClr val="222222"/>
                </a:solidFill>
                <a:latin typeface="맑은 고딕"/>
              </a:rPr>
              <a:t>•  동적 파라미터, ALTER SESSION으로 예외 배치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DB_CREATE_ONLINE_LOG_DEST_n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온라인 로그와 컨트롤 파일 전용 위치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n은 1부터 5까지, 지정한 수만큼 다중화</a:t>
            </a:r>
          </a:p>
          <a:p>
            <a:pPr algn="l">
              <a:spcAft>
                <a:spcPts val="1000"/>
              </a:spcAft>
            </a:pPr>
            <a:r>
              <a:rPr sz="1700" b="0">
                <a:solidFill>
                  <a:srgbClr val="222222"/>
                </a:solidFill>
                <a:latin typeface="맑은 고딕"/>
              </a:rPr>
              <a:t>•  하나라도 있으면 로그는 이 위치에만 생성</a:t>
            </a:r>
          </a:p>
          <a:p>
            <a:pPr algn="l">
              <a:spcAft>
                <a:spcPts val="1000"/>
              </a:spcAft>
            </a:pPr>
            <a:r>
              <a:rPr sz="1700" b="0">
                <a:solidFill>
                  <a:srgbClr val="222222"/>
                </a:solidFill>
                <a:latin typeface="맑은 고딕"/>
              </a:rPr>
              <a:t>•  로그와 데이터를 다른 디스크에 둘 때 사용</a:t>
            </a:r>
          </a:p>
          <a:p>
            <a:pPr algn="l">
              <a:spcAft>
                <a:spcPts val="1000"/>
              </a:spcAft>
            </a:pPr>
            <a:r>
              <a:rPr sz="1700" b="0">
                <a:solidFill>
                  <a:srgbClr val="222222"/>
                </a:solidFill>
                <a:latin typeface="맑은 고딕"/>
              </a:rPr>
              <a:t>•  SRL도 같은 규칙, SIZE만 주면 멤버 생성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DB_RECOVERY_FILE_DEST와 FRA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 다중화 위치로도 쓰인다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DB_RECOVERY_FILE_DEST_SIZE와 짝으로 설정</a:t>
            </a:r>
          </a:p>
          <a:p>
            <a:pPr algn="l">
              <a:spcAft>
                <a:spcPts val="1000"/>
              </a:spcAft>
            </a:pPr>
            <a:r>
              <a:rPr sz="1700" b="0">
                <a:solidFill>
                  <a:srgbClr val="222222"/>
                </a:solidFill>
                <a:latin typeface="맑은 고딕"/>
              </a:rPr>
              <a:t>•  FRA의 아카이브 로그와 백업은 항상 OMF 이름</a:t>
            </a:r>
          </a:p>
          <a:p>
            <a:pPr algn="l">
              <a:spcAft>
                <a:spcPts val="1000"/>
              </a:spcAft>
            </a:pPr>
            <a:r>
              <a:rPr sz="1700" b="0">
                <a:solidFill>
                  <a:srgbClr val="222222"/>
                </a:solidFill>
                <a:latin typeface="맑은 고딕"/>
              </a:rPr>
              <a:t>•  FILE_DEST와 FRA가 모두 있으면 로그가 두 벌</a:t>
            </a:r>
          </a:p>
          <a:p>
            <a:pPr algn="l">
              <a:spcAft>
                <a:spcPts val="1000"/>
              </a:spcAft>
            </a:pPr>
            <a:r>
              <a:rPr sz="1700" b="0">
                <a:solidFill>
                  <a:srgbClr val="222222"/>
                </a:solidFill>
                <a:latin typeface="맑은 고딕"/>
              </a:rPr>
              <a:t>•  지시하지 않아도 생기는 다중화, FRA 크기 재계산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조합별 배치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파라미터에 값이 있는지가 결과를 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FILE_DEST만: 로그와 컨트롤 파일 1개씩</a:t>
            </a:r>
          </a:p>
          <a:p>
            <a:pPr algn="l">
              <a:spcAft>
                <a:spcPts val="1000"/>
              </a:spcAft>
            </a:pPr>
            <a:r>
              <a:rPr sz="1700" b="0">
                <a:solidFill>
                  <a:srgbClr val="222222"/>
                </a:solidFill>
                <a:latin typeface="맑은 고딕"/>
              </a:rPr>
              <a:t>•  FILE_DEST + FRA: 두 위치에 1개씩</a:t>
            </a:r>
          </a:p>
          <a:p>
            <a:pPr algn="l">
              <a:spcAft>
                <a:spcPts val="1000"/>
              </a:spcAft>
            </a:pPr>
            <a:r>
              <a:rPr sz="1700" b="0">
                <a:solidFill>
                  <a:srgbClr val="222222"/>
                </a:solidFill>
                <a:latin typeface="맑은 고딕"/>
              </a:rPr>
              <a:t>•  LOG_DEST_1, _2: 그 두 위치에 1개씩</a:t>
            </a:r>
          </a:p>
          <a:p>
            <a:pPr algn="l">
              <a:spcAft>
                <a:spcPts val="1000"/>
              </a:spcAft>
            </a:pPr>
            <a:r>
              <a:rPr sz="1700" b="0">
                <a:solidFill>
                  <a:srgbClr val="222222"/>
                </a:solidFill>
                <a:latin typeface="맑은 고딕"/>
              </a:rPr>
              <a:t>•  LOG_DEST_1 + FRA: LOG_DEST_1에만</a:t>
            </a:r>
          </a:p>
          <a:p>
            <a:pPr algn="l">
              <a:spcAft>
                <a:spcPts val="1000"/>
              </a:spcAft>
            </a:pPr>
            <a:r>
              <a:rPr sz="1700" b="0">
                <a:solidFill>
                  <a:srgbClr val="222222"/>
                </a:solidFill>
                <a:latin typeface="맑은 고딕"/>
              </a:rPr>
              <a:t>•  컨트롤 파일 열은 CONTROL_FILES가 빈 경우만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잘못된 경로가 드러나는 시점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OMF는 기동 단계에서 경로를 검사한다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실행 중 변경: ORA-02097 + ORA-01261로 거부</a:t>
            </a:r>
          </a:p>
          <a:p>
            <a:pPr algn="l">
              <a:spcAft>
                <a:spcPts val="1000"/>
              </a:spcAft>
            </a:pPr>
            <a:r>
              <a:rPr sz="1700" b="0">
                <a:solidFill>
                  <a:srgbClr val="222222"/>
                </a:solidFill>
                <a:latin typeface="맑은 고딕"/>
              </a:rPr>
              <a:t>•  pfile의 없는 경로: NOMOUNT에서 ORA-01261, 01262</a:t>
            </a:r>
          </a:p>
          <a:p>
            <a:pPr algn="l">
              <a:spcAft>
                <a:spcPts val="1000"/>
              </a:spcAft>
            </a:pPr>
            <a:r>
              <a:rPr sz="1700" b="0">
                <a:solidFill>
                  <a:srgbClr val="222222"/>
                </a:solidFill>
                <a:latin typeface="맑은 고딕"/>
              </a:rPr>
              <a:t>•  경로 지정 방식은 DUPLICATE 도중에야 드러남</a:t>
            </a:r>
          </a:p>
          <a:p>
            <a:pPr algn="l">
              <a:spcAft>
                <a:spcPts val="1000"/>
              </a:spcAft>
            </a:pPr>
            <a:r>
              <a:rPr sz="1700" b="0">
                <a:solidFill>
                  <a:srgbClr val="222222"/>
                </a:solidFill>
                <a:latin typeface="맑은 고딕"/>
              </a:rPr>
              <a:t>•  값이 아예 없으면 기동은 정상, 문제는 나중에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 파일 이름 규칙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디렉터리 계층</a:t>
            </a:r>
          </a:p>
          <a:p>
            <a:pPr algn="l">
              <a:spcAft>
                <a:spcPts val="800"/>
              </a:spcAft>
            </a:pPr>
            <a:r>
              <a:rPr sz="1600" b="0">
                <a:solidFill>
                  <a:srgbClr val="FFFFFF"/>
                </a:solidFill>
                <a:latin typeface="맑은 고딕"/>
              </a:rPr>
              <a:t>•  DB_UNIQUE_NAME과 PDB GUID</a:t>
            </a:r>
          </a:p>
          <a:p>
            <a:pPr algn="l">
              <a:spcAft>
                <a:spcPts val="800"/>
              </a:spcAft>
            </a:pPr>
            <a:r>
              <a:rPr sz="1600" b="0">
                <a:solidFill>
                  <a:srgbClr val="FFFFFF"/>
                </a:solidFill>
                <a:latin typeface="맑은 고딕"/>
              </a:rPr>
              <a:t>•  파일 이름 형식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디렉터리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기본위치 / DB_UNIQUE_NAME / 종류 / 파일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번째 단계는 DB_UNIQUE_NAME의 대문자</a:t>
            </a:r>
          </a:p>
          <a:p>
            <a:pPr algn="l">
              <a:spcAft>
                <a:spcPts val="1000"/>
              </a:spcAft>
            </a:pPr>
            <a:r>
              <a:rPr sz="1700" b="0">
                <a:solidFill>
                  <a:srgbClr val="222222"/>
                </a:solidFill>
                <a:latin typeface="맑은 고딕"/>
              </a:rPr>
              <a:t>•  종류: datafile, onlinelog, controlfile</a:t>
            </a:r>
          </a:p>
          <a:p>
            <a:pPr algn="l">
              <a:spcAft>
                <a:spcPts val="1000"/>
              </a:spcAft>
            </a:pPr>
            <a:r>
              <a:rPr sz="1700" b="0">
                <a:solidFill>
                  <a:srgbClr val="222222"/>
                </a:solidFill>
                <a:latin typeface="맑은 고딕"/>
              </a:rPr>
              <a:t>•  FRA: archivelog, backupset 아래 날짜 디렉터리</a:t>
            </a:r>
          </a:p>
          <a:p>
            <a:pPr algn="l">
              <a:spcAft>
                <a:spcPts val="1000"/>
              </a:spcAft>
            </a:pPr>
            <a:r>
              <a:rPr sz="1700" b="0">
                <a:solidFill>
                  <a:srgbClr val="222222"/>
                </a:solidFill>
                <a:latin typeface="맑은 고딕"/>
              </a:rPr>
              <a:t>•  PDB 파일은 GUID 디렉터리 아래 datafile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DB_UNIQUE_NAME과 GUID를 쓰는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DB_NAME, 다른 디렉터리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Primary와 Standby는 DB_NAME이 같음</a:t>
            </a:r>
          </a:p>
          <a:p>
            <a:pPr algn="l">
              <a:spcAft>
                <a:spcPts val="1000"/>
              </a:spcAft>
            </a:pPr>
            <a:r>
              <a:rPr sz="1700" b="0">
                <a:solidFill>
                  <a:srgbClr val="222222"/>
                </a:solidFill>
                <a:latin typeface="맑은 고딕"/>
              </a:rPr>
              <a:t>•  DB_UNIQUE_NAME만 달리 주면 디렉터리가 갈림</a:t>
            </a:r>
          </a:p>
          <a:p>
            <a:pPr algn="l">
              <a:spcAft>
                <a:spcPts val="1000"/>
              </a:spcAft>
            </a:pPr>
            <a:r>
              <a:rPr sz="1700" b="0">
                <a:solidFill>
                  <a:srgbClr val="222222"/>
                </a:solidFill>
                <a:latin typeface="맑은 고딕"/>
              </a:rPr>
              <a:t>•  Boston과 BOSTON은 리눅스에서 다른 디렉터리</a:t>
            </a:r>
          </a:p>
          <a:p>
            <a:pPr algn="l">
              <a:spcAft>
                <a:spcPts val="1000"/>
              </a:spcAft>
            </a:pPr>
            <a:r>
              <a:rPr sz="1700" b="0">
                <a:solidFill>
                  <a:srgbClr val="222222"/>
                </a:solidFill>
                <a:latin typeface="맑은 고딕"/>
              </a:rPr>
              <a:t>•  PDB GUID는 Primary와 Standby가 동일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파일 이름 형식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o1_mf_ 접두어와 8자리 고유 문자열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파일: o1_mf_테이블스페이스_고유_.dbf</a:t>
            </a:r>
          </a:p>
          <a:p>
            <a:pPr algn="l">
              <a:spcAft>
                <a:spcPts val="1000"/>
              </a:spcAft>
            </a:pPr>
            <a:r>
              <a:rPr sz="1700" b="0">
                <a:solidFill>
                  <a:srgbClr val="222222"/>
                </a:solidFill>
                <a:latin typeface="맑은 고딕"/>
              </a:rPr>
              <a:t>•  임시 파일은 .tmp, 로그와 SRL은 그룹 번호 .log</a:t>
            </a:r>
          </a:p>
          <a:p>
            <a:pPr algn="l">
              <a:spcAft>
                <a:spcPts val="1000"/>
              </a:spcAft>
            </a:pPr>
            <a:r>
              <a:rPr sz="1700" b="0">
                <a:solidFill>
                  <a:srgbClr val="222222"/>
                </a:solidFill>
                <a:latin typeface="맑은 고딕"/>
              </a:rPr>
              <a:t>•  컨트롤 파일은 고유 문자열만, .ctl</a:t>
            </a:r>
          </a:p>
          <a:p>
            <a:pPr algn="l">
              <a:spcAft>
                <a:spcPts val="1000"/>
              </a:spcAft>
            </a:pPr>
            <a:r>
              <a:rPr sz="1700" b="0">
                <a:solidFill>
                  <a:srgbClr val="222222"/>
                </a:solidFill>
                <a:latin typeface="맑은 고딕"/>
              </a:rPr>
              <a:t>•  파일 번호는 이름에 없어 V$DATAFILE로 확인</a:t>
            </a:r>
          </a:p>
          <a:p>
            <a:pPr algn="l">
              <a:spcAft>
                <a:spcPts val="1000"/>
              </a:spcAft>
            </a:pPr>
            <a:r>
              <a:rPr sz="1700" b="0">
                <a:solidFill>
                  <a:srgbClr val="222222"/>
                </a:solidFill>
                <a:latin typeface="맑은 고딕"/>
              </a:rPr>
              <a:t>•  로그와 SRL 구분은 V$LOGFILE.TYPE으로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 이름을 직접 다룰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OMF 이름은 데이터베이스만 붙인다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OMF DB에서도 이름을 적으면 일반 파일로 생성</a:t>
            </a:r>
          </a:p>
          <a:p>
            <a:pPr algn="l">
              <a:spcAft>
                <a:spcPts val="1000"/>
              </a:spcAft>
            </a:pPr>
            <a:r>
              <a:rPr sz="1700" b="0">
                <a:solidFill>
                  <a:srgbClr val="222222"/>
                </a:solidFill>
                <a:latin typeface="맑은 고딕"/>
              </a:rPr>
              <a:t>•  o1_mf_ 형식 이름을 사람이 쓰면 ORA-01276</a:t>
            </a:r>
          </a:p>
          <a:p>
            <a:pPr algn="l">
              <a:spcAft>
                <a:spcPts val="1000"/>
              </a:spcAft>
            </a:pPr>
            <a:r>
              <a:rPr sz="1700" b="0">
                <a:solidFill>
                  <a:srgbClr val="222222"/>
                </a:solidFill>
                <a:latin typeface="맑은 고딕"/>
              </a:rPr>
              <a:t>•  일반 파일의 OMF 전환: MOVE DATAFILE, TO NEW</a:t>
            </a:r>
          </a:p>
          <a:p>
            <a:pPr algn="l">
              <a:spcAft>
                <a:spcPts val="1000"/>
              </a:spcAft>
            </a:pPr>
            <a:r>
              <a:rPr sz="1700" b="0">
                <a:solidFill>
                  <a:srgbClr val="222222"/>
                </a:solidFill>
                <a:latin typeface="맑은 고딕"/>
              </a:rPr>
              <a:t>•  운영체제에서 OMF 파일 이름을 바꾸지 않음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convert 파라미터가 필요 없는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변환하는 방식과 새로 짓는 방식</a:t>
            </a:r>
          </a:p>
          <a:p>
            <a:pPr algn="l">
              <a:spcAft>
                <a:spcPts val="800"/>
              </a:spcAft>
            </a:pPr>
            <a:r>
              <a:rPr sz="1600" b="0">
                <a:solidFill>
                  <a:srgbClr val="FFFFFF"/>
                </a:solidFill>
                <a:latin typeface="맑은 고딕"/>
              </a:rPr>
              <a:t>•  NOFILENAMECHECK</a:t>
            </a:r>
          </a:p>
          <a:p>
            <a:pPr algn="l">
              <a:spcAft>
                <a:spcPts val="800"/>
              </a:spcAft>
            </a:pPr>
            <a:r>
              <a:rPr sz="1600" b="0">
                <a:solidFill>
                  <a:srgbClr val="FFFFFF"/>
                </a:solidFill>
                <a:latin typeface="맑은 고딕"/>
              </a:rPr>
              <a:t>•  함께 주었을 때의 우선순위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이름을 변환하는 방식과 새로 짓는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입력이 다르면 설정도 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 Primary 이름을 받아 문자열 치환</a:t>
            </a:r>
          </a:p>
          <a:p>
            <a:pPr algn="l">
              <a:spcAft>
                <a:spcPts val="1000"/>
              </a:spcAft>
            </a:pPr>
            <a:r>
              <a:rPr sz="1700" b="0">
                <a:solidFill>
                  <a:srgbClr val="222222"/>
                </a:solidFill>
                <a:latin typeface="맑은 고딕"/>
              </a:rPr>
              <a:t>•  OMF: Standby 파라미터로 새 이름을 생성</a:t>
            </a:r>
          </a:p>
          <a:p>
            <a:pPr algn="l">
              <a:spcAft>
                <a:spcPts val="1000"/>
              </a:spcAft>
            </a:pPr>
            <a:r>
              <a:rPr sz="1700" b="0">
                <a:solidFill>
                  <a:srgbClr val="222222"/>
                </a:solidFill>
                <a:latin typeface="맑은 고딕"/>
              </a:rPr>
              <a:t>•  Primary 경로가 몇 갈래든 Standby 설정은 한 줄</a:t>
            </a:r>
          </a:p>
          <a:p>
            <a:pPr algn="l">
              <a:spcAft>
                <a:spcPts val="1000"/>
              </a:spcAft>
            </a:pPr>
            <a:r>
              <a:rPr sz="1700" b="0">
                <a:solidFill>
                  <a:srgbClr val="222222"/>
                </a:solidFill>
                <a:latin typeface="맑은 고딕"/>
              </a:rPr>
              <a:t>•  치환 쌍 누락으로 인한 실패가 구조적으로 사라짐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NOFILENAMECHECK가 필요 없는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 검사가 그대로 통과한다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DUPLICATE는 원본과 같은 이름이면 RMAN-05001</a:t>
            </a:r>
          </a:p>
          <a:p>
            <a:pPr algn="l">
              <a:spcAft>
                <a:spcPts val="1000"/>
              </a:spcAft>
            </a:pPr>
            <a:r>
              <a:rPr sz="1700" b="0">
                <a:solidFill>
                  <a:srgbClr val="222222"/>
                </a:solidFill>
                <a:latin typeface="맑은 고딕"/>
              </a:rPr>
              <a:t>•  같은 구조를 쓰는 경로 지정 방식은 검사를 꺼야 함</a:t>
            </a:r>
          </a:p>
          <a:p>
            <a:pPr algn="l">
              <a:spcAft>
                <a:spcPts val="1000"/>
              </a:spcAft>
            </a:pPr>
            <a:r>
              <a:rPr sz="1700" b="0">
                <a:solidFill>
                  <a:srgbClr val="222222"/>
                </a:solidFill>
                <a:latin typeface="맑은 고딕"/>
              </a:rPr>
              <a:t>•  OMF 이름은 원본과 같아질 수 없음</a:t>
            </a:r>
          </a:p>
          <a:p>
            <a:pPr algn="l">
              <a:spcAft>
                <a:spcPts val="1000"/>
              </a:spcAft>
            </a:pPr>
            <a:r>
              <a:rPr sz="1700" b="0">
                <a:solidFill>
                  <a:srgbClr val="222222"/>
                </a:solidFill>
                <a:latin typeface="맑은 고딕"/>
              </a:rPr>
              <a:t>•  검사를 켜 둔 상태가 더 안전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Primary가 OMF가 아니어도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이름은 Standby 설정으로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일반 파일 Primary에서 OMF Standby 생성 가능</a:t>
            </a:r>
          </a:p>
          <a:p>
            <a:pPr algn="l">
              <a:spcAft>
                <a:spcPts val="1000"/>
              </a:spcAft>
            </a:pPr>
            <a:r>
              <a:rPr sz="1700" b="0">
                <a:solidFill>
                  <a:srgbClr val="222222"/>
                </a:solidFill>
                <a:latin typeface="맑은 고딕"/>
              </a:rPr>
              <a:t>•  반대 조합은 OMF 경로를 바꾸는 convert 규칙 필요</a:t>
            </a:r>
          </a:p>
          <a:p>
            <a:pPr algn="l">
              <a:spcAft>
                <a:spcPts val="1000"/>
              </a:spcAft>
            </a:pPr>
            <a:r>
              <a:rPr sz="1700" b="0">
                <a:solidFill>
                  <a:srgbClr val="222222"/>
                </a:solidFill>
                <a:latin typeface="맑은 고딕"/>
              </a:rPr>
              <a:t>•  새 Standby 구축은 파일 관리를 정리할 기회</a:t>
            </a:r>
          </a:p>
          <a:p>
            <a:pPr algn="l">
              <a:spcAft>
                <a:spcPts val="1000"/>
              </a:spcAft>
            </a:pPr>
            <a:r>
              <a:rPr sz="1700" b="0">
                <a:solidFill>
                  <a:srgbClr val="222222"/>
                </a:solidFill>
                <a:latin typeface="맑은 고딕"/>
              </a:rPr>
              <a:t>•  혼합 구성은 역할 전환 뒤를 함께 고려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OMF와 convert를 함께 주면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RMAN 이름 결정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NEWNAME</a:t>
            </a:r>
          </a:p>
          <a:p>
            <a:pPr algn="l">
              <a:spcAft>
                <a:spcPts val="1000"/>
              </a:spcAft>
            </a:pPr>
            <a:r>
              <a:rPr sz="1700" b="0">
                <a:solidFill>
                  <a:srgbClr val="222222"/>
                </a:solidFill>
                <a:latin typeface="맑은 고딕"/>
              </a:rPr>
              <a:t>•  CONFIGURE AUXNAME</a:t>
            </a:r>
          </a:p>
          <a:p>
            <a:pPr algn="l">
              <a:spcAft>
                <a:spcPts val="1000"/>
              </a:spcAft>
            </a:pPr>
            <a:r>
              <a:rPr sz="1700" b="0">
                <a:solidFill>
                  <a:srgbClr val="222222"/>
                </a:solidFill>
                <a:latin typeface="맑은 고딕"/>
              </a:rPr>
              <a:t>•  DB_FILE_NAME_CONVERT</a:t>
            </a:r>
          </a:p>
          <a:p>
            <a:pPr algn="l">
              <a:spcAft>
                <a:spcPts val="1000"/>
              </a:spcAft>
            </a:pPr>
            <a:r>
              <a:rPr sz="1700" b="0">
                <a:solidFill>
                  <a:srgbClr val="222222"/>
                </a:solidFill>
                <a:latin typeface="맑은 고딕"/>
              </a:rPr>
              <a:t>•  DB_CREATE_FILE_DEST (가장 낮음)</a:t>
            </a:r>
          </a:p>
          <a:p>
            <a:pPr algn="l">
              <a:spcAft>
                <a:spcPts val="1000"/>
              </a:spcAft>
            </a:pPr>
            <a:r>
              <a:rPr sz="1700" b="0">
                <a:solidFill>
                  <a:srgbClr val="222222"/>
                </a:solidFill>
                <a:latin typeface="맑은 고딕"/>
              </a:rPr>
              <a:t>•  convert가 남아 있으면 OMF 이름이 붙지 않음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서버에 두 번째 Standby 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최상위 경로는 같게, DB_UNIQUE_NAME만 다르게</a:t>
            </a:r>
          </a:p>
          <a:p>
            <a:pPr algn="l">
              <a:spcAft>
                <a:spcPts val="1000"/>
              </a:spcAft>
            </a:pPr>
            <a:r>
              <a:rPr sz="1700" b="0">
                <a:solidFill>
                  <a:srgbClr val="222222"/>
                </a:solidFill>
                <a:latin typeface="맑은 고딕"/>
              </a:rPr>
              <a:t>•  파일은 BOSTON, BOSTON2로 자동 분리</a:t>
            </a:r>
          </a:p>
          <a:p>
            <a:pPr algn="l">
              <a:spcAft>
                <a:spcPts val="1000"/>
              </a:spcAft>
            </a:pPr>
            <a:r>
              <a:rPr sz="1700" b="0">
                <a:solidFill>
                  <a:srgbClr val="222222"/>
                </a:solidFill>
                <a:latin typeface="맑은 고딕"/>
              </a:rPr>
              <a:t>•  LOG_ARCHIVE_CONFIG 목록에 두 Standby 모두</a:t>
            </a:r>
          </a:p>
          <a:p>
            <a:pPr algn="l">
              <a:spcAft>
                <a:spcPts val="1000"/>
              </a:spcAft>
            </a:pPr>
            <a:r>
              <a:rPr sz="1700" b="0">
                <a:solidFill>
                  <a:srgbClr val="222222"/>
                </a:solidFill>
                <a:latin typeface="맑은 고딕"/>
              </a:rPr>
              <a:t>•  리스너 정적 등록과 서비스 이름은 각각 필요</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 방식 DUPLICATE의 흐름과 차이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Standby 서버 준비</a:t>
            </a:r>
          </a:p>
          <a:p>
            <a:pPr algn="l">
              <a:spcAft>
                <a:spcPts val="800"/>
              </a:spcAft>
            </a:pPr>
            <a:r>
              <a:rPr sz="1600" b="0">
                <a:solidFill>
                  <a:srgbClr val="FFFFFF"/>
                </a:solidFill>
                <a:latin typeface="맑은 고딕"/>
              </a:rPr>
              <a:t>•  SPFILE 절에서 달라지는 것</a:t>
            </a:r>
          </a:p>
          <a:p>
            <a:pPr algn="l">
              <a:spcAft>
                <a:spcPts val="800"/>
              </a:spcAft>
            </a:pPr>
            <a:r>
              <a:rPr sz="1600" b="0">
                <a:solidFill>
                  <a:srgbClr val="FFFFFF"/>
                </a:solidFill>
                <a:latin typeface="맑은 고딕"/>
              </a:rPr>
              <a:t>•  실패 양상과 복제 후 점검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서버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미리 만들 디렉터리가 최상위 둘로 줄어든다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OMF 위치와 FRA 최상위 경로만 준비</a:t>
            </a:r>
          </a:p>
          <a:p>
            <a:pPr algn="l">
              <a:spcAft>
                <a:spcPts val="1000"/>
              </a:spcAft>
            </a:pPr>
            <a:r>
              <a:rPr sz="1700" b="0">
                <a:solidFill>
                  <a:srgbClr val="222222"/>
                </a:solidFill>
                <a:latin typeface="맑은 고딕"/>
              </a:rPr>
              <a:t>•  BOSTON, datafile, PDB GUID는 복제 중 생성</a:t>
            </a:r>
          </a:p>
          <a:p>
            <a:pPr algn="l">
              <a:spcAft>
                <a:spcPts val="1000"/>
              </a:spcAft>
            </a:pPr>
            <a:r>
              <a:rPr sz="1700" b="0">
                <a:solidFill>
                  <a:srgbClr val="222222"/>
                </a:solidFill>
                <a:latin typeface="맑은 고딕"/>
              </a:rPr>
              <a:t>•  adump처럼 OMF 밖의 디렉터리는 여전히 수동</a:t>
            </a:r>
          </a:p>
          <a:p>
            <a:pPr algn="l">
              <a:spcAft>
                <a:spcPts val="1000"/>
              </a:spcAft>
            </a:pPr>
            <a:r>
              <a:rPr sz="1700" b="0">
                <a:solidFill>
                  <a:srgbClr val="222222"/>
                </a:solidFill>
                <a:latin typeface="맑은 고딕"/>
              </a:rPr>
              <a:t>•  초기 pfile에 db_create_file_dest 한 줄 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SPFILE 절에서 달라지는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빠지는 줄과 들어가는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빠짐: PARAMETER_VALUE_CONVERT, convert 2종</a:t>
            </a:r>
          </a:p>
          <a:p>
            <a:pPr algn="l">
              <a:spcAft>
                <a:spcPts val="1000"/>
              </a:spcAft>
            </a:pPr>
            <a:r>
              <a:rPr sz="1700" b="0">
                <a:solidFill>
                  <a:srgbClr val="222222"/>
                </a:solidFill>
                <a:latin typeface="맑은 고딕"/>
              </a:rPr>
              <a:t>•  빠짐: NOFILENAMECHECK</a:t>
            </a:r>
          </a:p>
          <a:p>
            <a:pPr algn="l">
              <a:spcAft>
                <a:spcPts val="1000"/>
              </a:spcAft>
            </a:pPr>
            <a:r>
              <a:rPr sz="1700" b="0">
                <a:solidFill>
                  <a:srgbClr val="222222"/>
                </a:solidFill>
                <a:latin typeface="맑은 고딕"/>
              </a:rPr>
              <a:t>•  추가: DB_CREATE_FILE_DEST, FRA 위치와 크기</a:t>
            </a:r>
          </a:p>
          <a:p>
            <a:pPr algn="l">
              <a:spcAft>
                <a:spcPts val="1000"/>
              </a:spcAft>
            </a:pPr>
            <a:r>
              <a:rPr sz="1700" b="0">
                <a:solidFill>
                  <a:srgbClr val="222222"/>
                </a:solidFill>
                <a:latin typeface="맑은 고딕"/>
              </a:rPr>
              <a:t>•  유지 권장: SET CONTROL_FILES</a:t>
            </a:r>
          </a:p>
          <a:p>
            <a:pPr algn="l">
              <a:spcAft>
                <a:spcPts val="1000"/>
              </a:spcAft>
            </a:pPr>
            <a:r>
              <a:rPr sz="1700" b="0">
                <a:solidFill>
                  <a:srgbClr val="222222"/>
                </a:solidFill>
                <a:latin typeface="맑은 고딕"/>
              </a:rPr>
              <a:t>•  적지 않은 값은 Primary spfile 값이 그대로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실패 양상의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오류가 나는 경우와 조용히 지나가는 경우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OMF 경로: NOMOUNT 실패, RMAN은 ORA-01034</a:t>
            </a:r>
          </a:p>
          <a:p>
            <a:pPr algn="l">
              <a:spcAft>
                <a:spcPts val="1000"/>
              </a:spcAft>
            </a:pPr>
            <a:r>
              <a:rPr sz="1700" b="0">
                <a:solidFill>
                  <a:srgbClr val="222222"/>
                </a:solidFill>
                <a:latin typeface="맑은 고딕"/>
              </a:rPr>
              <a:t>•  OMF도 convert도 없음: RMAN-05538 후 05001</a:t>
            </a:r>
          </a:p>
          <a:p>
            <a:pPr algn="l">
              <a:spcAft>
                <a:spcPts val="1000"/>
              </a:spcAft>
            </a:pPr>
            <a:r>
              <a:rPr sz="1700" b="0">
                <a:solidFill>
                  <a:srgbClr val="222222"/>
                </a:solidFill>
                <a:latin typeface="맑은 고딕"/>
              </a:rPr>
              <a:t>•  convert 잔존: 오류 없이 일반 이름으로 생성</a:t>
            </a:r>
          </a:p>
          <a:p>
            <a:pPr algn="l">
              <a:spcAft>
                <a:spcPts val="1000"/>
              </a:spcAft>
            </a:pPr>
            <a:r>
              <a:rPr sz="1700" b="0">
                <a:solidFill>
                  <a:srgbClr val="222222"/>
                </a:solidFill>
                <a:latin typeface="맑은 고딕"/>
              </a:rPr>
              <a:t>•  CONTROL_FILES 미지정: 오류 없이 Primary 경로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복제 직후 파일 배치 점검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Best Practice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임시, 로그, 컨트롤 파일 이름을 한 번에 조회</a:t>
            </a:r>
          </a:p>
          <a:p>
            <a:pPr algn="l">
              <a:spcAft>
                <a:spcPts val="1000"/>
              </a:spcAft>
            </a:pPr>
            <a:r>
              <a:rPr sz="1700" b="0">
                <a:solidFill>
                  <a:srgbClr val="222222"/>
                </a:solidFill>
                <a:latin typeface="맑은 고딕"/>
              </a:rPr>
              <a:t>•  모두 기본위치/BOSTON 아래인지 확인</a:t>
            </a:r>
          </a:p>
          <a:p>
            <a:pPr algn="l">
              <a:spcAft>
                <a:spcPts val="1000"/>
              </a:spcAft>
            </a:pPr>
            <a:r>
              <a:rPr sz="1700" b="0">
                <a:solidFill>
                  <a:srgbClr val="222222"/>
                </a:solidFill>
                <a:latin typeface="맑은 고딕"/>
              </a:rPr>
              <a:t>•  convert 값이 비어 있는지 확인</a:t>
            </a:r>
          </a:p>
          <a:p>
            <a:pPr algn="l">
              <a:spcAft>
                <a:spcPts val="1000"/>
              </a:spcAft>
            </a:pPr>
            <a:r>
              <a:rPr sz="1700" b="0">
                <a:solidFill>
                  <a:srgbClr val="222222"/>
                </a:solidFill>
                <a:latin typeface="맑은 고딕"/>
              </a:rPr>
              <a:t>•  V$LOG.MEMBERS로 다중화 확인</a:t>
            </a:r>
          </a:p>
          <a:p>
            <a:pPr algn="l">
              <a:spcAft>
                <a:spcPts val="1000"/>
              </a:spcAft>
            </a:pPr>
            <a:r>
              <a:rPr sz="1700" b="0">
                <a:solidFill>
                  <a:srgbClr val="222222"/>
                </a:solidFill>
                <a:latin typeface="맑은 고딕"/>
              </a:rPr>
              <a:t>•  Standby 서버에 Primary 이름 디렉터리가 생겼는지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컨트롤 파일 위치와 CONTROL_FILES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OMF가 컨트롤 파일 이름을 정하는 조건</a:t>
            </a:r>
          </a:p>
          <a:p>
            <a:pPr algn="l">
              <a:spcAft>
                <a:spcPts val="800"/>
              </a:spcAft>
            </a:pPr>
            <a:r>
              <a:rPr sz="1600" b="0">
                <a:solidFill>
                  <a:srgbClr val="FFFFFF"/>
                </a:solidFill>
                <a:latin typeface="맑은 고딕"/>
              </a:rPr>
              <a:t>•  SPFILE 절 상속 문제와 예방</a:t>
            </a:r>
          </a:p>
          <a:p>
            <a:pPr algn="l">
              <a:spcAft>
                <a:spcPts val="800"/>
              </a:spcAft>
            </a:pPr>
            <a:r>
              <a:rPr sz="1600" b="0">
                <a:solidFill>
                  <a:srgbClr val="FFFFFF"/>
                </a:solidFill>
                <a:latin typeface="맑은 고딕"/>
              </a:rPr>
              <a:t>•  옮기는 순서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OMF가 컨트롤 파일 이름을 정하는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CONTROL_FILES가 비어 있을 때뿐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값이 있으면 DB_CREATE_FILE_DEST보다 우선</a:t>
            </a:r>
          </a:p>
          <a:p>
            <a:pPr algn="l">
              <a:spcAft>
                <a:spcPts val="1000"/>
              </a:spcAft>
            </a:pPr>
            <a:r>
              <a:rPr sz="1700" b="0">
                <a:solidFill>
                  <a:srgbClr val="222222"/>
                </a:solidFill>
                <a:latin typeface="맑은 고딕"/>
              </a:rPr>
              <a:t>•  OMF로 만들면 이름이 spfile에 자동 기록</a:t>
            </a:r>
          </a:p>
          <a:p>
            <a:pPr algn="l">
              <a:spcAft>
                <a:spcPts val="1000"/>
              </a:spcAft>
            </a:pPr>
            <a:r>
              <a:rPr sz="1700" b="0">
                <a:solidFill>
                  <a:srgbClr val="222222"/>
                </a:solidFill>
                <a:latin typeface="맑은 고딕"/>
              </a:rPr>
              <a:t>•  정적 파라미터, SCOPE=SPFILE과 재기동 필요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SPFILE 절의 상속이 만드는 문제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 파일은 BOSTON, 컨트롤 파일만 Chicago</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SPFILE 절이 Primary의 CONTROL_FILES를 복사</a:t>
            </a:r>
          </a:p>
          <a:p>
            <a:pPr algn="l">
              <a:spcAft>
                <a:spcPts val="1000"/>
              </a:spcAft>
            </a:pPr>
            <a:r>
              <a:rPr sz="1700" b="0">
                <a:solidFill>
                  <a:srgbClr val="222222"/>
                </a:solidFill>
                <a:latin typeface="맑은 고딕"/>
              </a:rPr>
              <a:t>•  SET CONTROL_FILES가 없으면 그 경로에 생성</a:t>
            </a:r>
          </a:p>
          <a:p>
            <a:pPr algn="l">
              <a:spcAft>
                <a:spcPts val="1000"/>
              </a:spcAft>
            </a:pPr>
            <a:r>
              <a:rPr sz="1700" b="0">
                <a:solidFill>
                  <a:srgbClr val="222222"/>
                </a:solidFill>
                <a:latin typeface="맑은 고딕"/>
              </a:rPr>
              <a:t>•  오류 없이 복제 성공으로 끝남</a:t>
            </a:r>
          </a:p>
          <a:p>
            <a:pPr algn="l">
              <a:spcAft>
                <a:spcPts val="1000"/>
              </a:spcAft>
            </a:pPr>
            <a:r>
              <a:rPr sz="1700" b="0">
                <a:solidFill>
                  <a:srgbClr val="222222"/>
                </a:solidFill>
                <a:latin typeface="맑은 고딕"/>
              </a:rPr>
              <a:t>•  잔재로 오인해 지우면 Standby가 마운트 불가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처음부터 피하는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SPFILE 절에 Standby 경로를 직접 적는다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CONTROL_FILES로 BOSTON 계층 경로 지정</a:t>
            </a:r>
          </a:p>
          <a:p>
            <a:pPr algn="l">
              <a:spcAft>
                <a:spcPts val="1000"/>
              </a:spcAft>
            </a:pPr>
            <a:r>
              <a:rPr sz="1700" b="0">
                <a:solidFill>
                  <a:srgbClr val="222222"/>
                </a:solidFill>
                <a:latin typeface="맑은 고딕"/>
              </a:rPr>
              <a:t>•  다중화가 필요하면 FRA 쪽 경로 추가</a:t>
            </a:r>
          </a:p>
          <a:p>
            <a:pPr algn="l">
              <a:spcAft>
                <a:spcPts val="1000"/>
              </a:spcAft>
            </a:pPr>
            <a:r>
              <a:rPr sz="1700" b="0">
                <a:solidFill>
                  <a:srgbClr val="222222"/>
                </a:solidFill>
                <a:latin typeface="맑은 고딕"/>
              </a:rPr>
              <a:t>•  지정한 디렉터리는 미리 생성</a:t>
            </a:r>
          </a:p>
          <a:p>
            <a:pPr algn="l">
              <a:spcAft>
                <a:spcPts val="1000"/>
              </a:spcAft>
            </a:pPr>
            <a:r>
              <a:rPr sz="1700" b="0">
                <a:solidFill>
                  <a:srgbClr val="222222"/>
                </a:solidFill>
                <a:latin typeface="맑은 고딕"/>
              </a:rPr>
              <a:t>•  PARAMETER_VALUE_CONVERT는 영향 범위 확인 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이미 만들어진 뒤 옮기는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파라미터 먼저, 파일은 내린 상태에서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 SET control_files ... SCOPE=SPFILE</a:t>
            </a:r>
          </a:p>
          <a:p>
            <a:pPr algn="l">
              <a:spcAft>
                <a:spcPts val="1000"/>
              </a:spcAft>
            </a:pPr>
            <a:r>
              <a:rPr sz="1700" b="0">
                <a:solidFill>
                  <a:srgbClr val="222222"/>
                </a:solidFill>
                <a:latin typeface="맑은 고딕"/>
              </a:rPr>
              <a:t>•  적용 중지 후 SHUTDOWN IMMEDIATE</a:t>
            </a:r>
          </a:p>
          <a:p>
            <a:pPr algn="l">
              <a:spcAft>
                <a:spcPts val="1000"/>
              </a:spcAft>
            </a:pPr>
            <a:r>
              <a:rPr sz="1700" b="0">
                <a:solidFill>
                  <a:srgbClr val="222222"/>
                </a:solidFill>
                <a:latin typeface="맑은 고딕"/>
              </a:rPr>
              <a:t>•  운영체제에서 파일 이동(mv), 사본을 남기지 않음</a:t>
            </a:r>
          </a:p>
          <a:p>
            <a:pPr algn="l">
              <a:spcAft>
                <a:spcPts val="1000"/>
              </a:spcAft>
            </a:pPr>
            <a:r>
              <a:rPr sz="1700" b="0">
                <a:solidFill>
                  <a:srgbClr val="222222"/>
                </a:solidFill>
                <a:latin typeface="맑은 고딕"/>
              </a:rPr>
              <a:t>•  STARTUP MOUNT 후 V$CONTROLFILE 확인</a:t>
            </a:r>
          </a:p>
          <a:p>
            <a:pPr algn="l">
              <a:spcAft>
                <a:spcPts val="1000"/>
              </a:spcAft>
            </a:pPr>
            <a:r>
              <a:rPr sz="1700" b="0">
                <a:solidFill>
                  <a:srgbClr val="222222"/>
                </a:solidFill>
                <a:latin typeface="맑은 고딕"/>
              </a:rPr>
              <a:t>•  하나라도 없으면 ORA-00205, STARTED에 머묾</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복제 후 spfile을 다시 만들지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Note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일부 문서의 CREATE SPFILE FROM PFILE 단계</a:t>
            </a:r>
          </a:p>
          <a:p>
            <a:pPr algn="l">
              <a:spcAft>
                <a:spcPts val="1000"/>
              </a:spcAft>
            </a:pPr>
            <a:r>
              <a:rPr sz="1700" b="0">
                <a:solidFill>
                  <a:srgbClr val="222222"/>
                </a:solidFill>
                <a:latin typeface="맑은 고딕"/>
              </a:rPr>
              <a:t>•  spfile로 기동 중이면 ORA-32002로 거부</a:t>
            </a:r>
          </a:p>
          <a:p>
            <a:pPr algn="l">
              <a:spcAft>
                <a:spcPts val="1000"/>
              </a:spcAft>
            </a:pPr>
            <a:r>
              <a:rPr sz="1700" b="0">
                <a:solidFill>
                  <a:srgbClr val="222222"/>
                </a:solidFill>
                <a:latin typeface="맑은 고딕"/>
              </a:rPr>
              <a:t>•  성공한다면 DUPLICATE가 SET한 값이 모두 사라짐</a:t>
            </a:r>
          </a:p>
          <a:p>
            <a:pPr algn="l">
              <a:spcAft>
                <a:spcPts val="1000"/>
              </a:spcAft>
            </a:pPr>
            <a:r>
              <a:rPr sz="1700" b="0">
                <a:solidFill>
                  <a:srgbClr val="222222"/>
                </a:solidFill>
                <a:latin typeface="맑은 고딕"/>
              </a:rPr>
              <a:t>•  SPFILE 절이 Standby spfile까지 만들어 둠</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ASM 환경과 OMF</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ASM에서는 OMF가 기본</a:t>
            </a:r>
          </a:p>
          <a:p>
            <a:pPr algn="l">
              <a:spcAft>
                <a:spcPts val="800"/>
              </a:spcAft>
            </a:pPr>
            <a:r>
              <a:rPr sz="1600" b="0">
                <a:solidFill>
                  <a:srgbClr val="FFFFFF"/>
                </a:solidFill>
                <a:latin typeface="맑은 고딕"/>
              </a:rPr>
              <a:t>•  ASM Standby를 만드는 방법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ASM에서는 OMF가 기본 동작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+디스크그룹/DB_UNIQUE_NAME/종류/태그.번호.인카네이션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DB_CREATE_FILE_DEST='+DATA', FRA='+FRA'</a:t>
            </a:r>
          </a:p>
          <a:p>
            <a:pPr algn="l">
              <a:spcAft>
                <a:spcPts val="1000"/>
              </a:spcAft>
            </a:pPr>
            <a:r>
              <a:rPr sz="1700" b="0">
                <a:solidFill>
                  <a:srgbClr val="222222"/>
                </a:solidFill>
                <a:latin typeface="맑은 고딕"/>
              </a:rPr>
              <a:t>•  예: +DATA/BOSTON/DATAFILE/SYSTEM.257.1149876543</a:t>
            </a:r>
          </a:p>
          <a:p>
            <a:pPr algn="l">
              <a:spcAft>
                <a:spcPts val="1000"/>
              </a:spcAft>
            </a:pPr>
            <a:r>
              <a:rPr sz="1700" b="0">
                <a:solidFill>
                  <a:srgbClr val="222222"/>
                </a:solidFill>
                <a:latin typeface="맑은 고딕"/>
              </a:rPr>
              <a:t>•  PDB 파일은 GUID 디렉터리 아래, 계층은 동일</a:t>
            </a:r>
          </a:p>
          <a:p>
            <a:pPr algn="l">
              <a:spcAft>
                <a:spcPts val="1000"/>
              </a:spcAft>
            </a:pPr>
            <a:r>
              <a:rPr sz="1700" b="0">
                <a:solidFill>
                  <a:srgbClr val="222222"/>
                </a:solidFill>
                <a:latin typeface="맑은 고딕"/>
              </a:rPr>
              <a:t>•  읽기 쉬운 이름이 필요하면 별칭(alias)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ASM Standby를 만드는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RMAN이 필수, convert보다 OMF 설정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ASM 파일은 운영체제 명령으로 복사 불가</a:t>
            </a:r>
          </a:p>
          <a:p>
            <a:pPr algn="l">
              <a:spcAft>
                <a:spcPts val="1000"/>
              </a:spcAft>
            </a:pPr>
            <a:r>
              <a:rPr sz="1700" b="0">
                <a:solidFill>
                  <a:srgbClr val="222222"/>
                </a:solidFill>
                <a:latin typeface="맑은 고딕"/>
              </a:rPr>
              <a:t>•  Standby의 DB_CREATE_FILE_DEST에 자기 디스크 그룹</a:t>
            </a:r>
          </a:p>
          <a:p>
            <a:pPr algn="l">
              <a:spcAft>
                <a:spcPts val="1000"/>
              </a:spcAft>
            </a:pPr>
            <a:r>
              <a:rPr sz="1700" b="0">
                <a:solidFill>
                  <a:srgbClr val="222222"/>
                </a:solidFill>
                <a:latin typeface="맑은 고딕"/>
              </a:rPr>
              <a:t>•  디스크 그룹 이름이 달라도 convert 불필요</a:t>
            </a:r>
          </a:p>
          <a:p>
            <a:pPr algn="l">
              <a:spcAft>
                <a:spcPts val="1000"/>
              </a:spcAft>
            </a:pPr>
            <a:r>
              <a:rPr sz="1700" b="0">
                <a:solidFill>
                  <a:srgbClr val="222222"/>
                </a:solidFill>
                <a:latin typeface="맑은 고딕"/>
              </a:rPr>
              <a:t>•  Primary ASM, Standby 파일 시스템 조합도 가능</a:t>
            </a:r>
          </a:p>
          <a:p>
            <a:pPr algn="l">
              <a:spcAft>
                <a:spcPts val="1000"/>
              </a:spcAft>
            </a:pPr>
            <a:r>
              <a:rPr sz="1700" b="0">
                <a:solidFill>
                  <a:srgbClr val="222222"/>
                </a:solidFill>
                <a:latin typeface="맑은 고딕"/>
              </a:rPr>
              <a:t>•  Grid 홈과 DB 홈 환경 변수 구분, oraenv 사용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STANDBY_FILE_MANAGEMENT=AUTO와 OMF</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 파일 추가의 자동 반영</a:t>
            </a:r>
          </a:p>
          <a:p>
            <a:pPr algn="l">
              <a:spcAft>
                <a:spcPts val="800"/>
              </a:spcAft>
            </a:pPr>
            <a:r>
              <a:rPr sz="1600" b="0">
                <a:solidFill>
                  <a:srgbClr val="FFFFFF"/>
                </a:solidFill>
                <a:latin typeface="맑은 고딕"/>
              </a:rPr>
              <a:t>•  OMF Standby의 기본 파라미터 묶음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AUTO와 OMF의 궁합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Primary의 파일 추가가 Standby에서 OMF 이름으로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AUTO: Primary 파일 추가·삭제를 Standby가 따라 함</a:t>
            </a:r>
          </a:p>
          <a:p>
            <a:pPr algn="l">
              <a:spcAft>
                <a:spcPts val="1000"/>
              </a:spcAft>
            </a:pPr>
            <a:r>
              <a:rPr sz="1700" b="0">
                <a:solidFill>
                  <a:srgbClr val="222222"/>
                </a:solidFill>
                <a:latin typeface="맑은 고딕"/>
              </a:rPr>
              <a:t>•  이름은 Standby 파라미터가 결정</a:t>
            </a:r>
          </a:p>
          <a:p>
            <a:pPr algn="l">
              <a:spcAft>
                <a:spcPts val="1000"/>
              </a:spcAft>
            </a:pPr>
            <a:r>
              <a:rPr sz="1700" b="0">
                <a:solidFill>
                  <a:srgbClr val="222222"/>
                </a:solidFill>
                <a:latin typeface="맑은 고딕"/>
              </a:rPr>
              <a:t>•  OMF → convert → 같은 경로 순으로 적용</a:t>
            </a:r>
          </a:p>
          <a:p>
            <a:pPr algn="l">
              <a:spcAft>
                <a:spcPts val="1000"/>
              </a:spcAft>
            </a:pPr>
            <a:r>
              <a:rPr sz="1700" b="0">
                <a:solidFill>
                  <a:srgbClr val="222222"/>
                </a:solidFill>
                <a:latin typeface="맑은 고딕"/>
              </a:rPr>
              <a:t>•  경로 지정 방식은 규칙 밖 경로에서 적용 실패</a:t>
            </a:r>
          </a:p>
          <a:p>
            <a:pPr algn="l">
              <a:spcAft>
                <a:spcPts val="1000"/>
              </a:spcAft>
            </a:pPr>
            <a:r>
              <a:rPr sz="1700" b="0">
                <a:solidFill>
                  <a:srgbClr val="222222"/>
                </a:solidFill>
                <a:latin typeface="맑은 고딕"/>
              </a:rPr>
              <a:t>•  상세 동작과 복구는 8장</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 Standby의 기본 파라미터 묶음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Best Practice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 FRA 위치와 크기</a:t>
            </a:r>
          </a:p>
          <a:p>
            <a:pPr algn="l">
              <a:spcAft>
                <a:spcPts val="1000"/>
              </a:spcAft>
            </a:pPr>
            <a:r>
              <a:rPr sz="1700" b="0">
                <a:solidFill>
                  <a:srgbClr val="222222"/>
                </a:solidFill>
                <a:latin typeface="맑은 고딕"/>
              </a:rPr>
              <a:t>•  STANDBY_FILE_MANAGEMENT=AUTO</a:t>
            </a:r>
          </a:p>
          <a:p>
            <a:pPr algn="l">
              <a:spcAft>
                <a:spcPts val="1000"/>
              </a:spcAft>
            </a:pPr>
            <a:r>
              <a:rPr sz="1700" b="0">
                <a:solidFill>
                  <a:srgbClr val="222222"/>
                </a:solidFill>
                <a:latin typeface="맑은 고딕"/>
              </a:rPr>
              <a:t>•  convert 두 파라미터는 비워 둠</a:t>
            </a:r>
          </a:p>
          <a:p>
            <a:pPr algn="l">
              <a:spcAft>
                <a:spcPts val="1000"/>
              </a:spcAft>
            </a:pPr>
            <a:r>
              <a:rPr sz="1700" b="0">
                <a:solidFill>
                  <a:srgbClr val="222222"/>
                </a:solidFill>
                <a:latin typeface="맑은 고딕"/>
              </a:rPr>
              <a:t>•  같은 설정을 Primary에도</a:t>
            </a:r>
          </a:p>
          <a:p>
            <a:pPr algn="l">
              <a:spcAft>
                <a:spcPts val="1000"/>
              </a:spcAft>
            </a:pPr>
            <a:r>
              <a:rPr sz="1700" b="0">
                <a:solidFill>
                  <a:srgbClr val="222222"/>
                </a:solidFill>
                <a:latin typeface="맑은 고딕"/>
              </a:rPr>
              <a:t>•  양쪽 값을 같은 조회로 나란히 비교</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방식의 비교와 선택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항목별 비교</a:t>
            </a:r>
          </a:p>
          <a:p>
            <a:pPr algn="l">
              <a:spcAft>
                <a:spcPts val="800"/>
              </a:spcAft>
            </a:pPr>
            <a:r>
              <a:rPr sz="1600" b="0">
                <a:solidFill>
                  <a:srgbClr val="FFFFFF"/>
                </a:solidFill>
                <a:latin typeface="맑은 고딕"/>
              </a:rPr>
              <a:t>•  선택 기준</a:t>
            </a:r>
          </a:p>
          <a:p>
            <a:pPr algn="l">
              <a:spcAft>
                <a:spcPts val="800"/>
              </a:spcAft>
            </a:pPr>
            <a:r>
              <a:rPr sz="1600" b="0">
                <a:solidFill>
                  <a:srgbClr val="FFFFFF"/>
                </a:solidFill>
                <a:latin typeface="맑은 고딕"/>
              </a:rPr>
              <a:t>•  혼합 구성과 역할 전환</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항목별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결과물은 같고 이름을 정하는 주체가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결정: convert 치환 대 Standby에서 생성</a:t>
            </a:r>
          </a:p>
          <a:p>
            <a:pPr algn="l">
              <a:spcAft>
                <a:spcPts val="1000"/>
              </a:spcAft>
            </a:pPr>
            <a:r>
              <a:rPr sz="1700" b="0">
                <a:solidFill>
                  <a:srgbClr val="222222"/>
                </a:solidFill>
                <a:latin typeface="맑은 고딕"/>
              </a:rPr>
              <a:t>•  사전 준비: 모든 하위 디렉터리 대 최상위만</a:t>
            </a:r>
          </a:p>
          <a:p>
            <a:pPr algn="l">
              <a:spcAft>
                <a:spcPts val="1000"/>
              </a:spcAft>
            </a:pPr>
            <a:r>
              <a:rPr sz="1700" b="0">
                <a:solidFill>
                  <a:srgbClr val="222222"/>
                </a:solidFill>
                <a:latin typeface="맑은 고딕"/>
              </a:rPr>
              <a:t>•  가독성: system01.dbf 대 o1_mf_ 규칙 이름</a:t>
            </a:r>
          </a:p>
          <a:p>
            <a:pPr algn="l">
              <a:spcAft>
                <a:spcPts val="1000"/>
              </a:spcAft>
            </a:pPr>
            <a:r>
              <a:rPr sz="1700" b="0">
                <a:solidFill>
                  <a:srgbClr val="222222"/>
                </a:solidFill>
                <a:latin typeface="맑은 고딕"/>
              </a:rPr>
              <a:t>•  오류 시점: DUPLICATE 도중 대 NOMOUNT 기동</a:t>
            </a:r>
          </a:p>
          <a:p>
            <a:pPr algn="l">
              <a:spcAft>
                <a:spcPts val="1000"/>
              </a:spcAft>
            </a:pPr>
            <a:r>
              <a:rPr sz="1700" b="0">
                <a:solidFill>
                  <a:srgbClr val="222222"/>
                </a:solidFill>
                <a:latin typeface="맑은 고딕"/>
              </a:rPr>
              <a:t>•  구조 변경 반영: 규칙 의존 대 자동</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선택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새 구축은 OMF부터 검토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신규 Standby: OMF가 준비와 유지 부담이 작음</a:t>
            </a:r>
          </a:p>
          <a:p>
            <a:pPr algn="l">
              <a:spcAft>
                <a:spcPts val="1000"/>
              </a:spcAft>
            </a:pPr>
            <a:r>
              <a:rPr sz="1700" b="0">
                <a:solidFill>
                  <a:srgbClr val="222222"/>
                </a:solidFill>
                <a:latin typeface="맑은 고딕"/>
              </a:rPr>
              <a:t>•  ASM 저장소: 이미 OMF, 디스크 그룹만 맞춤</a:t>
            </a:r>
          </a:p>
          <a:p>
            <a:pPr algn="l">
              <a:spcAft>
                <a:spcPts val="1000"/>
              </a:spcAft>
            </a:pPr>
            <a:r>
              <a:rPr sz="1700" b="0">
                <a:solidFill>
                  <a:srgbClr val="222222"/>
                </a:solidFill>
                <a:latin typeface="맑은 고딕"/>
              </a:rPr>
              <a:t>•  파일별 정밀 배치나 명명 규칙이 있으면 경로 지정</a:t>
            </a:r>
          </a:p>
          <a:p>
            <a:pPr algn="l">
              <a:spcAft>
                <a:spcPts val="1000"/>
              </a:spcAft>
            </a:pPr>
            <a:r>
              <a:rPr sz="1700" b="0">
                <a:solidFill>
                  <a:srgbClr val="222222"/>
                </a:solidFill>
                <a:latin typeface="맑은 고딕"/>
              </a:rPr>
              <a:t>•  이름 패턴에 기댄 스크립트는 전환 전 점검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혼합 구성과 역할 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Switchover 뒤에는 방향이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평소: 일반 Primary, OMF Standby로 문제없음</a:t>
            </a:r>
          </a:p>
          <a:p>
            <a:pPr algn="l">
              <a:spcAft>
                <a:spcPts val="1000"/>
              </a:spcAft>
            </a:pPr>
            <a:r>
              <a:rPr sz="1700" b="0">
                <a:solidFill>
                  <a:srgbClr val="222222"/>
                </a:solidFill>
                <a:latin typeface="맑은 고딕"/>
              </a:rPr>
              <a:t>•  전환 후: boston이 OMF 파일 생성, chicago가 수신</a:t>
            </a:r>
          </a:p>
          <a:p>
            <a:pPr algn="l">
              <a:spcAft>
                <a:spcPts val="1000"/>
              </a:spcAft>
            </a:pPr>
            <a:r>
              <a:rPr sz="1700" b="0">
                <a:solidFill>
                  <a:srgbClr val="222222"/>
                </a:solidFill>
                <a:latin typeface="맑은 고딕"/>
              </a:rPr>
              <a:t>•  chicago에 OMF 위치가 없으면 convert 필요</a:t>
            </a:r>
          </a:p>
          <a:p>
            <a:pPr algn="l">
              <a:spcAft>
                <a:spcPts val="1000"/>
              </a:spcAft>
            </a:pPr>
            <a:r>
              <a:rPr sz="1700" b="0">
                <a:solidFill>
                  <a:srgbClr val="222222"/>
                </a:solidFill>
                <a:latin typeface="맑은 고딕"/>
              </a:rPr>
              <a:t>•  chicago에도 DB_CREATE_FILE_DEST를 설정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비OMF Primary 옆에 OMF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여섯 마운트 지점에 일반 파일</a:t>
            </a:r>
          </a:p>
          <a:p>
            <a:pPr algn="l">
              <a:spcAft>
                <a:spcPts val="1000"/>
              </a:spcAft>
            </a:pPr>
            <a:r>
              <a:rPr sz="1700" b="0">
                <a:solidFill>
                  <a:srgbClr val="222222"/>
                </a:solidFill>
                <a:latin typeface="맑은 고딕"/>
              </a:rPr>
              <a:t>•  재해 복구 서버: 큰 볼륨 하나</a:t>
            </a:r>
          </a:p>
          <a:p>
            <a:pPr algn="l">
              <a:spcAft>
                <a:spcPts val="1000"/>
              </a:spcAft>
            </a:pPr>
            <a:r>
              <a:rPr sz="1700" b="0">
                <a:solidFill>
                  <a:srgbClr val="222222"/>
                </a:solidFill>
                <a:latin typeface="맑은 고딕"/>
              </a:rPr>
              <a:t>•  Standby DB_CREATE_FILE_DEST 한 줄로 해결</a:t>
            </a:r>
          </a:p>
          <a:p>
            <a:pPr algn="l">
              <a:spcAft>
                <a:spcPts val="1000"/>
              </a:spcAft>
            </a:pPr>
            <a:r>
              <a:rPr sz="1700" b="0">
                <a:solidFill>
                  <a:srgbClr val="222222"/>
                </a:solidFill>
                <a:latin typeface="맑은 고딕"/>
              </a:rPr>
              <a:t>•  계획서: CONTROL_FILES, FRA 크기, Primary OMF 설정</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6.11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권한, 이동, FRA, 정리, 점검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파일 이름을 사람이 정하지 않는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OMF 경로 소유자와 권한을 양쪽 같은 기준으로</a:t>
            </a:r>
          </a:p>
          <a:p>
            <a:pPr algn="l">
              <a:spcAft>
                <a:spcPts val="1000"/>
              </a:spcAft>
            </a:pPr>
            <a:r>
              <a:rPr sz="1700" b="0">
                <a:solidFill>
                  <a:srgbClr val="222222"/>
                </a:solidFill>
                <a:latin typeface="맑은 고딕"/>
              </a:rPr>
              <a:t>•  OMF 파일은 MOVE DATAFILE이나 RMAN으로만 이동</a:t>
            </a:r>
          </a:p>
          <a:p>
            <a:pPr algn="l">
              <a:spcAft>
                <a:spcPts val="1000"/>
              </a:spcAft>
            </a:pPr>
            <a:r>
              <a:rPr sz="1700" b="0">
                <a:solidFill>
                  <a:srgbClr val="222222"/>
                </a:solidFill>
                <a:latin typeface="맑은 고딕"/>
              </a:rPr>
              <a:t>•  FRA 경보 기준을 로그 다중화 기준으로 재설정</a:t>
            </a:r>
          </a:p>
          <a:p>
            <a:pPr algn="l">
              <a:spcAft>
                <a:spcPts val="1000"/>
              </a:spcAft>
            </a:pPr>
            <a:r>
              <a:rPr sz="1700" b="0">
                <a:solidFill>
                  <a:srgbClr val="222222"/>
                </a:solidFill>
                <a:latin typeface="맑은 고딕"/>
              </a:rPr>
              <a:t>•  Primary 이름 디렉터리는 V$ 조회 후 정리</a:t>
            </a:r>
          </a:p>
          <a:p>
            <a:pPr algn="l">
              <a:spcAft>
                <a:spcPts val="1000"/>
              </a:spcAft>
            </a:pPr>
            <a:r>
              <a:rPr sz="1700" b="0">
                <a:solidFill>
                  <a:srgbClr val="222222"/>
                </a:solidFill>
                <a:latin typeface="맑은 고딕"/>
              </a:rPr>
              <a:t>•  운영 문서는 파일 이름 대신 번호와 테이블스페이스로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OMF: 위치만 주면 이름·생성·삭제는 데이터베이스가</a:t>
            </a:r>
          </a:p>
          <a:p>
            <a:pPr algn="l">
              <a:spcAft>
                <a:spcPts val="1000"/>
              </a:spcAft>
            </a:pPr>
            <a:r>
              <a:rPr sz="1600" b="0">
                <a:solidFill>
                  <a:srgbClr val="222222"/>
                </a:solidFill>
                <a:latin typeface="맑은 고딕"/>
              </a:rPr>
              <a:t>•  FILE_DEST + FRA면 로그와 컨트롤 파일 두 벌</a:t>
            </a:r>
          </a:p>
          <a:p>
            <a:pPr algn="l">
              <a:spcAft>
                <a:spcPts val="1000"/>
              </a:spcAft>
            </a:pPr>
            <a:r>
              <a:rPr sz="1600" b="0">
                <a:solidFill>
                  <a:srgbClr val="222222"/>
                </a:solidFill>
                <a:latin typeface="맑은 고딕"/>
              </a:rPr>
              <a:t>•  경로: 기본위치/DB_UNIQUE_NAME/(GUID)/종류/o1_mf_</a:t>
            </a:r>
          </a:p>
          <a:p>
            <a:pPr algn="l">
              <a:spcAft>
                <a:spcPts val="1000"/>
              </a:spcAft>
            </a:pPr>
            <a:r>
              <a:rPr sz="1600" b="0">
                <a:solidFill>
                  <a:srgbClr val="222222"/>
                </a:solidFill>
                <a:latin typeface="맑은 고딕"/>
              </a:rPr>
              <a:t>•  convert는 치환, OMF는 생성, 함께 두면 convert 우선</a:t>
            </a:r>
          </a:p>
          <a:p>
            <a:pPr algn="l">
              <a:spcAft>
                <a:spcPts val="1000"/>
              </a:spcAft>
            </a:pPr>
            <a:r>
              <a:rPr sz="1600" b="0">
                <a:solidFill>
                  <a:srgbClr val="222222"/>
                </a:solidFill>
                <a:latin typeface="맑은 고딕"/>
              </a:rPr>
              <a:t>•  SPFILE 절은 CONTROL_FILES를 상속, 직접 지정</a:t>
            </a:r>
          </a:p>
          <a:p>
            <a:pPr algn="l">
              <a:spcAft>
                <a:spcPts val="1000"/>
              </a:spcAft>
            </a:pPr>
            <a:r>
              <a:rPr sz="1600" b="0">
                <a:solidFill>
                  <a:srgbClr val="222222"/>
                </a:solidFill>
                <a:latin typeface="맑은 고딕"/>
              </a:rPr>
              <a:t>•  ASM은 OMF가 기본, AUTO와 함께 Primary에도 설정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FILE_DEST와 FRA만 설정 시 로그 멤버 수는? → 2개</a:t>
            </a:r>
          </a:p>
          <a:p>
            <a:pPr algn="l">
              <a:spcAft>
                <a:spcPts val="1000"/>
              </a:spcAft>
            </a:pPr>
            <a:r>
              <a:rPr sz="1600" b="0">
                <a:solidFill>
                  <a:srgbClr val="222222"/>
                </a:solidFill>
                <a:latin typeface="맑은 고딕"/>
              </a:rPr>
              <a:t>•  Q2. Standby SYSTEM 파일의 디렉터리는? → BOSTON/datafile</a:t>
            </a:r>
          </a:p>
          <a:p>
            <a:pPr algn="l">
              <a:spcAft>
                <a:spcPts val="1000"/>
              </a:spcAft>
            </a:pPr>
            <a:r>
              <a:rPr sz="1600" b="0">
                <a:solidFill>
                  <a:srgbClr val="222222"/>
                </a:solidFill>
                <a:latin typeface="맑은 고딕"/>
              </a:rPr>
              <a:t>•  Q3. NOFILENAMECHECK가 필요 없는 이유는? → 이름이 겹칠 수 없음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컨트롤 파일만 Chicago에 생긴 원인은? → CONTROL_FILES 상속</a:t>
            </a:r>
          </a:p>
          <a:p>
            <a:pPr algn="l">
              <a:spcAft>
                <a:spcPts val="1000"/>
              </a:spcAft>
            </a:pPr>
            <a:r>
              <a:rPr sz="1600" b="0">
                <a:solidFill>
                  <a:srgbClr val="222222"/>
                </a:solidFill>
                <a:latin typeface="맑은 고딕"/>
              </a:rPr>
              <a:t>•  Q5. OMF와 convert를 함께 주면? → convert가 우선</a:t>
            </a:r>
          </a:p>
          <a:p>
            <a:pPr algn="l">
              <a:spcAft>
                <a:spcPts val="1000"/>
              </a:spcAft>
            </a:pPr>
            <a:r>
              <a:rPr sz="1600" b="0">
                <a:solidFill>
                  <a:srgbClr val="222222"/>
                </a:solidFill>
                <a:latin typeface="맑은 고딕"/>
              </a:rPr>
              <a:t>•  Q6. 혼합 구성의 Switchover 대비는? → chicago에도 OMF 위치</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OMF 파라미터와 기준 상태 (6.3)</a:t>
            </a:r>
          </a:p>
          <a:p>
            <a:pPr algn="l">
              <a:spcAft>
                <a:spcPts val="1000"/>
              </a:spcAft>
            </a:pPr>
            <a:r>
              <a:rPr sz="1600" b="0">
                <a:solidFill>
                  <a:srgbClr val="222222"/>
                </a:solidFill>
                <a:latin typeface="맑은 고딕"/>
              </a:rPr>
              <a:t>•  02 없는 디렉터리 / 03 파라미터 누락 실패 재현 (6.3.5, 6.6.4)</a:t>
            </a:r>
          </a:p>
          <a:p>
            <a:pPr algn="l">
              <a:spcAft>
                <a:spcPts val="1000"/>
              </a:spcAft>
            </a:pPr>
            <a:r>
              <a:rPr sz="1600" b="0">
                <a:solidFill>
                  <a:srgbClr val="222222"/>
                </a:solidFill>
                <a:latin typeface="맑은 고딕"/>
              </a:rPr>
              <a:t>•  04 OMF 방식 DUPLICATE 실행 (6.6)</a:t>
            </a:r>
          </a:p>
          <a:p>
            <a:pPr algn="l">
              <a:spcAft>
                <a:spcPts val="1000"/>
              </a:spcAft>
            </a:pPr>
            <a:r>
              <a:rPr sz="1600" b="0">
                <a:solidFill>
                  <a:srgbClr val="222222"/>
                </a:solidFill>
                <a:latin typeface="맑은 고딕"/>
              </a:rPr>
              <a:t>•  05 OMF 구조 해부: 계층, GUID, 이름, 다중화 (6.3.4, 6.4)</a:t>
            </a:r>
          </a:p>
          <a:p>
            <a:pPr algn="l">
              <a:spcAft>
                <a:spcPts val="1000"/>
              </a:spcAft>
            </a:pPr>
            <a:r>
              <a:rPr sz="1600" b="0">
                <a:solidFill>
                  <a:srgbClr val="222222"/>
                </a:solidFill>
                <a:latin typeface="맑은 고딕"/>
              </a:rPr>
              <a:t>•  06 컨트롤 파일 교정 (6.7)</a:t>
            </a:r>
          </a:p>
          <a:p>
            <a:pPr algn="l">
              <a:spcAft>
                <a:spcPts val="1000"/>
              </a:spcAft>
            </a:pPr>
            <a:r>
              <a:rPr sz="1600" b="0">
                <a:solidFill>
                  <a:srgbClr val="222222"/>
                </a:solidFill>
                <a:latin typeface="맑은 고딕"/>
              </a:rPr>
              <a:t>•  07 두 방식 비교와 ADG 검증 (6.7.4, 6.10)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
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notesMaster" Target="notesMasters/notesMaster1.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5장의 두 번째 실패를 실수로만 보면 배울 것이 없습니다. 그것은 방식의 성격입니다. 경로를 사람이 정하면 그 경로가 실제로 존재하는지도 사람이 책임져야 합니다. 한 번 만들고 끝나는 일이 아니라 PDB를 추가할 때마다 되살아나는 부담입니다. STANDBY_FILE_MANAGEMENT가 AUTO여도 디렉터리까지 만들어 주지는 않습니다. 이 장은 그 책임을 오라클에 넘기는 방식을 다룹니다. 넘긴 만큼 통제를 잃는데, 무엇을 잃는지도 함께 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세 파라미터가 맞물리는 방식이 중요합니다. DB_CREATE_ONLINE_LOG_DEST_n을 지정하지 않으면 온라인 로그도 DB_CREATE_FILE_DEST 아래로 갑니다. 그런데 이때 DB_RECOVERY_FILE_DEST가 함께 설정되어 있으면 온라인 로그가 두 곳에 다중화됩니다. 지시하지 않았는데 알아서 이중화해 주는 것입니다. 이 규칙을 모르면 나중에 V$LOGFILE 조회 결과가 예상의 두 배로 나와 당황하게 됩니다. 6.6절에서 실측으로 확인합니다.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흔한 오해가 OMF를 데이터베이스 속성으로 생각하는 것입니다. 그렇지 않습니다. 파라미터에 값이 있는 동안 만들어지는 파일이 OMF로 관리될 뿐입니다. 그래서 Primary가 OMF가 아니어도 Standby만 OMF로 만들 수 있습니다. 실습 환경이 정확히 그 경우입니다. chicago는 5장까지의 경로 지정 방식으로 만들어졌고 boston만 OMF입니다. 이 조합이 오히려 두 방식의 대비를 선명하게 해 줍니다. 같은 원본으로 두 가지 결과를 만들어 비교할 수 있으니까요.</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사라진 다섯 줄 중 셋은 5장에서 실패를 통해 그 필요성을 확인했던 것들입니다. 그것들이 한 줄로 대체됩니다. nofilenamecheck는 대체되는 것이 아니라 그냥 필요 없어집니다. 이유는 다음 슬라이드에서 봅니다. 문제는 set control_files입니다. 이 줄이 사라졌는데 대체 수단이 없습니다. 가이드가 놓친 부분이고, 그 결과가 6.7절의 문제로 나타납니다. 지금은 "한 줄이 대체 없이 사라졌다"는 것만 기억해 두십시오.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5장에서 이 절이 필요했던 이유를 떠올려 보십시오. 두 노드가 같은 디렉터리 구조를 쓰고 파일 이름도 system01.dbf로 같았기 때문에 RMAN의 충돌 검사가 걸렸습니다. NOFILENAMECHECK는 "이름이 같아 보여도 다른 서버이니 괜찮다"고 승인해 주는 절이었습니다. OMF에서는 승인할 상황 자체가 생기지 않습니다. 원인을 없앤 것이지 검사를 끈 것이 아니라는 점이 중요합니다. 5장에서 "검사를 끄면 되겠다"는 오해가 왜 위험했는지도 여기서 다시 확인됩니다.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예상과 다른 결과입니다. DUPLICATE가 실패한 것이 아니라 인스턴스가 아예 뜨지 않았습니다. Process ID 0까지 출력되는데 프로세스가 만들어지지도 않았다는 뜻입니다. 주목할 것은 운영체제 오류 번호입니다. 2는 ENOENT로 경로가 없다는 뜻이고 13은 EACCES로 권한 문제입니다. 이 숫자 하나가 진단의 분기점입니다. 경로를 만들어야 하는지 권한을 고쳐야 하는지가 여기서 갈립니다. 오라클이 이 파라미터를 stat 시스템 콜로 실제 검증한다는 증거이기도 합니다.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줄부터 5장과 다릅니다. 복제 명령까지 가지도 못하고 채널 할당에서 끝났습니다. c1은 할당됐지만 auxiliary 채널인 sby에서 막혔습니다. ORA-27101의 shared memory realm은 SGA를 가리킵니다. 인스턴스가 없으니 접속할 대상이 없는 것이죠. 여기서 주의할 점이 있습니다. ORA-01034는 3장에서도 만났습니다. 그때는 인스턴스를 아예 띄우지 않아서였고 지금은 띄우려다 실패해서입니다. 결과 메시지가 같으므로 Standby 쪽 STARTUP 출력을 봐야 갈립니다.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경고 번호도 오류 번호도 11줄이라는 개수도 경로가 Chicago인 것도 같습니다. 다른 것은 스크립트뿐입니다. 5장에서는 convert가 없었고 지금은 db_create_file_dest가 없습니다. 이 사실이 알려 주는 것이 있습니다. RMAN에게 두 파라미터는 같은 질문에 대한 두 가지 대답입니다. 질문은 "복제한 파일을 어디에 둘 것인가"이고 둘 중 하나는 답해야 합니다. 아무 답도 하지 않으면 원본 경로를 그대로 쓰려 하고 이름 충돌 검사가 막습니다. 따라서 두 방식은 배타적입니다.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실패는 이르면 이를수록 좋습니다. 잘못을 알아채는 데 걸리는 시간도, 되돌리는 데 드는 수고도 적기 때문입니다. 5장의 두 번째 실패에서는 반쯤 복제된 파일을 지우고 처음부터 다시 해야 했습니다. 6장의 두 실패는 둘 다 깨끗합니다. 지울 것이 없습니다. 이것이 OMF를 고를 이유 중 하나입니다. 실무에서 구축 작업은 대개 정해진 시간 안에 끝내야 하는데, 실패 후 복구에 드는 시간이 짧다는 것은 생각보다 큰 가치입니다.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5장의 418줄보다 28줄 짧습니다. 스크립트에서 사라진 절들만큼 처리 단계가 줄어든 결과입니다. 큰 의미는 없지만 두 로그를 비교해 볼 때 참고가 됩니다. 판정 기준 세 가지는 방식과 무관하게 동일합니다. 종료 코드, 오류 줄 개수, 완료 줄의 존재입니다. 이 세 가지를 확인하는 데 5초면 충분하고, 오류가 있을 때만 그 줄 번호 앞뒤를 읽습니다. 390줄이든 418줄이든 처음부터 읽는 것은 마지막 수단입니다.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input 쪽은 사람이 정한 이름, output 쪽은 오라클이 정한 이름입니다. 5장에서는 system01.dbf가 system01.dbf로 그대로 갔고 앞의 경로만 달랐습니다. 여기서는 이름 자체가 다릅니다. 이것이 두 방식의 가장 눈에 띄는 차이입니다. 그리고 261번 줄을 보면 BOSTON 아래에 서른두 자리 16진수로 된 디렉터리가 있습니다. 처음 보면 무엇인지 알 수 없는 이름인데, 다음 절에서 정체를 밝힙니다. 미리 말씀드리면 PDB와 관련이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실행이 오래 걸려 실패한 줄 알고 다시 돌리는 실수는 생각보다 흔합니다. 이때 나오는 오류가 5장과 다릅니다. SPFILE 절은 "지금부터 spfile을 만들겠다"는 지시인데, 상대가 이미 그 spfile로 돌고 있으면 성립하지 않습니다. 중요한 것은 Standby가 멀쩡하다는 사실입니다. 채널은 할당되고 Starting Duplicate Db까지 갔지만 파일을 건드리기 전에 중단됐습니다. 실측에서 실패 직후에도 READ ONLY WITH APPLY, MRP0 APPLYING_LOG, 목적지 VALID였습니다.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복제 전에는 이 아래에 빈 디렉터리 하나뿐이었습니다. 지금 여덟 개가 있고 전부 복제 과정에서 생겼습니다. 5장에서 pdbseed와 chicago_pdb1을 미리 만들지 않아 실패했던 것과 정확히 대비됩니다. 최상위 이름이 대문자 BOSTON인 것에 주의하십시오. DB_UNIQUE_NAME이 소문자 boston인데 OMF가 대문자로 바꿔 씁니다. 5장에서 만든 것은 Boston이었습니다. 리눅스는 대소문자를 구별하므로 둘은 다른 디렉터리이고, 방식을 바꿀 때 옛 구조를 지우지 않으면 두 벌이 공존합니다.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사소해 보이는 선택이지만 근거가 분명합니다. 물리 복제본은 DB_NAME이 원본과 같아야 하므로, DB_NAME을 디렉터리 이름으로 쓰면 Primary와 모든 Standby가 같은 디렉터리 이름을 갖게 됩니다. 한 서버에 두 개의 Standby를 두는 구성에서는 그대로 충돌합니다. DB_UNIQUE_NAME은 구성 안에서 유일하도록 정의된 값이므로 디렉터리 이름으로 쓰기에 적합합니다. 이 규칙 덕분에 Standby를 추가할 때 경로를 따로 설계할 필요가 없습니다.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PDB는 이름을 바꿀 수도 있고 다른 CDB로 옮겨 붙일 수도 있습니다. 이름을 디렉터리로 쓰면 그때마다 디렉터리를 옮겨야 합니다. GUID는 PDB가 만들어질 때 정해져 바뀌지 않으므로 그런 문제가 없습니다. 대가는 가독성입니다. chicago_pdb1은 보기만 해도 알지만 59F053E7로 시작하는 이름은 그렇지 않습니다. V$PDBS를 조회해야 합니다. 한편 양쪽 GUID가 같다는 점은 실무에서 유용합니다. 서버가 달라도 GUID 부분을 기준으로 파일을 대조할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규칙을 알면 이름만 보고도 그 파일이 무엇인지 알 수 있습니다. o1_mf_users_1l50qfor_.dbf는 users 테이블스페이스의 데이터 파일입니다. 다만 파일 번호가 이름에 없다는 점이 5장과 다릅니다. system01.dbf에는 01이 있었지만 OMF 이름에는 없습니다. 파일 번호를 알려면 V$DATAFILE을 조회해야 합니다. 장애 대응처럼 급한 상황에서 이 한 단계가 부담이 될 수 있습니다. 임시 파일의 확장자가 .tmp인 것도 5장과 다른 점입니다.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지시하지 않았는데 오라클이 알아서 이중화한 것입니다. 이중화 자체는 좋은 일이지만 용량 계산에 넣어야 합니다. 실측에서 두 디렉터리가 각각 1.4GB, 합계 2.8GB였습니다. 5장 구성에서는 1.4GB였습니다. 더 중요한 것은 FRA를 잠식한다는 점입니다. 한도 15,360MB 중 1,400MB, 9.11퍼센트가 온라인 로그입니다. 아카이브가 쓸 공간이 그만큼 줄어듭니다. 4장에서 봤듯 FRA가 가득 차면 Primary가 멈추므로 가벼운 문제가 아닙니다. 이중화를 원하지 않으면 DB_CREATE_ONLINE_LOG_DEST_1을 하나만 명시합니다.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데이터 파일과 로그 파일은 모두 OMF 규칙을 따랐는데 컨트롤 파일만 다릅니다. Standby인데 Primary 이름의 디렉터리를 쓰고 있고 o1_mf로 시작하는 이름도 아닙니다. 실습 01에서 boston 서버에 빈 Chicago 디렉터리가 있는 것을 보고 "5장의 잔재"라고 넘겼는데, 이제 그 디렉터리가 비어 있지 않습니다. 동작에는 지장이 없습니다. 파일은 boston에 있고 정상적으로 읽고 씁니다. 문제는 다른 데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OMF가 컨트롤 파일 이름을 정하는 것은 CONTROL_FILES가 비어 있을 때뿐입니다. 상속으로 값이 들어와 버렸으니 DB_CREATE_FILE_DEST가 있어도 소용이 없습니다. 5장 스크립트에는 set control_files가 있어서 이 문제가 없었습니다. OMF 편 가이드가 그 줄을 지우면서 대체 수단을 마련하지 않은 것이 결함입니다. 이것은 5장의 create spfile from memory에 이은 세 번째 가이드 결함이며, 이 과정에서 발견한 것 중 실무 영향이 가장 큽니다.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 번째가 가장 위험합니다. Standby 서버에서 Chicago라는 디렉터리를 발견한 운영자가 "Primary 파일이 왜 여기 있지" 하고 지우는 상황을 상상해 보십시오. 컨트롤 파일이 사라지면 Standby는 마운트되지 않습니다. 반대 방향의 사고도 있습니다. 이 Standby를 폐기할 때 BOSTON 디렉터리만 지우면 컨트롤 파일이 남아 디스크를 차지합니다. 성능 문제는 없지만 운영 사고의 씨앗이 되는 종류의 문제입니다.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CONTROL_FILES는 정적 파라미터이므로 SCOPE=SPFILE이어야 합니다. MEMORY나 BOTH로는 바꿀 수 없습니다. 순서의 목적은 파라미터와 파일 위치가 어긋나 있는 시간을 데이터베이스가 내려가 있는 동안으로 한정하는 것입니다. 파일을 먼저 옮기면 어긋난 상태로 종료를 시도하게 되고, 기동 시 ORA-00205를 만납니다. 이때 V$INSTANCE.STATUS는 STARTED입니다. 인스턴스는 떴고 마운트에서 멈춘 것이죠. 메시지가 STARTUP 출력 맨 끝에 붙어 나오므로 대충 보면 성공한 것처럼 보입니다.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절충입니다. 컨트롤 파일 이름이 o1_mf 형태가 되지 않지만 위치는 일관되게 유지됩니다. 컨트롤 파일은 개수가 적고 이름이 바뀔 일도 없으므로 실무에서 받아들일 만합니다. 여기서 한 가지 더 배울 점이 있습니다. OMF를 쓴다고 mkdir이 완전히 사라지지는 않는다는 것입니다. OMF가 관리하지 않는 파일은 여전히 사람이 자리를 마련해야 합니다. 자동화의 범위를 정확히 아는 것이 자동화를 신뢰하는 것보다 중요합니다.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5장에서는 create spfile from memory였고 여기서는 from pfile입니다. 둘 다 ORA-32002로 막힙니다. 그런데 이번 것이 더 위험합니다. 대상 pfile이 세 줄짜리이기 때문입니다. DUPLICATE가 애써 채워 넣은 파라미터를 세 줄로 되돌리는 셈이고, 이어지는 shutdown과 startup까지 실행하면 Standby는 db_unique_name조차 없는 상태로 뜨려 합니다. 오류가 오히려 다행인 경우입니다. 대신 다섯 파라미터가 살아 있는지 조회로 확인하면 됩니다.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줄이 핵심입니다. 담긴 내용은 완전히 같습니다. 파일 11개, 번호 1,3,4,5,6,7,8,9,10,11,12, 크기까지 동일합니다. 두 방식의 차이는 어디에 어떤 이름으로 두느냐뿐입니다. 성능 차이도, 복제 정확성의 차이도 없습니다. 따라서 선택 기준도 성능이 아니라 관리 방식입니다. 어느 쪽이 우리 조직의 운영 관행에 맞는가, 어느 쪽이 사람의 실수를 덜 부르는가로 판단해야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OMF는 사람이 관리할 항목을 줄입니다. 줄어든 만큼 실수도 줄어듭니다. 반대로 경로 지정은 통제를 줍니다. 스토리지 계층별로 파일을 나눠야 하거나 백업 스크립트가 파일 이름 규칙에 의존한다면 OMF의 무작위 문자열이 곤란해집니다. 둘 다 지정하면 OMF가 이기고 convert는 무시됩니다. 오류가 나지는 않지만 스크립트를 읽는 사람이 혼란스러워지므로 권하지 않습니다. 조직 표준으로 하나를 정하는 것이 가장 좋습니다.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6장 실습을 마친 시점의 구성이 7장 이후의 전제입니다. 이후 장에서 Standby 파일 경로를 볼 때 o1_mf 형태가 나오는 것은 그 때문이며 오류가 아닙니다. 5장 트랜스크립트와 경로가 다른 것도 같은 이유입니다. Primary는 그대로 경로 지정 방식을 유지하므로, 앞으로도 양쪽 경로 형태가 다릅니다. 이것이 오히려 현실적입니다. 실무에서도 Primary와 Standby가 서로 다른 스토리지 구성을 쓰는 경우가 많습니다.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219456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5394960"/>
            <a:ext cx="12191695" cy="146304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457200"/>
            <a:ext cx="10698480" cy="548640"/>
          </a:xfrm>
          <a:prstGeom prst="rect">
            <a:avLst/>
          </a:prstGeom>
          <a:noFill/>
        </p:spPr>
        <p:txBody>
          <a:bodyPr wrap="square">
            <a:spAutoFit/>
          </a:bodyPr>
          <a:lstStyle/>
          <a:p>
            <a:pPr algn="l">
              <a:spcAft>
                <a:spcPts val="600"/>
              </a:spcAft>
            </a:pPr>
            <a:r>
              <a:rPr sz="1600" b="1">
                <a:solidFill>
                  <a:srgbClr val="FFFFFF"/>
                </a:solidFill>
                <a:latin typeface="맑은 고딕"/>
              </a:rPr>
              <a:t>Oracle Database 19c Active Data Guard 과정</a:t>
            </a:r>
          </a:p>
        </p:txBody>
      </p:sp>
      <p:sp>
        <p:nvSpPr>
          <p:cNvPr id="6" name="TextBox 5"/>
          <p:cNvSpPr txBox="1"/>
          <p:nvPr/>
        </p:nvSpPr>
        <p:spPr>
          <a:xfrm>
            <a:off x="731520" y="2377440"/>
            <a:ext cx="10698480" cy="1554480"/>
          </a:xfrm>
          <a:prstGeom prst="rect">
            <a:avLst/>
          </a:prstGeom>
          <a:noFill/>
        </p:spPr>
        <p:txBody>
          <a:bodyPr wrap="square">
            <a:spAutoFit/>
          </a:bodyPr>
          <a:lstStyle/>
          <a:p>
            <a:pPr algn="l">
              <a:spcAft>
                <a:spcPts val="600"/>
              </a:spcAft>
            </a:pPr>
            <a:r>
              <a:rPr sz="3400" b="1">
                <a:solidFill>
                  <a:srgbClr val="C0392B"/>
                </a:solidFill>
                <a:latin typeface="맑은 고딕"/>
              </a:rPr>
              <a:t>Physical Standby 생성 ②</a:t>
            </a:r>
          </a:p>
        </p:txBody>
      </p:sp>
      <p:sp>
        <p:nvSpPr>
          <p:cNvPr id="7" name="TextBox 6"/>
          <p:cNvSpPr txBox="1"/>
          <p:nvPr/>
        </p:nvSpPr>
        <p:spPr>
          <a:xfrm>
            <a:off x="731520" y="4114800"/>
            <a:ext cx="10698480" cy="1097280"/>
          </a:xfrm>
          <a:prstGeom prst="rect">
            <a:avLst/>
          </a:prstGeom>
          <a:noFill/>
        </p:spPr>
        <p:txBody>
          <a:bodyPr wrap="square">
            <a:spAutoFit/>
          </a:bodyPr>
          <a:lstStyle/>
          <a:p>
            <a:pPr algn="l">
              <a:spcAft>
                <a:spcPts val="600"/>
              </a:spcAft>
            </a:pPr>
            <a:r>
              <a:rPr sz="1500" b="0">
                <a:solidFill>
                  <a:srgbClr val="5A6672"/>
                </a:solidFill>
                <a:latin typeface="맑은 고딕"/>
              </a:rPr>
              <a:t>OMF 방식 — 오라클에 맡기면 무엇이 달라지는가</a:t>
            </a:r>
          </a:p>
        </p:txBody>
      </p:sp>
      <p:sp>
        <p:nvSpPr>
          <p:cNvPr id="8" name="TextBox 7"/>
          <p:cNvSpPr txBox="1"/>
          <p:nvPr/>
        </p:nvSpPr>
        <p:spPr>
          <a:xfrm>
            <a:off x="731520" y="5577840"/>
            <a:ext cx="10698480" cy="914400"/>
          </a:xfrm>
          <a:prstGeom prst="rect">
            <a:avLst/>
          </a:prstGeom>
          <a:noFill/>
        </p:spPr>
        <p:txBody>
          <a:bodyPr wrap="square">
            <a:spAutoFit/>
          </a:bodyPr>
          <a:lstStyle/>
          <a:p>
            <a:pPr algn="l">
              <a:spcAft>
                <a:spcPts val="600"/>
              </a:spcAft>
            </a:pPr>
            <a:r>
              <a:rPr sz="2000" b="1">
                <a:solidFill>
                  <a:srgbClr val="C0392B"/>
                </a:solidFill>
                <a:latin typeface="맑은 고딕"/>
              </a:rPr>
              <a:t>디렉터리 자동 생성 · GUID · 로그 이중화 · 컨트롤 파일의 예외</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학습 목표 (Objectives)</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OMF 세 파라미터의 역할을 구분하고 서로 어떻게 맞물리는지 설명한다.</a:t>
            </a:r>
          </a:p>
          <a:p>
            <a:pPr algn="l">
              <a:spcAft>
                <a:spcPts val="1000"/>
              </a:spcAft>
            </a:pPr>
            <a:r>
              <a:rPr sz="1600" b="0">
                <a:solidFill>
                  <a:srgbClr val="222222"/>
                </a:solidFill>
                <a:latin typeface="맑은 고딕"/>
              </a:rPr>
              <a:t>•  OMF 방식 스크립트와 5장 스크립트의 차이를 절 단위로 대조한다.</a:t>
            </a:r>
          </a:p>
          <a:p>
            <a:pPr algn="l">
              <a:spcAft>
                <a:spcPts val="1000"/>
              </a:spcAft>
            </a:pPr>
            <a:r>
              <a:rPr sz="1600" b="0">
                <a:solidFill>
                  <a:srgbClr val="222222"/>
                </a:solidFill>
                <a:latin typeface="맑은 고딕"/>
              </a:rPr>
              <a:t>•  </a:t>
            </a:r>
            <a:r>
              <a:rPr sz="1600" b="0">
                <a:solidFill>
                  <a:srgbClr val="222222"/>
                </a:solidFill>
                <a:latin typeface="Consolas"/>
                <a:cs typeface="Consolas"/>
              </a:rPr>
              <a:t>DB_CREATE_FILE_DEST</a:t>
            </a:r>
            <a:r>
              <a:rPr sz="1600" b="0">
                <a:solidFill>
                  <a:srgbClr val="222222"/>
                </a:solidFill>
                <a:latin typeface="맑은 고딕"/>
              </a:rPr>
              <a:t>가 잘못됐을 때와 없을 때의 오류를 구분한다.</a:t>
            </a:r>
          </a:p>
          <a:p>
            <a:pPr algn="l">
              <a:spcAft>
                <a:spcPts val="1000"/>
              </a:spcAft>
            </a:pPr>
            <a:r>
              <a:rPr sz="1600" b="0">
                <a:solidFill>
                  <a:srgbClr val="222222"/>
                </a:solidFill>
                <a:latin typeface="맑은 고딕"/>
              </a:rPr>
              <a:t>•  OMF가 만든 디렉터리 구조를 읽고 PDB의 GUID 디렉터리를 설명한다.</a:t>
            </a:r>
          </a:p>
          <a:p>
            <a:pPr algn="l">
              <a:spcAft>
                <a:spcPts val="1000"/>
              </a:spcAft>
            </a:pPr>
            <a:r>
              <a:rPr sz="1600" b="0">
                <a:solidFill>
                  <a:srgbClr val="222222"/>
                </a:solidFill>
                <a:latin typeface="맑은 고딕"/>
              </a:rPr>
              <a:t>•  OMF 파일 이름 규칙을 해독하고 파일 번호를 확인하는 방법을 안다.</a:t>
            </a:r>
          </a:p>
          <a:p>
            <a:pPr algn="l">
              <a:spcAft>
                <a:spcPts val="1000"/>
              </a:spcAft>
            </a:pPr>
            <a:r>
              <a:rPr sz="1600" b="0">
                <a:solidFill>
                  <a:srgbClr val="222222"/>
                </a:solidFill>
                <a:latin typeface="맑은 고딕"/>
              </a:rPr>
              <a:t>•  컨트롤 파일이 OMF의 예외인 이유를 설명하고 상속된 값을 바로잡는다.</a:t>
            </a:r>
          </a:p>
          <a:p>
            <a:pPr algn="l">
              <a:spcAft>
                <a:spcPts val="1000"/>
              </a:spcAft>
            </a:pPr>
            <a:r>
              <a:rPr sz="1600" b="0">
                <a:solidFill>
                  <a:srgbClr val="222222"/>
                </a:solidFill>
                <a:latin typeface="맑은 고딕"/>
              </a:rPr>
              <a:t>•  두 방식의 장단점을 근거와 함께 비교하고 선택 기준을 제시한다.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이 장의 구성 (Agenda)</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6.2  OMF란 무엇인가</a:t>
            </a:r>
          </a:p>
          <a:p>
            <a:pPr algn="l">
              <a:spcAft>
                <a:spcPts val="1000"/>
              </a:spcAft>
            </a:pPr>
            <a:r>
              <a:rPr sz="1600" b="0">
                <a:solidFill>
                  <a:srgbClr val="222222"/>
                </a:solidFill>
                <a:latin typeface="맑은 고딕"/>
              </a:rPr>
              <a:t>•  6.3  스크립트가 어떻게 달라지는가</a:t>
            </a:r>
          </a:p>
          <a:p>
            <a:pPr algn="l">
              <a:spcAft>
                <a:spcPts val="1000"/>
              </a:spcAft>
            </a:pPr>
            <a:r>
              <a:rPr sz="1600" b="0">
                <a:solidFill>
                  <a:srgbClr val="222222"/>
                </a:solidFill>
                <a:latin typeface="맑은 고딕"/>
              </a:rPr>
              <a:t>•  6.4  실패 두 가지</a:t>
            </a:r>
          </a:p>
          <a:p>
            <a:pPr algn="l">
              <a:spcAft>
                <a:spcPts val="1000"/>
              </a:spcAft>
            </a:pPr>
            <a:r>
              <a:rPr sz="1600" b="0">
                <a:solidFill>
                  <a:srgbClr val="222222"/>
                </a:solidFill>
                <a:latin typeface="맑은 고딕"/>
              </a:rPr>
              <a:t>•  6.5  성공한 OMF DUPLICATE</a:t>
            </a:r>
          </a:p>
          <a:p>
            <a:pPr algn="l">
              <a:spcAft>
                <a:spcPts val="1000"/>
              </a:spcAft>
            </a:pPr>
            <a:r>
              <a:rPr sz="1600" b="0">
                <a:solidFill>
                  <a:srgbClr val="222222"/>
                </a:solidFill>
                <a:latin typeface="맑은 고딕"/>
              </a:rPr>
              <a:t>•  6.6  OMF가 만든 구조</a:t>
            </a:r>
          </a:p>
          <a:p>
            <a:pPr algn="l">
              <a:spcAft>
                <a:spcPts val="1000"/>
              </a:spcAft>
            </a:pPr>
            <a:r>
              <a:rPr sz="1600" b="0">
                <a:solidFill>
                  <a:srgbClr val="222222"/>
                </a:solidFill>
                <a:latin typeface="맑은 고딕"/>
              </a:rPr>
              <a:t>•  6.7  컨트롤 파일 — OMF의 예외</a:t>
            </a:r>
          </a:p>
          <a:p>
            <a:pPr algn="l">
              <a:spcAft>
                <a:spcPts val="1000"/>
              </a:spcAft>
            </a:pPr>
            <a:r>
              <a:rPr sz="1600" b="0">
                <a:solidFill>
                  <a:srgbClr val="222222"/>
                </a:solidFill>
                <a:latin typeface="맑은 고딕"/>
              </a:rPr>
              <a:t>•  6.8  가이드 후속 단계 검증</a:t>
            </a:r>
          </a:p>
          <a:p>
            <a:pPr algn="l">
              <a:spcAft>
                <a:spcPts val="1000"/>
              </a:spcAft>
            </a:pPr>
            <a:r>
              <a:rPr sz="1600" b="0">
                <a:solidFill>
                  <a:srgbClr val="222222"/>
                </a:solidFill>
                <a:latin typeface="맑은 고딕"/>
              </a:rPr>
              <a:t>•  6.9  두 방식의 비교</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6.2</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OMF란 무엇인가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세 파라미터</a:t>
            </a:r>
          </a:p>
          <a:p>
            <a:pPr algn="l">
              <a:spcAft>
                <a:spcPts val="800"/>
              </a:spcAft>
            </a:pPr>
            <a:r>
              <a:rPr sz="1600" b="0">
                <a:solidFill>
                  <a:srgbClr val="FFFFFF"/>
                </a:solidFill>
                <a:latin typeface="맑은 고딕"/>
              </a:rPr>
              <a:t>•  켜고 끄는 스위치가 아니다</a:t>
            </a:r>
          </a:p>
          <a:p>
            <a:pPr algn="l">
              <a:spcAft>
                <a:spcPts val="800"/>
              </a:spcAft>
            </a:pPr>
            <a:r>
              <a:rPr sz="1600" b="0">
                <a:solidFill>
                  <a:srgbClr val="FFFFFF"/>
                </a:solidFill>
                <a:latin typeface="맑은 고딕"/>
              </a:rPr>
              <a:t>•  Primary가 OMF가 아니어도 된다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5장의 실패가 남긴 질문</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디렉터리는 누가 만드는가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5장 두 번째 실패 — </a:t>
            </a:r>
            <a:r>
              <a:rPr sz="1700" b="0">
                <a:solidFill>
                  <a:srgbClr val="222222"/>
                </a:solidFill>
                <a:latin typeface="Consolas"/>
                <a:cs typeface="Consolas"/>
              </a:rPr>
              <a:t>pdbseed</a:t>
            </a:r>
            <a:r>
              <a:rPr sz="1700" b="0">
                <a:solidFill>
                  <a:srgbClr val="222222"/>
                </a:solidFill>
                <a:latin typeface="맑은 고딕"/>
              </a:rPr>
              <a:t> 디렉터리가 없어 ORA-19505</a:t>
            </a:r>
          </a:p>
          <a:p>
            <a:pPr algn="l">
              <a:spcAft>
                <a:spcPts val="1000"/>
              </a:spcAft>
            </a:pPr>
            <a:r>
              <a:rPr sz="1700" b="0">
                <a:solidFill>
                  <a:srgbClr val="222222"/>
                </a:solidFill>
                <a:latin typeface="맑은 고딕"/>
              </a:rPr>
              <a:t>•  convert 규칙은 문자열만 바꾼다. 경로의 존재는 확인하지 않는다</a:t>
            </a:r>
          </a:p>
          <a:p>
            <a:pPr algn="l">
              <a:spcAft>
                <a:spcPts val="1000"/>
              </a:spcAft>
            </a:pPr>
            <a:r>
              <a:rPr sz="1700" b="0">
                <a:solidFill>
                  <a:srgbClr val="222222"/>
                </a:solidFill>
                <a:latin typeface="맑은 고딕"/>
              </a:rPr>
              <a:t>•  PDB를 추가할 때마다 사람이 디렉터리를 만들어야 한다</a:t>
            </a:r>
          </a:p>
          <a:p>
            <a:pPr algn="l">
              <a:spcAft>
                <a:spcPts val="1000"/>
              </a:spcAft>
            </a:pPr>
            <a:r>
              <a:rPr sz="1700" b="0">
                <a:solidFill>
                  <a:srgbClr val="222222"/>
                </a:solidFill>
                <a:latin typeface="맑은 고딕"/>
              </a:rPr>
              <a:t>•  OMF는 이 책임을 오라클에 넘긴다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OMF의 세 파라미터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무엇이 어디로 가는가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DB_CREATE_FILE_DEST</a:t>
            </a:r>
            <a:r>
              <a:rPr sz="1700" b="0">
                <a:solidFill>
                  <a:srgbClr val="222222"/>
                </a:solidFill>
                <a:latin typeface="맑은 고딕"/>
              </a:rPr>
              <a:t> — 데이터·임시 파일. 실습 </a:t>
            </a:r>
            <a:r>
              <a:rPr sz="1700" b="0">
                <a:solidFill>
                  <a:srgbClr val="222222"/>
                </a:solidFill>
                <a:latin typeface="Consolas"/>
                <a:cs typeface="Consolas"/>
              </a:rPr>
              <a:t>/u03/app/oracle/oradata</a:t>
            </a:r>
          </a:p>
          <a:p>
            <a:pPr algn="l">
              <a:spcAft>
                <a:spcPts val="1000"/>
              </a:spcAft>
            </a:pPr>
            <a:r>
              <a:rPr sz="1700" b="0">
                <a:solidFill>
                  <a:srgbClr val="222222"/>
                </a:solidFill>
                <a:latin typeface="맑은 고딕"/>
              </a:rPr>
              <a:t>•  </a:t>
            </a:r>
            <a:r>
              <a:rPr sz="1700" b="0">
                <a:solidFill>
                  <a:srgbClr val="222222"/>
                </a:solidFill>
                <a:latin typeface="Consolas"/>
                <a:cs typeface="Consolas"/>
              </a:rPr>
              <a:t>DB_CREATE_ONLINE_LOG_DEST_n</a:t>
            </a:r>
            <a:r>
              <a:rPr sz="1700" b="0">
                <a:solidFill>
                  <a:srgbClr val="222222"/>
                </a:solidFill>
                <a:latin typeface="맑은 고딕"/>
              </a:rPr>
              <a:t> — 온라인 로그·컨트롤 파일. </a:t>
            </a:r>
            <a:r>
              <a:rPr sz="1700" b="1">
                <a:solidFill>
                  <a:srgbClr val="222222"/>
                </a:solidFill>
                <a:latin typeface="맑은 고딕"/>
              </a:rPr>
              <a:t>미지정</a:t>
            </a:r>
          </a:p>
          <a:p>
            <a:pPr algn="l">
              <a:spcAft>
                <a:spcPts val="1000"/>
              </a:spcAft>
            </a:pPr>
            <a:r>
              <a:rPr sz="1700" b="0">
                <a:solidFill>
                  <a:srgbClr val="222222"/>
                </a:solidFill>
                <a:latin typeface="맑은 고딕"/>
              </a:rPr>
              <a:t>•  </a:t>
            </a:r>
            <a:r>
              <a:rPr sz="1700" b="0">
                <a:solidFill>
                  <a:srgbClr val="222222"/>
                </a:solidFill>
                <a:latin typeface="Consolas"/>
                <a:cs typeface="Consolas"/>
              </a:rPr>
              <a:t>DB_RECOVERY_FILE_DEST</a:t>
            </a:r>
            <a:r>
              <a:rPr sz="1700" b="0">
                <a:solidFill>
                  <a:srgbClr val="222222"/>
                </a:solidFill>
                <a:latin typeface="맑은 고딕"/>
              </a:rPr>
              <a:t> — FRA. 실습 15GB</a:t>
            </a:r>
          </a:p>
          <a:p>
            <a:pPr algn="l">
              <a:spcAft>
                <a:spcPts val="1000"/>
              </a:spcAft>
            </a:pPr>
            <a:r>
              <a:rPr sz="1700" b="0">
                <a:solidFill>
                  <a:srgbClr val="222222"/>
                </a:solidFill>
                <a:latin typeface="맑은 고딕"/>
              </a:rPr>
              <a:t>•  로그 목적지를 지정하지 않으면 </a:t>
            </a:r>
            <a:r>
              <a:rPr sz="1700" b="0">
                <a:solidFill>
                  <a:srgbClr val="222222"/>
                </a:solidFill>
                <a:latin typeface="Consolas"/>
                <a:cs typeface="Consolas"/>
              </a:rPr>
              <a:t>DB_CREATE_FILE_DEST</a:t>
            </a:r>
            <a:r>
              <a:rPr sz="1700" b="0">
                <a:solidFill>
                  <a:srgbClr val="222222"/>
                </a:solidFill>
                <a:latin typeface="맑은 고딕"/>
              </a:rPr>
              <a:t> 아래로 간다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켜고 끄는 스위치가 아니다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파일 단위 규칙</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DB_CREATE_FILE_DEST</a:t>
            </a:r>
            <a:r>
              <a:rPr sz="1700" b="0">
                <a:solidFill>
                  <a:srgbClr val="222222"/>
                </a:solidFill>
                <a:latin typeface="맑은 고딕"/>
              </a:rPr>
              <a:t>에 값이 있으면 그 이후 만들어지는 파일이 OMF</a:t>
            </a:r>
          </a:p>
          <a:p>
            <a:pPr algn="l">
              <a:spcAft>
                <a:spcPts val="1000"/>
              </a:spcAft>
            </a:pPr>
            <a:r>
              <a:rPr sz="1700" b="0">
                <a:solidFill>
                  <a:srgbClr val="222222"/>
                </a:solidFill>
                <a:latin typeface="맑은 고딕"/>
              </a:rPr>
              <a:t>•  데이터베이스 단위 스위치가 아니라 파일 단위 규칙</a:t>
            </a:r>
          </a:p>
          <a:p>
            <a:pPr algn="l">
              <a:spcAft>
                <a:spcPts val="1000"/>
              </a:spcAft>
            </a:pPr>
            <a:r>
              <a:rPr sz="1700" b="0">
                <a:solidFill>
                  <a:srgbClr val="222222"/>
                </a:solidFill>
                <a:latin typeface="맑은 고딕"/>
              </a:rPr>
              <a:t>•  한 데이터베이스에 OMF 파일과 비OMF 파일이 섞일 수 있다</a:t>
            </a:r>
          </a:p>
          <a:p>
            <a:pPr algn="l">
              <a:spcAft>
                <a:spcPts val="1000"/>
              </a:spcAft>
            </a:pPr>
            <a:r>
              <a:rPr sz="1700" b="0">
                <a:solidFill>
                  <a:srgbClr val="222222"/>
                </a:solidFill>
                <a:latin typeface="맑은 고딕"/>
              </a:rPr>
              <a:t>•  실습 환경 : chicago 비OMF / boston OMF</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6.3</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스크립트가 어떻게 달라지는가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사라지는 다섯 절</a:t>
            </a:r>
          </a:p>
          <a:p>
            <a:pPr algn="l">
              <a:spcAft>
                <a:spcPts val="800"/>
              </a:spcAft>
            </a:pPr>
            <a:r>
              <a:rPr sz="1600" b="0">
                <a:solidFill>
                  <a:srgbClr val="FFFFFF"/>
                </a:solidFill>
                <a:latin typeface="맑은 고딕"/>
              </a:rPr>
              <a:t>•  새로 생기는 세 절</a:t>
            </a:r>
          </a:p>
          <a:p>
            <a:pPr algn="l">
              <a:spcAft>
                <a:spcPts val="800"/>
              </a:spcAft>
            </a:pPr>
            <a:r>
              <a:rPr sz="1600" b="0">
                <a:solidFill>
                  <a:srgbClr val="FFFFFF"/>
                </a:solidFill>
                <a:latin typeface="맑은 고딕"/>
              </a:rPr>
              <a:t>•  초기 pfile 한 줄</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다섯이 사라지고 셋이 생긴다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스크립트 대조</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사라짐 : </a:t>
            </a:r>
            <a:r>
              <a:rPr sz="1700" b="0">
                <a:solidFill>
                  <a:srgbClr val="222222"/>
                </a:solidFill>
                <a:latin typeface="Consolas"/>
                <a:cs typeface="Consolas"/>
              </a:rPr>
              <a:t>parameter_value_convert</a:t>
            </a:r>
            <a:r>
              <a:rPr sz="1700" b="0">
                <a:solidFill>
                  <a:srgbClr val="222222"/>
                </a:solidFill>
                <a:latin typeface="맑은 고딕"/>
              </a:rPr>
              <a:t> · </a:t>
            </a:r>
            <a:r>
              <a:rPr sz="1700" b="0">
                <a:solidFill>
                  <a:srgbClr val="222222"/>
                </a:solidFill>
                <a:latin typeface="Consolas"/>
                <a:cs typeface="Consolas"/>
              </a:rPr>
              <a:t>db_file_name_convert</a:t>
            </a:r>
            <a:r>
              <a:rPr sz="1700" b="0">
                <a:solidFill>
                  <a:srgbClr val="222222"/>
                </a:solidFill>
                <a:latin typeface="맑은 고딕"/>
              </a:rPr>
              <a:t> · </a:t>
            </a:r>
            <a:r>
              <a:rPr sz="1700" b="0">
                <a:solidFill>
                  <a:srgbClr val="222222"/>
                </a:solidFill>
                <a:latin typeface="Consolas"/>
                <a:cs typeface="Consolas"/>
              </a:rPr>
              <a:t>log_file_name_convert</a:t>
            </a:r>
            <a:r>
              <a:rPr sz="1700" b="0">
                <a:solidFill>
                  <a:srgbClr val="222222"/>
                </a:solidFill>
                <a:latin typeface="맑은 고딕"/>
              </a:rPr>
              <a:t> · </a:t>
            </a:r>
            <a:r>
              <a:rPr sz="1700" b="0">
                <a:solidFill>
                  <a:srgbClr val="222222"/>
                </a:solidFill>
                <a:latin typeface="Consolas"/>
                <a:cs typeface="Consolas"/>
              </a:rPr>
              <a:t>control_files</a:t>
            </a:r>
            <a:r>
              <a:rPr sz="1700" b="0">
                <a:solidFill>
                  <a:srgbClr val="222222"/>
                </a:solidFill>
                <a:latin typeface="맑은 고딕"/>
              </a:rPr>
              <a:t> · </a:t>
            </a:r>
            <a:r>
              <a:rPr sz="1700" b="0">
                <a:solidFill>
                  <a:srgbClr val="222222"/>
                </a:solidFill>
                <a:latin typeface="Consolas"/>
                <a:cs typeface="Consolas"/>
              </a:rPr>
              <a:t>nofilenamecheck</a:t>
            </a:r>
          </a:p>
          <a:p>
            <a:pPr algn="l">
              <a:spcAft>
                <a:spcPts val="1000"/>
              </a:spcAft>
            </a:pPr>
            <a:r>
              <a:rPr sz="1700" b="0">
                <a:solidFill>
                  <a:srgbClr val="222222"/>
                </a:solidFill>
                <a:latin typeface="맑은 고딕"/>
              </a:rPr>
              <a:t>•  생김 : </a:t>
            </a:r>
            <a:r>
              <a:rPr sz="1700" b="0">
                <a:solidFill>
                  <a:srgbClr val="222222"/>
                </a:solidFill>
                <a:latin typeface="Consolas"/>
                <a:cs typeface="Consolas"/>
              </a:rPr>
              <a:t>db_create_file_dest</a:t>
            </a:r>
            <a:r>
              <a:rPr sz="1700" b="0">
                <a:solidFill>
                  <a:srgbClr val="222222"/>
                </a:solidFill>
                <a:latin typeface="맑은 고딕"/>
              </a:rPr>
              <a:t> · </a:t>
            </a:r>
            <a:r>
              <a:rPr sz="1700" b="0">
                <a:solidFill>
                  <a:srgbClr val="222222"/>
                </a:solidFill>
                <a:latin typeface="Consolas"/>
                <a:cs typeface="Consolas"/>
              </a:rPr>
              <a:t>db_recovery_file_dest</a:t>
            </a:r>
            <a:r>
              <a:rPr sz="1700" b="0">
                <a:solidFill>
                  <a:srgbClr val="222222"/>
                </a:solidFill>
                <a:latin typeface="맑은 고딕"/>
              </a:rPr>
              <a:t> · </a:t>
            </a:r>
            <a:r>
              <a:rPr sz="1700" b="0">
                <a:solidFill>
                  <a:srgbClr val="222222"/>
                </a:solidFill>
                <a:latin typeface="Consolas"/>
                <a:cs typeface="Consolas"/>
              </a:rPr>
              <a:t>db_recovery_file_dest_size</a:t>
            </a:r>
          </a:p>
          <a:p>
            <a:pPr algn="l">
              <a:spcAft>
                <a:spcPts val="1000"/>
              </a:spcAft>
            </a:pPr>
            <a:r>
              <a:rPr sz="1700" b="0">
                <a:solidFill>
                  <a:srgbClr val="222222"/>
                </a:solidFill>
                <a:latin typeface="맑은 고딕"/>
              </a:rPr>
              <a:t>•  두 convert를 </a:t>
            </a:r>
            <a:r>
              <a:rPr sz="1700" b="0">
                <a:solidFill>
                  <a:srgbClr val="222222"/>
                </a:solidFill>
                <a:latin typeface="Consolas"/>
                <a:cs typeface="Consolas"/>
              </a:rPr>
              <a:t>db_create_file_dest</a:t>
            </a:r>
            <a:r>
              <a:rPr sz="1700" b="0">
                <a:solidFill>
                  <a:srgbClr val="222222"/>
                </a:solidFill>
                <a:latin typeface="맑은 고딕"/>
              </a:rPr>
              <a:t> 하나가 대신한다</a:t>
            </a:r>
          </a:p>
          <a:p>
            <a:pPr algn="l">
              <a:spcAft>
                <a:spcPts val="1000"/>
              </a:spcAft>
            </a:pPr>
            <a:r>
              <a:rPr sz="1700" b="0">
                <a:solidFill>
                  <a:srgbClr val="222222"/>
                </a:solidFill>
                <a:latin typeface="맑은 고딕"/>
              </a:rPr>
              <a:t>•  </a:t>
            </a:r>
            <a:r>
              <a:rPr sz="1700" b="0">
                <a:solidFill>
                  <a:srgbClr val="222222"/>
                </a:solidFill>
                <a:latin typeface="Consolas"/>
                <a:cs typeface="Consolas"/>
              </a:rPr>
              <a:t>set control_files</a:t>
            </a:r>
            <a:r>
              <a:rPr sz="1700" b="0">
                <a:solidFill>
                  <a:srgbClr val="222222"/>
                </a:solidFill>
                <a:latin typeface="맑은 고딕"/>
              </a:rPr>
              <a:t>만은 대신하는 것이 </a:t>
            </a:r>
            <a:r>
              <a:rPr sz="1700" b="1">
                <a:solidFill>
                  <a:srgbClr val="222222"/>
                </a:solidFill>
                <a:latin typeface="맑은 고딕"/>
              </a:rPr>
              <a:t>없다</a:t>
            </a:r>
            <a:r>
              <a:rPr sz="1700" b="0">
                <a:solidFill>
                  <a:srgbClr val="222222"/>
                </a:solidFill>
                <a:latin typeface="맑은 고딕"/>
              </a:rPr>
              <a:t> → 6.7절</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왜 NOFILENAMECHECK가 필요 없는가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이름이 겹칠 수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OMF 이름 : </a:t>
            </a:r>
            <a:r>
              <a:rPr sz="1700" b="0">
                <a:solidFill>
                  <a:srgbClr val="222222"/>
                </a:solidFill>
                <a:latin typeface="Consolas"/>
                <a:cs typeface="Consolas"/>
              </a:rPr>
              <a:t>o1_mf_system_1b50qfn7_.dbf</a:t>
            </a:r>
          </a:p>
          <a:p>
            <a:pPr algn="l">
              <a:spcAft>
                <a:spcPts val="1000"/>
              </a:spcAft>
            </a:pPr>
            <a:r>
              <a:rPr sz="1700" b="0">
                <a:solidFill>
                  <a:srgbClr val="222222"/>
                </a:solidFill>
                <a:latin typeface="맑은 고딕"/>
              </a:rPr>
              <a:t>•  </a:t>
            </a:r>
            <a:r>
              <a:rPr sz="1700" b="0">
                <a:solidFill>
                  <a:srgbClr val="222222"/>
                </a:solidFill>
                <a:latin typeface="Consolas"/>
                <a:cs typeface="Consolas"/>
              </a:rPr>
              <a:t>1b50qfn7</a:t>
            </a:r>
            <a:r>
              <a:rPr sz="1700" b="0">
                <a:solidFill>
                  <a:srgbClr val="222222"/>
                </a:solidFill>
                <a:latin typeface="맑은 고딕"/>
              </a:rPr>
              <a:t> — 매번 새로 생성되는 유일 문자열</a:t>
            </a:r>
          </a:p>
          <a:p>
            <a:pPr algn="l">
              <a:spcAft>
                <a:spcPts val="1000"/>
              </a:spcAft>
            </a:pPr>
            <a:r>
              <a:rPr sz="1700" b="0">
                <a:solidFill>
                  <a:srgbClr val="222222"/>
                </a:solidFill>
                <a:latin typeface="맑은 고딕"/>
              </a:rPr>
              <a:t>•  이름 충돌이 원천적으로 불가능하다</a:t>
            </a:r>
          </a:p>
          <a:p>
            <a:pPr algn="l">
              <a:spcAft>
                <a:spcPts val="1000"/>
              </a:spcAft>
            </a:pPr>
            <a:r>
              <a:rPr sz="1700" b="0">
                <a:solidFill>
                  <a:srgbClr val="222222"/>
                </a:solidFill>
                <a:latin typeface="맑은 고딕"/>
              </a:rPr>
              <a:t>•  충돌 검사를 끌 이유도 없다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6.4</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실패 두 가지</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없는 디렉터리를 가리키면</a:t>
            </a:r>
          </a:p>
          <a:p>
            <a:pPr algn="l">
              <a:spcAft>
                <a:spcPts val="800"/>
              </a:spcAft>
            </a:pPr>
            <a:r>
              <a:rPr sz="1600" b="0">
                <a:solidFill>
                  <a:srgbClr val="FFFFFF"/>
                </a:solidFill>
                <a:latin typeface="맑은 고딕"/>
              </a:rPr>
              <a:t>•  지시를 아예 주지 않으면</a:t>
            </a:r>
          </a:p>
          <a:p>
            <a:pPr algn="l">
              <a:spcAft>
                <a:spcPts val="800"/>
              </a:spcAft>
            </a:pPr>
            <a:r>
              <a:rPr sz="1600" b="0">
                <a:solidFill>
                  <a:srgbClr val="FFFFFF"/>
                </a:solidFill>
                <a:latin typeface="맑은 고딕"/>
              </a:rPr>
              <a:t>•  실패 시점이 앞당겨진다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첫 번째 실패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인스턴스가 뜨지 않는다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db_create_file_dest=/u03/nosuchdir</a:t>
            </a:r>
          </a:p>
          <a:p>
            <a:pPr algn="l">
              <a:spcAft>
                <a:spcPts val="1000"/>
              </a:spcAft>
            </a:pPr>
            <a:r>
              <a:rPr sz="1700" b="0">
                <a:solidFill>
                  <a:srgbClr val="222222"/>
                </a:solidFill>
                <a:latin typeface="맑은 고딕"/>
              </a:rPr>
              <a:t>•  </a:t>
            </a:r>
            <a:r>
              <a:rPr sz="1700" b="0">
                <a:solidFill>
                  <a:srgbClr val="222222"/>
                </a:solidFill>
                <a:latin typeface="Consolas"/>
                <a:cs typeface="Consolas"/>
              </a:rPr>
              <a:t>ORA-01261</a:t>
            </a:r>
            <a:r>
              <a:rPr sz="1700" b="0">
                <a:solidFill>
                  <a:srgbClr val="222222"/>
                </a:solidFill>
                <a:latin typeface="맑은 고딕"/>
              </a:rPr>
              <a:t> 값을 경로로 해석할 수 없다</a:t>
            </a:r>
          </a:p>
          <a:p>
            <a:pPr algn="l">
              <a:spcAft>
                <a:spcPts val="1000"/>
              </a:spcAft>
            </a:pPr>
            <a:r>
              <a:rPr sz="1700" b="0">
                <a:solidFill>
                  <a:srgbClr val="222222"/>
                </a:solidFill>
                <a:latin typeface="맑은 고딕"/>
              </a:rPr>
              <a:t>•  </a:t>
            </a:r>
            <a:r>
              <a:rPr sz="1700" b="0">
                <a:solidFill>
                  <a:srgbClr val="222222"/>
                </a:solidFill>
                <a:latin typeface="Consolas"/>
                <a:cs typeface="Consolas"/>
              </a:rPr>
              <a:t>ORA-01262</a:t>
            </a:r>
            <a:r>
              <a:rPr sz="1700" b="0">
                <a:solidFill>
                  <a:srgbClr val="222222"/>
                </a:solidFill>
                <a:latin typeface="맑은 고딕"/>
              </a:rPr>
              <a:t> stat() 실패</a:t>
            </a:r>
          </a:p>
          <a:p>
            <a:pPr algn="l">
              <a:spcAft>
                <a:spcPts val="1000"/>
              </a:spcAft>
            </a:pPr>
            <a:r>
              <a:rPr sz="1700" b="0">
                <a:solidFill>
                  <a:srgbClr val="222222"/>
                </a:solidFill>
                <a:latin typeface="맑은 고딕"/>
              </a:rPr>
              <a:t>•  </a:t>
            </a:r>
            <a:r>
              <a:rPr sz="1700" b="0">
                <a:solidFill>
                  <a:srgbClr val="222222"/>
                </a:solidFill>
                <a:latin typeface="Consolas"/>
                <a:cs typeface="Consolas"/>
              </a:rPr>
              <a:t>Linux-x86_64 Error: 2</a:t>
            </a:r>
            <a:r>
              <a:rPr sz="1700" b="0">
                <a:solidFill>
                  <a:srgbClr val="222222"/>
                </a:solidFill>
                <a:latin typeface="맑은 고딕"/>
              </a:rPr>
              <a:t> ENOENT — 운영체제 오류 번호가 그대로</a:t>
            </a:r>
          </a:p>
          <a:p>
            <a:pPr algn="l">
              <a:spcAft>
                <a:spcPts val="1000"/>
              </a:spcAft>
            </a:pPr>
            <a:r>
              <a:rPr sz="1700" b="0">
                <a:solidFill>
                  <a:srgbClr val="222222"/>
                </a:solidFill>
                <a:latin typeface="맑은 고딕"/>
              </a:rPr>
              <a:t>•  </a:t>
            </a:r>
            <a:r>
              <a:rPr sz="1700" b="0">
                <a:solidFill>
                  <a:srgbClr val="222222"/>
                </a:solidFill>
                <a:latin typeface="Consolas"/>
                <a:cs typeface="Consolas"/>
              </a:rPr>
              <a:t>ORA-01034</a:t>
            </a:r>
            <a:r>
              <a:rPr sz="1700" b="0">
                <a:solidFill>
                  <a:srgbClr val="222222"/>
                </a:solidFill>
                <a:latin typeface="맑은 고딕"/>
              </a:rPr>
              <a:t> 결과적으로 인스턴스가 없다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그 상태에서 RMAN을 실행하면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채널 할당에서 끝난다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RMAN-03002: failure of </a:t>
            </a:r>
            <a:r>
              <a:rPr sz="1700" b="1">
                <a:solidFill>
                  <a:srgbClr val="222222"/>
                </a:solidFill>
                <a:latin typeface="Consolas"/>
                <a:cs typeface="Consolas"/>
              </a:rPr>
              <a:t>allocate</a:t>
            </a:r>
            <a:r>
              <a:rPr sz="1700" b="0">
                <a:solidFill>
                  <a:srgbClr val="222222"/>
                </a:solidFill>
                <a:latin typeface="Consolas"/>
                <a:cs typeface="Consolas"/>
              </a:rPr>
              <a:t> command</a:t>
            </a:r>
          </a:p>
          <a:p>
            <a:pPr algn="l">
              <a:spcAft>
                <a:spcPts val="1000"/>
              </a:spcAft>
            </a:pPr>
            <a:r>
              <a:rPr sz="1700" b="0">
                <a:solidFill>
                  <a:srgbClr val="222222"/>
                </a:solidFill>
                <a:latin typeface="맑은 고딕"/>
              </a:rPr>
              <a:t>•  5장은 모두 </a:t>
            </a:r>
            <a:r>
              <a:rPr sz="1700" b="0">
                <a:solidFill>
                  <a:srgbClr val="222222"/>
                </a:solidFill>
                <a:latin typeface="Consolas"/>
                <a:cs typeface="Consolas"/>
              </a:rPr>
              <a:t>failure of Duplicate Db command</a:t>
            </a:r>
            <a:r>
              <a:rPr sz="1700" b="0">
                <a:solidFill>
                  <a:srgbClr val="222222"/>
                </a:solidFill>
                <a:latin typeface="맑은 고딕"/>
              </a:rPr>
              <a:t>였다</a:t>
            </a:r>
          </a:p>
          <a:p>
            <a:pPr algn="l">
              <a:spcAft>
                <a:spcPts val="1000"/>
              </a:spcAft>
            </a:pPr>
            <a:r>
              <a:rPr sz="1700" b="0">
                <a:solidFill>
                  <a:srgbClr val="222222"/>
                </a:solidFill>
                <a:latin typeface="맑은 고딕"/>
              </a:rPr>
              <a:t>•  </a:t>
            </a:r>
            <a:r>
              <a:rPr sz="1700" b="0">
                <a:solidFill>
                  <a:srgbClr val="222222"/>
                </a:solidFill>
                <a:latin typeface="Consolas"/>
                <a:cs typeface="Consolas"/>
              </a:rPr>
              <a:t>RMAN-06403</a:t>
            </a:r>
            <a:r>
              <a:rPr sz="1700" b="0">
                <a:solidFill>
                  <a:srgbClr val="222222"/>
                </a:solidFill>
                <a:latin typeface="맑은 고딕"/>
              </a:rPr>
              <a:t> 접속을 얻지 못했다</a:t>
            </a:r>
          </a:p>
          <a:p>
            <a:pPr algn="l">
              <a:spcAft>
                <a:spcPts val="1000"/>
              </a:spcAft>
            </a:pPr>
            <a:r>
              <a:rPr sz="1700" b="0">
                <a:solidFill>
                  <a:srgbClr val="222222"/>
                </a:solidFill>
                <a:latin typeface="맑은 고딕"/>
              </a:rPr>
              <a:t>•  </a:t>
            </a:r>
            <a:r>
              <a:rPr sz="1700" b="0">
                <a:solidFill>
                  <a:srgbClr val="222222"/>
                </a:solidFill>
                <a:latin typeface="Consolas"/>
                <a:cs typeface="Consolas"/>
              </a:rPr>
              <a:t>ORA-27101: shared memory realm does not exist</a:t>
            </a:r>
            <a:r>
              <a:rPr sz="1700" b="0">
                <a:solidFill>
                  <a:srgbClr val="222222"/>
                </a:solidFill>
                <a:latin typeface="맑은 고딕"/>
              </a:rPr>
              <a:t> — </a:t>
            </a:r>
            <a:r>
              <a:rPr sz="1700" b="1">
                <a:solidFill>
                  <a:srgbClr val="222222"/>
                </a:solidFill>
                <a:latin typeface="맑은 고딕"/>
              </a:rPr>
              <a:t>SGA가 없다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두 번째 실패</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5장과 글자 하나까지 같다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db_create_file_dest</a:t>
            </a:r>
            <a:r>
              <a:rPr sz="1700" b="0">
                <a:solidFill>
                  <a:srgbClr val="222222"/>
                </a:solidFill>
                <a:latin typeface="맑은 고딕"/>
              </a:rPr>
              <a:t>도 convert도 주지 않으면</a:t>
            </a:r>
          </a:p>
          <a:p>
            <a:pPr algn="l">
              <a:spcAft>
                <a:spcPts val="1000"/>
              </a:spcAft>
            </a:pPr>
            <a:r>
              <a:rPr sz="1700" b="0">
                <a:solidFill>
                  <a:srgbClr val="222222"/>
                </a:solidFill>
                <a:latin typeface="맑은 고딕"/>
              </a:rPr>
              <a:t>•  </a:t>
            </a:r>
            <a:r>
              <a:rPr sz="1700" b="0">
                <a:solidFill>
                  <a:srgbClr val="222222"/>
                </a:solidFill>
                <a:latin typeface="Consolas"/>
                <a:cs typeface="Consolas"/>
              </a:rPr>
              <a:t>RMAN-05538: warning: implicitly using DB_FILE_NAME_CONVERT</a:t>
            </a:r>
          </a:p>
          <a:p>
            <a:pPr algn="l">
              <a:spcAft>
                <a:spcPts val="1000"/>
              </a:spcAft>
            </a:pPr>
            <a:r>
              <a:rPr sz="1700" b="0">
                <a:solidFill>
                  <a:srgbClr val="222222"/>
                </a:solidFill>
                <a:latin typeface="맑은 고딕"/>
              </a:rPr>
              <a:t>•  </a:t>
            </a:r>
            <a:r>
              <a:rPr sz="1700" b="0">
                <a:solidFill>
                  <a:srgbClr val="222222"/>
                </a:solidFill>
                <a:latin typeface="Consolas"/>
                <a:cs typeface="Consolas"/>
              </a:rPr>
              <a:t>RMAN-05001</a:t>
            </a:r>
            <a:r>
              <a:rPr sz="1700" b="0">
                <a:solidFill>
                  <a:srgbClr val="222222"/>
                </a:solidFill>
                <a:latin typeface="맑은 고딕"/>
              </a:rPr>
              <a:t> 11줄, 경로는 전부 </a:t>
            </a:r>
            <a:r>
              <a:rPr sz="1700" b="0">
                <a:solidFill>
                  <a:srgbClr val="222222"/>
                </a:solidFill>
                <a:latin typeface="Consolas"/>
                <a:cs typeface="Consolas"/>
              </a:rPr>
              <a:t>.../Chicago/...</a:t>
            </a:r>
          </a:p>
          <a:p>
            <a:pPr algn="l">
              <a:spcAft>
                <a:spcPts val="1000"/>
              </a:spcAft>
            </a:pPr>
            <a:r>
              <a:rPr sz="1700" b="0">
                <a:solidFill>
                  <a:srgbClr val="222222"/>
                </a:solidFill>
                <a:latin typeface="맑은 고딕"/>
              </a:rPr>
              <a:t>•  5장 첫 번째 실패와 </a:t>
            </a:r>
            <a:r>
              <a:rPr sz="1700" b="1">
                <a:solidFill>
                  <a:srgbClr val="222222"/>
                </a:solidFill>
                <a:latin typeface="맑은 고딕"/>
              </a:rPr>
              <a:t>완전히 동일</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실패 시점이 앞당겨진다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이것이 OMF의 이점</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5장 : 파일 세 개를 이미 복사한 뒤 실패 → 정리하고 재시작</a:t>
            </a:r>
          </a:p>
          <a:p>
            <a:pPr algn="l">
              <a:spcAft>
                <a:spcPts val="1000"/>
              </a:spcAft>
            </a:pPr>
            <a:r>
              <a:rPr sz="1700" b="0">
                <a:solidFill>
                  <a:srgbClr val="222222"/>
                </a:solidFill>
                <a:latin typeface="맑은 고딕"/>
              </a:rPr>
              <a:t>•  6장 : 인스턴스 기동 전 또는 마운트 직후 실패 → </a:t>
            </a:r>
            <a:r>
              <a:rPr sz="1700" b="1">
                <a:solidFill>
                  <a:srgbClr val="222222"/>
                </a:solidFill>
                <a:latin typeface="맑은 고딕"/>
              </a:rPr>
              <a:t>잔재 없음</a:t>
            </a:r>
          </a:p>
          <a:p>
            <a:pPr algn="l">
              <a:spcAft>
                <a:spcPts val="1000"/>
              </a:spcAft>
            </a:pPr>
            <a:r>
              <a:rPr sz="1700" b="0">
                <a:solidFill>
                  <a:srgbClr val="222222"/>
                </a:solidFill>
                <a:latin typeface="맑은 고딕"/>
              </a:rPr>
              <a:t>•  근거 : </a:t>
            </a:r>
            <a:r>
              <a:rPr sz="1700" b="0">
                <a:solidFill>
                  <a:srgbClr val="222222"/>
                </a:solidFill>
                <a:latin typeface="Consolas"/>
                <a:cs typeface="Consolas"/>
              </a:rPr>
              <a:t>DB_CREATE_FILE_DEST</a:t>
            </a:r>
            <a:r>
              <a:rPr sz="1700" b="0">
                <a:solidFill>
                  <a:srgbClr val="222222"/>
                </a:solidFill>
                <a:latin typeface="맑은 고딕"/>
              </a:rPr>
              <a:t>는 stat()으로 검증된다</a:t>
            </a:r>
          </a:p>
          <a:p>
            <a:pPr algn="l">
              <a:spcAft>
                <a:spcPts val="1000"/>
              </a:spcAft>
            </a:pPr>
            <a:r>
              <a:rPr sz="1700" b="0">
                <a:solidFill>
                  <a:srgbClr val="222222"/>
                </a:solidFill>
                <a:latin typeface="맑은 고딕"/>
              </a:rPr>
              <a:t>•  convert는 문자열 치환 규칙이라 검증할 대상이 없다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6.5</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성공한 OMF DUPLICATE</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판정 기준은 같다</a:t>
            </a:r>
          </a:p>
          <a:p>
            <a:pPr algn="l">
              <a:spcAft>
                <a:spcPts val="800"/>
              </a:spcAft>
            </a:pPr>
            <a:r>
              <a:rPr sz="1600" b="0">
                <a:solidFill>
                  <a:srgbClr val="FFFFFF"/>
                </a:solidFill>
                <a:latin typeface="맑은 고딕"/>
              </a:rPr>
              <a:t>•  로그에서 OMF의 작동을 본다</a:t>
            </a:r>
          </a:p>
          <a:p>
            <a:pPr algn="l">
              <a:spcAft>
                <a:spcPts val="800"/>
              </a:spcAft>
            </a:pPr>
            <a:r>
              <a:rPr sz="1600" b="0">
                <a:solidFill>
                  <a:srgbClr val="FFFFFF"/>
                </a:solidFill>
                <a:latin typeface="맑은 고딕"/>
              </a:rPr>
              <a:t>•  재실행하면 RMAN-05537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성공 판정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방식이 달라도 기준은 같다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rc=0</a:t>
            </a:r>
          </a:p>
          <a:p>
            <a:pPr algn="l">
              <a:spcAft>
                <a:spcPts val="1000"/>
              </a:spcAft>
            </a:pPr>
            <a:r>
              <a:rPr sz="1700" b="0">
                <a:solidFill>
                  <a:srgbClr val="222222"/>
                </a:solidFill>
                <a:latin typeface="맑은 고딕"/>
              </a:rPr>
              <a:t>•  </a:t>
            </a:r>
            <a:r>
              <a:rPr sz="1700" b="0">
                <a:solidFill>
                  <a:srgbClr val="222222"/>
                </a:solidFill>
                <a:latin typeface="Consolas"/>
                <a:cs typeface="Consolas"/>
              </a:rPr>
              <a:t>grep -cE 'RMAN-|ORA-'</a:t>
            </a:r>
            <a:r>
              <a:rPr sz="1700" b="0">
                <a:solidFill>
                  <a:srgbClr val="222222"/>
                </a:solidFill>
                <a:latin typeface="맑은 고딕"/>
              </a:rPr>
              <a:t> = </a:t>
            </a:r>
            <a:r>
              <a:rPr sz="1700" b="1">
                <a:solidFill>
                  <a:srgbClr val="222222"/>
                </a:solidFill>
                <a:latin typeface="맑은 고딕"/>
              </a:rPr>
              <a:t>0</a:t>
            </a:r>
          </a:p>
          <a:p>
            <a:pPr algn="l">
              <a:spcAft>
                <a:spcPts val="1000"/>
              </a:spcAft>
            </a:pPr>
            <a:r>
              <a:rPr sz="1700" b="0">
                <a:solidFill>
                  <a:srgbClr val="222222"/>
                </a:solidFill>
                <a:latin typeface="맑은 고딕"/>
              </a:rPr>
              <a:t>•  </a:t>
            </a:r>
            <a:r>
              <a:rPr sz="1700" b="0">
                <a:solidFill>
                  <a:srgbClr val="222222"/>
                </a:solidFill>
                <a:latin typeface="Consolas"/>
                <a:cs typeface="Consolas"/>
              </a:rPr>
              <a:t>Finished Duplicate Db</a:t>
            </a:r>
            <a:r>
              <a:rPr sz="1700" b="0">
                <a:solidFill>
                  <a:srgbClr val="222222"/>
                </a:solidFill>
                <a:latin typeface="맑은 고딕"/>
              </a:rPr>
              <a:t> 존재</a:t>
            </a:r>
          </a:p>
          <a:p>
            <a:pPr algn="l">
              <a:spcAft>
                <a:spcPts val="1000"/>
              </a:spcAft>
            </a:pPr>
            <a:r>
              <a:rPr sz="1700" b="0">
                <a:solidFill>
                  <a:srgbClr val="222222"/>
                </a:solidFill>
                <a:latin typeface="맑은 고딕"/>
              </a:rPr>
              <a:t>•  실측 : 390줄 로그, 49번 Starting, 383번 Finished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로그가 보여 주는 OMF</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이름 자체가 바뀐다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input  .../Chicago/sysaux01.dbf</a:t>
            </a:r>
          </a:p>
          <a:p>
            <a:pPr algn="l">
              <a:spcAft>
                <a:spcPts val="1000"/>
              </a:spcAft>
            </a:pPr>
            <a:r>
              <a:rPr sz="1700" b="0">
                <a:solidFill>
                  <a:srgbClr val="222222"/>
                </a:solidFill>
                <a:latin typeface="맑은 고딕"/>
              </a:rPr>
              <a:t>•  </a:t>
            </a:r>
            <a:r>
              <a:rPr sz="1700" b="0">
                <a:solidFill>
                  <a:srgbClr val="222222"/>
                </a:solidFill>
                <a:latin typeface="Consolas"/>
                <a:cs typeface="Consolas"/>
              </a:rPr>
              <a:t>output .../BOSTON/datafile/o1_mf_sysaux_1c50qfn7_.dbf</a:t>
            </a:r>
          </a:p>
          <a:p>
            <a:pPr algn="l">
              <a:spcAft>
                <a:spcPts val="1000"/>
              </a:spcAft>
            </a:pPr>
            <a:r>
              <a:rPr sz="1700" b="0">
                <a:solidFill>
                  <a:srgbClr val="222222"/>
                </a:solidFill>
                <a:latin typeface="맑은 고딕"/>
              </a:rPr>
              <a:t>•  5장은 경로 접두만 바뀌고 이름은 그대로였다</a:t>
            </a:r>
          </a:p>
          <a:p>
            <a:pPr algn="l">
              <a:spcAft>
                <a:spcPts val="1000"/>
              </a:spcAft>
            </a:pPr>
            <a:r>
              <a:rPr sz="1700" b="0">
                <a:solidFill>
                  <a:srgbClr val="222222"/>
                </a:solidFill>
                <a:latin typeface="맑은 고딕"/>
              </a:rPr>
              <a:t>•  261번 줄에 서른두 자리 16진수 디렉터리가 등장한다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재실행하면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RMAN-05537</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성공한 뒤 같은 스크립트를 다시 실행하면</a:t>
            </a:r>
          </a:p>
          <a:p>
            <a:pPr algn="l">
              <a:spcAft>
                <a:spcPts val="1000"/>
              </a:spcAft>
            </a:pPr>
            <a:r>
              <a:rPr sz="1700" b="0">
                <a:solidFill>
                  <a:srgbClr val="222222"/>
                </a:solidFill>
                <a:latin typeface="맑은 고딕"/>
              </a:rPr>
              <a:t>•  </a:t>
            </a:r>
            <a:r>
              <a:rPr sz="1700" b="0">
                <a:solidFill>
                  <a:srgbClr val="222222"/>
                </a:solidFill>
                <a:latin typeface="Consolas"/>
                <a:cs typeface="Consolas"/>
              </a:rPr>
              <a:t>RMAN-05537: ... auxiliary instance is started with spfile cannot use SPFILE clause</a:t>
            </a:r>
          </a:p>
          <a:p>
            <a:pPr algn="l">
              <a:spcAft>
                <a:spcPts val="1000"/>
              </a:spcAft>
            </a:pPr>
            <a:r>
              <a:rPr sz="1700" b="0">
                <a:solidFill>
                  <a:srgbClr val="222222"/>
                </a:solidFill>
                <a:latin typeface="맑은 고딕"/>
              </a:rPr>
              <a:t>•  5장의 RMAN-05500(마운트 상태)과 </a:t>
            </a:r>
            <a:r>
              <a:rPr sz="1700" b="1">
                <a:solidFill>
                  <a:srgbClr val="222222"/>
                </a:solidFill>
                <a:latin typeface="맑은 고딕"/>
              </a:rPr>
              <a:t>다른 오류</a:t>
            </a:r>
          </a:p>
          <a:p>
            <a:pPr algn="l">
              <a:spcAft>
                <a:spcPts val="1000"/>
              </a:spcAft>
            </a:pPr>
            <a:r>
              <a:rPr sz="1700" b="0">
                <a:solidFill>
                  <a:srgbClr val="222222"/>
                </a:solidFill>
                <a:latin typeface="맑은 고딕"/>
              </a:rPr>
              <a:t>•  Standby는 손상되지 않는다 — 시작 전에 중단</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6.6</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OMF가 만든 구조</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디렉터리 트리</a:t>
            </a:r>
          </a:p>
          <a:p>
            <a:pPr algn="l">
              <a:spcAft>
                <a:spcPts val="800"/>
              </a:spcAft>
            </a:pPr>
            <a:r>
              <a:rPr sz="1600" b="0">
                <a:solidFill>
                  <a:srgbClr val="FFFFFF"/>
                </a:solidFill>
                <a:latin typeface="맑은 고딕"/>
              </a:rPr>
              <a:t>•  PDB의 GUID</a:t>
            </a:r>
          </a:p>
          <a:p>
            <a:pPr algn="l">
              <a:spcAft>
                <a:spcPts val="800"/>
              </a:spcAft>
            </a:pPr>
            <a:r>
              <a:rPr sz="1600" b="0">
                <a:solidFill>
                  <a:srgbClr val="FFFFFF"/>
                </a:solidFill>
                <a:latin typeface="맑은 고딕"/>
              </a:rPr>
              <a:t>•  파일 이름 규칙과 로그 이중화</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mkdir을 한 번도 하지 않았다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여덟 개 디렉터리</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/u03/app/oracle/oradata/BOSTON/</a:t>
            </a:r>
          </a:p>
          <a:p>
            <a:pPr algn="l">
              <a:spcAft>
                <a:spcPts val="1000"/>
              </a:spcAft>
            </a:pPr>
            <a:r>
              <a:rPr sz="1700" b="0">
                <a:solidFill>
                  <a:srgbClr val="222222"/>
                </a:solidFill>
                <a:latin typeface="맑은 고딕"/>
              </a:rPr>
              <a:t>•  </a:t>
            </a:r>
            <a:r>
              <a:rPr sz="1700" b="0">
                <a:solidFill>
                  <a:srgbClr val="222222"/>
                </a:solidFill>
                <a:latin typeface="Consolas"/>
                <a:cs typeface="Consolas"/>
              </a:rPr>
              <a:t>BOSTON/datafile</a:t>
            </a:r>
            <a:r>
              <a:rPr sz="1700" b="0">
                <a:solidFill>
                  <a:srgbClr val="222222"/>
                </a:solidFill>
                <a:latin typeface="맑은 고딕"/>
              </a:rPr>
              <a:t> · </a:t>
            </a:r>
            <a:r>
              <a:rPr sz="1700" b="0">
                <a:solidFill>
                  <a:srgbClr val="222222"/>
                </a:solidFill>
                <a:latin typeface="Consolas"/>
                <a:cs typeface="Consolas"/>
              </a:rPr>
              <a:t>BOSTON/onlinelog</a:t>
            </a:r>
          </a:p>
          <a:p>
            <a:pPr algn="l">
              <a:spcAft>
                <a:spcPts val="1000"/>
              </a:spcAft>
            </a:pPr>
            <a:r>
              <a:rPr sz="1700" b="0">
                <a:solidFill>
                  <a:srgbClr val="222222"/>
                </a:solidFill>
                <a:latin typeface="맑은 고딕"/>
              </a:rPr>
              <a:t>•  </a:t>
            </a:r>
            <a:r>
              <a:rPr sz="1700" b="0">
                <a:solidFill>
                  <a:srgbClr val="222222"/>
                </a:solidFill>
                <a:latin typeface="Consolas"/>
                <a:cs typeface="Consolas"/>
              </a:rPr>
              <a:t>BOSTON/59F036501C3B321DE0633CE110ACEFEB/datafile</a:t>
            </a:r>
          </a:p>
          <a:p>
            <a:pPr algn="l">
              <a:spcAft>
                <a:spcPts val="1000"/>
              </a:spcAft>
            </a:pPr>
            <a:r>
              <a:rPr sz="1700" b="0">
                <a:solidFill>
                  <a:srgbClr val="222222"/>
                </a:solidFill>
                <a:latin typeface="맑은 고딕"/>
              </a:rPr>
              <a:t>•  </a:t>
            </a:r>
            <a:r>
              <a:rPr sz="1700" b="0">
                <a:solidFill>
                  <a:srgbClr val="222222"/>
                </a:solidFill>
                <a:latin typeface="Consolas"/>
                <a:cs typeface="Consolas"/>
              </a:rPr>
              <a:t>BOSTON/59F053E76FBD3BA1E0633CE110ACE7E5/datafile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왜 DB_UNIQUE_NAME인가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DB_NAME이었다면</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DB_NAME</a:t>
            </a:r>
            <a:r>
              <a:rPr sz="1700" b="0">
                <a:solidFill>
                  <a:srgbClr val="222222"/>
                </a:solidFill>
                <a:latin typeface="맑은 고딕"/>
              </a:rPr>
              <a:t>을 썼다면 Standby 디렉터리도 </a:t>
            </a:r>
            <a:r>
              <a:rPr sz="1700" b="0">
                <a:solidFill>
                  <a:srgbClr val="222222"/>
                </a:solidFill>
                <a:latin typeface="Consolas"/>
                <a:cs typeface="Consolas"/>
              </a:rPr>
              <a:t>CHICAGO</a:t>
            </a:r>
          </a:p>
          <a:p>
            <a:pPr algn="l">
              <a:spcAft>
                <a:spcPts val="1000"/>
              </a:spcAft>
            </a:pPr>
            <a:r>
              <a:rPr sz="1700" b="0">
                <a:solidFill>
                  <a:srgbClr val="222222"/>
                </a:solidFill>
                <a:latin typeface="맑은 고딕"/>
              </a:rPr>
              <a:t>•  Primary와 구별할 수 없다</a:t>
            </a:r>
          </a:p>
          <a:p>
            <a:pPr algn="l">
              <a:spcAft>
                <a:spcPts val="1000"/>
              </a:spcAft>
            </a:pPr>
            <a:r>
              <a:rPr sz="1700" b="0">
                <a:solidFill>
                  <a:srgbClr val="222222"/>
                </a:solidFill>
                <a:latin typeface="맑은 고딕"/>
              </a:rPr>
              <a:t>•  한 서버에 Standby를 여러 개 두면 서로 충돌한다</a:t>
            </a:r>
          </a:p>
          <a:p>
            <a:pPr algn="l">
              <a:spcAft>
                <a:spcPts val="1000"/>
              </a:spcAft>
            </a:pPr>
            <a:r>
              <a:rPr sz="1700" b="0">
                <a:solidFill>
                  <a:srgbClr val="222222"/>
                </a:solidFill>
                <a:latin typeface="맑은 고딕"/>
              </a:rPr>
              <a:t>•  </a:t>
            </a:r>
            <a:r>
              <a:rPr sz="1700" b="0">
                <a:solidFill>
                  <a:srgbClr val="222222"/>
                </a:solidFill>
                <a:latin typeface="Consolas"/>
                <a:cs typeface="Consolas"/>
              </a:rPr>
              <a:t>DB_UNIQUE_NAME</a:t>
            </a:r>
            <a:r>
              <a:rPr sz="1700" b="0">
                <a:solidFill>
                  <a:srgbClr val="222222"/>
                </a:solidFill>
                <a:latin typeface="맑은 고딕"/>
              </a:rPr>
              <a:t>만 다르게 주면 자동 분리</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서른두 자리의 정체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PDB의 GUID</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V$PDBS.GUID</a:t>
            </a:r>
            <a:r>
              <a:rPr sz="1700" b="0">
                <a:solidFill>
                  <a:srgbClr val="222222"/>
                </a:solidFill>
                <a:latin typeface="맑은 고딕"/>
              </a:rPr>
              <a:t>와 디렉터리 이름이 일치한다</a:t>
            </a:r>
          </a:p>
          <a:p>
            <a:pPr algn="l">
              <a:spcAft>
                <a:spcPts val="1000"/>
              </a:spcAft>
            </a:pPr>
            <a:r>
              <a:rPr sz="1700" b="0">
                <a:solidFill>
                  <a:srgbClr val="222222"/>
                </a:solidFill>
                <a:latin typeface="맑은 고딕"/>
              </a:rPr>
              <a:t>•  </a:t>
            </a:r>
            <a:r>
              <a:rPr sz="1700" b="0">
                <a:solidFill>
                  <a:srgbClr val="222222"/>
                </a:solidFill>
                <a:latin typeface="Consolas"/>
                <a:cs typeface="Consolas"/>
              </a:rPr>
              <a:t>59F0365...</a:t>
            </a:r>
            <a:r>
              <a:rPr sz="1700" b="0">
                <a:solidFill>
                  <a:srgbClr val="222222"/>
                </a:solidFill>
                <a:latin typeface="맑은 고딕"/>
              </a:rPr>
              <a:t> = PDB$SEED / </a:t>
            </a:r>
            <a:r>
              <a:rPr sz="1700" b="0">
                <a:solidFill>
                  <a:srgbClr val="222222"/>
                </a:solidFill>
                <a:latin typeface="Consolas"/>
                <a:cs typeface="Consolas"/>
              </a:rPr>
              <a:t>59F053E...</a:t>
            </a:r>
            <a:r>
              <a:rPr sz="1700" b="0">
                <a:solidFill>
                  <a:srgbClr val="222222"/>
                </a:solidFill>
                <a:latin typeface="맑은 고딕"/>
              </a:rPr>
              <a:t> = CHICAGO_PDB1</a:t>
            </a:r>
          </a:p>
          <a:p>
            <a:pPr algn="l">
              <a:spcAft>
                <a:spcPts val="1000"/>
              </a:spcAft>
            </a:pPr>
            <a:r>
              <a:rPr sz="1700" b="0">
                <a:solidFill>
                  <a:srgbClr val="222222"/>
                </a:solidFill>
                <a:latin typeface="맑은 고딕"/>
              </a:rPr>
              <a:t>•  </a:t>
            </a:r>
            <a:r>
              <a:rPr sz="1700" b="1">
                <a:solidFill>
                  <a:srgbClr val="222222"/>
                </a:solidFill>
                <a:latin typeface="맑은 고딕"/>
              </a:rPr>
              <a:t>Primary와 Standby의 GUID가 완전히 같다</a:t>
            </a:r>
          </a:p>
          <a:p>
            <a:pPr algn="l">
              <a:spcAft>
                <a:spcPts val="1000"/>
              </a:spcAft>
            </a:pPr>
            <a:r>
              <a:rPr sz="1700" b="0">
                <a:solidFill>
                  <a:srgbClr val="222222"/>
                </a:solidFill>
                <a:latin typeface="맑은 고딕"/>
              </a:rPr>
              <a:t>•  이름 대신 GUID를 쓰는 이유 : PDB 이름은 바뀔 수 있다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파일 이름 읽는 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o1_mf_sysaux_1c50qfn7_.dbf</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o1_mf</a:t>
            </a:r>
            <a:r>
              <a:rPr sz="1700" b="0">
                <a:solidFill>
                  <a:srgbClr val="222222"/>
                </a:solidFill>
                <a:latin typeface="맑은 고딕"/>
              </a:rPr>
              <a:t> OMF 고정 접두어</a:t>
            </a:r>
          </a:p>
          <a:p>
            <a:pPr algn="l">
              <a:spcAft>
                <a:spcPts val="1000"/>
              </a:spcAft>
            </a:pPr>
            <a:r>
              <a:rPr sz="1700" b="0">
                <a:solidFill>
                  <a:srgbClr val="222222"/>
                </a:solidFill>
                <a:latin typeface="맑은 고딕"/>
              </a:rPr>
              <a:t>•  </a:t>
            </a:r>
            <a:r>
              <a:rPr sz="1700" b="0">
                <a:solidFill>
                  <a:srgbClr val="222222"/>
                </a:solidFill>
                <a:latin typeface="Consolas"/>
                <a:cs typeface="Consolas"/>
              </a:rPr>
              <a:t>sysaux</a:t>
            </a:r>
            <a:r>
              <a:rPr sz="1700" b="0">
                <a:solidFill>
                  <a:srgbClr val="222222"/>
                </a:solidFill>
                <a:latin typeface="맑은 고딕"/>
              </a:rPr>
              <a:t> 테이블스페이스 이름 (로그는 그룹 번호)</a:t>
            </a:r>
          </a:p>
          <a:p>
            <a:pPr algn="l">
              <a:spcAft>
                <a:spcPts val="1000"/>
              </a:spcAft>
            </a:pPr>
            <a:r>
              <a:rPr sz="1700" b="0">
                <a:solidFill>
                  <a:srgbClr val="222222"/>
                </a:solidFill>
                <a:latin typeface="맑은 고딕"/>
              </a:rPr>
              <a:t>•  </a:t>
            </a:r>
            <a:r>
              <a:rPr sz="1700" b="0">
                <a:solidFill>
                  <a:srgbClr val="222222"/>
                </a:solidFill>
                <a:latin typeface="Consolas"/>
                <a:cs typeface="Consolas"/>
              </a:rPr>
              <a:t>1c50qfn7</a:t>
            </a:r>
            <a:r>
              <a:rPr sz="1700" b="0">
                <a:solidFill>
                  <a:srgbClr val="222222"/>
                </a:solidFill>
                <a:latin typeface="맑은 고딕"/>
              </a:rPr>
              <a:t> 유일 문자열 — 매번 다르다</a:t>
            </a:r>
          </a:p>
          <a:p>
            <a:pPr algn="l">
              <a:spcAft>
                <a:spcPts val="1000"/>
              </a:spcAft>
            </a:pPr>
            <a:r>
              <a:rPr sz="1700" b="0">
                <a:solidFill>
                  <a:srgbClr val="222222"/>
                </a:solidFill>
                <a:latin typeface="맑은 고딕"/>
              </a:rPr>
              <a:t>•  </a:t>
            </a:r>
            <a:r>
              <a:rPr sz="1700" b="0">
                <a:solidFill>
                  <a:srgbClr val="222222"/>
                </a:solidFill>
                <a:latin typeface="Consolas"/>
                <a:cs typeface="Consolas"/>
              </a:rPr>
              <a:t>.dbf</a:t>
            </a:r>
            <a:r>
              <a:rPr sz="1700" b="0">
                <a:solidFill>
                  <a:srgbClr val="222222"/>
                </a:solidFill>
                <a:latin typeface="맑은 고딕"/>
              </a:rPr>
              <a:t> 데이터 / </a:t>
            </a:r>
            <a:r>
              <a:rPr sz="1700" b="0">
                <a:solidFill>
                  <a:srgbClr val="222222"/>
                </a:solidFill>
                <a:latin typeface="Consolas"/>
                <a:cs typeface="Consolas"/>
              </a:rPr>
              <a:t>.log</a:t>
            </a:r>
            <a:r>
              <a:rPr sz="1700" b="0">
                <a:solidFill>
                  <a:srgbClr val="222222"/>
                </a:solidFill>
                <a:latin typeface="맑은 고딕"/>
              </a:rPr>
              <a:t> 로그 / </a:t>
            </a:r>
            <a:r>
              <a:rPr sz="1700" b="0">
                <a:solidFill>
                  <a:srgbClr val="222222"/>
                </a:solidFill>
                <a:latin typeface="Consolas"/>
                <a:cs typeface="Consolas"/>
              </a:rPr>
              <a:t>.tmp</a:t>
            </a:r>
            <a:r>
              <a:rPr sz="1700" b="0">
                <a:solidFill>
                  <a:srgbClr val="222222"/>
                </a:solidFill>
                <a:latin typeface="맑은 고딕"/>
              </a:rPr>
              <a:t> 임시</a:t>
            </a:r>
          </a:p>
          <a:p>
            <a:pPr algn="l">
              <a:spcAft>
                <a:spcPts val="1000"/>
              </a:spcAft>
            </a:pPr>
            <a:r>
              <a:rPr sz="1700" b="0">
                <a:solidFill>
                  <a:srgbClr val="222222"/>
                </a:solidFill>
                <a:latin typeface="맑은 고딕"/>
              </a:rPr>
              <a:t>•  </a:t>
            </a:r>
            <a:r>
              <a:rPr sz="1700" b="1">
                <a:solidFill>
                  <a:srgbClr val="222222"/>
                </a:solidFill>
                <a:latin typeface="맑은 고딕"/>
              </a:rPr>
              <a:t>파일 번호는 이름에 없다</a:t>
            </a:r>
            <a:r>
              <a:rPr sz="1700" b="0">
                <a:solidFill>
                  <a:srgbClr val="222222"/>
                </a:solidFill>
                <a:latin typeface="맑은 고딕"/>
              </a:rPr>
              <a:t> → </a:t>
            </a:r>
            <a:r>
              <a:rPr sz="1700" b="0">
                <a:solidFill>
                  <a:srgbClr val="222222"/>
                </a:solidFill>
                <a:latin typeface="Consolas"/>
                <a:cs typeface="Consolas"/>
              </a:rPr>
              <a:t>V$DATAFILE</a:t>
            </a:r>
            <a:r>
              <a:rPr sz="1700" b="0">
                <a:solidFill>
                  <a:srgbClr val="222222"/>
                </a:solidFill>
                <a:latin typeface="맑은 고딕"/>
              </a:rPr>
              <a:t> 조회</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뜻밖의 결과</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로그가 두 벌이다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V$LOGFILE</a:t>
            </a:r>
            <a:r>
              <a:rPr sz="1700" b="0">
                <a:solidFill>
                  <a:srgbClr val="222222"/>
                </a:solidFill>
                <a:latin typeface="맑은 고딕"/>
              </a:rPr>
              <a:t> </a:t>
            </a:r>
            <a:r>
              <a:rPr sz="1700" b="1">
                <a:solidFill>
                  <a:srgbClr val="222222"/>
                </a:solidFill>
                <a:latin typeface="맑은 고딕"/>
              </a:rPr>
              <a:t>14행</a:t>
            </a:r>
            <a:r>
              <a:rPr sz="1700" b="0">
                <a:solidFill>
                  <a:srgbClr val="222222"/>
                </a:solidFill>
                <a:latin typeface="맑은 고딕"/>
              </a:rPr>
              <a:t> — 5장에서는 7행</a:t>
            </a:r>
          </a:p>
          <a:p>
            <a:pPr algn="l">
              <a:spcAft>
                <a:spcPts val="1000"/>
              </a:spcAft>
            </a:pPr>
            <a:r>
              <a:rPr sz="1700" b="0">
                <a:solidFill>
                  <a:srgbClr val="222222"/>
                </a:solidFill>
                <a:latin typeface="맑은 고딕"/>
              </a:rPr>
              <a:t>•  그룹은 7개 그대로, 멤버가 2개씩</a:t>
            </a:r>
          </a:p>
          <a:p>
            <a:pPr algn="l">
              <a:spcAft>
                <a:spcPts val="1000"/>
              </a:spcAft>
            </a:pPr>
            <a:r>
              <a:rPr sz="1700" b="0">
                <a:solidFill>
                  <a:srgbClr val="222222"/>
                </a:solidFill>
                <a:latin typeface="맑은 고딕"/>
              </a:rPr>
              <a:t>•  한 벌은 </a:t>
            </a:r>
            <a:r>
              <a:rPr sz="1700" b="0">
                <a:solidFill>
                  <a:srgbClr val="222222"/>
                </a:solidFill>
                <a:latin typeface="Consolas"/>
                <a:cs typeface="Consolas"/>
              </a:rPr>
              <a:t>DB_CREATE_FILE_DEST</a:t>
            </a:r>
            <a:r>
              <a:rPr sz="1700" b="0">
                <a:solidFill>
                  <a:srgbClr val="222222"/>
                </a:solidFill>
                <a:latin typeface="맑은 고딕"/>
              </a:rPr>
              <a:t>, 다른 한 벌은 </a:t>
            </a:r>
            <a:r>
              <a:rPr sz="1700" b="1">
                <a:solidFill>
                  <a:srgbClr val="222222"/>
                </a:solidFill>
                <a:latin typeface="맑은 고딕"/>
              </a:rPr>
              <a:t>FRA</a:t>
            </a:r>
          </a:p>
          <a:p>
            <a:pPr algn="l">
              <a:spcAft>
                <a:spcPts val="1000"/>
              </a:spcAft>
            </a:pPr>
            <a:r>
              <a:rPr sz="1700" b="0">
                <a:solidFill>
                  <a:srgbClr val="222222"/>
                </a:solidFill>
                <a:latin typeface="맑은 고딕"/>
              </a:rPr>
              <a:t>•  조건 : </a:t>
            </a:r>
            <a:r>
              <a:rPr sz="1700" b="0">
                <a:solidFill>
                  <a:srgbClr val="222222"/>
                </a:solidFill>
                <a:latin typeface="Consolas"/>
                <a:cs typeface="Consolas"/>
              </a:rPr>
              <a:t>DB_CREATE_ONLINE_LOG_DEST_n</a:t>
            </a:r>
            <a:r>
              <a:rPr sz="1700" b="0">
                <a:solidFill>
                  <a:srgbClr val="222222"/>
                </a:solidFill>
                <a:latin typeface="맑은 고딕"/>
              </a:rPr>
              <a:t> 미지정 + FRA 설정</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6.7</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컨트롤 파일 — OMF의 예외</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상속된 CONTROL_FILES</a:t>
            </a:r>
          </a:p>
          <a:p>
            <a:pPr algn="l">
              <a:spcAft>
                <a:spcPts val="800"/>
              </a:spcAft>
            </a:pPr>
            <a:r>
              <a:rPr sz="1600" b="0">
                <a:solidFill>
                  <a:srgbClr val="FFFFFF"/>
                </a:solidFill>
                <a:latin typeface="맑은 고딕"/>
              </a:rPr>
              <a:t>•  왜 OMF가 이기지 못하는가</a:t>
            </a:r>
          </a:p>
          <a:p>
            <a:pPr algn="l">
              <a:spcAft>
                <a:spcPts val="800"/>
              </a:spcAft>
            </a:pPr>
            <a:r>
              <a:rPr sz="1600" b="0">
                <a:solidFill>
                  <a:srgbClr val="FFFFFF"/>
                </a:solidFill>
                <a:latin typeface="맑은 고딕"/>
              </a:rPr>
              <a:t>•  교정 절차</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Standby에 Chicago 디렉터리가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컨트롤 파일만 예외다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/u03/app/oracle/oradata/Chicago/control01.ctl</a:t>
            </a:r>
          </a:p>
          <a:p>
            <a:pPr algn="l">
              <a:spcAft>
                <a:spcPts val="1000"/>
              </a:spcAft>
            </a:pPr>
            <a:r>
              <a:rPr sz="1700" b="0">
                <a:solidFill>
                  <a:srgbClr val="222222"/>
                </a:solidFill>
                <a:latin typeface="맑은 고딕"/>
              </a:rPr>
              <a:t>•  </a:t>
            </a:r>
            <a:r>
              <a:rPr sz="1700" b="0">
                <a:solidFill>
                  <a:srgbClr val="222222"/>
                </a:solidFill>
                <a:latin typeface="Consolas"/>
                <a:cs typeface="Consolas"/>
              </a:rPr>
              <a:t>/u03/app/oracle/fast_recovery_area/CHICAGO/control02.ctl</a:t>
            </a:r>
          </a:p>
          <a:p>
            <a:pPr algn="l">
              <a:spcAft>
                <a:spcPts val="1000"/>
              </a:spcAft>
            </a:pPr>
            <a:r>
              <a:rPr sz="1700" b="0">
                <a:solidFill>
                  <a:srgbClr val="222222"/>
                </a:solidFill>
                <a:latin typeface="맑은 고딕"/>
              </a:rPr>
              <a:t>•  OMF 이름 규칙도 적용되지 않았다</a:t>
            </a:r>
          </a:p>
          <a:p>
            <a:pPr algn="l">
              <a:spcAft>
                <a:spcPts val="1000"/>
              </a:spcAft>
            </a:pPr>
            <a:r>
              <a:rPr sz="1700" b="0">
                <a:solidFill>
                  <a:srgbClr val="222222"/>
                </a:solidFill>
                <a:latin typeface="맑은 고딕"/>
              </a:rPr>
              <a:t>•  파일은 실제로 boston 서버에 있다 (각 19,021,824바이트)</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원인은 파라미터 상속</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OMF가 개입할 여지가 없다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CONTROL_FILES</a:t>
            </a:r>
            <a:r>
              <a:rPr sz="1700" b="0">
                <a:solidFill>
                  <a:srgbClr val="222222"/>
                </a:solidFill>
                <a:latin typeface="맑은 고딕"/>
              </a:rPr>
              <a:t>는 Primary spfile에 값이 있다</a:t>
            </a:r>
          </a:p>
          <a:p>
            <a:pPr algn="l">
              <a:spcAft>
                <a:spcPts val="1000"/>
              </a:spcAft>
            </a:pPr>
            <a:r>
              <a:rPr sz="1700" b="0">
                <a:solidFill>
                  <a:srgbClr val="222222"/>
                </a:solidFill>
                <a:latin typeface="맑은 고딕"/>
              </a:rPr>
              <a:t>•  SPFILE 절이 그 값을 그대로 가져온다</a:t>
            </a:r>
          </a:p>
          <a:p>
            <a:pPr algn="l">
              <a:spcAft>
                <a:spcPts val="1000"/>
              </a:spcAft>
            </a:pPr>
            <a:r>
              <a:rPr sz="1700" b="0">
                <a:solidFill>
                  <a:srgbClr val="222222"/>
                </a:solidFill>
                <a:latin typeface="맑은 고딕"/>
              </a:rPr>
              <a:t>•  스크립트에 </a:t>
            </a:r>
            <a:r>
              <a:rPr sz="1700" b="0">
                <a:solidFill>
                  <a:srgbClr val="222222"/>
                </a:solidFill>
                <a:latin typeface="Consolas"/>
                <a:cs typeface="Consolas"/>
              </a:rPr>
              <a:t>set control_files</a:t>
            </a:r>
            <a:r>
              <a:rPr sz="1700" b="0">
                <a:solidFill>
                  <a:srgbClr val="222222"/>
                </a:solidFill>
                <a:latin typeface="맑은 고딕"/>
              </a:rPr>
              <a:t>도 </a:t>
            </a:r>
            <a:r>
              <a:rPr sz="1700" b="0">
                <a:solidFill>
                  <a:srgbClr val="222222"/>
                </a:solidFill>
                <a:latin typeface="Consolas"/>
                <a:cs typeface="Consolas"/>
              </a:rPr>
              <a:t>parameter_value_convert</a:t>
            </a:r>
            <a:r>
              <a:rPr sz="1700" b="0">
                <a:solidFill>
                  <a:srgbClr val="222222"/>
                </a:solidFill>
                <a:latin typeface="맑은 고딕"/>
              </a:rPr>
              <a:t>도 없다</a:t>
            </a:r>
          </a:p>
          <a:p>
            <a:pPr algn="l">
              <a:spcAft>
                <a:spcPts val="1000"/>
              </a:spcAft>
            </a:pPr>
            <a:r>
              <a:rPr sz="1700" b="0">
                <a:solidFill>
                  <a:srgbClr val="222222"/>
                </a:solidFill>
                <a:latin typeface="맑은 고딕"/>
              </a:rPr>
              <a:t>•  </a:t>
            </a:r>
            <a:r>
              <a:rPr sz="1700" b="1">
                <a:solidFill>
                  <a:srgbClr val="222222"/>
                </a:solidFill>
                <a:latin typeface="Consolas"/>
                <a:cs typeface="Consolas"/>
              </a:rPr>
              <a:t>CONTROL_FILES</a:t>
            </a:r>
            <a:r>
              <a:rPr sz="1700" b="1">
                <a:solidFill>
                  <a:srgbClr val="222222"/>
                </a:solidFill>
                <a:latin typeface="맑은 고딕"/>
              </a:rPr>
              <a:t>에 값이 있으면 OMF는 개입하지 않는다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그대로 두면</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세 가지 문제</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1">
                <a:solidFill>
                  <a:srgbClr val="222222"/>
                </a:solidFill>
                <a:latin typeface="맑은 고딕"/>
              </a:rPr>
              <a:t>오해</a:t>
            </a:r>
            <a:r>
              <a:rPr sz="1700" b="0">
                <a:solidFill>
                  <a:srgbClr val="222222"/>
                </a:solidFill>
                <a:latin typeface="맑은 고딕"/>
              </a:rPr>
              <a:t> — 운영자가 Primary 잔재로 오인해 지울 수 있다</a:t>
            </a:r>
          </a:p>
          <a:p>
            <a:pPr algn="l">
              <a:spcAft>
                <a:spcPts val="1000"/>
              </a:spcAft>
            </a:pPr>
            <a:r>
              <a:rPr sz="1700" b="0">
                <a:solidFill>
                  <a:srgbClr val="222222"/>
                </a:solidFill>
                <a:latin typeface="맑은 고딕"/>
              </a:rPr>
              <a:t>•  </a:t>
            </a:r>
            <a:r>
              <a:rPr sz="1700" b="1">
                <a:solidFill>
                  <a:srgbClr val="222222"/>
                </a:solidFill>
                <a:latin typeface="맑은 고딕"/>
              </a:rPr>
              <a:t>정리 누락</a:t>
            </a:r>
            <a:r>
              <a:rPr sz="1700" b="0">
                <a:solidFill>
                  <a:srgbClr val="222222"/>
                </a:solidFill>
                <a:latin typeface="맑은 고딕"/>
              </a:rPr>
              <a:t> — 폐기 시 BOSTON만 지우면 컨트롤 파일이 남는다</a:t>
            </a:r>
          </a:p>
          <a:p>
            <a:pPr algn="l">
              <a:spcAft>
                <a:spcPts val="1000"/>
              </a:spcAft>
            </a:pPr>
            <a:r>
              <a:rPr sz="1700" b="0">
                <a:solidFill>
                  <a:srgbClr val="222222"/>
                </a:solidFill>
                <a:latin typeface="맑은 고딕"/>
              </a:rPr>
              <a:t>•  </a:t>
            </a:r>
            <a:r>
              <a:rPr sz="1700" b="1">
                <a:solidFill>
                  <a:srgbClr val="222222"/>
                </a:solidFill>
                <a:latin typeface="맑은 고딕"/>
              </a:rPr>
              <a:t>일관성 붕괴</a:t>
            </a:r>
            <a:r>
              <a:rPr sz="1700" b="0">
                <a:solidFill>
                  <a:srgbClr val="222222"/>
                </a:solidFill>
                <a:latin typeface="맑은 고딕"/>
              </a:rPr>
              <a:t> — OMF를 쓰기로 했으면 예외가 없는 편이 낫다</a:t>
            </a:r>
          </a:p>
          <a:p>
            <a:pPr algn="l">
              <a:spcAft>
                <a:spcPts val="1000"/>
              </a:spcAft>
            </a:pPr>
            <a:r>
              <a:rPr sz="1700" b="0">
                <a:solidFill>
                  <a:srgbClr val="222222"/>
                </a:solidFill>
                <a:latin typeface="맑은 고딕"/>
              </a:rPr>
              <a:t>•  성능에는 영향이 없다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교정 — 순서가 전부다</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네 단계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① </a:t>
            </a:r>
            <a:r>
              <a:rPr sz="1700" b="0">
                <a:solidFill>
                  <a:srgbClr val="222222"/>
                </a:solidFill>
                <a:latin typeface="Consolas"/>
                <a:cs typeface="Consolas"/>
              </a:rPr>
              <a:t>mkdir -p .../BOSTON/controlfile</a:t>
            </a:r>
            <a:r>
              <a:rPr sz="1700" b="0">
                <a:solidFill>
                  <a:srgbClr val="222222"/>
                </a:solidFill>
                <a:latin typeface="맑은 고딕"/>
              </a:rPr>
              <a:t> (양쪽)</a:t>
            </a:r>
          </a:p>
          <a:p>
            <a:pPr algn="l">
              <a:spcAft>
                <a:spcPts val="1000"/>
              </a:spcAft>
            </a:pPr>
            <a:r>
              <a:rPr sz="1700" b="0">
                <a:solidFill>
                  <a:srgbClr val="222222"/>
                </a:solidFill>
                <a:latin typeface="맑은 고딕"/>
              </a:rPr>
              <a:t>•  ② </a:t>
            </a:r>
            <a:r>
              <a:rPr sz="1700" b="0">
                <a:solidFill>
                  <a:srgbClr val="222222"/>
                </a:solidFill>
                <a:latin typeface="Consolas"/>
                <a:cs typeface="Consolas"/>
              </a:rPr>
              <a:t>ALTER SYSTEM SET control_files=... SCOPE=SPFILE</a:t>
            </a:r>
          </a:p>
          <a:p>
            <a:pPr algn="l">
              <a:spcAft>
                <a:spcPts val="1000"/>
              </a:spcAft>
            </a:pPr>
            <a:r>
              <a:rPr sz="1700" b="0">
                <a:solidFill>
                  <a:srgbClr val="222222"/>
                </a:solidFill>
                <a:latin typeface="맑은 고딕"/>
              </a:rPr>
              <a:t>•  ③ 적용 중지 → </a:t>
            </a:r>
            <a:r>
              <a:rPr sz="1700" b="0">
                <a:solidFill>
                  <a:srgbClr val="222222"/>
                </a:solidFill>
                <a:latin typeface="Consolas"/>
                <a:cs typeface="Consolas"/>
              </a:rPr>
              <a:t>SHUTDOWN IMMEDIATE</a:t>
            </a:r>
          </a:p>
          <a:p>
            <a:pPr algn="l">
              <a:spcAft>
                <a:spcPts val="1000"/>
              </a:spcAft>
            </a:pPr>
            <a:r>
              <a:rPr sz="1700" b="0">
                <a:solidFill>
                  <a:srgbClr val="222222"/>
                </a:solidFill>
                <a:latin typeface="맑은 고딕"/>
              </a:rPr>
              <a:t>•  ④ </a:t>
            </a:r>
            <a:r>
              <a:rPr sz="1700" b="0">
                <a:solidFill>
                  <a:srgbClr val="222222"/>
                </a:solidFill>
                <a:latin typeface="Consolas"/>
                <a:cs typeface="Consolas"/>
              </a:rPr>
              <a:t>mv</a:t>
            </a:r>
            <a:r>
              <a:rPr sz="1700" b="0">
                <a:solidFill>
                  <a:srgbClr val="222222"/>
                </a:solidFill>
                <a:latin typeface="맑은 고딕"/>
              </a:rPr>
              <a:t>로 파일 이동 → </a:t>
            </a:r>
            <a:r>
              <a:rPr sz="1700" b="0">
                <a:solidFill>
                  <a:srgbClr val="222222"/>
                </a:solidFill>
                <a:latin typeface="Consolas"/>
                <a:cs typeface="Consolas"/>
              </a:rPr>
              <a:t>STARTUP MOUNT</a:t>
            </a:r>
            <a:r>
              <a:rPr sz="1700" b="0">
                <a:solidFill>
                  <a:srgbClr val="222222"/>
                </a:solidFill>
                <a:latin typeface="맑은 고딕"/>
              </a:rPr>
              <a:t> → ADG 복귀</a:t>
            </a:r>
          </a:p>
          <a:p>
            <a:pPr algn="l">
              <a:spcAft>
                <a:spcPts val="1000"/>
              </a:spcAft>
            </a:pPr>
            <a:r>
              <a:rPr sz="1700" b="0">
                <a:solidFill>
                  <a:srgbClr val="222222"/>
                </a:solidFill>
                <a:latin typeface="맑은 고딕"/>
              </a:rPr>
              <a:t>•  순서를 어기면 </a:t>
            </a:r>
            <a:r>
              <a:rPr sz="1700" b="0">
                <a:solidFill>
                  <a:srgbClr val="222222"/>
                </a:solidFill>
                <a:latin typeface="Consolas"/>
                <a:cs typeface="Consolas"/>
              </a:rPr>
              <a:t>ORA-00205</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근본 해법</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스크립트에 한 줄</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set control_files = '.../BOSTON/controlfile/control01.ctl', '...'</a:t>
            </a:r>
          </a:p>
          <a:p>
            <a:pPr algn="l">
              <a:spcAft>
                <a:spcPts val="1000"/>
              </a:spcAft>
            </a:pPr>
            <a:r>
              <a:rPr sz="1700" b="0">
                <a:solidFill>
                  <a:srgbClr val="222222"/>
                </a:solidFill>
                <a:latin typeface="맑은 고딕"/>
              </a:rPr>
              <a:t>•  매번 사후 교정하는 것보다 낫다</a:t>
            </a:r>
          </a:p>
          <a:p>
            <a:pPr algn="l">
              <a:spcAft>
                <a:spcPts val="1000"/>
              </a:spcAft>
            </a:pPr>
            <a:r>
              <a:rPr sz="1700" b="0">
                <a:solidFill>
                  <a:srgbClr val="222222"/>
                </a:solidFill>
                <a:latin typeface="맑은 고딕"/>
              </a:rPr>
              <a:t>•  컨트롤 파일만 OMF 이름 규칙을 따르지 않는다</a:t>
            </a:r>
          </a:p>
          <a:p>
            <a:pPr algn="l">
              <a:spcAft>
                <a:spcPts val="1000"/>
              </a:spcAft>
            </a:pPr>
            <a:r>
              <a:rPr sz="1700" b="0">
                <a:solidFill>
                  <a:srgbClr val="222222"/>
                </a:solidFill>
                <a:latin typeface="맑은 고딕"/>
              </a:rPr>
              <a:t>•  그 디렉터리는 미리 만들어야 한다 — OMF라도 mkdir이 완전히 사라지진 않는다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2011680"/>
            <a:ext cx="10515600" cy="1097280"/>
          </a:xfrm>
          <a:prstGeom prst="rect">
            <a:avLst/>
          </a:prstGeom>
          <a:noFill/>
        </p:spPr>
        <p:txBody>
          <a:bodyPr wrap="square">
            <a:spAutoFit/>
          </a:bodyPr>
          <a:lstStyle/>
          <a:p>
            <a:pPr algn="l">
              <a:spcAft>
                <a:spcPts val="600"/>
              </a:spcAft>
            </a:pPr>
            <a:r>
              <a:rPr sz="4000" b="1">
                <a:solidFill>
                  <a:srgbClr val="FFFFFF"/>
                </a:solidFill>
                <a:latin typeface="맑은 고딕"/>
              </a:rPr>
              <a:t>6.9</a:t>
            </a:r>
          </a:p>
        </p:txBody>
      </p:sp>
      <p:sp>
        <p:nvSpPr>
          <p:cNvPr id="4" name="TextBox 3"/>
          <p:cNvSpPr txBox="1"/>
          <p:nvPr/>
        </p:nvSpPr>
        <p:spPr>
          <a:xfrm>
            <a:off x="822960" y="3017520"/>
            <a:ext cx="10515600" cy="914400"/>
          </a:xfrm>
          <a:prstGeom prst="rect">
            <a:avLst/>
          </a:prstGeom>
          <a:noFill/>
        </p:spPr>
        <p:txBody>
          <a:bodyPr wrap="square">
            <a:spAutoFit/>
          </a:bodyPr>
          <a:lstStyle/>
          <a:p>
            <a:pPr algn="l">
              <a:spcAft>
                <a:spcPts val="600"/>
              </a:spcAft>
            </a:pPr>
            <a:r>
              <a:rPr sz="2800" b="1">
                <a:solidFill>
                  <a:srgbClr val="FFFFFF"/>
                </a:solidFill>
                <a:latin typeface="맑은 고딕"/>
              </a:rPr>
              <a:t>두 방식의 비교</a:t>
            </a:r>
          </a:p>
        </p:txBody>
      </p:sp>
      <p:sp>
        <p:nvSpPr>
          <p:cNvPr id="5" name="Rectangle 4"/>
          <p:cNvSpPr/>
          <p:nvPr/>
        </p:nvSpPr>
        <p:spPr>
          <a:xfrm>
            <a:off x="822960" y="4114800"/>
            <a:ext cx="5486400" cy="5486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4297680"/>
            <a:ext cx="10058400" cy="2011680"/>
          </a:xfrm>
          <a:prstGeom prst="rect">
            <a:avLst/>
          </a:prstGeom>
          <a:noFill/>
        </p:spPr>
        <p:txBody>
          <a:bodyPr wrap="square">
            <a:spAutoFit/>
          </a:bodyPr>
          <a:lstStyle/>
          <a:p>
            <a:pPr algn="l">
              <a:spcAft>
                <a:spcPts val="800"/>
              </a:spcAft>
            </a:pPr>
            <a:r>
              <a:rPr sz="1600" b="0">
                <a:solidFill>
                  <a:srgbClr val="FFFFFF"/>
                </a:solidFill>
                <a:latin typeface="맑은 고딕"/>
              </a:rPr>
              <a:t>•  열두 항목 대조</a:t>
            </a:r>
          </a:p>
          <a:p>
            <a:pPr algn="l">
              <a:spcAft>
                <a:spcPts val="800"/>
              </a:spcAft>
            </a:pPr>
            <a:r>
              <a:rPr sz="1600" b="0">
                <a:solidFill>
                  <a:srgbClr val="FFFFFF"/>
                </a:solidFill>
                <a:latin typeface="맑은 고딕"/>
              </a:rPr>
              <a:t>•  선택 기준</a:t>
            </a:r>
          </a:p>
          <a:p>
            <a:pPr algn="l">
              <a:spcAft>
                <a:spcPts val="800"/>
              </a:spcAft>
            </a:pPr>
            <a:r>
              <a:rPr sz="1600" b="0">
                <a:solidFill>
                  <a:srgbClr val="FFFFFF"/>
                </a:solidFill>
                <a:latin typeface="맑은 고딕"/>
              </a:rPr>
              <a:t>•  7장 이후의 기준 상태</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가이드의 후속 단계</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ORA-32002가 다행이다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a:t>
            </a:r>
            <a:r>
              <a:rPr sz="1700" b="0">
                <a:solidFill>
                  <a:srgbClr val="222222"/>
                </a:solidFill>
                <a:latin typeface="Consolas"/>
                <a:cs typeface="Consolas"/>
              </a:rPr>
              <a:t>create spfile from pfile='.../initboston.ora'</a:t>
            </a:r>
            <a:r>
              <a:rPr sz="1700" b="0">
                <a:solidFill>
                  <a:srgbClr val="222222"/>
                </a:solidFill>
                <a:latin typeface="맑은 고딕"/>
              </a:rPr>
              <a:t> → </a:t>
            </a:r>
            <a:r>
              <a:rPr sz="1700" b="1">
                <a:solidFill>
                  <a:srgbClr val="222222"/>
                </a:solidFill>
                <a:latin typeface="맑은 고딕"/>
              </a:rPr>
              <a:t>ORA-32002</a:t>
            </a:r>
          </a:p>
          <a:p>
            <a:pPr algn="l">
              <a:spcAft>
                <a:spcPts val="1000"/>
              </a:spcAft>
            </a:pPr>
            <a:r>
              <a:rPr sz="1700" b="0">
                <a:solidFill>
                  <a:srgbClr val="222222"/>
                </a:solidFill>
                <a:latin typeface="맑은 고딕"/>
              </a:rPr>
              <a:t>•  성공했다면 세 줄짜리 pfile로 spfile을 덮어썼을 것</a:t>
            </a:r>
          </a:p>
          <a:p>
            <a:pPr algn="l">
              <a:spcAft>
                <a:spcPts val="1000"/>
              </a:spcAft>
            </a:pPr>
            <a:r>
              <a:rPr sz="1700" b="0">
                <a:solidFill>
                  <a:srgbClr val="222222"/>
                </a:solidFill>
                <a:latin typeface="맑은 고딕"/>
              </a:rPr>
              <a:t>•  사라졌을 값 : </a:t>
            </a:r>
            <a:r>
              <a:rPr sz="1700" b="0">
                <a:solidFill>
                  <a:srgbClr val="222222"/>
                </a:solidFill>
                <a:latin typeface="Consolas"/>
                <a:cs typeface="Consolas"/>
              </a:rPr>
              <a:t>db_unique_name</a:t>
            </a:r>
            <a:r>
              <a:rPr sz="1700" b="0">
                <a:solidFill>
                  <a:srgbClr val="222222"/>
                </a:solidFill>
                <a:latin typeface="맑은 고딕"/>
              </a:rPr>
              <a:t> · </a:t>
            </a:r>
            <a:r>
              <a:rPr sz="1700" b="0">
                <a:solidFill>
                  <a:srgbClr val="222222"/>
                </a:solidFill>
                <a:latin typeface="Consolas"/>
                <a:cs typeface="Consolas"/>
              </a:rPr>
              <a:t>fal_server</a:t>
            </a:r>
            <a:r>
              <a:rPr sz="1700" b="0">
                <a:solidFill>
                  <a:srgbClr val="222222"/>
                </a:solidFill>
                <a:latin typeface="맑은 고딕"/>
              </a:rPr>
              <a:t> · </a:t>
            </a:r>
            <a:r>
              <a:rPr sz="1700" b="0">
                <a:solidFill>
                  <a:srgbClr val="222222"/>
                </a:solidFill>
                <a:latin typeface="Consolas"/>
                <a:cs typeface="Consolas"/>
              </a:rPr>
              <a:t>log_archive_config</a:t>
            </a:r>
            <a:r>
              <a:rPr sz="1700" b="0">
                <a:solidFill>
                  <a:srgbClr val="222222"/>
                </a:solidFill>
                <a:latin typeface="맑은 고딕"/>
              </a:rPr>
              <a:t> · </a:t>
            </a:r>
            <a:r>
              <a:rPr sz="1700" b="0">
                <a:solidFill>
                  <a:srgbClr val="222222"/>
                </a:solidFill>
                <a:latin typeface="Consolas"/>
                <a:cs typeface="Consolas"/>
              </a:rPr>
              <a:t>standby_file_management</a:t>
            </a:r>
            <a:r>
              <a:rPr sz="1700" b="0">
                <a:solidFill>
                  <a:srgbClr val="222222"/>
                </a:solidFill>
                <a:latin typeface="맑은 고딕"/>
              </a:rPr>
              <a:t> · </a:t>
            </a:r>
            <a:r>
              <a:rPr sz="1700" b="0">
                <a:solidFill>
                  <a:srgbClr val="222222"/>
                </a:solidFill>
                <a:latin typeface="Consolas"/>
                <a:cs typeface="Consolas"/>
              </a:rPr>
              <a:t>control_files</a:t>
            </a:r>
            <a:r>
              <a:rPr sz="1700" b="0">
                <a:solidFill>
                  <a:srgbClr val="222222"/>
                </a:solidFill>
                <a:latin typeface="맑은 고딕"/>
              </a:rPr>
              <a:t> 등</a:t>
            </a:r>
          </a:p>
          <a:p>
            <a:pPr algn="l">
              <a:spcAft>
                <a:spcPts val="1000"/>
              </a:spcAft>
            </a:pPr>
            <a:r>
              <a:rPr sz="1700" b="0">
                <a:solidFill>
                  <a:srgbClr val="222222"/>
                </a:solidFill>
                <a:latin typeface="맑은 고딕"/>
              </a:rPr>
              <a:t>•  이어지는 </a:t>
            </a:r>
            <a:r>
              <a:rPr sz="1700" b="0">
                <a:solidFill>
                  <a:srgbClr val="222222"/>
                </a:solidFill>
                <a:latin typeface="Consolas"/>
                <a:cs typeface="Consolas"/>
              </a:rPr>
              <a:t>shutdown</a:t>
            </a:r>
            <a:r>
              <a:rPr sz="1700" b="0">
                <a:solidFill>
                  <a:srgbClr val="222222"/>
                </a:solidFill>
                <a:latin typeface="맑은 고딕"/>
              </a:rPr>
              <a:t> / </a:t>
            </a:r>
            <a:r>
              <a:rPr sz="1700" b="0">
                <a:solidFill>
                  <a:srgbClr val="222222"/>
                </a:solidFill>
                <a:latin typeface="Consolas"/>
                <a:cs typeface="Consolas"/>
              </a:rPr>
              <a:t>startup</a:t>
            </a:r>
            <a:r>
              <a:rPr sz="1700" b="0">
                <a:solidFill>
                  <a:srgbClr val="222222"/>
                </a:solidFill>
                <a:latin typeface="맑은 고딕"/>
              </a:rPr>
              <a:t>까지 갔다면 구성이 해체된다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열두 항목 대조</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무엇이 같고 무엇이 다른가</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다른 것 : 배치 지시 · 디렉터리 이름 · PDB 디렉터리 · 파일 이름 · 로그 멤버 수 · 컨트롤 파일 처리</a:t>
            </a:r>
          </a:p>
          <a:p>
            <a:pPr algn="l">
              <a:spcAft>
                <a:spcPts val="1000"/>
              </a:spcAft>
            </a:pPr>
            <a:r>
              <a:rPr sz="1700" b="0">
                <a:solidFill>
                  <a:srgbClr val="222222"/>
                </a:solidFill>
                <a:latin typeface="맑은 고딕"/>
              </a:rPr>
              <a:t>•  같은 것 : </a:t>
            </a:r>
            <a:r>
              <a:rPr sz="1700" b="1">
                <a:solidFill>
                  <a:srgbClr val="222222"/>
                </a:solidFill>
                <a:latin typeface="맑은 고딕"/>
              </a:rPr>
              <a:t>데이터 파일 개수 11개 · 번호 · 크기</a:t>
            </a:r>
          </a:p>
          <a:p>
            <a:pPr algn="l">
              <a:spcAft>
                <a:spcPts val="1000"/>
              </a:spcAft>
            </a:pPr>
            <a:r>
              <a:rPr sz="1700" b="0">
                <a:solidFill>
                  <a:srgbClr val="222222"/>
                </a:solidFill>
                <a:latin typeface="맑은 고딕"/>
              </a:rPr>
              <a:t>•  로그 길이 418줄 vs 390줄</a:t>
            </a:r>
          </a:p>
          <a:p>
            <a:pPr algn="l">
              <a:spcAft>
                <a:spcPts val="1000"/>
              </a:spcAft>
            </a:pPr>
            <a:r>
              <a:rPr sz="1700" b="0">
                <a:solidFill>
                  <a:srgbClr val="222222"/>
                </a:solidFill>
                <a:latin typeface="맑은 고딕"/>
              </a:rPr>
              <a:t>•  실패 발견 시점 : 전송 도중 vs 기동 시점</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어느 쪽을 고를 것인가</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환경이 결정한다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OMF : PDB를 자주 추가 · Standby 여러 개 · 자동화 · 이른 실패 발견</a:t>
            </a:r>
          </a:p>
          <a:p>
            <a:pPr algn="l">
              <a:spcAft>
                <a:spcPts val="1000"/>
              </a:spcAft>
            </a:pPr>
            <a:r>
              <a:rPr sz="1700" b="0">
                <a:solidFill>
                  <a:srgbClr val="222222"/>
                </a:solidFill>
                <a:latin typeface="맑은 고딕"/>
              </a:rPr>
              <a:t>•  경로 지정 : 배치 표준이 확고 · 스토리지 계층 분리 · 이름 규칙 의존</a:t>
            </a:r>
          </a:p>
          <a:p>
            <a:pPr algn="l">
              <a:spcAft>
                <a:spcPts val="1000"/>
              </a:spcAft>
            </a:pPr>
            <a:r>
              <a:rPr sz="1700" b="0">
                <a:solidFill>
                  <a:srgbClr val="222222"/>
                </a:solidFill>
                <a:latin typeface="맑은 고딕"/>
              </a:rPr>
              <a:t>•  둘 다 주면 </a:t>
            </a:r>
            <a:r>
              <a:rPr sz="1700" b="1">
                <a:solidFill>
                  <a:srgbClr val="222222"/>
                </a:solidFill>
                <a:latin typeface="맑은 고딕"/>
              </a:rPr>
              <a:t>OMF가 이긴다</a:t>
            </a:r>
            <a:r>
              <a:rPr sz="1700" b="0">
                <a:solidFill>
                  <a:srgbClr val="222222"/>
                </a:solidFill>
                <a:latin typeface="맑은 고딕"/>
              </a:rPr>
              <a:t> (convert는 무시된다)</a:t>
            </a:r>
          </a:p>
          <a:p>
            <a:pPr algn="l">
              <a:spcAft>
                <a:spcPts val="1000"/>
              </a:spcAft>
            </a:pPr>
            <a:r>
              <a:rPr sz="1700" b="0">
                <a:solidFill>
                  <a:srgbClr val="222222"/>
                </a:solidFill>
                <a:latin typeface="맑은 고딕"/>
              </a:rPr>
              <a:t>•  섞어 쓰지 말고 하나를 골라 일관되게</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7장 이후의 기준 상태</a:t>
            </a:r>
          </a:p>
        </p:txBody>
      </p:sp>
      <p:sp>
        <p:nvSpPr>
          <p:cNvPr id="4" name="TextBox 3"/>
          <p:cNvSpPr txBox="1"/>
          <p:nvPr/>
        </p:nvSpPr>
        <p:spPr>
          <a:xfrm>
            <a:off x="640080" y="1078992"/>
            <a:ext cx="10881360" cy="457200"/>
          </a:xfrm>
          <a:prstGeom prst="rect">
            <a:avLst/>
          </a:prstGeom>
          <a:noFill/>
        </p:spPr>
        <p:txBody>
          <a:bodyPr wrap="square">
            <a:spAutoFit/>
          </a:bodyPr>
          <a:lstStyle/>
          <a:p>
            <a:pPr algn="l">
              <a:spcAft>
                <a:spcPts val="600"/>
              </a:spcAft>
            </a:pPr>
            <a:r>
              <a:rPr sz="1500" b="0">
                <a:solidFill>
                  <a:srgbClr val="5A6672"/>
                </a:solidFill>
                <a:latin typeface="맑은 고딕"/>
              </a:rPr>
              <a:t>여기서부터 OMF다</a:t>
            </a:r>
          </a:p>
        </p:txBody>
      </p:sp>
      <p:sp>
        <p:nvSpPr>
          <p:cNvPr id="5" name="TextBox 4"/>
          <p:cNvSpPr txBox="1"/>
          <p:nvPr/>
        </p:nvSpPr>
        <p:spPr>
          <a:xfrm>
            <a:off x="640080" y="1737360"/>
            <a:ext cx="10881360" cy="4754880"/>
          </a:xfrm>
          <a:prstGeom prst="rect">
            <a:avLst/>
          </a:prstGeom>
          <a:noFill/>
        </p:spPr>
        <p:txBody>
          <a:bodyPr wrap="square">
            <a:spAutoFit/>
          </a:bodyPr>
          <a:lstStyle/>
          <a:p>
            <a:pPr algn="l">
              <a:spcAft>
                <a:spcPts val="1000"/>
              </a:spcAft>
            </a:pPr>
            <a:r>
              <a:rPr sz="1700" b="0">
                <a:solidFill>
                  <a:srgbClr val="222222"/>
                </a:solidFill>
                <a:latin typeface="맑은 고딕"/>
              </a:rPr>
              <a:t>•  boston : </a:t>
            </a:r>
            <a:r>
              <a:rPr sz="1700" b="0">
                <a:solidFill>
                  <a:srgbClr val="222222"/>
                </a:solidFill>
                <a:latin typeface="Consolas"/>
                <a:cs typeface="Consolas"/>
              </a:rPr>
              <a:t>READ ONLY WITH APPLY</a:t>
            </a:r>
            <a:r>
              <a:rPr sz="1700" b="0">
                <a:solidFill>
                  <a:srgbClr val="222222"/>
                </a:solidFill>
                <a:latin typeface="맑은 고딕"/>
              </a:rPr>
              <a:t>, DBID 1852041610</a:t>
            </a:r>
          </a:p>
          <a:p>
            <a:pPr algn="l">
              <a:spcAft>
                <a:spcPts val="1000"/>
              </a:spcAft>
            </a:pPr>
            <a:r>
              <a:rPr sz="1700" b="0">
                <a:solidFill>
                  <a:srgbClr val="222222"/>
                </a:solidFill>
                <a:latin typeface="맑은 고딕"/>
              </a:rPr>
              <a:t>•  데이터 파일 </a:t>
            </a:r>
            <a:r>
              <a:rPr sz="1700" b="0">
                <a:solidFill>
                  <a:srgbClr val="222222"/>
                </a:solidFill>
                <a:latin typeface="Consolas"/>
                <a:cs typeface="Consolas"/>
              </a:rPr>
              <a:t>/u03/app/oracle/oradata/BOSTON/**/o1_mf_*.dbf</a:t>
            </a:r>
          </a:p>
          <a:p>
            <a:pPr algn="l">
              <a:spcAft>
                <a:spcPts val="1000"/>
              </a:spcAft>
            </a:pPr>
            <a:r>
              <a:rPr sz="1700" b="0">
                <a:solidFill>
                  <a:srgbClr val="222222"/>
                </a:solidFill>
                <a:latin typeface="맑은 고딕"/>
              </a:rPr>
              <a:t>•  컨트롤 파일 </a:t>
            </a:r>
            <a:r>
              <a:rPr sz="1700" b="0">
                <a:solidFill>
                  <a:srgbClr val="222222"/>
                </a:solidFill>
                <a:latin typeface="Consolas"/>
                <a:cs typeface="Consolas"/>
              </a:rPr>
              <a:t>BOSTON/controlfile/</a:t>
            </a:r>
            <a:r>
              <a:rPr sz="1700" b="0">
                <a:solidFill>
                  <a:srgbClr val="222222"/>
                </a:solidFill>
                <a:latin typeface="맑은 고딕"/>
              </a:rPr>
              <a:t> (교정 완료)</a:t>
            </a:r>
          </a:p>
          <a:p>
            <a:pPr algn="l">
              <a:spcAft>
                <a:spcPts val="1000"/>
              </a:spcAft>
            </a:pPr>
            <a:r>
              <a:rPr sz="1700" b="0">
                <a:solidFill>
                  <a:srgbClr val="222222"/>
                </a:solidFill>
                <a:latin typeface="맑은 고딕"/>
              </a:rPr>
              <a:t>•  chicago : 경로 지정 방식 그대로 유지</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퀴즈 (Quiz)</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Q1. </a:t>
            </a:r>
            <a:r>
              <a:rPr sz="1600" b="0">
                <a:solidFill>
                  <a:srgbClr val="222222"/>
                </a:solidFill>
                <a:latin typeface="Consolas"/>
                <a:cs typeface="Consolas"/>
              </a:rPr>
              <a:t>NOFILENAMECHECK</a:t>
            </a:r>
            <a:r>
              <a:rPr sz="1600" b="0">
                <a:solidFill>
                  <a:srgbClr val="222222"/>
                </a:solidFill>
                <a:latin typeface="맑은 고딕"/>
              </a:rPr>
              <a:t>가 OMF 방식에서 필요 없는 이유를 파일 이름 규칙과 연결해 설명하라.</a:t>
            </a:r>
          </a:p>
          <a:p>
            <a:pPr algn="l">
              <a:spcAft>
                <a:spcPts val="1000"/>
              </a:spcAft>
            </a:pPr>
            <a:r>
              <a:rPr sz="1600" b="0">
                <a:solidFill>
                  <a:srgbClr val="222222"/>
                </a:solidFill>
                <a:latin typeface="맑은 고딕"/>
              </a:rPr>
              <a:t>•  Q2. </a:t>
            </a:r>
            <a:r>
              <a:rPr sz="1600" b="0">
                <a:solidFill>
                  <a:srgbClr val="222222"/>
                </a:solidFill>
                <a:latin typeface="Consolas"/>
                <a:cs typeface="Consolas"/>
              </a:rPr>
              <a:t>db_create_file_dest</a:t>
            </a:r>
            <a:r>
              <a:rPr sz="1600" b="0">
                <a:solidFill>
                  <a:srgbClr val="222222"/>
                </a:solidFill>
                <a:latin typeface="맑은 고딕"/>
              </a:rPr>
              <a:t>에 없는 경로를 주었을 때와 아예 주지 않았을 때의 오류가 어떻게 다른가?</a:t>
            </a:r>
          </a:p>
          <a:p>
            <a:pPr algn="l">
              <a:spcAft>
                <a:spcPts val="1000"/>
              </a:spcAft>
            </a:pPr>
            <a:r>
              <a:rPr sz="1600" b="0">
                <a:solidFill>
                  <a:srgbClr val="222222"/>
                </a:solidFill>
                <a:latin typeface="맑은 고딕"/>
              </a:rPr>
              <a:t>•  Q3. </a:t>
            </a:r>
            <a:r>
              <a:rPr sz="1600" b="0">
                <a:solidFill>
                  <a:srgbClr val="222222"/>
                </a:solidFill>
                <a:latin typeface="Consolas"/>
                <a:cs typeface="Consolas"/>
              </a:rPr>
              <a:t>BOSTON</a:t>
            </a:r>
            <a:r>
              <a:rPr sz="1600" b="0">
                <a:solidFill>
                  <a:srgbClr val="222222"/>
                </a:solidFill>
                <a:latin typeface="맑은 고딕"/>
              </a:rPr>
              <a:t> 디렉터리 이름이 </a:t>
            </a:r>
            <a:r>
              <a:rPr sz="1600" b="0">
                <a:solidFill>
                  <a:srgbClr val="222222"/>
                </a:solidFill>
                <a:latin typeface="Consolas"/>
                <a:cs typeface="Consolas"/>
              </a:rPr>
              <a:t>DB_NAME</a:t>
            </a:r>
            <a:r>
              <a:rPr sz="1600" b="0">
                <a:solidFill>
                  <a:srgbClr val="222222"/>
                </a:solidFill>
                <a:latin typeface="맑은 고딕"/>
              </a:rPr>
              <a:t>이 아니라 </a:t>
            </a:r>
            <a:r>
              <a:rPr sz="1600" b="0">
                <a:solidFill>
                  <a:srgbClr val="222222"/>
                </a:solidFill>
                <a:latin typeface="Consolas"/>
                <a:cs typeface="Consolas"/>
              </a:rPr>
              <a:t>DB_UNIQUE_NAME</a:t>
            </a:r>
            <a:r>
              <a:rPr sz="1600" b="0">
                <a:solidFill>
                  <a:srgbClr val="222222"/>
                </a:solidFill>
                <a:latin typeface="맑은 고딕"/>
              </a:rPr>
              <a:t>에서 온다는 사실이 왜 중요한가?</a:t>
            </a:r>
          </a:p>
          <a:p>
            <a:pPr algn="l">
              <a:spcAft>
                <a:spcPts val="1000"/>
              </a:spcAft>
            </a:pPr>
            <a:r>
              <a:rPr sz="1600" b="0">
                <a:solidFill>
                  <a:srgbClr val="222222"/>
                </a:solidFill>
                <a:latin typeface="맑은 고딕"/>
              </a:rPr>
              <a:t>•  Q4. PDB 디렉터리에 이름 대신 GUID를 쓰는 이유와 그 대가는 무엇인가?</a:t>
            </a:r>
          </a:p>
          <a:p>
            <a:pPr algn="l">
              <a:spcAft>
                <a:spcPts val="1000"/>
              </a:spcAft>
            </a:pPr>
            <a:r>
              <a:rPr sz="1600" b="0">
                <a:solidFill>
                  <a:srgbClr val="222222"/>
                </a:solidFill>
                <a:latin typeface="맑은 고딕"/>
              </a:rPr>
              <a:t>•  Q5. 온라인 로그가 그룹당 두 멤버로 만들어진 조건은 무엇이며, 원하지 않으면 어떻게 하는가?</a:t>
            </a:r>
          </a:p>
          <a:p>
            <a:pPr algn="l">
              <a:spcAft>
                <a:spcPts val="1000"/>
              </a:spcAft>
            </a:pPr>
            <a:r>
              <a:rPr sz="1600" b="0">
                <a:solidFill>
                  <a:srgbClr val="222222"/>
                </a:solidFill>
                <a:latin typeface="맑은 고딕"/>
              </a:rPr>
              <a:t>•  Q6. 컨트롤 파일이 OMF 규칙을 따르지 않은 이유와, 그대로 두면 생기는 문제 세 가지를 들라.</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요약 (Summary)</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OMF는 </a:t>
            </a:r>
            <a:r>
              <a:rPr sz="1600" b="0">
                <a:solidFill>
                  <a:srgbClr val="222222"/>
                </a:solidFill>
                <a:latin typeface="Consolas"/>
                <a:cs typeface="Consolas"/>
              </a:rPr>
              <a:t>DB_CREATE_FILE_DEST</a:t>
            </a:r>
            <a:r>
              <a:rPr sz="1600" b="0">
                <a:solidFill>
                  <a:srgbClr val="222222"/>
                </a:solidFill>
                <a:latin typeface="맑은 고딕"/>
              </a:rPr>
              <a:t> 하나로 파일 배치를 오라클에 맡긴다. 켜고 끄는 스위치가 아니라 파일 단위 규칙이다.</a:t>
            </a:r>
          </a:p>
          <a:p>
            <a:pPr algn="l">
              <a:spcAft>
                <a:spcPts val="1000"/>
              </a:spcAft>
            </a:pPr>
            <a:r>
              <a:rPr sz="1600" b="0">
                <a:solidFill>
                  <a:srgbClr val="222222"/>
                </a:solidFill>
                <a:latin typeface="맑은 고딕"/>
              </a:rPr>
              <a:t>•  Primary가 OMF가 아니어도 Standby만 OMF로 만들 수 있다. 실습 환경이 그 경우다.</a:t>
            </a:r>
          </a:p>
          <a:p>
            <a:pPr algn="l">
              <a:spcAft>
                <a:spcPts val="1000"/>
              </a:spcAft>
            </a:pPr>
            <a:r>
              <a:rPr sz="1600" b="0">
                <a:solidFill>
                  <a:srgbClr val="222222"/>
                </a:solidFill>
                <a:latin typeface="맑은 고딕"/>
              </a:rPr>
              <a:t>•  스크립트에서 다섯 절이 사라지고 세 절이 생긴다. </a:t>
            </a:r>
            <a:r>
              <a:rPr sz="1600" b="0">
                <a:solidFill>
                  <a:srgbClr val="222222"/>
                </a:solidFill>
                <a:latin typeface="Consolas"/>
                <a:cs typeface="Consolas"/>
              </a:rPr>
              <a:t>set control_files</a:t>
            </a:r>
            <a:r>
              <a:rPr sz="1600" b="0">
                <a:solidFill>
                  <a:srgbClr val="222222"/>
                </a:solidFill>
                <a:latin typeface="맑은 고딕"/>
              </a:rPr>
              <a:t>만 대체 수단이 없다.</a:t>
            </a:r>
          </a:p>
          <a:p>
            <a:pPr algn="l">
              <a:spcAft>
                <a:spcPts val="1000"/>
              </a:spcAft>
            </a:pPr>
            <a:r>
              <a:rPr sz="1600" b="0">
                <a:solidFill>
                  <a:srgbClr val="222222"/>
                </a:solidFill>
                <a:latin typeface="맑은 고딕"/>
              </a:rPr>
              <a:t>•  </a:t>
            </a:r>
            <a:r>
              <a:rPr sz="1600" b="0">
                <a:solidFill>
                  <a:srgbClr val="222222"/>
                </a:solidFill>
                <a:latin typeface="Consolas"/>
                <a:cs typeface="Consolas"/>
              </a:rPr>
              <a:t>NOFILENAMECHECK</a:t>
            </a:r>
            <a:r>
              <a:rPr sz="1600" b="0">
                <a:solidFill>
                  <a:srgbClr val="222222"/>
                </a:solidFill>
                <a:latin typeface="맑은 고딕"/>
              </a:rPr>
              <a:t>가 불필요한 이유는 OMF 이름의 유일 문자열 때문에 충돌이 불가능해서다.</a:t>
            </a:r>
          </a:p>
          <a:p>
            <a:pPr algn="l">
              <a:spcAft>
                <a:spcPts val="1000"/>
              </a:spcAft>
            </a:pPr>
            <a:r>
              <a:rPr sz="1600" b="0">
                <a:solidFill>
                  <a:srgbClr val="222222"/>
                </a:solidFill>
                <a:latin typeface="맑은 고딕"/>
              </a:rPr>
              <a:t>•  없는 경로 → 인스턴스가 뜨지 않는다. ORA-01261 + ORA-01262 + </a:t>
            </a:r>
            <a:r>
              <a:rPr sz="1600" b="0">
                <a:solidFill>
                  <a:srgbClr val="222222"/>
                </a:solidFill>
                <a:latin typeface="Consolas"/>
                <a:cs typeface="Consolas"/>
              </a:rPr>
              <a:t>Linux-x86_64 Error: 2</a:t>
            </a:r>
            <a:r>
              <a:rPr sz="1600" b="0">
                <a:solidFill>
                  <a:srgbClr val="222222"/>
                </a:solidFill>
                <a:latin typeface="맑은 고딕"/>
              </a:rPr>
              <a:t> + ORA-01034.</a:t>
            </a:r>
          </a:p>
          <a:p>
            <a:pPr algn="l">
              <a:spcAft>
                <a:spcPts val="1000"/>
              </a:spcAft>
            </a:pPr>
            <a:r>
              <a:rPr sz="1600" b="0">
                <a:solidFill>
                  <a:srgbClr val="222222"/>
                </a:solidFill>
                <a:latin typeface="맑은 고딕"/>
              </a:rPr>
              <a:t>•  </a:t>
            </a:r>
            <a:r>
              <a:rPr sz="1600" b="0">
                <a:solidFill>
                  <a:srgbClr val="222222"/>
                </a:solidFill>
                <a:latin typeface="Consolas"/>
                <a:cs typeface="Consolas"/>
              </a:rPr>
              <a:t>Linux-x86_64 Error: 2</a:t>
            </a:r>
            <a:r>
              <a:rPr sz="1600" b="0">
                <a:solidFill>
                  <a:srgbClr val="222222"/>
                </a:solidFill>
                <a:latin typeface="맑은 고딕"/>
              </a:rPr>
              <a:t>는 ENOENT(경로 없음), 13은 EACCES(권한). 이 숫자가 진단의 분기점이다.</a:t>
            </a:r>
          </a:p>
          <a:p>
            <a:pPr algn="l">
              <a:spcAft>
                <a:spcPts val="1000"/>
              </a:spcAft>
            </a:pPr>
            <a:r>
              <a:rPr sz="1600" b="0">
                <a:solidFill>
                  <a:srgbClr val="222222"/>
                </a:solidFill>
                <a:latin typeface="맑은 고딕"/>
              </a:rPr>
              <a:t>•  인스턴스가 없으면 RMAN은 </a:t>
            </a:r>
            <a:r>
              <a:rPr sz="1600" b="0">
                <a:solidFill>
                  <a:srgbClr val="222222"/>
                </a:solidFill>
                <a:latin typeface="Consolas"/>
                <a:cs typeface="Consolas"/>
              </a:rPr>
              <a:t>failure of allocate command</a:t>
            </a:r>
            <a:r>
              <a:rPr sz="1600" b="0">
                <a:solidFill>
                  <a:srgbClr val="222222"/>
                </a:solidFill>
                <a:latin typeface="맑은 고딕"/>
              </a:rPr>
              <a:t> + RMAN-06403 + ORA-27101로 끝난다.</a:t>
            </a:r>
          </a:p>
          <a:p>
            <a:pPr algn="l">
              <a:spcAft>
                <a:spcPts val="1000"/>
              </a:spcAft>
            </a:pPr>
            <a:r>
              <a:rPr sz="1600" b="0">
                <a:solidFill>
                  <a:srgbClr val="222222"/>
                </a:solidFill>
                <a:latin typeface="맑은 고딕"/>
              </a:rPr>
              <a:t>•  배치 지시를 주지 않으면 5장 첫 실패와 동일한 RMAN-05538 + RMAN-05001 11줄이 난다.</a:t>
            </a:r>
          </a:p>
          <a:p>
            <a:pPr algn="l">
              <a:spcAft>
                <a:spcPts val="1000"/>
              </a:spcAft>
            </a:pPr>
            <a:r>
              <a:rPr sz="1600" b="0">
                <a:solidFill>
                  <a:srgbClr val="222222"/>
                </a:solidFill>
                <a:latin typeface="맑은 고딕"/>
              </a:rPr>
              <a:t>•  성공 실행은 390줄, </a:t>
            </a:r>
            <a:r>
              <a:rPr sz="1600" b="0">
                <a:solidFill>
                  <a:srgbClr val="222222"/>
                </a:solidFill>
                <a:latin typeface="Consolas"/>
                <a:cs typeface="Consolas"/>
              </a:rPr>
              <a:t>rc=0</a:t>
            </a:r>
            <a:r>
              <a:rPr sz="1600" b="0">
                <a:solidFill>
                  <a:srgbClr val="222222"/>
                </a:solidFill>
                <a:latin typeface="맑은 고딕"/>
              </a:rPr>
              <a:t>, 오류 0줄, 49번 Starting / 383번 Finished.</a:t>
            </a:r>
          </a:p>
          <a:p>
            <a:pPr algn="l">
              <a:spcAft>
                <a:spcPts val="1000"/>
              </a:spcAft>
            </a:pPr>
            <a:r>
              <a:rPr sz="1600" b="0">
                <a:solidFill>
                  <a:srgbClr val="222222"/>
                </a:solidFill>
                <a:latin typeface="맑은 고딕"/>
              </a:rPr>
              <a:t>•  재실행하면 RMAN-05537. 5장의 RMAN-05500과 다르며 Standby는 손상되지 않는다.</a:t>
            </a:r>
          </a:p>
          <a:p>
            <a:pPr algn="l">
              <a:spcAft>
                <a:spcPts val="1000"/>
              </a:spcAft>
            </a:pPr>
            <a:r>
              <a:rPr sz="1600" b="0">
                <a:solidFill>
                  <a:srgbClr val="222222"/>
                </a:solidFill>
                <a:latin typeface="맑은 고딕"/>
              </a:rPr>
              <a:t>•  OMF는 mkdir 없이 여덟 개 디렉터리를 만든다. 최상위는 </a:t>
            </a:r>
            <a:r>
              <a:rPr sz="1600" b="0">
                <a:solidFill>
                  <a:srgbClr val="222222"/>
                </a:solidFill>
                <a:latin typeface="Consolas"/>
                <a:cs typeface="Consolas"/>
              </a:rPr>
              <a:t>DB_UNIQUE_NAME</a:t>
            </a:r>
            <a:r>
              <a:rPr sz="1600" b="0">
                <a:solidFill>
                  <a:srgbClr val="222222"/>
                </a:solidFill>
                <a:latin typeface="맑은 고딕"/>
              </a:rPr>
              <a:t>의 대문자.</a:t>
            </a:r>
          </a:p>
          <a:p>
            <a:pPr algn="l">
              <a:spcAft>
                <a:spcPts val="1000"/>
              </a:spcAft>
            </a:pPr>
            <a:r>
              <a:rPr sz="1600" b="0">
                <a:solidFill>
                  <a:srgbClr val="222222"/>
                </a:solidFill>
                <a:latin typeface="맑은 고딕"/>
              </a:rPr>
              <a:t>•  PDB 파일은 PDB의 GUID 디렉터리 아래 놓이며 GUID는 Primary와 Standby가 동일하다.</a:t>
            </a:r>
          </a:p>
          <a:p>
            <a:pPr algn="l">
              <a:spcAft>
                <a:spcPts val="1000"/>
              </a:spcAft>
            </a:pPr>
            <a:r>
              <a:rPr sz="1600" b="0">
                <a:solidFill>
                  <a:srgbClr val="222222"/>
                </a:solidFill>
                <a:latin typeface="맑은 고딕"/>
              </a:rPr>
              <a:t>•  이름 규칙은 </a:t>
            </a:r>
            <a:r>
              <a:rPr sz="1600" b="0">
                <a:solidFill>
                  <a:srgbClr val="222222"/>
                </a:solidFill>
                <a:latin typeface="Consolas"/>
                <a:cs typeface="Consolas"/>
              </a:rPr>
              <a:t>o1_mf_&lt;테이블스페이스&gt;_&lt;유일문자열&gt;_.&lt;확장자&gt;</a:t>
            </a:r>
            <a:r>
              <a:rPr sz="1600" b="0">
                <a:solidFill>
                  <a:srgbClr val="222222"/>
                </a:solidFill>
                <a:latin typeface="맑은 고딕"/>
              </a:rPr>
              <a:t>. 파일 번호는 이름에 없다.</a:t>
            </a:r>
          </a:p>
          <a:p>
            <a:pPr algn="l">
              <a:spcAft>
                <a:spcPts val="1000"/>
              </a:spcAft>
            </a:pPr>
            <a:r>
              <a:rPr sz="1600" b="0">
                <a:solidFill>
                  <a:srgbClr val="222222"/>
                </a:solidFill>
                <a:latin typeface="맑은 고딕"/>
              </a:rPr>
              <a:t>•  FRA가 설정되어 있으면 온라인 로그가 두 곳에 다중화된다. 실측 14행, FRA 1,400MB(9.11퍼센트).</a:t>
            </a:r>
          </a:p>
          <a:p>
            <a:pPr algn="l">
              <a:spcAft>
                <a:spcPts val="1000"/>
              </a:spcAft>
            </a:pPr>
            <a:r>
              <a:rPr sz="1600" b="0">
                <a:solidFill>
                  <a:srgbClr val="222222"/>
                </a:solidFill>
                <a:latin typeface="맑은 고딕"/>
              </a:rPr>
              <a:t>•  컨트롤 파일은 예외다. </a:t>
            </a:r>
            <a:r>
              <a:rPr sz="1600" b="0">
                <a:solidFill>
                  <a:srgbClr val="222222"/>
                </a:solidFill>
                <a:latin typeface="Consolas"/>
                <a:cs typeface="Consolas"/>
              </a:rPr>
              <a:t>CONTROL_FILES</a:t>
            </a:r>
            <a:r>
              <a:rPr sz="1600" b="0">
                <a:solidFill>
                  <a:srgbClr val="222222"/>
                </a:solidFill>
                <a:latin typeface="맑은 고딕"/>
              </a:rPr>
              <a:t>가 상속되어 Standby에 </a:t>
            </a:r>
            <a:r>
              <a:rPr sz="1600" b="0">
                <a:solidFill>
                  <a:srgbClr val="222222"/>
                </a:solidFill>
                <a:latin typeface="Consolas"/>
                <a:cs typeface="Consolas"/>
              </a:rPr>
              <a:t>Chicago</a:t>
            </a:r>
            <a:r>
              <a:rPr sz="1600" b="0">
                <a:solidFill>
                  <a:srgbClr val="222222"/>
                </a:solidFill>
                <a:latin typeface="맑은 고딕"/>
              </a:rPr>
              <a:t>·</a:t>
            </a:r>
            <a:r>
              <a:rPr sz="1600" b="0">
                <a:solidFill>
                  <a:srgbClr val="222222"/>
                </a:solidFill>
                <a:latin typeface="Consolas"/>
                <a:cs typeface="Consolas"/>
              </a:rPr>
              <a:t>CHICAGO</a:t>
            </a:r>
            <a:r>
              <a:rPr sz="1600" b="0">
                <a:solidFill>
                  <a:srgbClr val="222222"/>
                </a:solidFill>
                <a:latin typeface="맑은 고딕"/>
              </a:rPr>
              <a:t>가 생긴다.</a:t>
            </a:r>
          </a:p>
          <a:p>
            <a:pPr algn="l">
              <a:spcAft>
                <a:spcPts val="1000"/>
              </a:spcAft>
            </a:pPr>
            <a:r>
              <a:rPr sz="1600" b="0">
                <a:solidFill>
                  <a:srgbClr val="222222"/>
                </a:solidFill>
                <a:latin typeface="맑은 고딕"/>
              </a:rPr>
              <a:t>•  교정 순서는 SCOPE=SPFILE 변경 → 종료 → </a:t>
            </a:r>
            <a:r>
              <a:rPr sz="1600" b="0">
                <a:solidFill>
                  <a:srgbClr val="222222"/>
                </a:solidFill>
                <a:latin typeface="Consolas"/>
                <a:cs typeface="Consolas"/>
              </a:rPr>
              <a:t>mv</a:t>
            </a:r>
            <a:r>
              <a:rPr sz="1600" b="0">
                <a:solidFill>
                  <a:srgbClr val="222222"/>
                </a:solidFill>
                <a:latin typeface="맑은 고딕"/>
              </a:rPr>
              <a:t> → 기동. 어기면 ORA-00205.</a:t>
            </a:r>
          </a:p>
          <a:p>
            <a:pPr algn="l">
              <a:spcAft>
                <a:spcPts val="1000"/>
              </a:spcAft>
            </a:pPr>
            <a:r>
              <a:rPr sz="1600" b="0">
                <a:solidFill>
                  <a:srgbClr val="222222"/>
                </a:solidFill>
                <a:latin typeface="맑은 고딕"/>
              </a:rPr>
              <a:t>•  가이드의 </a:t>
            </a:r>
            <a:r>
              <a:rPr sz="1600" b="0">
                <a:solidFill>
                  <a:srgbClr val="222222"/>
                </a:solidFill>
                <a:latin typeface="Consolas"/>
                <a:cs typeface="Consolas"/>
              </a:rPr>
              <a:t>create spfile from pfile</a:t>
            </a:r>
            <a:r>
              <a:rPr sz="1600" b="0">
                <a:solidFill>
                  <a:srgbClr val="222222"/>
                </a:solidFill>
                <a:latin typeface="맑은 고딕"/>
              </a:rPr>
              <a:t>은 ORA-32002로 막힌다. 성공했다면 구성이 해체됐을 것이다.</a:t>
            </a:r>
          </a:p>
          <a:p>
            <a:pPr algn="l">
              <a:spcAft>
                <a:spcPts val="1000"/>
              </a:spcAft>
            </a:pPr>
            <a:r>
              <a:rPr sz="1600" b="0">
                <a:solidFill>
                  <a:srgbClr val="222222"/>
                </a:solidFill>
                <a:latin typeface="맑은 고딕"/>
              </a:rPr>
              <a:t>•  두 방식의 결과물은 내용상 동일하다. 파일 11개, 번호, 크기까지 같다.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0584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91440"/>
            <a:ext cx="10972800" cy="777240"/>
          </a:xfrm>
          <a:prstGeom prst="rect">
            <a:avLst/>
          </a:prstGeom>
          <a:noFill/>
        </p:spPr>
        <p:txBody>
          <a:bodyPr wrap="square">
            <a:spAutoFit/>
          </a:bodyPr>
          <a:lstStyle/>
          <a:p>
            <a:pPr algn="l">
              <a:spcAft>
                <a:spcPts val="600"/>
              </a:spcAft>
            </a:pPr>
            <a:r>
              <a:rPr sz="2600" b="1">
                <a:solidFill>
                  <a:srgbClr val="FFFFFF"/>
                </a:solidFill>
                <a:latin typeface="맑은 고딕"/>
              </a:rPr>
              <a:t>실습 개요 (Practice Overview)</a:t>
            </a:r>
          </a:p>
        </p:txBody>
      </p:sp>
      <p:sp>
        <p:nvSpPr>
          <p:cNvPr id="4" name="TextBox 3"/>
          <p:cNvSpPr txBox="1"/>
          <p:nvPr/>
        </p:nvSpPr>
        <p:spPr>
          <a:xfrm>
            <a:off x="640080" y="1371600"/>
            <a:ext cx="10881360" cy="5120640"/>
          </a:xfrm>
          <a:prstGeom prst="rect">
            <a:avLst/>
          </a:prstGeom>
          <a:noFill/>
        </p:spPr>
        <p:txBody>
          <a:bodyPr wrap="square">
            <a:spAutoFit/>
          </a:bodyPr>
          <a:lstStyle/>
          <a:p>
            <a:pPr algn="l">
              <a:spcAft>
                <a:spcPts val="1000"/>
              </a:spcAft>
            </a:pPr>
            <a:r>
              <a:rPr sz="1600" b="0">
                <a:solidFill>
                  <a:srgbClr val="222222"/>
                </a:solidFill>
                <a:latin typeface="맑은 고딕"/>
              </a:rPr>
              <a:t>•  실습 01 — OMF 파라미터와 기준 상태: 세 파라미터를 확인하고 5장 구성을 기록한다. ORA-02097을 재현한다.</a:t>
            </a:r>
          </a:p>
          <a:p>
            <a:pPr algn="l">
              <a:spcAft>
                <a:spcPts val="1000"/>
              </a:spcAft>
            </a:pPr>
            <a:r>
              <a:rPr sz="1600" b="0">
                <a:solidFill>
                  <a:srgbClr val="222222"/>
                </a:solidFill>
                <a:latin typeface="맑은 고딕"/>
              </a:rPr>
              <a:t>•  실습 02 — 없는 디렉터리 실패 재현: ORA-01261 계열과 RMAN-06403을 확인하고 5장과 대조한다.</a:t>
            </a:r>
          </a:p>
          <a:p>
            <a:pPr algn="l">
              <a:spcAft>
                <a:spcPts val="1000"/>
              </a:spcAft>
            </a:pPr>
            <a:r>
              <a:rPr sz="1600" b="0">
                <a:solidFill>
                  <a:srgbClr val="222222"/>
                </a:solidFill>
                <a:latin typeface="맑은 고딕"/>
              </a:rPr>
              <a:t>•  실습 03 — 파라미터 누락 실패 재현: RMAN-05538·RMAN-05001을 5장 결과와 글자 단위로 비교한다.</a:t>
            </a:r>
          </a:p>
          <a:p>
            <a:pPr algn="l">
              <a:spcAft>
                <a:spcPts val="1000"/>
              </a:spcAft>
            </a:pPr>
            <a:r>
              <a:rPr sz="1600" b="0">
                <a:solidFill>
                  <a:srgbClr val="222222"/>
                </a:solidFill>
                <a:latin typeface="맑은 고딕"/>
              </a:rPr>
              <a:t>•  실습 04 — OMF DUPLICATE 실행: 390줄 로그를 읽고 재실행 시 RMAN-05537을 확인한다.</a:t>
            </a:r>
          </a:p>
          <a:p>
            <a:pPr algn="l">
              <a:spcAft>
                <a:spcPts val="1000"/>
              </a:spcAft>
            </a:pPr>
            <a:r>
              <a:rPr sz="1600" b="0">
                <a:solidFill>
                  <a:srgbClr val="222222"/>
                </a:solidFill>
                <a:latin typeface="맑은 고딕"/>
              </a:rPr>
              <a:t>•  실습 05 — OMF 구조 해부: 디렉터리·GUID·이름 규칙·로그 이중화를 확인하고 ORA-16000·ORA-02236을 재현한다.</a:t>
            </a:r>
          </a:p>
          <a:p>
            <a:pPr algn="l">
              <a:spcAft>
                <a:spcPts val="1000"/>
              </a:spcAft>
            </a:pPr>
            <a:r>
              <a:rPr sz="1600" b="0">
                <a:solidFill>
                  <a:srgbClr val="222222"/>
                </a:solidFill>
                <a:latin typeface="맑은 고딕"/>
              </a:rPr>
              <a:t>•  실습 06 — 컨트롤 파일 교정: 상속된 값을 BOSTON 경로로 옮기고 ORA-00205를 재현한다.</a:t>
            </a:r>
          </a:p>
          <a:p>
            <a:pPr algn="l">
              <a:spcAft>
                <a:spcPts val="1000"/>
              </a:spcAft>
            </a:pPr>
            <a:r>
              <a:rPr sz="1600" b="0">
                <a:solidFill>
                  <a:srgbClr val="222222"/>
                </a:solidFill>
                <a:latin typeface="맑은 고딕"/>
              </a:rPr>
              <a:t>•  실습 07 — 두 방식 비교와 ADG 검증: 열두 항목을 대조하고 기준 상태 복귀를 확인한다.</a:t>
            </a:r>
          </a:p>
          <a:p>
            <a:pPr algn="l">
              <a:spcAft>
                <a:spcPts val="1000"/>
              </a:spcAft>
            </a:pPr>
            <a:r>
              <a:rPr sz="1600" b="0">
                <a:solidFill>
                  <a:srgbClr val="222222"/>
                </a:solidFill>
                <a:latin typeface="맑은 고딕"/>
              </a:rPr>
              <a:t>•  실습 02·03·04는 Standby를 실제로 헌다. 개인 실습 환경에서만, VM 스냅샷을 뜬 뒤 수행한다.</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
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Broker의 SHOW CONFIGURATION에 경고가 뜨면 많은 분들이 Broker 경고 번호로 검색부터 합니다. 그런데 그 번호는 대개 "Standby가 리두 소스와 오래 끊겨 있다" 같은 증상 설명입니다. 리스너가 내려갔는지, 비밀번호 파일이 어긋났는지는 Primary의 V$ARCHIVE_DEST ERROR 열에 ORA- 번호로 남아 있습니다. 또 하나, Broker 프로세스나 관측자가 멈추면 Broker 화면은 오래된 상태를 보여 줄 수 있습니다. 인스턴스가 떠 있는 한 V$ 뷰는 지금 값을 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Guard 정보는 한곳에 모여 있지 않습니다. 목적지별 전송 결과와 응답 시간은 Primary에만 쌓이고, 수신 프로세스, 갭, 지연 지표, 적용 속도는 Standby에서만 의미 있는 값이 나옵니다. V$ARCHIVED_LOG만 해도 Primary에서는 목적지별 전송 기록, Standby에서는 수신과 적용 기록입니다. 한쪽만 보고 판단하면 절반만 보고 결론을 내리는 셈이라, 진단 쿼리는 처음부터 두 터미널을 열어 놓고 같은 시각에 돌리는 습관을 들이는 편이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문제를 좁혀 가는 과정을 층으로 나누면 어디까지 내려가야 하는지 판단이 쉬워집니다. 리스너 미기동, 서비스 이름 오타, 인증 실패처럼 원인이 분명한 장애는 ERROR 열의 ORA- 번호 하나로 끝납니다. 트레이스까지 내려가는 경우는 오류 메시지가 없는데 간헐적으로 전송이 지연되거나, 재현하기 어려운 연결 끊김이 있을 때입니다. 처음부터 트레이스를 켜는 것은 시간과 디스크를 낭비하는 일이 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PROTECTION_MODE와 PROTECTION_LEVEL의 차이가 가장 쓸모 있는 부분입니다. Maximum Availability로 설정해 두었더라도 SYNC Standby와의 동기화가 깨지면 PROTECTION_LEVEL이 RESYNCHRONIZATION으로 떨어집니다. 설정은 그대로라 파라미터만 보면 아무 문제가 없어 보입니다. 두 열을 비교해서 다르면 설정만큼 보호받지 못하는 상태입니다. FORCE_LOGGING도 같이 보는 이유는, 누군가 NO로 바꾸면 NOLOGGING 작업의 변경이 Standby에 전달되지 않기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쪽 뷰는 모두 "보내는 일"과 관련됩니다. 이 가운데 V$ARCHIVE_DEST_STATUS는 Primary에 접속한 채로 Standby의 적용 상태와 갭 상태를 보여 준다는 점에서 특히 쓸모가 있습니다. Standby 서버에 접속할 권한이 없는 운영자도 적용이 멈췄는지를 여기서 확인할 수 있습니다. 응답 시간 히스토그램은 SYNC 목적지에만 의미가 있으니 ASYNC 구성에서는 비어 있어도 이상하지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 쪽 점검은 프로세스부터 봅니다. managed recovery 역할이 없다면 다른 지표는 볼 필요도 없이 적용이 멈춘 상태입니다. 그다음 SRL이 리두를 받고 있는지, 갭이 있는지, 얼마나 늦었는지 순서로 내려갑니다. Far Sync는 받아서 넘기기만 하므로 수신 쪽 뷰와 목적지 쪽 뷰를 함께 보고, 적용 관련 뷰는 비어 있습니다. Logical Standby는 적용 관련 뷰가 완전히 다른 계열이라 15.9절에서 따로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rows selected를 보고 정상이라고 판단했다가 실은 엉뚱한 쪽에서 조회했던 경우가 꽤 많습니다. 갭 뷰를 Primary에서 보면 언제나 비어 있고, 지연 지표도 Standby가 받은 정보로 계산하므로 Primary에서는 채워지지 않습니다. 또 물리 Standby는 대개 마운트 상태라 DBA_ 계열 딕셔너리 뷰를 조회할 수 없습니다. V$ 뷰는 제어 파일과 메모리에서 오기 때문에 마운트 상태에서도 동작하고, 그래서 점검 스크립트는 V$ 뷰만으로 짜야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값 가운데 실무에서 자주 만나는 것은 ERROR와 DEFERRED입니다. DEFERRED는 누군가 LOG_ARCHIVE_DEST_STATE_n을 DEFER로 바꿔 놓은 상태인데, 유지 보수 때 꺼 두고 다시 켜는 것을 잊는 경우가 흔합니다. 이때는 오류도 경보도 없이 전송만 멈춥니다. BAD PARAM은 파라미터 문자열을 해석하지 못한 상태라 속성 철자부터 봅니다. 31개 행이 모두 나오니 조회할 때는 원격 목적지만 걸러 보는 편이 읽기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교재도 Standby가 리두를 받지 못하면 V$ARCHIVE_DEST의 ERROR 열을 먼저 보라고 합니다. 여기서 많이 당황하는 지점이 재시도 대기입니다. 리스너를 다시 올렸는데도 STATUS가 몇 분째 ERROR로 남아 있으면, 고친 게 안 먹혔다고 생각하고 다른 설정을 건드리기 시작합니다. 실패한 목적지는 REOPEN_SECS가 지나야 다시 시도합니다. 기다리거나, 목적지 상태를 ENABLE로 다시 설정해 재시도를 앞당기면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VALID_FOR 속성의 두 값이 VALID_TYPE과 VALID_ROLE로 보이고, VALID_NOW가 지금 그 설정이 쓰이는지를 판정합니다. WRONG VALID_ROLE은 오류처럼 보이지만 역할 전환에 대비해 미리 넣어 둔 목적지라면 당연한 값입니다. 반면 WRONG VALID_TYPE은 대개 설정 누락이고, STANDBY_LOGFILES용 목적지를 정의했는데 SRL이 없는 경우가 전형적입니다. Standby에서 원격 목적지가 WRONG VALID_ROLE로, 로컬 목적지가 YES로 보이면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이름이 V$ARCHIVE_DEST와 비슷해서 같은 뷰의 다른 버전쯤으로 여기기 쉬운데, 관점이 다릅니다. 앞의 뷰가 내 설정과 내 전송을 보여 준다면 이 뷰는 목적지에 있는 데이터베이스의 상태를 보여 줍니다. RECOVERY_MODE가 IDLE이면 Standby에 접속하지 않고도 적용 중지를 알 수 있습니다. APPLIED_SEQ#가 Primary의 현재 순번보다 한두 개 뒤인 것은 정상입니다. 실시간 적용 중인 현재 로그는 아직 아카이브되지 않았기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실시간 전송이 흐르고 있다면 쓰레드마다 ACTIVE인 SRL이 하나 있고, 그 SEQUENCE#가 Primary의 현재 순번과 같습니다. 모든 SRL이 UNASSIGNED에 머물러 있는데 아카이브 로그만 늘어난다면 리두가 SRL을 건너뛰고 있다는 신호이고, SRL 크기가 Primary 온라인 로그보다 작은 경우가 가장 흔한 원인입니다. ARCHIVED 열은 직관과 다른 조합이 있어서 STATUS 없이 단독으로 읽으면 틀리기 쉽습니다. 교재의 조합표를 함께 보면서 해석합니다.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 전송에서는 Primary의 커밋이 Standby 응답을 기다리므로, 응답이 가끔 몇 초씩 늦어지면 그 순간 Primary 업무 전체가 멈칫합니다. 평균값에는 이런 꼬리가 묻혀 버립니다. 이 히스토그램은 응답 시간을 초 단위 구간으로 나눠 횟수를 쌓기 때문에 꼬리가 보입니다. NET_TIMEOUT을 너무 짧게 잡으면 일시적 지연에도 목적지가 끊기고, 너무 길게 잡으면 Standby가 응답하지 않을 때 Primary가 그만큼 기다립니다. 분포를 보고 그 사이에서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Standby에서 이 뷰 하나로 수신과 적용이 모두 보입니다. managed recovery 행이 있으면 적용이 기동된 것이고, ACTION을 보면 지금 무엇을 하는지 알 수 있습니다. WAIT_FOR_GAP이면 갭 진단으로, WAIT_FOR_LOG가 오래 지속되면 공급 쪽을 봅니다. 공식 교재는 recovery logmerger 행의 SEQUENCE#로 적용 위치를 보는 예를 듭니다. RFS async의 순번과 같거나 한 단계 뒤라면 수신과 적용이 나란히 가고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오래된 점검 스크립트는 APPLIED='YES'인 최대 순번으로 적용 위치를 판단합니다. 그런데 실시간 적용에서는 지금 적용 중인 리두가 SRL에 있고, 아카이브되기 전까지 이 뷰에 행이 생기지 않으니 늘 한두 순번 뒤처져 보입니다. 반대로 몇 시간째 값이 그대로여도 리두 생성이 적어 로그 전환이 없었던 것일 수 있습니다. 적용 상태는 ACTION과 apply lag로 함께 판단하고, 이 열은 보조 근거로만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물리 Standby의 Redo Apply는 끝나지 않는 미디어 복구라서 미디어 복구 통계 뷰로 적용 성능을 잴 수 있습니다. Average Apply Rate는 기다린 시간까지 포함하므로 리두가 적은 구성에서는 낮게 나옵니다. 낮다고 걱정할 값이 아닙니다. 판단은 Active Apply Rate를 배치 시간대 Primary의 리두 생성량과 비교해서 합니다. 적용 속도는 충분한데 Last Applied Redo의 시각만 뒤처진다면 처리 능력보다는 전송이나 갭 쪽을 의심합니다.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V$DATAGUARD_STATS의 apply lag는 조회한 순간의 값 하나라서, 새벽 3시에 10분 밀렸다가 아침에 회복된 일은 알려 주지 않습니다. 이 히스토그램은 지연 크기별로 횟수를 쌓고 마지막으로 기록된 시각까지 남겨 줍니다. 긴 구간의 시각을 Primary 배치 일정이나 네트워크 작업과 맞춰 보면 원인 후보가 금방 줄어듭니다. 실시간 조회 세션의 허용 지연을 정할 때도 이 분포가 근거 자료가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서버에 들어가 경고 로그 파일을 열지 않고도 최근 Data Guard 사건을 시간순으로 따라갈 수 있는 뷰입니다. 주의할 것은 두 가지입니다. 첫째, 적용을 일부러 멈췄을 때 남는 ORA-16037처럼 의도된 동작도 오류 코드가 붙어 기록되므로 코드만 보고 장애로 판정하면 안 됩니다. 둘째, 인스턴스 메모리에 있어서 재기동하면 비워지고 오래된 메시지는 밀려납니다. 지난 사고를 분석할 때는 경고 로그로 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지표의 정의는 7장에서 봤으니 여기서는 진단에 쓰는 방법만 정리합니다. 두 lag를 함께 보면 구간이 좁혀집니다. 가장 위험한 착각은 연결이 끊긴 동안 마지막으로 계산된 0초가 그대로 남아 정상처럼 보이는 경우입니다. DATUM_TIME이 현재 시각에서 멀어져 있으면 값 자체를 믿지 않습니다. 그리고 lag 계산도, 여러 뷰의 사건 대조도 모두 시각에 기대므로 두 서버 시계가 어긋나 있으면 진단 전체가 틀어집니다.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문제 유형은 리두가 오지 않는 전송 문제, 왔는데 반영되지 않는 적용 문제, 중간 로그가 빠진 갭 문제로 나뉩니다. 처음 1분 안에 볼 것은 Standby의 두 lag와 V$DATAGUARD_PROCESS 목록입니다. 이것만으로 어느 갈래인지 대부분 정해지고, 그다음 볼 뷰가 달라집니다. 갈래를 정하지 않고 아는 뷰를 모두 조회하기 시작하면 정보는 많아지는데 결론은 늦어집니다. Maximum Availability 구성이라면 PROTECTION_LEVEL도 첫 관찰 항목에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교재가 꼽는 전송 실패 원인 목록입니다. 대부분은 ERROR 열의 번호로 연결되지만, 목적지 상태를 DEFER로 둔 경우나 파라미터를 고쳐 놓고 적용하지 않은 경우는 오류가 나지 않아서 목록을 하나씩 확인해야 합니다. 인증 문제는 연결 자체는 성공하고 로그인 단계에서 거부되므로 네트워크 점검만으로는 찾을 수 없습니다. Standby의 비밀번호 파일을 Primary에서 다시 복사하는 것이 일반적인 해결책입니다.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적용 문제는 세 모양으로 나타납니다. 프로세스가 아예 없으면 누가 멈췄거나 오류로 멈춘 것이고, 데이터 파일 생성 실패나 블록 손상이 오류 정지의 흔한 원인입니다. 프로세스는 있는데 계속 기다리기만 한다면 적용 능력보다 리두 공급 쪽을 볼 차례이고, RECOVERY_MODE로 실시간 적용 여부를 확인합니다. 계속 바쁘게 적용하는데도 lag가 줄지 않는다면 그때 Standby의 CPU와 I/O를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적용은 로그 순서를 건너뛸 수 없어서 하나라도 빠지면 그 앞에서 멈춥니다. Standby의 V$ARCHIVE_GAP으로 범위를 보고, Primary의 GAP_STATUS로 자동 해소가 가능한 상태인지 판단합니다. RESOLVABLE이면 FAL과 ping이 채워 주기를 기다리면 되고, Fetch Archive Log 메시지로 진행을 확인합니다. 빠진 로그가 Primary에서 이미 지워졌다면 백업에서 복원해 등록하거나, 19c에서는 서비스를 통해 Standby를 앞으로 굴리는 방법을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연결과 인증 계열은 Primary의 ERROR 열에 거의 그대로 들어옵니다. 12541과 12514는 Oracle Net 오류라서 3장에서 다룬 리스너와 정적 등록을 다시 확인하면 됩니다. 인증 실패는 Primary에서 16191로, Standby에서는 접속 거부 메시지로 나타나서 같은 사건이 양쪽에 다른 모양으로 남습니다. 16047과 16012는 보내는 대상이 기대한 데이터베이스가 아닐 때 나옵니다. 복제 환경을 여러 개 운영할 때 서비스 이름이 섞이는 경우를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묶음은 경고 로그에서 주로 만납니다. 16198이 자주 보이면 응답 시간 히스토그램을 함께 보고 NET_TIMEOUT 값을 재검토합니다. 16086은 SRL 개수가 부족하거나 크기가 맞지 않을 때 나오며 실시간 전송이 깨지는 원인이 됩니다. 16401과 16037은 처음 보면 놀라지만 대부분 정상 동작의 흔적입니다. Broker 구성에서는 이 오류들이 Broker 경고로 한 번 더 감싸여 보이므로 감싸인 원래 번호를 찾아 들어가는 편이 빠릅니다.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 열은 마지막 오류 하나만 보여 주고, V$DATAGUARD_STATUS는 최근 것만 메모리에 들고 있습니다. 사건의 전후 흐름을 보려면 경고 로그를 열어야 합니다. 이때 요령은 시각을 기준으로 양쪽을 맞추는 것입니다. Primary에서 전송 실패가 찍힌 시각 앞뒤로 Standby 경고 로그에 RFS 연결이나 거부 기록이 있는지 찾습니다. 서버 접속이 막혀 있다면 V$DIAG_ALERT_EXT로 경고 로그 내용을 SQL로 조회할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수준 표를 외울 필요는 없고, 비트를 더하는 구조라는 것과 의심 구간에 맞는 비트를 고른다는 원칙만 알면 됩니다. 전송 문제라면 Primary에서 목적지 관련 수준과 512 네트워크 활동을, Standby에서 1024 RFS를 고르는 식입니다. 갭이 반복되면 FAL 128과 ping 2048을 더합니다. 512의 설명에 LGWR이라는 이름이 남아 있지만 19c 비동기 전송은 TT 프로세스가 맡고 있어서, 전송 네트워크 활동 정도로 이해하면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바꾸면 다음 아카이브 작업부터 반영되므로, 재현하려면 로그 전환을 한 번 일으키는 편이 빠릅니다. SCOPE를 BOTH로 켰다면 끌 때도 BOTH로 해야 SPFILE에 진단 설정이 남지 않습니다. 트레이스 파일 이름에는 rfs, tt00 같은 프로세스 이름이 들어가므로 시각으로 범위를 좁힌 뒤 해당 프로세스 파일만 엽니다. Broker 구성이라면 이 파라미터도 Broker가 관리하므로 DGMGRL 쪽에서 바꿔 설정이 어긋나지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큰 값으로 켜 두면 리두 생성이 많은 시스템에서는 트레이스가 순식간에 불어납니다. 문제는 대개 끄는 것을 잊는 데서 생깁니다. 몇 주 뒤 진단 디렉터리가 가득 차서 다른 장애로 번지는 일이 실제로 흔합니다. 켤 때 끄는 시각까지 작업 계획에 적어 두는 습관이 필요합니다. 오라클 지원에 트레이스를 보낼 때는 같은 시간대의 양쪽 경고 로그를 함께 보내야 전후 맥락을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장애가 난 뒤 손으로 조회하는 쿼리와 주기적으로 도는 점검 쿼리는 쓰는 뷰가 같아도 설계가 다릅니다. 점검 스크립트는 표를 출력하는 대신 COUNT나 초 단위 숫자를 뽑아 기대값과 비교해야 합니다. 역할 판정을 맨 앞에 두는 이유는 역할 전환 뒤에도 같은 스크립트가 그대로 돌게 하기 위해서입니다. 물리 Standby는 마운트 상태라 DBA_ 뷰에 기대면 스크립트가 오류로 끝나고, 그 오류가 점검 실패인지 장애인지 구분하기도 어렵습니다.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쪽 항목은 모두 기대값이 분명해서 판정 규칙으로 옮기기 쉽습니다. 오류 메시지는 반드시 마지막 점검 시각 이후 행만 셉니다. 그렇지 않으면 지난주 유지 보수 때 일부러 멈춘 적용의 흔적이 매번 경보로 다시 울립니다. GAP_STATUS는 로그 전환 직후 잠깐 LOG SWITCH GAP이 보일 수 있으니, 한 번 보이면 주의, 연속으로 보이면 경보처럼 단계를 두면 오경보가 줄어듭니다.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lag 값은 '+00 00:00:02' 같은 문자열이라 TO_DSINTERVAL로 바꾼 뒤 초로 환산해야 기준과 비교할 수 있습니다. 값이 비어 있으면 결과가 NULL이 되는데, 이것을 0으로 처리하면 안 되고 지표 없음이라는 별도 경보로 다뤄야 합니다. managed recovery 행이 0이면 lag와 상관없이 즉시 경보를 냅니다. 적용이 멈춘 직후에는 lag가 아직 작아서 lag만 보는 스크립트는 한동안 아무것도 잡지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임계값을 몇 초로 할지는 기술이 아니라 업무가 정합니다. 장애 때 잃어도 되는 데이터 범위가 transport lag 기준이 되고, 복구에 허용되는 시간이 apply lag와 apply finish time 기준이 됩니다. 양쪽 점검을 같은 시각에 돌려 한곳에 모으면 Primary의 ERROR와 같은 시각 Standby의 상태를 나란히 대조할 수 있습니다. Broker의 ApplyLagThreshold 같은 속성도 함께 쓰되, Broker가 멈춘 상황을 대비해 SQL 점검은 따로 유지합니다.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Logical Standby로 바꾸고 기존 점검 스크립트를 그대로 돌리면 갭 0건, 오류 0건으로 모두 정상이라고 나옵니다. 실제로는 해당 뷰들이 Logical Standby에서 쓰이지 않아 비어 있는 것입니다. Primary에서 받은 로그는 Logical Standby 입장에서 남의 로그라서 V$ARCHIVED_LOG 대신 DBA_LOGSTDBY_LOG에 등록됩니다. 다행히 전송 쪽은 그대로라 Primary의 목적지 뷰와 Standby의 RFS는 지금까지 본 방식으로 읽으면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Logical Standby는 로그 순번보다 SCN과 시각으로 진행을 봅니다. STATE 한 단어로 지금 무엇을 하는지 알 수 있는데, SQL APPLY NOT ON이면 적용이 꺼진 상태입니다. 진행 뷰에서 LATEST_SCN은 받은 리두의 끝, APPLIED_SCN은 적용이 끝난 지점이라 두 값의 움직임을 보면 수신 문제인지 적용 문제인지가 갈립니다. LATEST_TIME과 APPLIED_TIME의 차이가 Logical Standby의 적용 지연을 가늠하는 기본 지표입니다.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뷰의 트랜잭션 ID는 Primary에서 붙은 ID라서 Logical Standby의 V$TRANSACTION과 연결되지 않습니다. 공식 교재가 따로 짚는 부분입니다. 적용이 느려졌을 때 이 뷰에 오래 머무는 트랜잭션이 있다면 그것이 원인일 가능성이 큽니다. Primary에서 한 문장으로 수백만 행을 바꾼 일괄 갱신은 Logical Standby에서 행 단위 SQL로 풀려 실행되므로 훨씬 오래 걸립니다. PRIMARY_XID로 Primary 쪽 작업을 찾아 업무 단위로 추적합니다.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Apply는 실패한 문장을 만나면 멈추고, 그 문장과 오류를 이 뷰에 남깁니다. 데이터 파일 경로가 없어 DDL이 실패한 경우처럼 원인을 고친 뒤 해당 작업을 Standby에서 직접 수행했다면, 실패 트랜잭션을 건너뛰고 적용을 재개합니다. 건너뛰기는 편리하지만 그 트랜잭션의 결과를 사람이 대신 맞췄다는 선언이라, 무엇을 건너뛰고 어떻게 보정했는지 기록을 남겨야 합니다. 같은 유형이 반복되면 12장에서 본 SKIP 규칙을 검토합니다.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 전환 뒤에는 같은 서버, 같은 쿼리가 완전히 다른 의미의 값을 냅니다. 어제까지 Primary였던 서버에서 V$ARCHIVE_DEST를 조회하는 습관이 남아 있으면 엉뚱한 결론을 내립니다. 또 ERROR 열이나 이력 뷰에는 이미 해결된 오류가 남아 있는 경우가 많아서, 시각을 보지 않고 번호만 보면 지나간 사건을 붙잡고 시간을 씁니다. 사고 분석에 필요한 메시지는 재기동하면 사라지므로 경고 로그나 점검 결과 테이블에 남겨 둡니다.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V$ 뷰 기반 모니터링과 문제 해결</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요약 너머의 숫자와 ORA- 번호를 읽는다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제15장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SQL로 Data Guard를 감시하는 이유를 설명한다</a:t>
            </a:r>
          </a:p>
          <a:p>
            <a:pPr algn="l">
              <a:spcAft>
                <a:spcPts val="1000"/>
              </a:spcAft>
            </a:pPr>
            <a:r>
              <a:rPr sz="1600" b="0">
                <a:solidFill>
                  <a:srgbClr val="222222"/>
                </a:solidFill>
                <a:latin typeface="맑은 고딕"/>
              </a:rPr>
              <a:t>•  역할별로 볼 V$ 뷰를 구분한다</a:t>
            </a:r>
          </a:p>
          <a:p>
            <a:pPr algn="l">
              <a:spcAft>
                <a:spcPts val="1000"/>
              </a:spcAft>
            </a:pPr>
            <a:r>
              <a:rPr sz="1600" b="0">
                <a:solidFill>
                  <a:srgbClr val="222222"/>
                </a:solidFill>
                <a:latin typeface="맑은 고딕"/>
              </a:rPr>
              <a:t>•  전송 경로와 적용 경로의 상태를 판정한다</a:t>
            </a:r>
          </a:p>
          <a:p>
            <a:pPr algn="l">
              <a:spcAft>
                <a:spcPts val="1000"/>
              </a:spcAft>
            </a:pPr>
            <a:r>
              <a:rPr sz="1600" b="0">
                <a:solidFill>
                  <a:srgbClr val="222222"/>
                </a:solidFill>
                <a:latin typeface="맑은 고딕"/>
              </a:rPr>
              <a:t>•  전송·적용·갭 문제를 증상에서 원인으로 좁힌다</a:t>
            </a:r>
          </a:p>
          <a:p>
            <a:pPr algn="l">
              <a:spcAft>
                <a:spcPts val="1000"/>
              </a:spcAft>
            </a:pPr>
            <a:r>
              <a:rPr sz="1600" b="0">
                <a:solidFill>
                  <a:srgbClr val="222222"/>
                </a:solidFill>
                <a:latin typeface="맑은 고딕"/>
              </a:rPr>
              <a:t>•  ORA- 오류 위치와 LOG_ARCHIVE_TRACE를 활용한다</a:t>
            </a:r>
          </a:p>
          <a:p>
            <a:pPr algn="l">
              <a:spcAft>
                <a:spcPts val="1000"/>
              </a:spcAft>
            </a:pPr>
            <a:r>
              <a:rPr sz="1600" b="0">
                <a:solidFill>
                  <a:srgbClr val="222222"/>
                </a:solidFill>
                <a:latin typeface="맑은 고딕"/>
              </a:rPr>
              <a:t>•  상시 점검 스크립트와 Logical Standby 감시를 설계한다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15.2  SQL로 Data Guard를 감시하는 이유</a:t>
            </a:r>
          </a:p>
          <a:p>
            <a:pPr algn="l">
              <a:spcAft>
                <a:spcPts val="1000"/>
              </a:spcAft>
            </a:pPr>
            <a:r>
              <a:rPr sz="1600" b="0">
                <a:solidFill>
                  <a:srgbClr val="222222"/>
                </a:solidFill>
                <a:latin typeface="맑은 고딕"/>
              </a:rPr>
              <a:t>•  15.3  역할별 뷰 지도</a:t>
            </a:r>
          </a:p>
          <a:p>
            <a:pPr algn="l">
              <a:spcAft>
                <a:spcPts val="1000"/>
              </a:spcAft>
            </a:pPr>
            <a:r>
              <a:rPr sz="1600" b="0">
                <a:solidFill>
                  <a:srgbClr val="222222"/>
                </a:solidFill>
                <a:latin typeface="맑은 고딕"/>
              </a:rPr>
              <a:t>•  15.4  전송 경로를 읽는 뷰  /  15.5  적용 경로를 읽는 뷰</a:t>
            </a:r>
          </a:p>
          <a:p>
            <a:pPr algn="l">
              <a:spcAft>
                <a:spcPts val="1000"/>
              </a:spcAft>
            </a:pPr>
            <a:r>
              <a:rPr sz="1600" b="0">
                <a:solidFill>
                  <a:srgbClr val="222222"/>
                </a:solidFill>
                <a:latin typeface="맑은 고딕"/>
              </a:rPr>
              <a:t>•  15.6  증상에서 원인으로 좁히는 진단 순서</a:t>
            </a:r>
          </a:p>
          <a:p>
            <a:pPr algn="l">
              <a:spcAft>
                <a:spcPts val="1000"/>
              </a:spcAft>
            </a:pPr>
            <a:r>
              <a:rPr sz="1600" b="0">
                <a:solidFill>
                  <a:srgbClr val="222222"/>
                </a:solidFill>
                <a:latin typeface="맑은 고딕"/>
              </a:rPr>
              <a:t>•  15.7  경고 로그와 LOG_ARCHIVE_TRACE  /  15.8  상시 점검 스크립트 설계</a:t>
            </a:r>
          </a:p>
          <a:p>
            <a:pPr algn="l">
              <a:spcAft>
                <a:spcPts val="1000"/>
              </a:spcAft>
            </a:pPr>
            <a:r>
              <a:rPr sz="1600" b="0">
                <a:solidFill>
                  <a:srgbClr val="222222"/>
                </a:solidFill>
                <a:latin typeface="맑은 고딕"/>
              </a:rPr>
              <a:t>•  15.9  Logical Standby 모니터링  /  15.10  운영 시 주의점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SQL로 Data Guard를 감시하는 이유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Broker는 요약, 원인은 V$ 뷰에</a:t>
            </a:r>
          </a:p>
          <a:p>
            <a:pPr algn="l">
              <a:spcAft>
                <a:spcPts val="800"/>
              </a:spcAft>
            </a:pPr>
            <a:r>
              <a:rPr sz="1600" b="0">
                <a:solidFill>
                  <a:srgbClr val="FFFFFF"/>
                </a:solidFill>
                <a:latin typeface="맑은 고딕"/>
              </a:rPr>
              <a:t>•  정보는 역할마다 나뉘어 있다</a:t>
            </a:r>
          </a:p>
          <a:p>
            <a:pPr algn="l">
              <a:spcAft>
                <a:spcPts val="800"/>
              </a:spcAft>
            </a:pPr>
            <a:r>
              <a:rPr sz="1600" b="0">
                <a:solidFill>
                  <a:srgbClr val="FFFFFF"/>
                </a:solidFill>
                <a:latin typeface="맑은 고딕"/>
              </a:rPr>
              <a:t>•  증상, 위치, 원인, 과정의 네 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요약과 V$ 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경고 코드는 증상, ORA- 번호는 원인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Broker 판정은 V$ 뷰와 경고 로그를 묶은 결과</a:t>
            </a:r>
          </a:p>
          <a:p>
            <a:pPr algn="l">
              <a:spcAft>
                <a:spcPts val="1000"/>
              </a:spcAft>
            </a:pPr>
            <a:r>
              <a:rPr sz="1700" b="0">
                <a:solidFill>
                  <a:srgbClr val="222222"/>
                </a:solidFill>
                <a:latin typeface="맑은 고딕"/>
              </a:rPr>
              <a:t>•  끊겼다는 사실은 알려도 왜 끊겼는지는 모름</a:t>
            </a:r>
          </a:p>
          <a:p>
            <a:pPr algn="l">
              <a:spcAft>
                <a:spcPts val="1000"/>
              </a:spcAft>
            </a:pPr>
            <a:r>
              <a:rPr sz="1700" b="0">
                <a:solidFill>
                  <a:srgbClr val="222222"/>
                </a:solidFill>
                <a:latin typeface="맑은 고딕"/>
              </a:rPr>
              <a:t>•  원인은 V$ARCHIVE_DEST.ERROR, 경고 로그에</a:t>
            </a:r>
          </a:p>
          <a:p>
            <a:pPr algn="l">
              <a:spcAft>
                <a:spcPts val="1000"/>
              </a:spcAft>
            </a:pPr>
            <a:r>
              <a:rPr sz="1700" b="0">
                <a:solidFill>
                  <a:srgbClr val="222222"/>
                </a:solidFill>
                <a:latin typeface="맑은 고딕"/>
              </a:rPr>
              <a:t>•  Broker 없는 구성은 V$ 뷰가 유일한 수단</a:t>
            </a:r>
          </a:p>
          <a:p>
            <a:pPr algn="l">
              <a:spcAft>
                <a:spcPts val="1000"/>
              </a:spcAft>
            </a:pPr>
            <a:r>
              <a:rPr sz="1700" b="0">
                <a:solidFill>
                  <a:srgbClr val="222222"/>
                </a:solidFill>
                <a:latin typeface="맑은 고딕"/>
              </a:rPr>
              <a:t>•  Broker가 멈춰도 V$ 뷰는 현재 값을 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관찰 지점은 역할마다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보낸 쪽은 보낸 것만, 받은 쪽은 받은 것만 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보냈는가, 실패했는가</a:t>
            </a:r>
          </a:p>
          <a:p>
            <a:pPr algn="l">
              <a:spcAft>
                <a:spcPts val="1000"/>
              </a:spcAft>
            </a:pPr>
            <a:r>
              <a:rPr sz="1700" b="0">
                <a:solidFill>
                  <a:srgbClr val="222222"/>
                </a:solidFill>
                <a:latin typeface="맑은 고딕"/>
              </a:rPr>
              <a:t>•  Standby: 받았는가, 적용했는가, 얼마나 늦었는가</a:t>
            </a:r>
          </a:p>
          <a:p>
            <a:pPr algn="l">
              <a:spcAft>
                <a:spcPts val="1000"/>
              </a:spcAft>
            </a:pPr>
            <a:r>
              <a:rPr sz="1700" b="0">
                <a:solidFill>
                  <a:srgbClr val="222222"/>
                </a:solidFill>
                <a:latin typeface="맑은 고딕"/>
              </a:rPr>
              <a:t>•  같은 V$ARCHIVED_LOG도 역할에 따라 내용이 다름</a:t>
            </a:r>
          </a:p>
          <a:p>
            <a:pPr algn="l">
              <a:spcAft>
                <a:spcPts val="1000"/>
              </a:spcAft>
            </a:pPr>
            <a:r>
              <a:rPr sz="1700" b="0">
                <a:solidFill>
                  <a:srgbClr val="222222"/>
                </a:solidFill>
                <a:latin typeface="맑은 고딕"/>
              </a:rPr>
              <a:t>•  진단 쿼리는 양쪽에서 함께 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증상, 위치, 원인, 과정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위층에서 끝나면 아래로 내려가지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증상: SHOW CONFIGURATION, lag</a:t>
            </a:r>
          </a:p>
          <a:p>
            <a:pPr algn="l">
              <a:spcAft>
                <a:spcPts val="1000"/>
              </a:spcAft>
            </a:pPr>
            <a:r>
              <a:rPr sz="1700" b="0">
                <a:solidFill>
                  <a:srgbClr val="222222"/>
                </a:solidFill>
                <a:latin typeface="맑은 고딕"/>
              </a:rPr>
              <a:t>•  위치: V$ARCHIVE_DEST, V$DATAGUARD_PROCESS</a:t>
            </a:r>
          </a:p>
          <a:p>
            <a:pPr algn="l">
              <a:spcAft>
                <a:spcPts val="1000"/>
              </a:spcAft>
            </a:pPr>
            <a:r>
              <a:rPr sz="1700" b="0">
                <a:solidFill>
                  <a:srgbClr val="222222"/>
                </a:solidFill>
                <a:latin typeface="맑은 고딕"/>
              </a:rPr>
              <a:t>•  원인: ERROR 열, V$DATAGUARD_STATUS, 경고 로그</a:t>
            </a:r>
          </a:p>
          <a:p>
            <a:pPr algn="l">
              <a:spcAft>
                <a:spcPts val="1000"/>
              </a:spcAft>
            </a:pPr>
            <a:r>
              <a:rPr sz="1700" b="0">
                <a:solidFill>
                  <a:srgbClr val="222222"/>
                </a:solidFill>
                <a:latin typeface="맑은 고딕"/>
              </a:rPr>
              <a:t>•  과정: LOG_ARCHIVE_TRACE 트레이스</a:t>
            </a:r>
          </a:p>
          <a:p>
            <a:pPr algn="l">
              <a:spcAft>
                <a:spcPts val="1000"/>
              </a:spcAft>
            </a:pPr>
            <a:r>
              <a:rPr sz="1700" b="0">
                <a:solidFill>
                  <a:srgbClr val="222222"/>
                </a:solidFill>
                <a:latin typeface="맑은 고딕"/>
              </a:rPr>
              <a:t>•  대부분의 장애는 원인 층에서 끝남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역할별 뷰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출발점은 V$DATABASE</a:t>
            </a:r>
          </a:p>
          <a:p>
            <a:pPr algn="l">
              <a:spcAft>
                <a:spcPts val="800"/>
              </a:spcAft>
            </a:pPr>
            <a:r>
              <a:rPr sz="1600" b="0">
                <a:solidFill>
                  <a:srgbClr val="FFFFFF"/>
                </a:solidFill>
                <a:latin typeface="맑은 고딕"/>
              </a:rPr>
              <a:t>•  Primary와 Standby의 뷰 묶음</a:t>
            </a:r>
          </a:p>
          <a:p>
            <a:pPr algn="l">
              <a:spcAft>
                <a:spcPts val="800"/>
              </a:spcAft>
            </a:pPr>
            <a:r>
              <a:rPr sz="1600" b="0">
                <a:solidFill>
                  <a:srgbClr val="FFFFFF"/>
                </a:solidFill>
                <a:latin typeface="맑은 고딕"/>
              </a:rPr>
              <a:t>•  빈 결과를 읽는 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V$DATABASE에서 시작한다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역할을 모르면 다른 뷰를 잘못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DATABASE_ROLE, OPEN_MODE로 역할과 상태 확인</a:t>
            </a:r>
          </a:p>
          <a:p>
            <a:pPr algn="l">
              <a:spcAft>
                <a:spcPts val="1000"/>
              </a:spcAft>
            </a:pPr>
            <a:r>
              <a:rPr sz="1700" b="0">
                <a:solidFill>
                  <a:srgbClr val="222222"/>
                </a:solidFill>
                <a:latin typeface="맑은 고딕"/>
              </a:rPr>
              <a:t>•  PROTECTION_MODE는 설정, PROTECTION_LEVEL은 실제</a:t>
            </a:r>
          </a:p>
          <a:p>
            <a:pPr algn="l">
              <a:spcAft>
                <a:spcPts val="1000"/>
              </a:spcAft>
            </a:pPr>
            <a:r>
              <a:rPr sz="1700" b="0">
                <a:solidFill>
                  <a:srgbClr val="222222"/>
                </a:solidFill>
                <a:latin typeface="맑은 고딕"/>
              </a:rPr>
              <a:t>•  동기화가 깨지면 LEVEL이 RESYNCHRONIZATION</a:t>
            </a:r>
          </a:p>
          <a:p>
            <a:pPr algn="l">
              <a:spcAft>
                <a:spcPts val="1000"/>
              </a:spcAft>
            </a:pPr>
            <a:r>
              <a:rPr sz="1700" b="0">
                <a:solidFill>
                  <a:srgbClr val="222222"/>
                </a:solidFill>
                <a:latin typeface="맑은 고딕"/>
              </a:rPr>
              <a:t>•  SWITCHOVER_STATUS의 GAP 값도 함께</a:t>
            </a:r>
          </a:p>
          <a:p>
            <a:pPr algn="l">
              <a:spcAft>
                <a:spcPts val="1000"/>
              </a:spcAft>
            </a:pPr>
            <a:r>
              <a:rPr sz="1700" b="0">
                <a:solidFill>
                  <a:srgbClr val="222222"/>
                </a:solidFill>
                <a:latin typeface="맑은 고딕"/>
              </a:rPr>
              <a:t>•  FORCE_LOGGING이 YES인지 확인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Primary에서 보는 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보낸 결과와 상대편의 상태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V$ARCHIVE_DEST: 설정, 상태, 마지막 오류</a:t>
            </a:r>
          </a:p>
          <a:p>
            <a:pPr algn="l">
              <a:spcAft>
                <a:spcPts val="1000"/>
              </a:spcAft>
            </a:pPr>
            <a:r>
              <a:rPr sz="1700" b="0">
                <a:solidFill>
                  <a:srgbClr val="222222"/>
                </a:solidFill>
                <a:latin typeface="맑은 고딕"/>
              </a:rPr>
              <a:t>•  V$ARCHIVE_DEST_STATUS: 목적지 너머 Standby 상태</a:t>
            </a:r>
          </a:p>
          <a:p>
            <a:pPr algn="l">
              <a:spcAft>
                <a:spcPts val="1000"/>
              </a:spcAft>
            </a:pPr>
            <a:r>
              <a:rPr sz="1700" b="0">
                <a:solidFill>
                  <a:srgbClr val="222222"/>
                </a:solidFill>
                <a:latin typeface="맑은 고딕"/>
              </a:rPr>
              <a:t>•  V$ARCHIVED_LOG: 목적지별 아카이브 기록</a:t>
            </a:r>
          </a:p>
          <a:p>
            <a:pPr algn="l">
              <a:spcAft>
                <a:spcPts val="1000"/>
              </a:spcAft>
            </a:pPr>
            <a:r>
              <a:rPr sz="1700" b="0">
                <a:solidFill>
                  <a:srgbClr val="222222"/>
                </a:solidFill>
                <a:latin typeface="맑은 고딕"/>
              </a:rPr>
              <a:t>•  V$REDO_DEST_RESP_HISTOGRAM: SYNC 응답 시간</a:t>
            </a:r>
          </a:p>
          <a:p>
            <a:pPr algn="l">
              <a:spcAft>
                <a:spcPts val="1000"/>
              </a:spcAft>
            </a:pPr>
            <a:r>
              <a:rPr sz="1700" b="0">
                <a:solidFill>
                  <a:srgbClr val="222222"/>
                </a:solidFill>
                <a:latin typeface="맑은 고딕"/>
              </a:rPr>
              <a:t>•  V$DATAGUARD_STATUS: 최근 전송 사건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Standby에서 보는 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받았는가, 적용했는가, 얼마나 늦었는가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V$DATAGUARD_PROCESS: 수신·적용 역할과 ACTION</a:t>
            </a:r>
          </a:p>
          <a:p>
            <a:pPr algn="l">
              <a:spcAft>
                <a:spcPts val="1000"/>
              </a:spcAft>
            </a:pPr>
            <a:r>
              <a:rPr sz="1700" b="0">
                <a:solidFill>
                  <a:srgbClr val="222222"/>
                </a:solidFill>
                <a:latin typeface="맑은 고딕"/>
              </a:rPr>
              <a:t>•  V$STANDBY_LOG: SRL이 리두를 받는가</a:t>
            </a:r>
          </a:p>
          <a:p>
            <a:pPr algn="l">
              <a:spcAft>
                <a:spcPts val="1000"/>
              </a:spcAft>
            </a:pPr>
            <a:r>
              <a:rPr sz="1700" b="0">
                <a:solidFill>
                  <a:srgbClr val="222222"/>
                </a:solidFill>
                <a:latin typeface="맑은 고딕"/>
              </a:rPr>
              <a:t>•  V$DATAGUARD_STATS, V$ARCHIVE_GAP</a:t>
            </a:r>
          </a:p>
          <a:p>
            <a:pPr algn="l">
              <a:spcAft>
                <a:spcPts val="1000"/>
              </a:spcAft>
            </a:pPr>
            <a:r>
              <a:rPr sz="1700" b="0">
                <a:solidFill>
                  <a:srgbClr val="222222"/>
                </a:solidFill>
                <a:latin typeface="맑은 고딕"/>
              </a:rPr>
              <a:t>•  V$RECOVERY_PROGRESS: 적용 속도</a:t>
            </a:r>
          </a:p>
          <a:p>
            <a:pPr algn="l">
              <a:spcAft>
                <a:spcPts val="1000"/>
              </a:spcAft>
            </a:pPr>
            <a:r>
              <a:rPr sz="1700" b="0">
                <a:solidFill>
                  <a:srgbClr val="222222"/>
                </a:solidFill>
                <a:latin typeface="맑은 고딕"/>
              </a:rPr>
              <a:t>•  V$STANDBY_EVENT_HISTOGRAM: 지연의 분포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빈 결과를 읽는 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정상이라서 빈 것인가, 잘못 물어서 빈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Standby의 V$ARCHIVE_GAP이 비면 갭 없음</a:t>
            </a:r>
          </a:p>
          <a:p>
            <a:pPr algn="l">
              <a:spcAft>
                <a:spcPts val="1000"/>
              </a:spcAft>
            </a:pPr>
            <a:r>
              <a:rPr sz="1700" b="0">
                <a:solidFill>
                  <a:srgbClr val="222222"/>
                </a:solidFill>
                <a:latin typeface="맑은 고딕"/>
              </a:rPr>
              <a:t>•  Primary의 V$ARCHIVE_GAP은 원래 비어 있음</a:t>
            </a:r>
          </a:p>
          <a:p>
            <a:pPr algn="l">
              <a:spcAft>
                <a:spcPts val="1000"/>
              </a:spcAft>
            </a:pPr>
            <a:r>
              <a:rPr sz="1700" b="0">
                <a:solidFill>
                  <a:srgbClr val="222222"/>
                </a:solidFill>
                <a:latin typeface="맑은 고딕"/>
              </a:rPr>
              <a:t>•  Primary의 V$DATAGUARD_STATS는 지표가 비어 있음</a:t>
            </a:r>
          </a:p>
          <a:p>
            <a:pPr algn="l">
              <a:spcAft>
                <a:spcPts val="1000"/>
              </a:spcAft>
            </a:pPr>
            <a:r>
              <a:rPr sz="1700" b="0">
                <a:solidFill>
                  <a:srgbClr val="222222"/>
                </a:solidFill>
                <a:latin typeface="맑은 고딕"/>
              </a:rPr>
              <a:t>•  마운트 상태 Standby는 DBA_ 뷰를 못 씀</a:t>
            </a:r>
          </a:p>
          <a:p>
            <a:pPr algn="l">
              <a:spcAft>
                <a:spcPts val="1000"/>
              </a:spcAft>
            </a:pPr>
            <a:r>
              <a:rPr sz="1700" b="0">
                <a:solidFill>
                  <a:srgbClr val="222222"/>
                </a:solidFill>
                <a:latin typeface="맑은 고딕"/>
              </a:rPr>
              <a:t>•  점검 스크립트는 V$ 뷰만으로 구성</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전송 경로를 읽는 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V$ARCHIVE_DEST의 STATUS와 ERROR</a:t>
            </a:r>
          </a:p>
          <a:p>
            <a:pPr algn="l">
              <a:spcAft>
                <a:spcPts val="800"/>
              </a:spcAft>
            </a:pPr>
            <a:r>
              <a:rPr sz="1600" b="0">
                <a:solidFill>
                  <a:srgbClr val="FFFFFF"/>
                </a:solidFill>
                <a:latin typeface="맑은 고딕"/>
              </a:rPr>
              <a:t>•  VALID_NOW 판정</a:t>
            </a:r>
          </a:p>
          <a:p>
            <a:pPr algn="l">
              <a:spcAft>
                <a:spcPts val="800"/>
              </a:spcAft>
            </a:pPr>
            <a:r>
              <a:rPr sz="1600" b="0">
                <a:solidFill>
                  <a:srgbClr val="FFFFFF"/>
                </a:solidFill>
                <a:latin typeface="맑은 고딕"/>
              </a:rPr>
              <a:t>•  V$ARCHIVE_DEST_STATUS, SRL, 응답 시간 분포</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V$ARCHIVE_DEST의 STATUS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단어로 요약된 목적지 상태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VALID, INACTIVE, DEFERRED, ERROR</a:t>
            </a:r>
          </a:p>
          <a:p>
            <a:pPr algn="l">
              <a:spcAft>
                <a:spcPts val="1000"/>
              </a:spcAft>
            </a:pPr>
            <a:r>
              <a:rPr sz="1700" b="0">
                <a:solidFill>
                  <a:srgbClr val="222222"/>
                </a:solidFill>
                <a:latin typeface="맑은 고딕"/>
              </a:rPr>
              <a:t>•  DISABLED, BAD PARAM, ALTERNATE, FULL</a:t>
            </a:r>
          </a:p>
          <a:p>
            <a:pPr algn="l">
              <a:spcAft>
                <a:spcPts val="1000"/>
              </a:spcAft>
            </a:pPr>
            <a:r>
              <a:rPr sz="1700" b="0">
                <a:solidFill>
                  <a:srgbClr val="222222"/>
                </a:solidFill>
                <a:latin typeface="맑은 고딕"/>
              </a:rPr>
              <a:t>•  19c는 31개 목적지가 모두 행으로 나옴</a:t>
            </a:r>
          </a:p>
          <a:p>
            <a:pPr algn="l">
              <a:spcAft>
                <a:spcPts val="1000"/>
              </a:spcAft>
            </a:pPr>
            <a:r>
              <a:rPr sz="1700" b="0">
                <a:solidFill>
                  <a:srgbClr val="222222"/>
                </a:solidFill>
                <a:latin typeface="맑은 고딕"/>
              </a:rPr>
              <a:t>•  TARGET='STANDBY'로 원격 목적지만 거름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ERROR 열과 재시도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원인은 ORA- 번호로 남는다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ERROR: 마지막 오류의 번호와 메시지</a:t>
            </a:r>
          </a:p>
          <a:p>
            <a:pPr algn="l">
              <a:spcAft>
                <a:spcPts val="1000"/>
              </a:spcAft>
            </a:pPr>
            <a:r>
              <a:rPr sz="1700" b="0">
                <a:solidFill>
                  <a:srgbClr val="222222"/>
                </a:solidFill>
                <a:latin typeface="맑은 고딕"/>
              </a:rPr>
              <a:t>•  FAIL_DATE, FAIL_SEQUENCE: 언제, 몇 번 로그</a:t>
            </a:r>
          </a:p>
          <a:p>
            <a:pPr algn="l">
              <a:spcAft>
                <a:spcPts val="1000"/>
              </a:spcAft>
            </a:pPr>
            <a:r>
              <a:rPr sz="1700" b="0">
                <a:solidFill>
                  <a:srgbClr val="222222"/>
                </a:solidFill>
                <a:latin typeface="맑은 고딕"/>
              </a:rPr>
              <a:t>•  REOPEN_SECS: 재시도까지 대기(기본 300초)</a:t>
            </a:r>
          </a:p>
          <a:p>
            <a:pPr algn="l">
              <a:spcAft>
                <a:spcPts val="1000"/>
              </a:spcAft>
            </a:pPr>
            <a:r>
              <a:rPr sz="1700" b="0">
                <a:solidFill>
                  <a:srgbClr val="222222"/>
                </a:solidFill>
                <a:latin typeface="맑은 고딕"/>
              </a:rPr>
              <a:t>•  MAX_FAILURE: 재시도 한도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VALID_TYPE, VALID_ROLE, VALID_NOW</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설정이 틀린 것과 지금 안 쓰이는 것을 구분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YES: 현재 역할에 맞게 쓰이는 중</a:t>
            </a:r>
          </a:p>
          <a:p>
            <a:pPr algn="l">
              <a:spcAft>
                <a:spcPts val="1000"/>
              </a:spcAft>
            </a:pPr>
            <a:r>
              <a:rPr sz="1700" b="0">
                <a:solidFill>
                  <a:srgbClr val="222222"/>
                </a:solidFill>
                <a:latin typeface="맑은 고딕"/>
              </a:rPr>
              <a:t>•  WRONG VALID_TYPE: 해당 로그 유형이 없음</a:t>
            </a:r>
          </a:p>
          <a:p>
            <a:pPr algn="l">
              <a:spcAft>
                <a:spcPts val="1000"/>
              </a:spcAft>
            </a:pPr>
            <a:r>
              <a:rPr sz="1700" b="0">
                <a:solidFill>
                  <a:srgbClr val="222222"/>
                </a:solidFill>
                <a:latin typeface="맑은 고딕"/>
              </a:rPr>
              <a:t>•  WRONG VALID_ROLE: 현재 역할에서 쓰이지 않음</a:t>
            </a:r>
          </a:p>
          <a:p>
            <a:pPr algn="l">
              <a:spcAft>
                <a:spcPts val="1000"/>
              </a:spcAft>
            </a:pPr>
            <a:r>
              <a:rPr sz="1700" b="0">
                <a:solidFill>
                  <a:srgbClr val="222222"/>
                </a:solidFill>
                <a:latin typeface="맑은 고딕"/>
              </a:rPr>
              <a:t>•  UNKNOWN: 목적지 미정의</a:t>
            </a:r>
          </a:p>
          <a:p>
            <a:pPr algn="l">
              <a:spcAft>
                <a:spcPts val="1000"/>
              </a:spcAft>
            </a:pPr>
            <a:r>
              <a:rPr sz="1700" b="0">
                <a:solidFill>
                  <a:srgbClr val="222222"/>
                </a:solidFill>
                <a:latin typeface="맑은 고딕"/>
              </a:rPr>
              <a:t>•  Primary와 Standby의 목적지 구성은 비대칭</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V$ARCHIVE_DEST_STATUS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Primary에서 목적지 너머를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DATABASE_MODE: 상대편이 마운트인지 읽기 전용인지</a:t>
            </a:r>
          </a:p>
          <a:p>
            <a:pPr algn="l">
              <a:spcAft>
                <a:spcPts val="1000"/>
              </a:spcAft>
            </a:pPr>
            <a:r>
              <a:rPr sz="1700" b="0">
                <a:solidFill>
                  <a:srgbClr val="222222"/>
                </a:solidFill>
                <a:latin typeface="맑은 고딕"/>
              </a:rPr>
              <a:t>•  RECOVERY_MODE: IDLE이면 적용 중지</a:t>
            </a:r>
          </a:p>
          <a:p>
            <a:pPr algn="l">
              <a:spcAft>
                <a:spcPts val="1000"/>
              </a:spcAft>
            </a:pPr>
            <a:r>
              <a:rPr sz="1700" b="0">
                <a:solidFill>
                  <a:srgbClr val="222222"/>
                </a:solidFill>
                <a:latin typeface="맑은 고딕"/>
              </a:rPr>
              <a:t>•  GAP_STATUS: NO GAP, RESOLVABLE, UNRESOLVABLE</a:t>
            </a:r>
          </a:p>
          <a:p>
            <a:pPr algn="l">
              <a:spcAft>
                <a:spcPts val="1000"/>
              </a:spcAft>
            </a:pPr>
            <a:r>
              <a:rPr sz="1700" b="0">
                <a:solidFill>
                  <a:srgbClr val="222222"/>
                </a:solidFill>
                <a:latin typeface="맑은 고딕"/>
              </a:rPr>
              <a:t>•  SRL, STANDBY_LOGFILE_COUNT</a:t>
            </a:r>
          </a:p>
          <a:p>
            <a:pPr algn="l">
              <a:spcAft>
                <a:spcPts val="1000"/>
              </a:spcAft>
            </a:pPr>
            <a:r>
              <a:rPr sz="1700" b="0">
                <a:solidFill>
                  <a:srgbClr val="222222"/>
                </a:solidFill>
                <a:latin typeface="맑은 고딕"/>
              </a:rPr>
              <a:t>•  APPLIED_SEQ#는 현재 순번보다 한두 개 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V$STANDBY_LOG로 SRL 읽기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리두가 SRL을 거치고 있는가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STATUS: UNASSIGNED와 ACTIVE</a:t>
            </a:r>
          </a:p>
          <a:p>
            <a:pPr algn="l">
              <a:spcAft>
                <a:spcPts val="1000"/>
              </a:spcAft>
            </a:pPr>
            <a:r>
              <a:rPr sz="1700" b="0">
                <a:solidFill>
                  <a:srgbClr val="222222"/>
                </a:solidFill>
                <a:latin typeface="맑은 고딕"/>
              </a:rPr>
              <a:t>•  ARCHIVED 값은 STATUS와 짝지어 해석</a:t>
            </a:r>
          </a:p>
          <a:p>
            <a:pPr algn="l">
              <a:spcAft>
                <a:spcPts val="1000"/>
              </a:spcAft>
            </a:pPr>
            <a:r>
              <a:rPr sz="1700" b="0">
                <a:solidFill>
                  <a:srgbClr val="222222"/>
                </a:solidFill>
                <a:latin typeface="맑은 고딕"/>
              </a:rPr>
              <a:t>•  쓰레드마다 ACTIVE 하나, SEQUENCE#가 현재 순번</a:t>
            </a:r>
          </a:p>
          <a:p>
            <a:pPr algn="l">
              <a:spcAft>
                <a:spcPts val="1000"/>
              </a:spcAft>
            </a:pPr>
            <a:r>
              <a:rPr sz="1700" b="0">
                <a:solidFill>
                  <a:srgbClr val="222222"/>
                </a:solidFill>
                <a:latin typeface="맑은 고딕"/>
              </a:rPr>
              <a:t>•  전부 UNASSIGNED면 SRL을 거치지 않는 중</a:t>
            </a:r>
          </a:p>
          <a:p>
            <a:pPr algn="l">
              <a:spcAft>
                <a:spcPts val="1000"/>
              </a:spcAft>
            </a:pPr>
            <a:r>
              <a:rPr sz="1700" b="0">
                <a:solidFill>
                  <a:srgbClr val="222222"/>
                </a:solidFill>
                <a:latin typeface="맑은 고딕"/>
              </a:rPr>
              <a:t>•  V$LOGFILE의 TYPE=STANDBY로 멤버 확인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V$REDO_DEST_RESP_HISTOGRAM</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SYNC 응답 시간은 평균보다 분포로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SYNC 목적지별 응답 시간 구간과 빈도</a:t>
            </a:r>
          </a:p>
          <a:p>
            <a:pPr algn="l">
              <a:spcAft>
                <a:spcPts val="1000"/>
              </a:spcAft>
            </a:pPr>
            <a:r>
              <a:rPr sz="1700" b="0">
                <a:solidFill>
                  <a:srgbClr val="222222"/>
                </a:solidFill>
                <a:latin typeface="맑은 고딕"/>
              </a:rPr>
              <a:t>•  정상: 0~1초 구간에 몰리고 긴 구간은 드묾</a:t>
            </a:r>
          </a:p>
          <a:p>
            <a:pPr algn="l">
              <a:spcAft>
                <a:spcPts val="1000"/>
              </a:spcAft>
            </a:pPr>
            <a:r>
              <a:rPr sz="1700" b="0">
                <a:solidFill>
                  <a:srgbClr val="222222"/>
                </a:solidFill>
                <a:latin typeface="맑은 고딕"/>
              </a:rPr>
              <a:t>•  긴 구간 빈도 증가 = 네트워크·Standby I/O 흔들림</a:t>
            </a:r>
          </a:p>
          <a:p>
            <a:pPr algn="l">
              <a:spcAft>
                <a:spcPts val="1000"/>
              </a:spcAft>
            </a:pPr>
            <a:r>
              <a:rPr sz="1700" b="0">
                <a:solidFill>
                  <a:srgbClr val="222222"/>
                </a:solidFill>
                <a:latin typeface="맑은 고딕"/>
              </a:rPr>
              <a:t>•  NET_TIMEOUT을 정하는 근거 자료</a:t>
            </a:r>
          </a:p>
          <a:p>
            <a:pPr algn="l">
              <a:spcAft>
                <a:spcPts val="1000"/>
              </a:spcAft>
            </a:pPr>
            <a:r>
              <a:rPr sz="1700" b="0">
                <a:solidFill>
                  <a:srgbClr val="222222"/>
                </a:solidFill>
                <a:latin typeface="맑은 고딕"/>
              </a:rPr>
              <a:t>•  인스턴스 기동 이후 누적, 기간은 스냅샷 차이로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적용 경로를 읽는 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프로세스와 APPLIED 열</a:t>
            </a:r>
          </a:p>
          <a:p>
            <a:pPr algn="l">
              <a:spcAft>
                <a:spcPts val="800"/>
              </a:spcAft>
            </a:pPr>
            <a:r>
              <a:rPr sz="1600" b="0">
                <a:solidFill>
                  <a:srgbClr val="FFFFFF"/>
                </a:solidFill>
                <a:latin typeface="맑은 고딕"/>
              </a:rPr>
              <a:t>•  적용 속도와 지연의 분포</a:t>
            </a:r>
          </a:p>
          <a:p>
            <a:pPr algn="l">
              <a:spcAft>
                <a:spcPts val="800"/>
              </a:spcAft>
            </a:pPr>
            <a:r>
              <a:rPr sz="1600" b="0">
                <a:solidFill>
                  <a:srgbClr val="FFFFFF"/>
                </a:solidFill>
                <a:latin typeface="맑은 고딕"/>
              </a:rPr>
              <a:t>•  사건 기록과 지표의 조합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V$DATAGUARD_PROCESS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적용은 살아 있는가, 무엇을 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managed recovery 행이 없으면 적용 미기동</a:t>
            </a:r>
          </a:p>
          <a:p>
            <a:pPr algn="l">
              <a:spcAft>
                <a:spcPts val="1000"/>
              </a:spcAft>
            </a:pPr>
            <a:r>
              <a:rPr sz="1700" b="0">
                <a:solidFill>
                  <a:srgbClr val="222222"/>
                </a:solidFill>
                <a:latin typeface="맑은 고딕"/>
              </a:rPr>
              <a:t>•  ACTION: APPLYING_LOG, WAIT_FOR_LOG, WAIT_FOR_GAP</a:t>
            </a:r>
          </a:p>
          <a:p>
            <a:pPr algn="l">
              <a:spcAft>
                <a:spcPts val="1000"/>
              </a:spcAft>
            </a:pPr>
            <a:r>
              <a:rPr sz="1700" b="0">
                <a:solidFill>
                  <a:srgbClr val="222222"/>
                </a:solidFill>
                <a:latin typeface="맑은 고딕"/>
              </a:rPr>
              <a:t>•  logmerger와 RFS async의 SEQUENCE# 비교</a:t>
            </a:r>
          </a:p>
          <a:p>
            <a:pPr algn="l">
              <a:spcAft>
                <a:spcPts val="1000"/>
              </a:spcAft>
            </a:pPr>
            <a:r>
              <a:rPr sz="1700" b="0">
                <a:solidFill>
                  <a:srgbClr val="222222"/>
                </a:solidFill>
                <a:latin typeface="맑은 고딕"/>
              </a:rPr>
              <a:t>•  RFS 행이 없으면 Primary와 연결 없음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V$ARCHIVED_LOG의 APPLIED</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많이 쓰고 가장 많이 오해하는 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값은 YES, NO, IN-MEMORY</a:t>
            </a:r>
          </a:p>
          <a:p>
            <a:pPr algn="l">
              <a:spcAft>
                <a:spcPts val="1000"/>
              </a:spcAft>
            </a:pPr>
            <a:r>
              <a:rPr sz="1700" b="0">
                <a:solidFill>
                  <a:srgbClr val="222222"/>
                </a:solidFill>
                <a:latin typeface="맑은 고딕"/>
              </a:rPr>
              <a:t>•  실시간 적용 중인 리두는 아직 이 뷰에 없음</a:t>
            </a:r>
          </a:p>
          <a:p>
            <a:pPr algn="l">
              <a:spcAft>
                <a:spcPts val="1000"/>
              </a:spcAft>
            </a:pPr>
            <a:r>
              <a:rPr sz="1700" b="0">
                <a:solidFill>
                  <a:srgbClr val="222222"/>
                </a:solidFill>
                <a:latin typeface="맑은 고딕"/>
              </a:rPr>
              <a:t>•  최대 APPLIED 순번은 실제보다 한두 개 뒤</a:t>
            </a:r>
          </a:p>
          <a:p>
            <a:pPr algn="l">
              <a:spcAft>
                <a:spcPts val="1000"/>
              </a:spcAft>
            </a:pPr>
            <a:r>
              <a:rPr sz="1700" b="0">
                <a:solidFill>
                  <a:srgbClr val="222222"/>
                </a:solidFill>
                <a:latin typeface="맑은 고딕"/>
              </a:rPr>
              <a:t>•  값이 오래 안 변해도 곧 중단은 아님</a:t>
            </a:r>
          </a:p>
          <a:p>
            <a:pPr algn="l">
              <a:spcAft>
                <a:spcPts val="1000"/>
              </a:spcAft>
            </a:pPr>
            <a:r>
              <a:rPr sz="1700" b="0">
                <a:solidFill>
                  <a:srgbClr val="222222"/>
                </a:solidFill>
                <a:latin typeface="맑은 고딕"/>
              </a:rPr>
              <a:t>•  Primary 쪽 값은 Standby보다 늦게 갱신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V$RECOVERY_PROGRESS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적용 속도를 숫자로 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Active Apply Rate: 실제 적용 시간 기준 속도</a:t>
            </a:r>
          </a:p>
          <a:p>
            <a:pPr algn="l">
              <a:spcAft>
                <a:spcPts val="1000"/>
              </a:spcAft>
            </a:pPr>
            <a:r>
              <a:rPr sz="1700" b="0">
                <a:solidFill>
                  <a:srgbClr val="222222"/>
                </a:solidFill>
                <a:latin typeface="맑은 고딕"/>
              </a:rPr>
              <a:t>•  Average Apply Rate: 대기 포함 평균</a:t>
            </a:r>
          </a:p>
          <a:p>
            <a:pPr algn="l">
              <a:spcAft>
                <a:spcPts val="1000"/>
              </a:spcAft>
            </a:pPr>
            <a:r>
              <a:rPr sz="1700" b="0">
                <a:solidFill>
                  <a:srgbClr val="222222"/>
                </a:solidFill>
                <a:latin typeface="맑은 고딕"/>
              </a:rPr>
              <a:t>•  Redo Applied, Last Applied Redo</a:t>
            </a:r>
          </a:p>
          <a:p>
            <a:pPr algn="l">
              <a:spcAft>
                <a:spcPts val="1000"/>
              </a:spcAft>
            </a:pPr>
            <a:r>
              <a:rPr sz="1700" b="0">
                <a:solidFill>
                  <a:srgbClr val="222222"/>
                </a:solidFill>
                <a:latin typeface="맑은 고딕"/>
              </a:rPr>
              <a:t>•  기준은 Primary의 리두 생성 속도</a:t>
            </a:r>
          </a:p>
          <a:p>
            <a:pPr algn="l">
              <a:spcAft>
                <a:spcPts val="1000"/>
              </a:spcAft>
            </a:pPr>
            <a:r>
              <a:rPr sz="1700" b="0">
                <a:solidFill>
                  <a:srgbClr val="222222"/>
                </a:solidFill>
                <a:latin typeface="맑은 고딕"/>
              </a:rPr>
              <a:t>•  속도 정상인데 시각이 멀어지면 공급 문제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V$STANDBY_EVENT_HISTOGRAM</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지금 값이 아니라 지연이 쌓인 모양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apply lag를 표본으로 잴 때마다 구간 카운트 증가</a:t>
            </a:r>
          </a:p>
          <a:p>
            <a:pPr algn="l">
              <a:spcAft>
                <a:spcPts val="1000"/>
              </a:spcAft>
            </a:pPr>
            <a:r>
              <a:rPr sz="1700" b="0">
                <a:solidFill>
                  <a:srgbClr val="222222"/>
                </a:solidFill>
                <a:latin typeface="맑은 고딕"/>
              </a:rPr>
              <a:t>•  건강한 모양: 0초 구간이 압도적</a:t>
            </a:r>
          </a:p>
          <a:p>
            <a:pPr algn="l">
              <a:spcAft>
                <a:spcPts val="1000"/>
              </a:spcAft>
            </a:pPr>
            <a:r>
              <a:rPr sz="1700" b="0">
                <a:solidFill>
                  <a:srgbClr val="222222"/>
                </a:solidFill>
                <a:latin typeface="맑은 고딕"/>
              </a:rPr>
              <a:t>•  긴 구간의 LAST_TIME_UPDATED로 사건 시각 추적</a:t>
            </a:r>
          </a:p>
          <a:p>
            <a:pPr algn="l">
              <a:spcAft>
                <a:spcPts val="1000"/>
              </a:spcAft>
            </a:pPr>
            <a:r>
              <a:rPr sz="1700" b="0">
                <a:solidFill>
                  <a:srgbClr val="222222"/>
                </a:solidFill>
                <a:latin typeface="맑은 고딕"/>
              </a:rPr>
              <a:t>•  STANDBY_MAX_DATA_DELAY를 정하는 근거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V$DATAGUARD_STATUS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경고 로그를 SQL로 읽는 창</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FACILITY: Transport, Apply, RFS, FAL 등 출처</a:t>
            </a:r>
          </a:p>
          <a:p>
            <a:pPr algn="l">
              <a:spcAft>
                <a:spcPts val="1000"/>
              </a:spcAft>
            </a:pPr>
            <a:r>
              <a:rPr sz="1700" b="0">
                <a:solidFill>
                  <a:srgbClr val="222222"/>
                </a:solidFill>
                <a:latin typeface="맑은 고딕"/>
              </a:rPr>
              <a:t>•  SEVERITY: Error, Fatal만 골라 상시 점검</a:t>
            </a:r>
          </a:p>
          <a:p>
            <a:pPr algn="l">
              <a:spcAft>
                <a:spcPts val="1000"/>
              </a:spcAft>
            </a:pPr>
            <a:r>
              <a:rPr sz="1700" b="0">
                <a:solidFill>
                  <a:srgbClr val="222222"/>
                </a:solidFill>
                <a:latin typeface="맑은 고딕"/>
              </a:rPr>
              <a:t>•  ERROR_CODE가 0이 아닌 행이 오류</a:t>
            </a:r>
          </a:p>
          <a:p>
            <a:pPr algn="l">
              <a:spcAft>
                <a:spcPts val="1000"/>
              </a:spcAft>
            </a:pPr>
            <a:r>
              <a:rPr sz="1700" b="0">
                <a:solidFill>
                  <a:srgbClr val="222222"/>
                </a:solidFill>
                <a:latin typeface="맑은 고딕"/>
              </a:rPr>
              <a:t>•  ORA-16037처럼 의도된 동작도 코드로 남음</a:t>
            </a:r>
          </a:p>
          <a:p>
            <a:pPr algn="l">
              <a:spcAft>
                <a:spcPts val="1000"/>
              </a:spcAft>
            </a:pPr>
            <a:r>
              <a:rPr sz="1700" b="0">
                <a:solidFill>
                  <a:srgbClr val="222222"/>
                </a:solidFill>
                <a:latin typeface="맑은 고딕"/>
              </a:rPr>
              <a:t>•  메모리 기반, 재기동하면 사라짐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V$DATAGUARD_STATS의 진단 활용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값 하나보다 조합과 신선도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transport lag 큼: 전송 구간</a:t>
            </a:r>
          </a:p>
          <a:p>
            <a:pPr algn="l">
              <a:spcAft>
                <a:spcPts val="1000"/>
              </a:spcAft>
            </a:pPr>
            <a:r>
              <a:rPr sz="1700" b="0">
                <a:solidFill>
                  <a:srgbClr val="222222"/>
                </a:solidFill>
                <a:latin typeface="맑은 고딕"/>
              </a:rPr>
              <a:t>•  transport lag 작고 apply lag 큼: 적용 구간</a:t>
            </a:r>
          </a:p>
          <a:p>
            <a:pPr algn="l">
              <a:spcAft>
                <a:spcPts val="1000"/>
              </a:spcAft>
            </a:pPr>
            <a:r>
              <a:rPr sz="1700" b="0">
                <a:solidFill>
                  <a:srgbClr val="222222"/>
                </a:solidFill>
                <a:latin typeface="맑은 고딕"/>
              </a:rPr>
              <a:t>•  DATUM_TIME이 오래되면 지표를 믿지 않음</a:t>
            </a:r>
          </a:p>
          <a:p>
            <a:pPr algn="l">
              <a:spcAft>
                <a:spcPts val="1000"/>
              </a:spcAft>
            </a:pPr>
            <a:r>
              <a:rPr sz="1700" b="0">
                <a:solidFill>
                  <a:srgbClr val="222222"/>
                </a:solidFill>
                <a:latin typeface="맑은 고딕"/>
              </a:rPr>
              <a:t>•  두 서버의 시계를 같은 NTP 소스에 맞춤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증상에서 원인으로 좁히는 진단 순서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첫 관찰로 갈래를 정한다</a:t>
            </a:r>
          </a:p>
          <a:p>
            <a:pPr algn="l">
              <a:spcAft>
                <a:spcPts val="800"/>
              </a:spcAft>
            </a:pPr>
            <a:r>
              <a:rPr sz="1600" b="0">
                <a:solidFill>
                  <a:srgbClr val="FFFFFF"/>
                </a:solidFill>
                <a:latin typeface="맑은 고딕"/>
              </a:rPr>
              <a:t>•  전송, 적용, 갭 문제</a:t>
            </a:r>
          </a:p>
          <a:p>
            <a:pPr algn="l">
              <a:spcAft>
                <a:spcPts val="800"/>
              </a:spcAft>
            </a:pPr>
            <a:r>
              <a:rPr sz="1600" b="0">
                <a:solidFill>
                  <a:srgbClr val="FFFFFF"/>
                </a:solidFill>
                <a:latin typeface="맑은 고딕"/>
              </a:rPr>
              <a:t>•  자주 만나는 ORA- 오류</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첫 관찰로 갈래 정하기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lag 두 개와 프로세스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transport lag 증가, RFS 없음 → 전송 문제</a:t>
            </a:r>
          </a:p>
          <a:p>
            <a:pPr algn="l">
              <a:spcAft>
                <a:spcPts val="1000"/>
              </a:spcAft>
            </a:pPr>
            <a:r>
              <a:rPr sz="1700" b="0">
                <a:solidFill>
                  <a:srgbClr val="222222"/>
                </a:solidFill>
                <a:latin typeface="맑은 고딕"/>
              </a:rPr>
              <a:t>•  apply lag만 증가 → 적용 문제</a:t>
            </a:r>
          </a:p>
          <a:p>
            <a:pPr algn="l">
              <a:spcAft>
                <a:spcPts val="1000"/>
              </a:spcAft>
            </a:pPr>
            <a:r>
              <a:rPr sz="1700" b="0">
                <a:solidFill>
                  <a:srgbClr val="222222"/>
                </a:solidFill>
                <a:latin typeface="맑은 고딕"/>
              </a:rPr>
              <a:t>•  MRP ACTION이 WAIT_FOR_GAP → 갭 문제</a:t>
            </a:r>
          </a:p>
          <a:p>
            <a:pPr algn="l">
              <a:spcAft>
                <a:spcPts val="1000"/>
              </a:spcAft>
            </a:pPr>
            <a:r>
              <a:rPr sz="1700" b="0">
                <a:solidFill>
                  <a:srgbClr val="222222"/>
                </a:solidFill>
                <a:latin typeface="맑은 고딕"/>
              </a:rPr>
              <a:t>•  PROTECTION_LEVEL 저하 → SYNC 전송 문제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전송 문제의 점검 목록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ERROR 열이 비어 있을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tnsnames.ora 서비스 이름과 SERVICE 값 일치</a:t>
            </a:r>
          </a:p>
          <a:p>
            <a:pPr algn="l">
              <a:spcAft>
                <a:spcPts val="1000"/>
              </a:spcAft>
            </a:pPr>
            <a:r>
              <a:rPr sz="1700" b="0">
                <a:solidFill>
                  <a:srgbClr val="222222"/>
                </a:solidFill>
                <a:latin typeface="맑은 고딕"/>
              </a:rPr>
              <a:t>•  LOG_ARCHIVE_DEST_STATE_n이 ENABLE인가</a:t>
            </a:r>
          </a:p>
          <a:p>
            <a:pPr algn="l">
              <a:spcAft>
                <a:spcPts val="1000"/>
              </a:spcAft>
            </a:pPr>
            <a:r>
              <a:rPr sz="1700" b="0">
                <a:solidFill>
                  <a:srgbClr val="222222"/>
                </a:solidFill>
                <a:latin typeface="맑은 고딕"/>
              </a:rPr>
              <a:t>•  Standby 리스너와 인스턴스가 떠 있는가</a:t>
            </a:r>
          </a:p>
          <a:p>
            <a:pPr algn="l">
              <a:spcAft>
                <a:spcPts val="1000"/>
              </a:spcAft>
            </a:pPr>
            <a:r>
              <a:rPr sz="1700" b="0">
                <a:solidFill>
                  <a:srgbClr val="222222"/>
                </a:solidFill>
                <a:latin typeface="맑은 고딕"/>
              </a:rPr>
              <a:t>•  추가한 목적지를 아직 적용하지 않았는가</a:t>
            </a:r>
          </a:p>
          <a:p>
            <a:pPr algn="l">
              <a:spcAft>
                <a:spcPts val="1000"/>
              </a:spcAft>
            </a:pPr>
            <a:r>
              <a:rPr sz="1700" b="0">
                <a:solidFill>
                  <a:srgbClr val="222222"/>
                </a:solidFill>
                <a:latin typeface="맑은 고딕"/>
              </a:rPr>
              <a:t>•  리두 전송 인증(비밀번호 파일)이 맞는가</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적용 문제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프로세스가 있는가, 무엇을 기다리는가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managed recovery 없음: 미기동 또는 오류로 정지</a:t>
            </a:r>
          </a:p>
          <a:p>
            <a:pPr algn="l">
              <a:spcAft>
                <a:spcPts val="1000"/>
              </a:spcAft>
            </a:pPr>
            <a:r>
              <a:rPr sz="1700" b="0">
                <a:solidFill>
                  <a:srgbClr val="222222"/>
                </a:solidFill>
                <a:latin typeface="맑은 고딕"/>
              </a:rPr>
              <a:t>•  정지 원인은 V$DATAGUARD_STATUS와 경고 로그</a:t>
            </a:r>
          </a:p>
          <a:p>
            <a:pPr algn="l">
              <a:spcAft>
                <a:spcPts val="1000"/>
              </a:spcAft>
            </a:pPr>
            <a:r>
              <a:rPr sz="1700" b="0">
                <a:solidFill>
                  <a:srgbClr val="222222"/>
                </a:solidFill>
                <a:latin typeface="맑은 고딕"/>
              </a:rPr>
              <a:t>•  WAIT_FOR_LOG 지속: 실시간 적용 꺼짐, DELAY</a:t>
            </a:r>
          </a:p>
          <a:p>
            <a:pPr algn="l">
              <a:spcAft>
                <a:spcPts val="1000"/>
              </a:spcAft>
            </a:pPr>
            <a:r>
              <a:rPr sz="1700" b="0">
                <a:solidFill>
                  <a:srgbClr val="222222"/>
                </a:solidFill>
                <a:latin typeface="맑은 고딕"/>
              </a:rPr>
              <a:t>•  APPLYING_LOG인데 lag 증가: 처리량 부족</a:t>
            </a:r>
          </a:p>
          <a:p>
            <a:pPr algn="l">
              <a:spcAft>
                <a:spcPts val="1000"/>
              </a:spcAft>
            </a:pPr>
            <a:r>
              <a:rPr sz="1700" b="0">
                <a:solidFill>
                  <a:srgbClr val="222222"/>
                </a:solidFill>
                <a:latin typeface="맑은 고딕"/>
              </a:rPr>
              <a:t>•  처리량은 Active Apply Rate로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갭 문제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적용은 순서대로만 진행된다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 V$ARCHIVE_GAP: 빠진 순번 범위</a:t>
            </a:r>
          </a:p>
          <a:p>
            <a:pPr algn="l">
              <a:spcAft>
                <a:spcPts val="1000"/>
              </a:spcAft>
            </a:pPr>
            <a:r>
              <a:rPr sz="1700" b="0">
                <a:solidFill>
                  <a:srgbClr val="222222"/>
                </a:solidFill>
                <a:latin typeface="맑은 고딕"/>
              </a:rPr>
              <a:t>•  Primary GAP_STATUS: RESOLVABLE인가</a:t>
            </a:r>
          </a:p>
          <a:p>
            <a:pPr algn="l">
              <a:spcAft>
                <a:spcPts val="1000"/>
              </a:spcAft>
            </a:pPr>
            <a:r>
              <a:rPr sz="1700" b="0">
                <a:solidFill>
                  <a:srgbClr val="222222"/>
                </a:solidFill>
                <a:latin typeface="맑은 고딕"/>
              </a:rPr>
              <a:t>•  자동 해소: ARCn ping과 FAL</a:t>
            </a:r>
          </a:p>
          <a:p>
            <a:pPr algn="l">
              <a:spcAft>
                <a:spcPts val="1000"/>
              </a:spcAft>
            </a:pPr>
            <a:r>
              <a:rPr sz="1700" b="0">
                <a:solidFill>
                  <a:srgbClr val="222222"/>
                </a:solidFill>
                <a:latin typeface="맑은 고딕"/>
              </a:rPr>
              <a:t>•  Primary에서 지워졌으면 수동 개입</a:t>
            </a:r>
          </a:p>
          <a:p>
            <a:pPr algn="l">
              <a:spcAft>
                <a:spcPts val="1000"/>
              </a:spcAft>
            </a:pPr>
            <a:r>
              <a:rPr sz="1700" b="0">
                <a:solidFill>
                  <a:srgbClr val="222222"/>
                </a:solidFill>
                <a:latin typeface="맑은 고딕"/>
              </a:rPr>
              <a:t>•  19c: RECOVER STANDBY DATABASE FROM SERVICE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자주 만나는 ORA- 오류 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연결과 인증</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ORA-12541: Standby 리스너 없음</a:t>
            </a:r>
          </a:p>
          <a:p>
            <a:pPr algn="l">
              <a:spcAft>
                <a:spcPts val="1000"/>
              </a:spcAft>
            </a:pPr>
            <a:r>
              <a:rPr sz="1700" b="0">
                <a:solidFill>
                  <a:srgbClr val="222222"/>
                </a:solidFill>
                <a:latin typeface="맑은 고딕"/>
              </a:rPr>
              <a:t>•  ORA-12514: 리스너가 서비스를 모름</a:t>
            </a:r>
          </a:p>
          <a:p>
            <a:pPr algn="l">
              <a:spcAft>
                <a:spcPts val="1000"/>
              </a:spcAft>
            </a:pPr>
            <a:r>
              <a:rPr sz="1700" b="0">
                <a:solidFill>
                  <a:srgbClr val="222222"/>
                </a:solidFill>
                <a:latin typeface="맑은 고딕"/>
              </a:rPr>
              <a:t>•  ORA-01017, ORA-16191: 전송 인증 실패</a:t>
            </a:r>
          </a:p>
          <a:p>
            <a:pPr algn="l">
              <a:spcAft>
                <a:spcPts val="1000"/>
              </a:spcAft>
            </a:pPr>
            <a:r>
              <a:rPr sz="1700" b="0">
                <a:solidFill>
                  <a:srgbClr val="222222"/>
                </a:solidFill>
                <a:latin typeface="맑은 고딕"/>
              </a:rPr>
              <a:t>•  ORA-16047: DB_UNIQUE_NAME 불일치</a:t>
            </a:r>
          </a:p>
          <a:p>
            <a:pPr algn="l">
              <a:spcAft>
                <a:spcPts val="1000"/>
              </a:spcAft>
            </a:pPr>
            <a:r>
              <a:rPr sz="1700" b="0">
                <a:solidFill>
                  <a:srgbClr val="222222"/>
                </a:solidFill>
                <a:latin typeface="맑은 고딕"/>
              </a:rPr>
              <a:t>•  ORA-16012: 데이터베이스 식별자 불일치</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자주 만나는 ORA- 오류 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전송 시간, SRL, FAL, 적용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ORA-16198: SYNC 전송 중 NET_TIMEOUT 초과</a:t>
            </a:r>
          </a:p>
          <a:p>
            <a:pPr algn="l">
              <a:spcAft>
                <a:spcPts val="1000"/>
              </a:spcAft>
            </a:pPr>
            <a:r>
              <a:rPr sz="1700" b="0">
                <a:solidFill>
                  <a:srgbClr val="222222"/>
                </a:solidFill>
                <a:latin typeface="맑은 고딕"/>
              </a:rPr>
              <a:t>•  ORA-16086: Standby에 쓸 수 있는 SRL 없음</a:t>
            </a:r>
          </a:p>
          <a:p>
            <a:pPr algn="l">
              <a:spcAft>
                <a:spcPts val="1000"/>
              </a:spcAft>
            </a:pPr>
            <a:r>
              <a:rPr sz="1700" b="0">
                <a:solidFill>
                  <a:srgbClr val="222222"/>
                </a:solidFill>
                <a:latin typeface="맑은 고딕"/>
              </a:rPr>
              <a:t>•  ORA-16055: FAL 요청 거절</a:t>
            </a:r>
          </a:p>
          <a:p>
            <a:pPr algn="l">
              <a:spcAft>
                <a:spcPts val="1000"/>
              </a:spcAft>
            </a:pPr>
            <a:r>
              <a:rPr sz="1700" b="0">
                <a:solidFill>
                  <a:srgbClr val="222222"/>
                </a:solidFill>
                <a:latin typeface="맑은 고딕"/>
              </a:rPr>
              <a:t>•  ORA-16401: 이미 받은 로그 재수신 거절, 대개 무해</a:t>
            </a:r>
          </a:p>
          <a:p>
            <a:pPr algn="l">
              <a:spcAft>
                <a:spcPts val="1000"/>
              </a:spcAft>
            </a:pPr>
            <a:r>
              <a:rPr sz="1700" b="0">
                <a:solidFill>
                  <a:srgbClr val="222222"/>
                </a:solidFill>
                <a:latin typeface="맑은 고딕"/>
              </a:rPr>
              <a:t>•  ORA-16037: 사용자 적용 취소, 의도했다면 정상</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경고 로그와 LOG_ARCHIVE_TRACE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오류가 남는 다섯 곳</a:t>
            </a:r>
          </a:p>
          <a:p>
            <a:pPr algn="l">
              <a:spcAft>
                <a:spcPts val="800"/>
              </a:spcAft>
            </a:pPr>
            <a:r>
              <a:rPr sz="1600" b="0">
                <a:solidFill>
                  <a:srgbClr val="FFFFFF"/>
                </a:solidFill>
                <a:latin typeface="맑은 고딕"/>
              </a:rPr>
              <a:t>•  추적 수준의 구조</a:t>
            </a:r>
          </a:p>
          <a:p>
            <a:pPr algn="l">
              <a:spcAft>
                <a:spcPts val="800"/>
              </a:spcAft>
            </a:pPr>
            <a:r>
              <a:rPr sz="1600" b="0">
                <a:solidFill>
                  <a:srgbClr val="FFFFFF"/>
                </a:solidFill>
                <a:latin typeface="맑은 고딕"/>
              </a:rPr>
              <a:t>•  켜고 끄는 절차</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 오류가 남는 위치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같은 사건, 다른 양의 정보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V$ARCHIVE_DEST.ERROR: 목적지별 마지막 오류</a:t>
            </a:r>
          </a:p>
          <a:p>
            <a:pPr algn="l">
              <a:spcAft>
                <a:spcPts val="1000"/>
              </a:spcAft>
            </a:pPr>
            <a:r>
              <a:rPr sz="1700" b="0">
                <a:solidFill>
                  <a:srgbClr val="222222"/>
                </a:solidFill>
                <a:latin typeface="맑은 고딕"/>
              </a:rPr>
              <a:t>•  V$DATAGUARD_STATUS: 최근 메시지, 메모리</a:t>
            </a:r>
          </a:p>
          <a:p>
            <a:pPr algn="l">
              <a:spcAft>
                <a:spcPts val="1000"/>
              </a:spcAft>
            </a:pPr>
            <a:r>
              <a:rPr sz="1700" b="0">
                <a:solidFill>
                  <a:srgbClr val="222222"/>
                </a:solidFill>
                <a:latin typeface="맑은 고딕"/>
              </a:rPr>
              <a:t>•  경고 로그: 앞뒤 사건 전체</a:t>
            </a:r>
          </a:p>
          <a:p>
            <a:pPr algn="l">
              <a:spcAft>
                <a:spcPts val="1000"/>
              </a:spcAft>
            </a:pPr>
            <a:r>
              <a:rPr sz="1700" b="0">
                <a:solidFill>
                  <a:srgbClr val="222222"/>
                </a:solidFill>
                <a:latin typeface="맑은 고딕"/>
              </a:rPr>
              <a:t>•  프로세스 트레이스, Broker 로그 drcSID.log</a:t>
            </a:r>
          </a:p>
          <a:p>
            <a:pPr algn="l">
              <a:spcAft>
                <a:spcPts val="1000"/>
              </a:spcAft>
            </a:pPr>
            <a:r>
              <a:rPr sz="1700" b="0">
                <a:solidFill>
                  <a:srgbClr val="222222"/>
                </a:solidFill>
                <a:latin typeface="맑은 고딕"/>
              </a:rPr>
              <a:t>•  위치는 V$DIAG_INFO의 Diag Trace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LOG_ARCHIVE_TRACE의 수준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2의 거듭제곱을 더해 켠다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기본값 0, 추적 꺼짐</a:t>
            </a:r>
          </a:p>
          <a:p>
            <a:pPr algn="l">
              <a:spcAft>
                <a:spcPts val="1000"/>
              </a:spcAft>
            </a:pPr>
            <a:r>
              <a:rPr sz="1700" b="0">
                <a:solidFill>
                  <a:srgbClr val="222222"/>
                </a:solidFill>
                <a:latin typeface="맑은 고딕"/>
              </a:rPr>
              <a:t>•  각 수준은 1, 2, 4, 8 … 32768</a:t>
            </a:r>
          </a:p>
          <a:p>
            <a:pPr algn="l">
              <a:spcAft>
                <a:spcPts val="1000"/>
              </a:spcAft>
            </a:pPr>
            <a:r>
              <a:rPr sz="1700" b="0">
                <a:solidFill>
                  <a:srgbClr val="222222"/>
                </a:solidFill>
                <a:latin typeface="맑은 고딕"/>
              </a:rPr>
              <a:t>•  6 = 2(목적지 상태) + 4(작업 단계)</a:t>
            </a:r>
          </a:p>
          <a:p>
            <a:pPr algn="l">
              <a:spcAft>
                <a:spcPts val="1000"/>
              </a:spcAft>
            </a:pPr>
            <a:r>
              <a:rPr sz="1700" b="0">
                <a:solidFill>
                  <a:srgbClr val="222222"/>
                </a:solidFill>
                <a:latin typeface="맑은 고딕"/>
              </a:rPr>
              <a:t>•  512 네트워크, 1024 RFS, 128 FAL, 2048 ping</a:t>
            </a:r>
          </a:p>
          <a:p>
            <a:pPr algn="l">
              <a:spcAft>
                <a:spcPts val="1000"/>
              </a:spcAft>
            </a:pPr>
            <a:r>
              <a:rPr sz="1700" b="0">
                <a:solidFill>
                  <a:srgbClr val="222222"/>
                </a:solidFill>
                <a:latin typeface="맑은 고딕"/>
              </a:rPr>
              <a:t>•  4096 실시간 적용, 8192 Redo Apply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켜고 끄는 절차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다음 아카이브 작업부터 반영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SYSTEM으로 열림·마운트 상태에서 변경</a:t>
            </a:r>
          </a:p>
          <a:p>
            <a:pPr algn="l">
              <a:spcAft>
                <a:spcPts val="1000"/>
              </a:spcAft>
            </a:pPr>
            <a:r>
              <a:rPr sz="1700" b="0">
                <a:solidFill>
                  <a:srgbClr val="222222"/>
                </a:solidFill>
                <a:latin typeface="맑은 고딕"/>
              </a:rPr>
              <a:t>•  정수가 아니면 ORA-02017</a:t>
            </a:r>
          </a:p>
          <a:p>
            <a:pPr algn="l">
              <a:spcAft>
                <a:spcPts val="1000"/>
              </a:spcAft>
            </a:pPr>
            <a:r>
              <a:rPr sz="1700" b="0">
                <a:solidFill>
                  <a:srgbClr val="222222"/>
                </a:solidFill>
                <a:latin typeface="맑은 고딕"/>
              </a:rPr>
              <a:t>•  SCOPE=MEMORY로 켜면 재기동 시 자동 해제</a:t>
            </a:r>
          </a:p>
          <a:p>
            <a:pPr algn="l">
              <a:spcAft>
                <a:spcPts val="1000"/>
              </a:spcAft>
            </a:pPr>
            <a:r>
              <a:rPr sz="1700" b="0">
                <a:solidFill>
                  <a:srgbClr val="222222"/>
                </a:solidFill>
                <a:latin typeface="맑은 고딕"/>
              </a:rPr>
              <a:t>•  트레이스 파일 이름에 프로세스 이름이 들어감</a:t>
            </a:r>
          </a:p>
          <a:p>
            <a:pPr algn="l">
              <a:spcAft>
                <a:spcPts val="1000"/>
              </a:spcAft>
            </a:pPr>
            <a:r>
              <a:rPr sz="1700" b="0">
                <a:solidFill>
                  <a:srgbClr val="222222"/>
                </a:solidFill>
                <a:latin typeface="맑은 고딕"/>
              </a:rPr>
              <a:t>•  Broker 구성은 Broker 쪽에서 변경</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추적은 좁게, 짧게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진단 도구가 장애를 만들지 않도록</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의심 구간에 맞는 수준만 선택</a:t>
            </a:r>
          </a:p>
          <a:p>
            <a:pPr algn="l">
              <a:spcAft>
                <a:spcPts val="1000"/>
              </a:spcAft>
            </a:pPr>
            <a:r>
              <a:rPr sz="1700" b="0">
                <a:solidFill>
                  <a:srgbClr val="222222"/>
                </a:solidFill>
                <a:latin typeface="맑은 고딕"/>
              </a:rPr>
              <a:t>•  켠 시각과 끈 시각을 작업 기록에</a:t>
            </a:r>
          </a:p>
          <a:p>
            <a:pPr algn="l">
              <a:spcAft>
                <a:spcPts val="1000"/>
              </a:spcAft>
            </a:pPr>
            <a:r>
              <a:rPr sz="1700" b="0">
                <a:solidFill>
                  <a:srgbClr val="222222"/>
                </a:solidFill>
                <a:latin typeface="맑은 고딕"/>
              </a:rPr>
              <a:t>•  끄는 것을 잊으면 ADR 디렉터리가 찬다</a:t>
            </a:r>
          </a:p>
          <a:p>
            <a:pPr algn="l">
              <a:spcAft>
                <a:spcPts val="1000"/>
              </a:spcAft>
            </a:pPr>
            <a:r>
              <a:rPr sz="1700" b="0">
                <a:solidFill>
                  <a:srgbClr val="222222"/>
                </a:solidFill>
                <a:latin typeface="맑은 고딕"/>
              </a:rPr>
              <a:t>•  지원 요청에는 양쪽 경고 로그를 함께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상시 점검 스크립트 설계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설계 원칙</a:t>
            </a:r>
          </a:p>
          <a:p>
            <a:pPr algn="l">
              <a:spcAft>
                <a:spcPts val="800"/>
              </a:spcAft>
            </a:pPr>
            <a:r>
              <a:rPr sz="1600" b="0">
                <a:solidFill>
                  <a:srgbClr val="FFFFFF"/>
                </a:solidFill>
                <a:latin typeface="맑은 고딕"/>
              </a:rPr>
              <a:t>•  Primary와 Standby 점검 항목</a:t>
            </a:r>
          </a:p>
          <a:p>
            <a:pPr algn="l">
              <a:spcAft>
                <a:spcPts val="800"/>
              </a:spcAft>
            </a:pPr>
            <a:r>
              <a:rPr sz="1600" b="0">
                <a:solidFill>
                  <a:srgbClr val="FFFFFF"/>
                </a:solidFill>
                <a:latin typeface="맑은 고딕"/>
              </a:rPr>
              <a:t>•  임계값과 판정</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설계 원칙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사람이 읽지 않아도 판정이 나오게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역할을 먼저 판정하고 분기</a:t>
            </a:r>
          </a:p>
          <a:p>
            <a:pPr algn="l">
              <a:spcAft>
                <a:spcPts val="1000"/>
              </a:spcAft>
            </a:pPr>
            <a:r>
              <a:rPr sz="1700" b="0">
                <a:solidFill>
                  <a:srgbClr val="222222"/>
                </a:solidFill>
                <a:latin typeface="맑은 고딕"/>
              </a:rPr>
              <a:t>•  결과는 숫자나 정해진 단어로</a:t>
            </a:r>
          </a:p>
          <a:p>
            <a:pPr algn="l">
              <a:spcAft>
                <a:spcPts val="1000"/>
              </a:spcAft>
            </a:pPr>
            <a:r>
              <a:rPr sz="1700" b="0">
                <a:solidFill>
                  <a:srgbClr val="222222"/>
                </a:solidFill>
                <a:latin typeface="맑은 고딕"/>
              </a:rPr>
              <a:t>•  정상 기대값을 미리 정의</a:t>
            </a:r>
          </a:p>
          <a:p>
            <a:pPr algn="l">
              <a:spcAft>
                <a:spcPts val="1000"/>
              </a:spcAft>
            </a:pPr>
            <a:r>
              <a:rPr sz="1700" b="0">
                <a:solidFill>
                  <a:srgbClr val="222222"/>
                </a:solidFill>
                <a:latin typeface="맑은 고딕"/>
              </a:rPr>
              <a:t>•  lag는 DATUM_TIME과 묶어서</a:t>
            </a:r>
          </a:p>
          <a:p>
            <a:pPr algn="l">
              <a:spcAft>
                <a:spcPts val="1000"/>
              </a:spcAft>
            </a:pPr>
            <a:r>
              <a:rPr sz="1700" b="0">
                <a:solidFill>
                  <a:srgbClr val="222222"/>
                </a:solidFill>
                <a:latin typeface="맑은 고딕"/>
              </a:rPr>
              <a:t>•  마운트 상태에서 동작, V$ 뷰만 사용</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점검 항목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보냈는가, 보호 수준은 유지되는가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STATUS&lt;&gt;'VALID'인 원격 목적지 수 = 0</a:t>
            </a:r>
          </a:p>
          <a:p>
            <a:pPr algn="l">
              <a:spcAft>
                <a:spcPts val="1000"/>
              </a:spcAft>
            </a:pPr>
            <a:r>
              <a:rPr sz="1700" b="0">
                <a:solidFill>
                  <a:srgbClr val="222222"/>
                </a:solidFill>
                <a:latin typeface="맑은 고딕"/>
              </a:rPr>
              <a:t>•  PROTECTION_MODE = PROTECTION_LEVEL</a:t>
            </a:r>
          </a:p>
          <a:p>
            <a:pPr algn="l">
              <a:spcAft>
                <a:spcPts val="1000"/>
              </a:spcAft>
            </a:pPr>
            <a:r>
              <a:rPr sz="1700" b="0">
                <a:solidFill>
                  <a:srgbClr val="222222"/>
                </a:solidFill>
                <a:latin typeface="맑은 고딕"/>
              </a:rPr>
              <a:t>•  상대편 RECOVERY_MODE가 IDLE이 아님</a:t>
            </a:r>
          </a:p>
          <a:p>
            <a:pPr algn="l">
              <a:spcAft>
                <a:spcPts val="1000"/>
              </a:spcAft>
            </a:pPr>
            <a:r>
              <a:rPr sz="1700" b="0">
                <a:solidFill>
                  <a:srgbClr val="222222"/>
                </a:solidFill>
                <a:latin typeface="맑은 고딕"/>
              </a:rPr>
              <a:t>•  GAP_STATUS = NO GAP</a:t>
            </a:r>
          </a:p>
          <a:p>
            <a:pPr algn="l">
              <a:spcAft>
                <a:spcPts val="1000"/>
              </a:spcAft>
            </a:pPr>
            <a:r>
              <a:rPr sz="1700" b="0">
                <a:solidFill>
                  <a:srgbClr val="222222"/>
                </a:solidFill>
                <a:latin typeface="맑은 고딕"/>
              </a:rPr>
              <a:t>•  최근 점검 이후 Error·Fatal 메시지 = 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점검 항목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적용이 살아 있고, 늦지 않았는가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managed recovery 행 수 = 1</a:t>
            </a:r>
          </a:p>
          <a:p>
            <a:pPr algn="l">
              <a:spcAft>
                <a:spcPts val="1000"/>
              </a:spcAft>
            </a:pPr>
            <a:r>
              <a:rPr sz="1700" b="0">
                <a:solidFill>
                  <a:srgbClr val="222222"/>
                </a:solidFill>
                <a:latin typeface="맑은 고딕"/>
              </a:rPr>
              <a:t>•  RFS 계열 행 1 이상</a:t>
            </a:r>
          </a:p>
          <a:p>
            <a:pPr algn="l">
              <a:spcAft>
                <a:spcPts val="1000"/>
              </a:spcAft>
            </a:pPr>
            <a:r>
              <a:rPr sz="1700" b="0">
                <a:solidFill>
                  <a:srgbClr val="222222"/>
                </a:solidFill>
                <a:latin typeface="맑은 고딕"/>
              </a:rPr>
              <a:t>•  V$ARCHIVE_GAP 행 수 = 0</a:t>
            </a:r>
          </a:p>
          <a:p>
            <a:pPr algn="l">
              <a:spcAft>
                <a:spcPts val="1000"/>
              </a:spcAft>
            </a:pPr>
            <a:r>
              <a:rPr sz="1700" b="0">
                <a:solidFill>
                  <a:srgbClr val="222222"/>
                </a:solidFill>
                <a:latin typeface="맑은 고딕"/>
              </a:rPr>
              <a:t>•  apply lag를 초로 환산해 기준과 비교</a:t>
            </a:r>
          </a:p>
          <a:p>
            <a:pPr algn="l">
              <a:spcAft>
                <a:spcPts val="1000"/>
              </a:spcAft>
            </a:pPr>
            <a:r>
              <a:rPr sz="1700" b="0">
                <a:solidFill>
                  <a:srgbClr val="222222"/>
                </a:solidFill>
                <a:latin typeface="맑은 고딕"/>
              </a:rPr>
              <a:t>•  SYSDATE와 DATUM_TIME 차이가 수십 초 이내</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임계값과 운영 연계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기준은 업무에서 거꾸로 정한다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transport lag ↔ RPO, apply lag·finish time ↔ RTO</a:t>
            </a:r>
          </a:p>
          <a:p>
            <a:pPr algn="l">
              <a:spcAft>
                <a:spcPts val="1000"/>
              </a:spcAft>
            </a:pPr>
            <a:r>
              <a:rPr sz="1700" b="0">
                <a:solidFill>
                  <a:srgbClr val="222222"/>
                </a:solidFill>
                <a:latin typeface="맑은 고딕"/>
              </a:rPr>
              <a:t>•  주의와 경보 두 단계로 판정</a:t>
            </a:r>
          </a:p>
          <a:p>
            <a:pPr algn="l">
              <a:spcAft>
                <a:spcPts val="1000"/>
              </a:spcAft>
            </a:pPr>
            <a:r>
              <a:rPr sz="1700" b="0">
                <a:solidFill>
                  <a:srgbClr val="222222"/>
                </a:solidFill>
                <a:latin typeface="맑은 고딕"/>
              </a:rPr>
              <a:t>•  양쪽을 같은 주기, 같은 시각에 실행</a:t>
            </a:r>
          </a:p>
          <a:p>
            <a:pPr algn="l">
              <a:spcAft>
                <a:spcPts val="1000"/>
              </a:spcAft>
            </a:pPr>
            <a:r>
              <a:rPr sz="1700" b="0">
                <a:solidFill>
                  <a:srgbClr val="222222"/>
                </a:solidFill>
                <a:latin typeface="맑은 고딕"/>
              </a:rPr>
              <a:t>•  Broker 임계값 속성과 함께 운영</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Logical Standby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물리 Standby용 뷰가 조용해지는 이유</a:t>
            </a:r>
          </a:p>
          <a:p>
            <a:pPr algn="l">
              <a:spcAft>
                <a:spcPts val="800"/>
              </a:spcAft>
            </a:pPr>
            <a:r>
              <a:rPr sz="1600" b="0">
                <a:solidFill>
                  <a:srgbClr val="FFFFFF"/>
                </a:solidFill>
                <a:latin typeface="맑은 고딕"/>
              </a:rPr>
              <a:t>•  상태와 진행, 트랜잭션</a:t>
            </a:r>
          </a:p>
          <a:p>
            <a:pPr algn="l">
              <a:spcAft>
                <a:spcPts val="800"/>
              </a:spcAft>
            </a:pPr>
            <a:r>
              <a:rPr sz="1600" b="0">
                <a:solidFill>
                  <a:srgbClr val="FFFFFF"/>
                </a:solidFill>
                <a:latin typeface="맑은 고딕"/>
              </a:rPr>
              <a:t>•  이벤트와 멈춘 적용</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물리 Standby용 뷰가 조용해진다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적용 쪽 뷰 계열이 통째로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MRP 대신 LSP와 SQL Apply 프로세스들</a:t>
            </a:r>
          </a:p>
          <a:p>
            <a:pPr algn="l">
              <a:spcAft>
                <a:spcPts val="1000"/>
              </a:spcAft>
            </a:pPr>
            <a:r>
              <a:rPr sz="1700" b="0">
                <a:solidFill>
                  <a:srgbClr val="222222"/>
                </a:solidFill>
                <a:latin typeface="맑은 고딕"/>
              </a:rPr>
              <a:t>•  받은 로그는 DBA_LOGSTDBY_LOG에 등록</a:t>
            </a:r>
          </a:p>
          <a:p>
            <a:pPr algn="l">
              <a:spcAft>
                <a:spcPts val="1000"/>
              </a:spcAft>
            </a:pPr>
            <a:r>
              <a:rPr sz="1700" b="0">
                <a:solidFill>
                  <a:srgbClr val="222222"/>
                </a:solidFill>
                <a:latin typeface="맑은 고딕"/>
              </a:rPr>
              <a:t>•  V$ARCHIVE_GAP, V$RECOVERY_PROGRESS는 비어 있음</a:t>
            </a:r>
          </a:p>
          <a:p>
            <a:pPr algn="l">
              <a:spcAft>
                <a:spcPts val="1000"/>
              </a:spcAft>
            </a:pPr>
            <a:r>
              <a:rPr sz="1700" b="0">
                <a:solidFill>
                  <a:srgbClr val="222222"/>
                </a:solidFill>
                <a:latin typeface="맑은 고딕"/>
              </a:rPr>
              <a:t>•  물리용 점검 스크립트는 정상으로 오판</a:t>
            </a:r>
          </a:p>
          <a:p>
            <a:pPr algn="l">
              <a:spcAft>
                <a:spcPts val="1000"/>
              </a:spcAft>
            </a:pPr>
            <a:r>
              <a:rPr sz="1700" b="0">
                <a:solidFill>
                  <a:srgbClr val="222222"/>
                </a:solidFill>
                <a:latin typeface="맑은 고딕"/>
              </a:rPr>
              <a:t>•  전송 쪽 뷰는 물리 Standby와 같다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상태와 진행</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STATE와 SCN으로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V$LOGSTDBY_STATE: APPLYING, IDLE, WAITING ON GAP 등</a:t>
            </a:r>
          </a:p>
          <a:p>
            <a:pPr algn="l">
              <a:spcAft>
                <a:spcPts val="1000"/>
              </a:spcAft>
            </a:pPr>
            <a:r>
              <a:rPr sz="1700" b="0">
                <a:solidFill>
                  <a:srgbClr val="222222"/>
                </a:solidFill>
                <a:latin typeface="맑은 고딕"/>
              </a:rPr>
              <a:t>•  REALTIME_APPLY: Y이면 실시간 적용</a:t>
            </a:r>
          </a:p>
          <a:p>
            <a:pPr algn="l">
              <a:spcAft>
                <a:spcPts val="1000"/>
              </a:spcAft>
            </a:pPr>
            <a:r>
              <a:rPr sz="1700" b="0">
                <a:solidFill>
                  <a:srgbClr val="222222"/>
                </a:solidFill>
                <a:latin typeface="맑은 고딕"/>
              </a:rPr>
              <a:t>•  V$LOGSTDBY_PROGRESS: APPLIED_SCN, LATEST_SCN</a:t>
            </a:r>
          </a:p>
          <a:p>
            <a:pPr algn="l">
              <a:spcAft>
                <a:spcPts val="1000"/>
              </a:spcAft>
            </a:pPr>
            <a:r>
              <a:rPr sz="1700" b="0">
                <a:solidFill>
                  <a:srgbClr val="222222"/>
                </a:solidFill>
                <a:latin typeface="맑은 고딕"/>
              </a:rPr>
              <a:t>•  LATEST 멈춤은 수신, APPLIED만 멈춤은 적용 문제</a:t>
            </a:r>
          </a:p>
          <a:p>
            <a:pPr algn="l">
              <a:spcAft>
                <a:spcPts val="1000"/>
              </a:spcAft>
            </a:pPr>
            <a:r>
              <a:rPr sz="1700" b="0">
                <a:solidFill>
                  <a:srgbClr val="222222"/>
                </a:solidFill>
                <a:latin typeface="맑은 고딕"/>
              </a:rPr>
              <a:t>•  RESTART_SCN 이전 로그는 삭제 가능</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V$LOGSTDBY_TRANSACTION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지금 처리 중인 Primary 트랜잭션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PRIMARY_XID, TYPE, MINING_STATUS, APPLY_STATUS</a:t>
            </a:r>
          </a:p>
          <a:p>
            <a:pPr algn="l">
              <a:spcAft>
                <a:spcPts val="1000"/>
              </a:spcAft>
            </a:pPr>
            <a:r>
              <a:rPr sz="1700" b="0">
                <a:solidFill>
                  <a:srgbClr val="222222"/>
                </a:solidFill>
                <a:latin typeface="맑은 고딕"/>
              </a:rPr>
              <a:t>•  ID는 Primary에서 부여된 트랜잭션 ID</a:t>
            </a:r>
          </a:p>
          <a:p>
            <a:pPr algn="l">
              <a:spcAft>
                <a:spcPts val="1000"/>
              </a:spcAft>
            </a:pPr>
            <a:r>
              <a:rPr sz="1700" b="0">
                <a:solidFill>
                  <a:srgbClr val="222222"/>
                </a:solidFill>
                <a:latin typeface="맑은 고딕"/>
              </a:rPr>
              <a:t>•  Standby의 실제 트랜잭션은 V$TRANSACTION</a:t>
            </a:r>
          </a:p>
          <a:p>
            <a:pPr algn="l">
              <a:spcAft>
                <a:spcPts val="1000"/>
              </a:spcAft>
            </a:pPr>
            <a:r>
              <a:rPr sz="1700" b="0">
                <a:solidFill>
                  <a:srgbClr val="222222"/>
                </a:solidFill>
                <a:latin typeface="맑은 고딕"/>
              </a:rPr>
              <a:t>•  오래 머무는 트랜잭션이 지연의 후보</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DBA_LOGSTDBY_EVENTS와 멈춘 적용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실패한 문장과 오류가 남는다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EVENT_TIME, XID, EVENT, STATUS_CODE, STATUS</a:t>
            </a:r>
          </a:p>
          <a:p>
            <a:pPr algn="l">
              <a:spcAft>
                <a:spcPts val="1000"/>
              </a:spcAft>
            </a:pPr>
            <a:r>
              <a:rPr sz="1700" b="0">
                <a:solidFill>
                  <a:srgbClr val="222222"/>
                </a:solidFill>
                <a:latin typeface="맑은 고딕"/>
              </a:rPr>
              <a:t>•  보관 건수는 MAX_EVENTS_RECORDED로 조정</a:t>
            </a:r>
          </a:p>
          <a:p>
            <a:pPr algn="l">
              <a:spcAft>
                <a:spcPts val="1000"/>
              </a:spcAft>
            </a:pPr>
            <a:r>
              <a:rPr sz="1700" b="0">
                <a:solidFill>
                  <a:srgbClr val="222222"/>
                </a:solidFill>
                <a:latin typeface="맑은 고딕"/>
              </a:rPr>
              <a:t>•  원인을 고친 뒤 다시 시작</a:t>
            </a:r>
          </a:p>
          <a:p>
            <a:pPr algn="l">
              <a:spcAft>
                <a:spcPts val="1000"/>
              </a:spcAft>
            </a:pPr>
            <a:r>
              <a:rPr sz="1700" b="0">
                <a:solidFill>
                  <a:srgbClr val="222222"/>
                </a:solidFill>
                <a:latin typeface="맑은 고딕"/>
              </a:rPr>
              <a:t>•  SKIP FAILED TRANSACTION은 정합성을 사람이 책임</a:t>
            </a:r>
          </a:p>
          <a:p>
            <a:pPr algn="l">
              <a:spcAft>
                <a:spcPts val="1000"/>
              </a:spcAft>
            </a:pPr>
            <a:r>
              <a:rPr sz="1700" b="0">
                <a:solidFill>
                  <a:srgbClr val="222222"/>
                </a:solidFill>
                <a:latin typeface="맑은 고딕"/>
              </a:rPr>
              <a:t>•  반복되는 유형은 SKIP 규칙 검토</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15.10</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운영 시 주의점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역할 확인 후 해석</a:t>
            </a:r>
          </a:p>
          <a:p>
            <a:pPr algn="l">
              <a:spcAft>
                <a:spcPts val="800"/>
              </a:spcAft>
            </a:pPr>
            <a:r>
              <a:rPr sz="1600" b="0">
                <a:solidFill>
                  <a:srgbClr val="FFFFFF"/>
                </a:solidFill>
                <a:latin typeface="맑은 고딕"/>
              </a:rPr>
              <a:t>•  과거 오류와 현재 오류 구분</a:t>
            </a:r>
          </a:p>
          <a:p>
            <a:pPr algn="l">
              <a:spcAft>
                <a:spcPts val="800"/>
              </a:spcAft>
            </a:pPr>
            <a:r>
              <a:rPr sz="1600" b="0">
                <a:solidFill>
                  <a:srgbClr val="FFFFFF"/>
                </a:solidFill>
                <a:latin typeface="맑은 고딕"/>
              </a:rPr>
              <a:t>•  메모리 뷰와 로그의 보존 차이</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 시 주의점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조회 결과를 읽는 순간의 실수들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역할을 먼저 확인하고 값을 해석</a:t>
            </a:r>
          </a:p>
          <a:p>
            <a:pPr algn="l">
              <a:spcAft>
                <a:spcPts val="1000"/>
              </a:spcAft>
            </a:pPr>
            <a:r>
              <a:rPr sz="1700" b="0">
                <a:solidFill>
                  <a:srgbClr val="222222"/>
                </a:solidFill>
                <a:latin typeface="맑은 고딕"/>
              </a:rPr>
              <a:t>•  ERROR와 이력 오류는 시각과 함께</a:t>
            </a:r>
          </a:p>
          <a:p>
            <a:pPr algn="l">
              <a:spcAft>
                <a:spcPts val="1000"/>
              </a:spcAft>
            </a:pPr>
            <a:r>
              <a:rPr sz="1700" b="0">
                <a:solidFill>
                  <a:srgbClr val="222222"/>
                </a:solidFill>
                <a:latin typeface="맑은 고딕"/>
              </a:rPr>
              <a:t>•  메모리 뷰는 재기동 시 사라짐, 로그로 보존</a:t>
            </a:r>
          </a:p>
          <a:p>
            <a:pPr algn="l">
              <a:spcAft>
                <a:spcPts val="1000"/>
              </a:spcAft>
            </a:pPr>
            <a:r>
              <a:rPr sz="1700" b="0">
                <a:solidFill>
                  <a:srgbClr val="222222"/>
                </a:solidFill>
                <a:latin typeface="맑은 고딕"/>
              </a:rPr>
              <a:t>•  Logical Standby 갈래를 점검에 따로</a:t>
            </a:r>
          </a:p>
          <a:p>
            <a:pPr algn="l">
              <a:spcAft>
                <a:spcPts val="1000"/>
              </a:spcAft>
            </a:pPr>
            <a:r>
              <a:rPr sz="1700" b="0">
                <a:solidFill>
                  <a:srgbClr val="222222"/>
                </a:solidFill>
                <a:latin typeface="맑은 고딕"/>
              </a:rPr>
              <a:t>•  두 서버 시계 동기화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Broker는 요약, 원인 숫자와 ORA- 번호는 V$ 뷰와 경고 로그</a:t>
            </a:r>
          </a:p>
          <a:p>
            <a:pPr algn="l">
              <a:spcAft>
                <a:spcPts val="1000"/>
              </a:spcAft>
            </a:pPr>
            <a:r>
              <a:rPr sz="1600" b="0">
                <a:solidFill>
                  <a:srgbClr val="222222"/>
                </a:solidFill>
                <a:latin typeface="맑은 고딕"/>
              </a:rPr>
              <a:t>•  Primary는 전송, Standby는 수신·적용·지연을 안다</a:t>
            </a:r>
          </a:p>
          <a:p>
            <a:pPr algn="l">
              <a:spcAft>
                <a:spcPts val="1000"/>
              </a:spcAft>
            </a:pPr>
            <a:r>
              <a:rPr sz="1600" b="0">
                <a:solidFill>
                  <a:srgbClr val="222222"/>
                </a:solidFill>
                <a:latin typeface="맑은 고딕"/>
              </a:rPr>
              <a:t>•  V$ARCHIVE_DEST는 내 전송, _STATUS는 목적지 너머</a:t>
            </a:r>
          </a:p>
          <a:p>
            <a:pPr algn="l">
              <a:spcAft>
                <a:spcPts val="1000"/>
              </a:spcAft>
            </a:pPr>
            <a:r>
              <a:rPr sz="1600" b="0">
                <a:solidFill>
                  <a:srgbClr val="222222"/>
                </a:solidFill>
                <a:latin typeface="맑은 고딕"/>
              </a:rPr>
              <a:t>•  적용은 managed recovery·ACTION·Apply Rate로 판정</a:t>
            </a:r>
          </a:p>
          <a:p>
            <a:pPr algn="l">
              <a:spcAft>
                <a:spcPts val="1000"/>
              </a:spcAft>
            </a:pPr>
            <a:r>
              <a:rPr sz="1600" b="0">
                <a:solidFill>
                  <a:srgbClr val="222222"/>
                </a:solidFill>
                <a:latin typeface="맑은 고딕"/>
              </a:rPr>
              <a:t>•  진단: 갈래 정하기 → ERROR 열 → 경고 로그 → 트레이스</a:t>
            </a:r>
          </a:p>
          <a:p>
            <a:pPr algn="l">
              <a:spcAft>
                <a:spcPts val="1000"/>
              </a:spcAft>
            </a:pPr>
            <a:r>
              <a:rPr sz="1600" b="0">
                <a:solidFill>
                  <a:srgbClr val="222222"/>
                </a:solidFill>
                <a:latin typeface="맑은 고딕"/>
              </a:rPr>
              <a:t>•  점검은 역할 분기·숫자 판정·신선도, Logical은 별도 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Broker 끊김 경고의 원인을 먼저 볼 곳은? → Primary ERROR 열</a:t>
            </a:r>
          </a:p>
          <a:p>
            <a:pPr algn="l">
              <a:spcAft>
                <a:spcPts val="1000"/>
              </a:spcAft>
            </a:pPr>
            <a:r>
              <a:rPr sz="1600" b="0">
                <a:solidFill>
                  <a:srgbClr val="222222"/>
                </a:solidFill>
                <a:latin typeface="맑은 고딕"/>
              </a:rPr>
              <a:t>•  Q2. 대비용 목적지의 WRONG VALID_ROLE은? → 정상</a:t>
            </a:r>
          </a:p>
          <a:p>
            <a:pPr algn="l">
              <a:spcAft>
                <a:spcPts val="1000"/>
              </a:spcAft>
            </a:pPr>
            <a:r>
              <a:rPr sz="1600" b="0">
                <a:solidFill>
                  <a:srgbClr val="222222"/>
                </a:solidFill>
                <a:latin typeface="맑은 고딕"/>
              </a:rPr>
              <a:t>•  Q3. APPLIED 최대 순번이 현재보다 1 작으면? → 실시간 적용 정상</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Q4. 리스너 복구 후에도 ERROR가 남으면? → REOPEN_SECS 대기</a:t>
            </a:r>
          </a:p>
          <a:p>
            <a:pPr algn="l">
              <a:spcAft>
                <a:spcPts val="1000"/>
              </a:spcAft>
            </a:pPr>
            <a:r>
              <a:rPr sz="1600" b="0">
                <a:solidFill>
                  <a:srgbClr val="222222"/>
                </a:solidFill>
                <a:latin typeface="맑은 고딕"/>
              </a:rPr>
              <a:t>•  Q5. LOG_ARCHIVE_TRACE=6이면? → 수준 2와 4</a:t>
            </a:r>
          </a:p>
          <a:p>
            <a:pPr algn="l">
              <a:spcAft>
                <a:spcPts val="1000"/>
              </a:spcAft>
            </a:pPr>
            <a:r>
              <a:rPr sz="1600" b="0">
                <a:solidFill>
                  <a:srgbClr val="222222"/>
                </a:solidFill>
                <a:latin typeface="맑은 고딕"/>
              </a:rPr>
              <a:t>•  Q6. Logical에서 물리용 점검이 무경보면? → 뷰가 비어 오판</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로그 파일과 SRL / 02 아카이브 목적지 (15.3, 15.4)</a:t>
            </a:r>
          </a:p>
          <a:p>
            <a:pPr algn="l">
              <a:spcAft>
                <a:spcPts val="1000"/>
              </a:spcAft>
            </a:pPr>
            <a:r>
              <a:rPr sz="1600" b="0">
                <a:solidFill>
                  <a:srgbClr val="222222"/>
                </a:solidFill>
                <a:latin typeface="맑은 고딕"/>
              </a:rPr>
              <a:t>•  03 전송 중단 재현과 진단 (15.6)</a:t>
            </a:r>
          </a:p>
          <a:p>
            <a:pPr algn="l">
              <a:spcAft>
                <a:spcPts val="1000"/>
              </a:spcAft>
            </a:pPr>
            <a:r>
              <a:rPr sz="1600" b="0">
                <a:solidFill>
                  <a:srgbClr val="222222"/>
                </a:solidFill>
                <a:latin typeface="맑은 고딕"/>
              </a:rPr>
              <a:t>•  04 적용의 진행과 APPLIED (15.5)</a:t>
            </a:r>
          </a:p>
          <a:p>
            <a:pPr algn="l">
              <a:spcAft>
                <a:spcPts val="1000"/>
              </a:spcAft>
            </a:pPr>
            <a:r>
              <a:rPr sz="1600" b="0">
                <a:solidFill>
                  <a:srgbClr val="222222"/>
                </a:solidFill>
                <a:latin typeface="맑은 고딕"/>
              </a:rPr>
              <a:t>•  05 LOG_ARCHIVE_TRACE (15.7)</a:t>
            </a:r>
          </a:p>
          <a:p>
            <a:pPr algn="l">
              <a:spcAft>
                <a:spcPts val="1000"/>
              </a:spcAft>
            </a:pPr>
            <a:r>
              <a:rPr sz="1600" b="0">
                <a:solidFill>
                  <a:srgbClr val="222222"/>
                </a:solidFill>
                <a:latin typeface="맑은 고딕"/>
              </a:rPr>
              <a:t>•  06 상시 점검 스크립트 (15.8)</a:t>
            </a:r>
          </a:p>
          <a:p>
            <a:pPr algn="l">
              <a:spcAft>
                <a:spcPts val="1000"/>
              </a:spcAft>
            </a:pPr>
            <a:r>
              <a:rPr sz="1600" b="0">
                <a:solidFill>
                  <a:srgbClr val="222222"/>
                </a:solidFill>
                <a:latin typeface="맑은 고딕"/>
              </a:rPr>
              <a:t>•  07 Logical Standby 모니터링 (15.9)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
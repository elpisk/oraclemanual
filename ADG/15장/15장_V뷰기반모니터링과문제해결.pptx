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2" Type="http://schemas.openxmlformats.org/officeDocument/2006/relationships/notesMaster" Target="notesMasters/notesMaster1.xml"/><Relationship Id="rId62" Type="http://schemas.openxmlformats.org/officeDocument/2006/relationships/slide" Target="slides/slide1.xml"/><Relationship Id="rId63" Type="http://schemas.openxmlformats.org/officeDocument/2006/relationships/slide" Target="slides/slide2.xml"/><Relationship Id="rId64" Type="http://schemas.openxmlformats.org/officeDocument/2006/relationships/slide" Target="slides/slide3.xml"/><Relationship Id="rId65" Type="http://schemas.openxmlformats.org/officeDocument/2006/relationships/slide" Target="slides/slide4.xml"/><Relationship Id="rId66" Type="http://schemas.openxmlformats.org/officeDocument/2006/relationships/slide" Target="slides/slide5.xml"/><Relationship Id="rId67" Type="http://schemas.openxmlformats.org/officeDocument/2006/relationships/slide" Target="slides/slide6.xml"/><Relationship Id="rId68" Type="http://schemas.openxmlformats.org/officeDocument/2006/relationships/slide" Target="slides/slide7.xml"/><Relationship Id="rId69" Type="http://schemas.openxmlformats.org/officeDocument/2006/relationships/slide" Target="slides/slide8.xml"/><Relationship Id="rId70" Type="http://schemas.openxmlformats.org/officeDocument/2006/relationships/slide" Target="slides/slide9.xml"/><Relationship Id="rId71" Type="http://schemas.openxmlformats.org/officeDocument/2006/relationships/slide" Target="slides/slide10.xml"/><Relationship Id="rId72" Type="http://schemas.openxmlformats.org/officeDocument/2006/relationships/slide" Target="slides/slide11.xml"/><Relationship Id="rId73" Type="http://schemas.openxmlformats.org/officeDocument/2006/relationships/slide" Target="slides/slide12.xml"/><Relationship Id="rId74" Type="http://schemas.openxmlformats.org/officeDocument/2006/relationships/slide" Target="slides/slide13.xml"/><Relationship Id="rId75" Type="http://schemas.openxmlformats.org/officeDocument/2006/relationships/slide" Target="slides/slide14.xml"/><Relationship Id="rId76" Type="http://schemas.openxmlformats.org/officeDocument/2006/relationships/slide" Target="slides/slide15.xml"/><Relationship Id="rId77" Type="http://schemas.openxmlformats.org/officeDocument/2006/relationships/slide" Target="slides/slide16.xml"/><Relationship Id="rId78" Type="http://schemas.openxmlformats.org/officeDocument/2006/relationships/slide" Target="slides/slide17.xml"/><Relationship Id="rId79" Type="http://schemas.openxmlformats.org/officeDocument/2006/relationships/slide" Target="slides/slide18.xml"/><Relationship Id="rId80" Type="http://schemas.openxmlformats.org/officeDocument/2006/relationships/slide" Target="slides/slide19.xml"/><Relationship Id="rId81" Type="http://schemas.openxmlformats.org/officeDocument/2006/relationships/slide" Target="slides/slide20.xml"/><Relationship Id="rId82" Type="http://schemas.openxmlformats.org/officeDocument/2006/relationships/slide" Target="slides/slide21.xml"/><Relationship Id="rId83" Type="http://schemas.openxmlformats.org/officeDocument/2006/relationships/slide" Target="slides/slide22.xml"/><Relationship Id="rId84" Type="http://schemas.openxmlformats.org/officeDocument/2006/relationships/slide" Target="slides/slide23.xml"/><Relationship Id="rId85" Type="http://schemas.openxmlformats.org/officeDocument/2006/relationships/slide" Target="slides/slide24.xml"/><Relationship Id="rId86" Type="http://schemas.openxmlformats.org/officeDocument/2006/relationships/slide" Target="slides/slide25.xml"/><Relationship Id="rId87" Type="http://schemas.openxmlformats.org/officeDocument/2006/relationships/slide" Target="slides/slide26.xml"/><Relationship Id="rId88" Type="http://schemas.openxmlformats.org/officeDocument/2006/relationships/slide" Target="slides/slide27.xml"/><Relationship Id="rId89" Type="http://schemas.openxmlformats.org/officeDocument/2006/relationships/slide" Target="slides/slide28.xml"/><Relationship Id="rId90" Type="http://schemas.openxmlformats.org/officeDocument/2006/relationships/slide" Target="slides/slide29.xml"/><Relationship Id="rId91" Type="http://schemas.openxmlformats.org/officeDocument/2006/relationships/slide" Target="slides/slide30.xml"/><Relationship Id="rId92" Type="http://schemas.openxmlformats.org/officeDocument/2006/relationships/slide" Target="slides/slide31.xml"/><Relationship Id="rId93" Type="http://schemas.openxmlformats.org/officeDocument/2006/relationships/slide" Target="slides/slide32.xml"/><Relationship Id="rId94" Type="http://schemas.openxmlformats.org/officeDocument/2006/relationships/slide" Target="slides/slide33.xml"/><Relationship Id="rId95" Type="http://schemas.openxmlformats.org/officeDocument/2006/relationships/slide" Target="slides/slide34.xml"/><Relationship Id="rId96" Type="http://schemas.openxmlformats.org/officeDocument/2006/relationships/slide" Target="slides/slide35.xml"/><Relationship Id="rId97" Type="http://schemas.openxmlformats.org/officeDocument/2006/relationships/slide" Target="slides/slide36.xml"/><Relationship Id="rId98" Type="http://schemas.openxmlformats.org/officeDocument/2006/relationships/slide" Target="slides/slide37.xml"/><Relationship Id="rId99" Type="http://schemas.openxmlformats.org/officeDocument/2006/relationships/slide" Target="slides/slide38.xml"/><Relationship Id="rId100" Type="http://schemas.openxmlformats.org/officeDocument/2006/relationships/slide" Target="slides/slide39.xml"/><Relationship Id="rId101" Type="http://schemas.openxmlformats.org/officeDocument/2006/relationships/slide" Target="slides/slide40.xml"/><Relationship Id="rId102" Type="http://schemas.openxmlformats.org/officeDocument/2006/relationships/slide" Target="slides/slide41.xml"/><Relationship Id="rId103" Type="http://schemas.openxmlformats.org/officeDocument/2006/relationships/slide" Target="slides/slide42.xml"/><Relationship Id="rId104" Type="http://schemas.openxmlformats.org/officeDocument/2006/relationships/slide" Target="slides/slide43.xml"/><Relationship Id="rId105" Type="http://schemas.openxmlformats.org/officeDocument/2006/relationships/slide" Target="slides/slide44.xml"/><Relationship Id="rId106" Type="http://schemas.openxmlformats.org/officeDocument/2006/relationships/slide" Target="slides/slide45.xml"/><Relationship Id="rId107" Type="http://schemas.openxmlformats.org/officeDocument/2006/relationships/slide" Target="slides/slide46.xml"/><Relationship Id="rId108" Type="http://schemas.openxmlformats.org/officeDocument/2006/relationships/slide" Target="slides/slide47.xml"/><Relationship Id="rId109" Type="http://schemas.openxmlformats.org/officeDocument/2006/relationships/slide" Target="slides/slide48.xml"/><Relationship Id="rId110" Type="http://schemas.openxmlformats.org/officeDocument/2006/relationships/slide" Target="slides/slide49.xml"/><Relationship Id="rId111" Type="http://schemas.openxmlformats.org/officeDocument/2006/relationships/slide" Target="slides/slide50.xml"/><Relationship Id="rId112" Type="http://schemas.openxmlformats.org/officeDocument/2006/relationships/slide" Target="slides/slide51.xml"/><Relationship Id="rId113" Type="http://schemas.openxmlformats.org/officeDocument/2006/relationships/slide" Target="slides/slide52.xml"/><Relationship Id="rId114"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14장은 Broker 의 화면을 읽었다. 이 장은 그 화면 아래에 있는 뷰를 직접 읽는다. 요약은 빨리 알려 주지만 원인을 말해 주지 않는다. 그리고 이 장 내내 만나는 함정은 조회가 실패하는 경우가 아니라 조회는 성공하는데 값을 잘못 읽는 경우다. 절반이 NO 로 보이는 APPLIED, 0 으로 나오는 APPLIED_SEQ#, 비어 있는 갭 뷰가 전부 그런 예다. 값이 무엇을 뜻하는지 아는 것이 이 장의 목표다.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의 V$LOG 에서 CURRENT 는 하나뿐이어야 하고 아카이브되지 않은 것은 CURRENT 하나뿐이어야 한다. ACTIVE 이면서 아직 아카이브되지 않은 그룹이 여러 개 쌓이면 아카이버가 따라가지 못한다는 뜻이며, 결국 재사용할 그룹이 없어 로그 전환이 멈춘다. 실측에서 CURRENT 는 74번이었다. 이 숫자를 기억해 두고 Standby 쪽에서 같은 숫자를 찾는 것이 이 절의 흐름이다.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 의 V$LOG 를 보면 시퀀스가 전부 0 이라 놀라는 경우가 많다. 리두는 Primary 가 만들고 Standby 는 받기만 하므로 자기 온라인 리두는 쓰이지 않는 것이 정상이다. 역할이 바뀐 뒤를 위해 있는 그룹이다. V$LOGFILE 의 행 수가 양쪽에서 다른 것은 boston 이 6장에서 OMF 로 복제되며 그룹마다 멤버가 둘이 되었기 때문이다. STATUS 열은 INVALID, STALE, DELETED 일 때만 값이 들어가므로 비어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 에서 리두를 받고 있는지 알려면 V$LOG 가 아니라 V$STANDBY_LOG 를 본다. ACTIVE 인 그룹이 정확히 하나이고 그 시퀀스가 Primary 의 CURRENT 와 같으면 정상이다. ACTIVE 가 0개가 되는 상황이 이 장의 15.4절에서 만드는 전송 중단이며, 15.7절 점검표의 핵심 지표가 된다. 같은 뷰를 Primary 에서 조회하면 오류 없이 전부 UNASSIGNED 가 나온다. 뷰가 있다는 것과 값이 있다는 것은 다르다.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것을 다섯 줄의 SQL 로 묶는다. Broker 의 SHOW 한 줄보다 손이 많이 가지만 각 줄이 무엇을 뜻하는지 알고 보므로 문제가 생겼을 때 어디를 볼지 바로 알 수 있다. 특히 ③과 ④가 중요하다. 두 지연 값은 전송이 끊겨도 0 으로 남는 경우가 있지만 SRL 의 ACTIVE 와 시퀀스 비교는 끊김을 바로 드러낸다. 이 다섯 줄이 15.7절 점검 스크립트의 뼈대가 된다.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뷰는 이름이 비슷하고 둘 다 STATUS 열이 있어 자주 혼동된다. V$ARCHIVE_DEST 는 목적지가 어떻게 설정되어 있는가를, V$ARCHIVE_DEST_STATUS 는 지금 어떤 상태인가를 보여 준다. 화면만 보고 어느 뷰인지 가려야 할 때는 RECOVERY_MODE 와 VALID_NOW 같은 고유한 열을 본다. 정상일 때 두 뷰 모두 STATUS 가 VALID 이고 ERROR 가 비어 있으며 이것이 이후 진단의 기준선이 된다.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V$ARCHIVE_DEST 는 열이 40개가 넘어 이름을 정확히 기억하기 어렵다. 오타가 나면 ORA-00904 가 나오는데, 이 번호는 열 이름이 틀렸다는 뜻이다. 뷰 이름이 틀렸거나 권한이 없으면 ORA-00942 다. 번호만 보고 어디를 고칠지 정할 수 있다. 이 규칙은 15.8절에서 19c 의 V$LOGSTDBY_TRANSACTION 열 이름이 문서와 다를 때 그대로 다시 쓰인다.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7장에서 VALID_FOR 속성으로 적은 값이 이 뷰에서는 VALID_TYPE 과 VALID_ROLE 두 열로 분해되어 나온다. 로컬 목적지가 SYNCHRONOUS 로 나와서 보호 모드가 바뀐 것인가 의심하는 경우가 있는데, 로컬 디스크에 쓰는 동작이므로 네트워크 전송과는 관계가 없다. 반면 원격 목적지의 AFFIRM 값은 보호 모드와 직접 연결된다. MaxPerformance 에서는 Standby 의 쓰기 완료를 기다리지 않으므로 NO 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VALID_NOW 로 묶어 세면 UNKNOWN 이 29개 나온다. 19c 는 목적지 31개를 모두 보여 주고 쓰지 않는 목적지는 설정이 비어 있어 UNKNOWN 이다. 문제는 10장에서 Far Sync 목적지를 막 설정한 직후에도 UNKNOWN 이었다는 점이다. 쓰지 않는 목적지와 아직 계산되지 않은 목적지가 같은 값으로 보이므로, DESTINATION 열이 비어 있는지를 함께 봐서 둘을 가른다.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14장에서는 Broker 속성으로 전송을 끄는 의도한 중단을 만들었고 SHOW 는 SUCCESS 를 냈다. 이번에는 실제 장애와 같은 상황을 만든다. Standby 의 리스너를 내리면 데이터베이스는 살아 있지만 Primary 가 접속할 수 없다. Linux Error 111 Connection refused 까지 나오므로 포트가 닫혔다는 것이 분명하다. 그 상태에서 Primary 에 변경을 만들고 로그를 두 번 전환해 보낼 것이 쌓이게 한다.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45초 뒤 Primary 의 V$ARCHIVE_DEST 를 보면 세 열이 동시에 바뀌어 있다. 이 중 가장 값진 것은 ERROR 열이다. 실제 오류 번호와 문구가 그대로 들어 있어 원인을 바로 알 수 있다. Broker 의 SHOW 는 문제가 있다는 것까지만 말하고 원인은 이 층에서 찾는다. VALID_NOW 의 INACTIVE 는 앞 절에서 본 값으로, 설정은 유효한데 지금 동작하지 않는다는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울렸을 때 가장 먼저 확인할 두 값이다. LOG_ARCHIVE_DEST_STATE_2 파라미터와 목적지의 STATUS 를 함께 보면 이것이 장애인지, Broker 나 사람이 의도적으로 끈 것인지가 갈린다. 이번 실측에서 파라미터는 ENABLE 그대로였고 STATUS 만 ERROR 였으므로 장애다. 14장에서 Broker 로 껐을 때는 RESET 이었고 7장에서 SQL 로 껐을 때는 DEFER 였다.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14장에서 정한 ERROR_CODE 가 0 이 아닌 행만 보는 조건이 이번에는 실제로 오류를 잡아냈다. 흥미로운 것은 두 번째 행이다. SEVERITY 가 Warning 인데 ERROR_CODE 는 12541 이고, 리스너가 떠 있는지 확인하라는 조치까지 담고 있다. 14장에서는 Warning 이지만 정상인 행을 봤으므로, 두 사례를 합치면 SEVERITY 로는 판정할 수 없고 ERROR_CODE 로 판정해야 한다는 결론이 나온다.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알림 로그에는 뷰에 없는 정보가 있다. 접속 문자열 전체가 나오므로 tnsnames 설정이 틀렸다면 여기서 드러나고, 어느 프로세스가 실패했는지와 그 트레이스 파일 이름도 알 수 있다. 가장 중요한 줄은 archiver continuing 이다. Standby 로 보내지 못해도 Primary 의 아카이버는 멈추지 않았다. 보호 모드가 MaxPerformance 이기 때문이며, MaxProtection 이었다면 Primary 가 멈췄을 것이다.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 에서 두 지연을 보면 실제 장애인데도 0 이다. 14장에서 확인한 성질이 그대로 나타났다. 리두가 오지 않으니 늦었다고 계산할 기준 자체가 갱신되지 않는다. 대신 프로세스를 보면 변화가 분명하다. MRP0 은 다음 리두를 기다리고 LGWR 에서 오던 RFS 는 사라졌으며 ACTIVE 인 SRL 도 없어졌다. 갭 뷰는 비어 있었는데, Standby 가 Primary 와 통신해야 갭을 인식할 수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Broker 도 경보를 냈다. 의도한 상태가 아니고 TransportDisconnectedThreshold 라는 30초짜리 임계값이 있기 때문이다. 14장의 규칙, 즉 임계값이 있는 항목만 경보한다는 것이 그대로 확인된다. 네 층을 나란히 놓으면 위층일수록 빨리 알려 주고 아래층일수록 정확히 알려 준다. 감시는 위층으로 하고 진단은 아래층으로 내려가며 하는 것이 순서다.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리스너를 올렸는데 4~5분 동안 오류 문구가 그대로였다. 이때 다른 문제가 있다고 오판하기 쉽다. 원인은 ReopenSecs 다. 실패한 목적지를 곧바로 다시 시도하지 않고 정해진 시간을 기다리는데, 죽은 목적지에 계속 접속하면 아카이버가 붙잡히기 때문이다. 기다리면 되며 급하면 재촉할 수 있다. Broker 환경이라면 LogShipping 속성을 껐다 켜고, Broker 가 관리하는 파라미터를 SQL 로 직접 바꾸지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전송이 재개된 직후 Broker 화면은 오히려 ERROR 로 나빠졌고 새 오류 번호까지 붙었다. 상태가 주기적으로 다시 계산되기 때문에 이 출력은 문제가 있던 구간을 반영한 것이다. status updated 몇 초 전이라는 표시가 그 증거다. 고친 직후의 화면을 결론으로 삼지 말고 한 주기 기다려 다시 보며, V$ARCHIVE_DEST 로 교차 확인한다. 끊겨 있던 시간은 재해 복구 능력이 없던 시간이므로 기록해 둔다.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 의 프로세스를 전부 보면 RFS 가 클라이언트별로 여럿 떠 있다. LGWR 에서 오는 것이 실시간 리두를 SRL 에 쓰고, Archival 은 아카이브 파일을 받으며, UNKNOWN 은 아직 배정되지 않은 예비다. MRP0 이 적용을 맡고 ARCH 는 SRL 을 아카이브한다. DGRD 는 Broker 와 통신하는 프로세스로 13장에서 Broker 를 켠 뒤에 생겼다. 이 구성을 알아 두면 무엇이 사라졌는지 바로 알 수 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RFS 와 MRP0 의 시퀀스와 블록 번호가 모두 같다는 것은 받는 즉시 적용하고 있다는 뜻이며 이것이 실시간 적용의 모습이다. 두 값이 벌어지면 적용이 밀린 것이고, 초 단위인 apply lag 보다 정밀하게 볼 수 있다. Primary 의 CURRENT, Standby 의 ACTIVE SRL, MRP0 세 곳에서 같은 숫자를 확인하는 것이 정상 확인의 요령이다. WAIT_FOR_LOG 는 시퀀스가 같으면 한가한 것이고 뒤지면 리두가 오지 않는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의 V$ARCHIVED_LOG 를 그대로 조회하면 같은 시퀀스가 두 줄씩 나오고 한 줄은 APPLIED 가 NO 다. 이것을 보고 절반이 적용되지 않았다고 읽으면 안 된다. dest_id 1 은 Primary 자신의 로컬 아카이브이므로 적용될 일이 없다. 적용 여부는 Standby 로 보낸 dest_id 2 행에서만 의미가 있다. 두 행의 완료 시각 차이는 전송에 걸린 시간이므로 평소 값을 알아 두면 느려졌을 때 알아챌 수 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 의 APPLIED_SEQ# 가 0 이라 적용이 안 되는 것처럼 보인다. 실시간 적용은 아카이브 파일을 거치지 않고 SRL 에서 곧바로 읽어 적용하므로, 몇 번 아카이브까지 적용했는가를 기록하는 이 열은 채워지지 않는다. 같은 시각 MRP0 은 아직 아카이브되지 않은 74번을 적용하고 있었다. 이 값을 감시 지표로 쓰면 9장에서 실시간 적용을 켠 이후 내내 경보가 울린다. 대신 apply lag 와 MRP0 의 시퀀스를 쓴다.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적용이 정상인데 ERROR_CODE 가 0 이 아닌 행이 남아 있었다. ORA-16037 은 사용자가 관리 복구를 취소했다는 뜻이며 실습 준비 과정에서 MRP 를 껐다 켠 흔적이다. 이 뷰는 인스턴스를 재기동하기 전까지 과거 기록을 계속 들고 있으므로 ERROR_CODE 만으로 판정하면 지난 일로 경보가 울린다. 감시 SQL 에는 최근 한 시간처럼 시간 조건을 반드시 넣는다. 이 조건이 15.7절 점검 스크립트에 들어간다.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진단은 위에서부터 내려간다. 15.4절의 리스너 중단은 원인이 분명해 2층인 ERROR 열에서 끝났다. 트레이스 파일까지 내려가는 것은 오류 번호가 없는데 전송이 느리거나 이상한 경우다. 그때 전송 과정 자체를 추적하는 도구가 LOG_ARCHIVE_TRACE 이며 기본값은 0, 즉 꺼져 있다. 평소에는 켜지 않고 필요한 때만 짧게 켜는 것이 원칙이다. 위층에서 원인이 보이면 아래층까지 내려갈 필요가 없다.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수준은 비트마스크라 값을 더해 조합한다. 이번에는 목적지 상태 4 와 목적지 활동 8 을 더한 12 를 썼다. 전부 켜는 값은 트레이스가 폭발적으로 커지므로 쓰지 않는다. 동적 파라미터라 재기동은 필요 없지만 알림 로그를 보면 SCOPE=BOTH 가 자동으로 붙어 있다. 켜 둔 채 잊으면 다음 기동에도 유지된다. 14장의 VALIDATE SPFILE 이 양쪽 차이로 잡아낸 것이 바로 이 흔적이다.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트레이스는 프로세스마다 따로 생긴다. 15.4절의 알림 로그에 나온 파일 이름이 바로 이 규칙을 따르므로 알림 로그가 트레이스로 가는 길을 알려 주는 셈이다. 어떤 파일을 볼지는 전송 방식에 따라 다르다. 우리 환경은 실시간 전송이라 TT04 프로세스가 계속 일하며, 그 파일이 664KB 로 가장 크고 평소 진단에서 볼 것도 이 파일이다. 내부 소스 위치 같은 줄은 해석할 대상이 아니며, 정상일 때 반복되는 대기와 할 일 없음 메시지를 알아 두면 문제가 생겼을 때 같은 자리에 나타나는 오류와 재시도가 눈에 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음수를 주어도 문자열을 주어도 같은 ORA-02017 이 나온다. 음수에 대해 정수가 필요하다고 말하는 것은 어색하지만, 이 파라미터가 부호 없는 정수를 받기 때문이다. 오류 메시지가 원인을 정확히 설명하지 않는 경우는 드물지 않으므로 문서에서 유효 범위를 확인하는 습관이 필요하다. 끌 때는 0 을 주고 V$PARAMETER 로 실제 0 인지 확인하는 것까지가 끄는 절차다.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가장 흔한 사고는 장애가 끝난 뒤 켜 둔 추적을 잊는 것이다. SCOPE=BOTH 로 저장되므로 재기동해도 남고, 몇 달 뒤 ADR 이 있는 파일 시스템이 가득 찬다. 그래서 켤 때 시간을 정하고, 끈 뒤 반드시 V$PARAMETER 로 확인한다. 수준은 필요한 만큼만 켠다. 12 만으로도 실시간 전송 트레이스가 664KB 였다. 오래된 트레이스는 adrci 의 purge 로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묶음을 돌린 실측값이다. Standby 의 MRP0 시퀀스와 Primary 의 CURRENT 시퀀스가 83 으로 같으므로 흐름은 정상이다. Primary 의 DG_ERR 가 3 인 것은 15.4절에서 리스너를 내렸던 흔적이며 시간 조건 덕분에 한 시간이 지나면 저절로 0 이 된다. 같은 시각 Standby 의 DG_ERR 는 0 이었다. 보내는 쪽은 실패를 알지만 받는 쪽은 아무것도 받지 못해 모른다. 양쪽을 다 봐야 하는 이유다.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지연은 전송이 끊겼을 때 0 으로 남는다는 것을 두 번 확인했다. 그러므로 지연만 보는 감시는 끊김을 잡지 못한다. 흐름 자체를 보는 지표를 주 지표로 두고 지연은 속도를 보는 보조 지표로 둔다. 둘을 함께 보면 느린 것과 끊긴 것이 구별된다. 이 중 SRL_ACTIVE 가 점검표의 핵심이다. 리두가 오지 않으면 즉시 0 이 되므로 지연이 못 잡는 것을 잡는다. 흐름과 속도를 분리하는 것이 이 점검표의 설계 원리다.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이상을 같은 무게로 알리면 결국 아무도 보지 않는다. 14장에서 임계값을 다루며 확인한 원칙이다. 흐름이 끊긴 경우만 즉시 사람을 부르고, 최근 오류나 시퀀스 차이는 근무 시간에 확인하며, 단순한 지연 증가는 추세로 기록한다. 지금 값으로 판정하면 chicago 는 15.4절의 흔적 때문에 경고이고 boston 은 정상이다. 한 시간이 지나면 chicago 도 정상으로 돌아온다.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 용 조회를 Primary 에서 실행하면 오류 없이 빈 결과와 0 이 나온다. 스크립트는 이것을 조회 실패와 심각으로 판정한다. 그러나 둘 다 Primary 에서는 정상이다. 지연은 받는 쪽의 개념이고 Primary 의 SRL 은 원래 전부 UNASSIGNED 다. 같은 스크립트를 양쪽에 돌리면 상시 오경보가 되고 결국 무시된다. 그래서 역할을 먼저 판정하고 묶음을 고르며, 빈 결과와 오류를 구별해 처리한다.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점검은 숫자를 내므로 자동화하기 쉽다. 자동화하기 어려운 것은 VALIDATE 다. 출력이 문장과 표라 자주 빠지는데, Ready for Switchover 한 줄만 grep 해도 14장의 함정을 잡을 수 있다. 사람이 전체를 읽는 주기도 따로 둔다. 값을 기록하면 기준선이 생기고 RTO 를 숫자로 말할 수 있다. 점검의 목적은 이상을 잡는 것만이 아니라 정상이 무엇인지 아는 것이기도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Logical Standby 로의 전환은 되돌리는 명령이 없으므로 시작 전에 반드시 스냅샷을 뜬다. 12장에서 실행 중에 뜬 스냅샷으로 되돌렸을 때 적용이 이상했던 일이 있어 이번에는 전원을 끈 상태에서 뜬다. 게스트 OS 를 내려도 가상 머신 전원이 꺼지지 않는 구성이 있으므로 vmrun 으로 확인하고 hard 정지로 마무리한다. 실습이 끝나면 원복하고 역할뿐 아니라 리두가 실제로 흐르는지까지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 가 살아 있는 상태에서 SQL 로 MRP 를 끄면 멤버 수준에서 오류와 경고가 하나씩 생기고, 구성 화면에는 여럿이 있다는 요약 번호만 나온다. 실제 원인은 SHOW DATABASE 로 한 층 내려가야 보인다. 이 상태에서 전환 명령은 아직 만들지 않은 LogMiner 딕셔너리를 기다리며 멈춘다. 클라이언트를 강제로 끊어도 서버 쪽 세션은 계속 수행 중이었다. 클라이언트 종료와 명령 취소는 다른 일이다.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 구성을 제거하면 데이터베이스는 그대로지만 Broker 가 관리하던 파라미터는 다시 쓰인다. boston 의 LOG_ARCHIVE_CONFIG 에서 chicago 가 빠지고 FAL_SERVER 가 비면서 전송이 끊겼다. Primary 의 ERROR 열에는 ORA-16057 이 나왔고, 이는 받는 쪽 설정에 내 이름이 없다는 뜻이다. 같은 ERROR 상태라도 리스너 중단과 원인이 전혀 다르다. 이번에는 Broker 가 없으므로 SQL 로 재촉하는 것이 맞는 수단이다.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Logical Standby 는 SQL Apply 로 적용하므로 MRP0 이 없고, 이 장 내내 봐 온 두 지연도 V$DATAGUARD_STATS 에서 사라진다. 뷰는 있는데 행이 없다. 점검 스크립트를 그대로 돌리면 지연을 못 읽었다는 것을 장애로 오판한다. 역할별로 다른 것을 본다는 원칙이 여기서 다시 증명된다. 대신 SQL Apply 프로세스 구성, 적용 상태, 세 SCN 의 차이로 같은 질문에 답한다.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뷰를 문서의 열 이름으로 조회하면 ORA-00904 가 나온다. DESC 로 보면 XID 열이 모두 PRIMARY 접두어를 달고 있다. Standby 의 번호가 아니라 Primary 에서 받은 번호이므로 Primary 쪽 트랜잭션과 대조할 수 있다. 200만 행을 넣는 동안 조회하면 리두 읽기는 끝났고 적용은 아직인 트랜잭션들이 보인다. 시작 시각과의 차이가 커지면 하나의 트랜잭션이 적용을 오래 붙잡고 있다는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 는 데이터베이스 가드의 예외라 Standby 에서 복제 대상 행을 지울 수 있다. 그 뒤 Primary 가 그 행을 고치자 적용이 멈췄다. 원인은 DBA_LOGSTDBY_EVENTS 의 ORA-26787 이며 표 이름과 키 값까지 알려 준다. 중요한 것은 이때 V$LOGSTDBY_TRANSACTION 이 비어 있다는 점이다. 적용이 도는 동안에만 채워지므로 멈춘 뒤의 XID 는 EVENTS 에서 찾아야 하고, 그곳의 열 이름은 접두어 없는 XIDUSN 이다.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교과서적인 조치는 문제의 트랜잭션만 건너뛰는 것이지만 실측에서는 두 번 거부됐다. 여기서 멈추지 않는다. 목적은 패키지를 쓰는 것이 아니라 적용을 되살리는 것이다. 원인이 분명했으므로 지워진 행을 되돌려 넣고 적용을 다시 시작했더니 밀려 있던 UPDATE 가 그대로 적용되어 Primary 와 같아졌다. 건너뛰었다면 그 변경은 영원히 반영되지 않았을 것이다. EVENTS 의 기록은 이력으로 남으므로 판정은 STATE 와 SCN 으로 한다.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가지 중 넷이 정상이다. 조회가 성공했다고 판정이 끝나는 것이 아니다. 절반이 NO 인 열, 0 인 시퀀스, 비어 있는 뷰, 그대로 남은 오류 문구가 모두 정상일 수 있고, 지연이 0 인데도 끊긴 상태일 수 있다. 각 값이 어떤 조건에서 채워지고 누구의 관점인지를 알아야 판정할 수 있다. 이것이 이 장에서 배운 전부이며 16장의 역할 전환 뒤에도 같은 방식으로 읽는다.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V$ 뷰 기반 모니터링과 문제 해결</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요약 아래의 층을 SQL 로 읽는다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오류가 나지 않는 잘못을 잡는 자리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t>
            </a:r>
            <a:r>
              <a:rPr sz="1600" b="0">
                <a:solidFill>
                  <a:srgbClr val="222222"/>
                </a:solidFill>
                <a:latin typeface="Consolas"/>
                <a:cs typeface="Consolas"/>
              </a:rPr>
              <a:t>V$LOG</a:t>
            </a:r>
            <a:r>
              <a:rPr sz="1600" b="0">
                <a:solidFill>
                  <a:srgbClr val="222222"/>
                </a:solidFill>
                <a:latin typeface="맑은 고딕"/>
              </a:rPr>
              <a:t> · </a:t>
            </a:r>
            <a:r>
              <a:rPr sz="1600" b="0">
                <a:solidFill>
                  <a:srgbClr val="222222"/>
                </a:solidFill>
                <a:latin typeface="Consolas"/>
                <a:cs typeface="Consolas"/>
              </a:rPr>
              <a:t>V$LOGFILE</a:t>
            </a:r>
            <a:r>
              <a:rPr sz="1600" b="0">
                <a:solidFill>
                  <a:srgbClr val="222222"/>
                </a:solidFill>
                <a:latin typeface="맑은 고딕"/>
              </a:rPr>
              <a:t> · </a:t>
            </a:r>
            <a:r>
              <a:rPr sz="1600" b="0">
                <a:solidFill>
                  <a:srgbClr val="222222"/>
                </a:solidFill>
                <a:latin typeface="Consolas"/>
                <a:cs typeface="Consolas"/>
              </a:rPr>
              <a:t>V$STANDBY_LOG</a:t>
            </a:r>
            <a:r>
              <a:rPr sz="1600" b="0">
                <a:solidFill>
                  <a:srgbClr val="222222"/>
                </a:solidFill>
                <a:latin typeface="맑은 고딕"/>
              </a:rPr>
              <a:t> 로 "리두가 흐르고 있는가" 를 다섯 줄로 판정한다.</a:t>
            </a:r>
          </a:p>
          <a:p>
            <a:pPr algn="l">
              <a:spcAft>
                <a:spcPts val="1000"/>
              </a:spcAft>
            </a:pPr>
            <a:r>
              <a:rPr sz="1600" b="0">
                <a:solidFill>
                  <a:srgbClr val="222222"/>
                </a:solidFill>
                <a:latin typeface="맑은 고딕"/>
              </a:rPr>
              <a:t>•  </a:t>
            </a:r>
            <a:r>
              <a:rPr sz="1600" b="0">
                <a:solidFill>
                  <a:srgbClr val="222222"/>
                </a:solidFill>
                <a:latin typeface="Consolas"/>
                <a:cs typeface="Consolas"/>
              </a:rPr>
              <a:t>V$ARCHIVE_DEST</a:t>
            </a:r>
            <a:r>
              <a:rPr sz="1600" b="0">
                <a:solidFill>
                  <a:srgbClr val="222222"/>
                </a:solidFill>
                <a:latin typeface="맑은 고딕"/>
              </a:rPr>
              <a:t> 와 </a:t>
            </a:r>
            <a:r>
              <a:rPr sz="1600" b="0">
                <a:solidFill>
                  <a:srgbClr val="222222"/>
                </a:solidFill>
                <a:latin typeface="Consolas"/>
                <a:cs typeface="Consolas"/>
              </a:rPr>
              <a:t>V$ARCHIVE_DEST_STATUS</a:t>
            </a:r>
            <a:r>
              <a:rPr sz="1600" b="0">
                <a:solidFill>
                  <a:srgbClr val="222222"/>
                </a:solidFill>
                <a:latin typeface="맑은 고딕"/>
              </a:rPr>
              <a:t> 가 답하는 질문을 구별한다.</a:t>
            </a:r>
          </a:p>
          <a:p>
            <a:pPr algn="l">
              <a:spcAft>
                <a:spcPts val="1000"/>
              </a:spcAft>
            </a:pPr>
            <a:r>
              <a:rPr sz="1600" b="0">
                <a:solidFill>
                  <a:srgbClr val="222222"/>
                </a:solidFill>
                <a:latin typeface="맑은 고딕"/>
              </a:rPr>
              <a:t>•  전송 중단을 재현하고 각 층(Broker · V$ · 알림 로그)이 보여 주는 것을 비교한다.</a:t>
            </a:r>
          </a:p>
          <a:p>
            <a:pPr algn="l">
              <a:spcAft>
                <a:spcPts val="1000"/>
              </a:spcAft>
            </a:pPr>
            <a:r>
              <a:rPr sz="1600" b="0">
                <a:solidFill>
                  <a:srgbClr val="222222"/>
                </a:solidFill>
                <a:latin typeface="맑은 고딕"/>
              </a:rPr>
              <a:t>•  </a:t>
            </a:r>
            <a:r>
              <a:rPr sz="1600" b="0">
                <a:solidFill>
                  <a:srgbClr val="222222"/>
                </a:solidFill>
                <a:latin typeface="Consolas"/>
                <a:cs typeface="Consolas"/>
              </a:rPr>
              <a:t>STATE_n</a:t>
            </a:r>
            <a:r>
              <a:rPr sz="1600" b="0">
                <a:solidFill>
                  <a:srgbClr val="222222"/>
                </a:solidFill>
                <a:latin typeface="맑은 고딕"/>
              </a:rPr>
              <a:t> 과 목적지 </a:t>
            </a:r>
            <a:r>
              <a:rPr sz="1600" b="0">
                <a:solidFill>
                  <a:srgbClr val="222222"/>
                </a:solidFill>
                <a:latin typeface="Consolas"/>
                <a:cs typeface="Consolas"/>
              </a:rPr>
              <a:t>STATUS</a:t>
            </a:r>
            <a:r>
              <a:rPr sz="1600" b="0">
                <a:solidFill>
                  <a:srgbClr val="222222"/>
                </a:solidFill>
                <a:latin typeface="맑은 고딕"/>
              </a:rPr>
              <a:t> 의 조합으로 "장애인가 설정인가" 를 가른다.</a:t>
            </a:r>
          </a:p>
          <a:p>
            <a:pPr algn="l">
              <a:spcAft>
                <a:spcPts val="1000"/>
              </a:spcAft>
            </a:pPr>
            <a:r>
              <a:rPr sz="1600" b="0">
                <a:solidFill>
                  <a:srgbClr val="222222"/>
                </a:solidFill>
                <a:latin typeface="맑은 고딕"/>
              </a:rPr>
              <a:t>•  </a:t>
            </a:r>
            <a:r>
              <a:rPr sz="1600" b="0">
                <a:solidFill>
                  <a:srgbClr val="222222"/>
                </a:solidFill>
                <a:latin typeface="Consolas"/>
                <a:cs typeface="Consolas"/>
              </a:rPr>
              <a:t>APPLIED</a:t>
            </a:r>
            <a:r>
              <a:rPr sz="1600" b="0">
                <a:solidFill>
                  <a:srgbClr val="222222"/>
                </a:solidFill>
                <a:latin typeface="맑은 고딕"/>
              </a:rPr>
              <a:t> · </a:t>
            </a:r>
            <a:r>
              <a:rPr sz="1600" b="0">
                <a:solidFill>
                  <a:srgbClr val="222222"/>
                </a:solidFill>
                <a:latin typeface="Consolas"/>
                <a:cs typeface="Consolas"/>
              </a:rPr>
              <a:t>APPLIED_SEQ#</a:t>
            </a:r>
            <a:r>
              <a:rPr sz="1600" b="0">
                <a:solidFill>
                  <a:srgbClr val="222222"/>
                </a:solidFill>
                <a:latin typeface="맑은 고딕"/>
              </a:rPr>
              <a:t> 의 함정을 피하고 실시간 적용을 블록 단위로 확인한다.</a:t>
            </a:r>
          </a:p>
          <a:p>
            <a:pPr algn="l">
              <a:spcAft>
                <a:spcPts val="1000"/>
              </a:spcAft>
            </a:pPr>
            <a:r>
              <a:rPr sz="1600" b="0">
                <a:solidFill>
                  <a:srgbClr val="222222"/>
                </a:solidFill>
                <a:latin typeface="맑은 고딕"/>
              </a:rPr>
              <a:t>•  </a:t>
            </a:r>
            <a:r>
              <a:rPr sz="1600" b="0">
                <a:solidFill>
                  <a:srgbClr val="222222"/>
                </a:solidFill>
                <a:latin typeface="Consolas"/>
                <a:cs typeface="Consolas"/>
              </a:rPr>
              <a:t>LOG_ARCHIVE_TRACE</a:t>
            </a:r>
            <a:r>
              <a:rPr sz="1600" b="0">
                <a:solidFill>
                  <a:srgbClr val="222222"/>
                </a:solidFill>
                <a:latin typeface="맑은 고딕"/>
              </a:rPr>
              <a:t> 를 필요한 만큼 켜고 읽은 뒤 되돌린다.</a:t>
            </a:r>
          </a:p>
          <a:p>
            <a:pPr algn="l">
              <a:spcAft>
                <a:spcPts val="1000"/>
              </a:spcAft>
            </a:pPr>
            <a:r>
              <a:rPr sz="1600" b="0">
                <a:solidFill>
                  <a:srgbClr val="222222"/>
                </a:solidFill>
                <a:latin typeface="맑은 고딕"/>
              </a:rPr>
              <a:t>•  역할별 점검 스크립트를 짜고 네 단계로 판정한다.</a:t>
            </a:r>
          </a:p>
          <a:p>
            <a:pPr algn="l">
              <a:spcAft>
                <a:spcPts val="1000"/>
              </a:spcAft>
            </a:pPr>
            <a:r>
              <a:rPr sz="1600" b="0">
                <a:solidFill>
                  <a:srgbClr val="222222"/>
                </a:solidFill>
                <a:latin typeface="맑은 고딕"/>
              </a:rPr>
              <a:t>•  Logical Standby 의 적용을 추적하고 멈춘 적용을 되살린다.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15.2  로그 파일과 SRL 의 상태</a:t>
            </a:r>
          </a:p>
          <a:p>
            <a:pPr algn="l">
              <a:spcAft>
                <a:spcPts val="1000"/>
              </a:spcAft>
            </a:pPr>
            <a:r>
              <a:rPr sz="1600" b="0">
                <a:solidFill>
                  <a:srgbClr val="222222"/>
                </a:solidFill>
                <a:latin typeface="맑은 고딕"/>
              </a:rPr>
              <a:t>•  15.3  아카이브 목적지를 읽는다</a:t>
            </a:r>
          </a:p>
          <a:p>
            <a:pPr algn="l">
              <a:spcAft>
                <a:spcPts val="1000"/>
              </a:spcAft>
            </a:pPr>
            <a:r>
              <a:rPr sz="1600" b="0">
                <a:solidFill>
                  <a:srgbClr val="222222"/>
                </a:solidFill>
                <a:latin typeface="맑은 고딕"/>
              </a:rPr>
              <a:t>•  15.4  전송 중단 재현과 진단</a:t>
            </a:r>
          </a:p>
          <a:p>
            <a:pPr algn="l">
              <a:spcAft>
                <a:spcPts val="1000"/>
              </a:spcAft>
            </a:pPr>
            <a:r>
              <a:rPr sz="1600" b="0">
                <a:solidFill>
                  <a:srgbClr val="222222"/>
                </a:solidFill>
                <a:latin typeface="맑은 고딕"/>
              </a:rPr>
              <a:t>•  15.5  적용의 진행과 APPLIED 열의 함정</a:t>
            </a:r>
          </a:p>
          <a:p>
            <a:pPr algn="l">
              <a:spcAft>
                <a:spcPts val="1000"/>
              </a:spcAft>
            </a:pPr>
            <a:r>
              <a:rPr sz="1600" b="0">
                <a:solidFill>
                  <a:srgbClr val="222222"/>
                </a:solidFill>
                <a:latin typeface="맑은 고딕"/>
              </a:rPr>
              <a:t>•  15.6  LOG_ARCHIVE_TRACE 로 추적한다</a:t>
            </a:r>
          </a:p>
          <a:p>
            <a:pPr algn="l">
              <a:spcAft>
                <a:spcPts val="1000"/>
              </a:spcAft>
            </a:pPr>
            <a:r>
              <a:rPr sz="1600" b="0">
                <a:solidFill>
                  <a:srgbClr val="222222"/>
                </a:solidFill>
                <a:latin typeface="맑은 고딕"/>
              </a:rPr>
              <a:t>•  15.7  상시 점검 스크립트</a:t>
            </a:r>
          </a:p>
          <a:p>
            <a:pPr algn="l">
              <a:spcAft>
                <a:spcPts val="1000"/>
              </a:spcAft>
            </a:pPr>
            <a:r>
              <a:rPr sz="1600" b="0">
                <a:solidFill>
                  <a:srgbClr val="222222"/>
                </a:solidFill>
                <a:latin typeface="맑은 고딕"/>
              </a:rPr>
              <a:t>•  15.8  Logical Standby 모니터링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로그 파일과 SRL 의 상태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리두가 지나가는 길의 양 끝</a:t>
            </a:r>
          </a:p>
          <a:p>
            <a:pPr algn="l">
              <a:spcAft>
                <a:spcPts val="800"/>
              </a:spcAft>
            </a:pPr>
            <a:r>
              <a:rPr sz="1600" b="0">
                <a:solidFill>
                  <a:srgbClr val="FFFFFF"/>
                </a:solidFill>
                <a:latin typeface="맑은 고딕"/>
              </a:rPr>
              <a:t>•  SRL 이 진짜 정보다</a:t>
            </a:r>
          </a:p>
          <a:p>
            <a:pPr algn="l">
              <a:spcAft>
                <a:spcPts val="800"/>
              </a:spcAft>
            </a:pPr>
            <a:r>
              <a:rPr sz="1600" b="0">
                <a:solidFill>
                  <a:srgbClr val="FFFFFF"/>
                </a:solidFill>
                <a:latin typeface="맑은 고딕"/>
              </a:rPr>
              <a:t>•  다섯 줄로 판정한다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아래의 층</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왜 V$ 뷰인가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SHOW CONFIGURATION</a:t>
            </a:r>
            <a:r>
              <a:rPr sz="1700" b="0">
                <a:solidFill>
                  <a:srgbClr val="222222"/>
                </a:solidFill>
                <a:latin typeface="맑은 고딕"/>
              </a:rPr>
              <a:t> 은 "문제가 있다" 까지 말한다</a:t>
            </a:r>
          </a:p>
          <a:p>
            <a:pPr algn="l">
              <a:spcAft>
                <a:spcPts val="1000"/>
              </a:spcAft>
            </a:pPr>
            <a:r>
              <a:rPr sz="1700" b="0">
                <a:solidFill>
                  <a:srgbClr val="222222"/>
                </a:solidFill>
                <a:latin typeface="맑은 고딕"/>
              </a:rPr>
              <a:t>•  </a:t>
            </a:r>
            <a:r>
              <a:rPr sz="1700" b="1">
                <a:solidFill>
                  <a:srgbClr val="222222"/>
                </a:solidFill>
                <a:latin typeface="맑은 고딕"/>
              </a:rPr>
              <a:t>왜 그런지, 어디를 고칠지</a:t>
            </a:r>
            <a:r>
              <a:rPr sz="1700" b="0">
                <a:solidFill>
                  <a:srgbClr val="222222"/>
                </a:solidFill>
                <a:latin typeface="맑은 고딕"/>
              </a:rPr>
              <a:t> 는 한 층 아래 — V$ 뷰</a:t>
            </a:r>
          </a:p>
          <a:p>
            <a:pPr algn="l">
              <a:spcAft>
                <a:spcPts val="1000"/>
              </a:spcAft>
            </a:pPr>
            <a:r>
              <a:rPr sz="1700" b="0">
                <a:solidFill>
                  <a:srgbClr val="222222"/>
                </a:solidFill>
                <a:latin typeface="맑은 고딕"/>
              </a:rPr>
              <a:t>•  Broker 도 결국 이 뷰들의 값을 모아 판정한다</a:t>
            </a:r>
          </a:p>
          <a:p>
            <a:pPr algn="l">
              <a:spcAft>
                <a:spcPts val="1000"/>
              </a:spcAft>
            </a:pPr>
            <a:r>
              <a:rPr sz="1700" b="0">
                <a:solidFill>
                  <a:srgbClr val="222222"/>
                </a:solidFill>
                <a:latin typeface="맑은 고딕"/>
              </a:rPr>
              <a:t>•  이 장의 적 — </a:t>
            </a:r>
            <a:r>
              <a:rPr sz="1700" b="1">
                <a:solidFill>
                  <a:srgbClr val="222222"/>
                </a:solidFill>
                <a:latin typeface="맑은 고딕"/>
              </a:rPr>
              <a:t>오류가 나지 않는 잘못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Primary 의 온라인 리두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V$LOG 를 읽는 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CURRENT</a:t>
            </a:r>
            <a:r>
              <a:rPr sz="1700" b="0">
                <a:solidFill>
                  <a:srgbClr val="222222"/>
                </a:solidFill>
                <a:latin typeface="맑은 고딕"/>
              </a:rPr>
              <a:t> 는 정확히 하나 — 실측 74번</a:t>
            </a:r>
          </a:p>
          <a:p>
            <a:pPr algn="l">
              <a:spcAft>
                <a:spcPts val="1000"/>
              </a:spcAft>
            </a:pPr>
            <a:r>
              <a:rPr sz="1700" b="0">
                <a:solidFill>
                  <a:srgbClr val="222222"/>
                </a:solidFill>
                <a:latin typeface="맑은 고딕"/>
              </a:rPr>
              <a:t>•  </a:t>
            </a:r>
            <a:r>
              <a:rPr sz="1700" b="0">
                <a:solidFill>
                  <a:srgbClr val="222222"/>
                </a:solidFill>
                <a:latin typeface="Consolas"/>
                <a:cs typeface="Consolas"/>
              </a:rPr>
              <a:t>ARCHIVED=NO</a:t>
            </a:r>
            <a:r>
              <a:rPr sz="1700" b="0">
                <a:solidFill>
                  <a:srgbClr val="222222"/>
                </a:solidFill>
                <a:latin typeface="맑은 고딕"/>
              </a:rPr>
              <a:t> 는 </a:t>
            </a:r>
            <a:r>
              <a:rPr sz="1700" b="0">
                <a:solidFill>
                  <a:srgbClr val="222222"/>
                </a:solidFill>
                <a:latin typeface="Consolas"/>
                <a:cs typeface="Consolas"/>
              </a:rPr>
              <a:t>CURRENT</a:t>
            </a:r>
            <a:r>
              <a:rPr sz="1700" b="0">
                <a:solidFill>
                  <a:srgbClr val="222222"/>
                </a:solidFill>
                <a:latin typeface="맑은 고딕"/>
              </a:rPr>
              <a:t> 그룹에만 정상</a:t>
            </a:r>
          </a:p>
          <a:p>
            <a:pPr algn="l">
              <a:spcAft>
                <a:spcPts val="1000"/>
              </a:spcAft>
            </a:pPr>
            <a:r>
              <a:rPr sz="1700" b="0">
                <a:solidFill>
                  <a:srgbClr val="222222"/>
                </a:solidFill>
                <a:latin typeface="맑은 고딕"/>
              </a:rPr>
              <a:t>•  이상 신호 — </a:t>
            </a:r>
            <a:r>
              <a:rPr sz="1700" b="1">
                <a:solidFill>
                  <a:srgbClr val="222222"/>
                </a:solidFill>
                <a:latin typeface="Consolas"/>
                <a:cs typeface="Consolas"/>
              </a:rPr>
              <a:t>ACTIVE</a:t>
            </a:r>
            <a:r>
              <a:rPr sz="1700" b="1">
                <a:solidFill>
                  <a:srgbClr val="222222"/>
                </a:solidFill>
                <a:latin typeface="맑은 고딕"/>
              </a:rPr>
              <a:t> + </a:t>
            </a:r>
            <a:r>
              <a:rPr sz="1700" b="1">
                <a:solidFill>
                  <a:srgbClr val="222222"/>
                </a:solidFill>
                <a:latin typeface="Consolas"/>
                <a:cs typeface="Consolas"/>
              </a:rPr>
              <a:t>ARCHIVED=NO</a:t>
            </a:r>
            <a:r>
              <a:rPr sz="1700" b="1">
                <a:solidFill>
                  <a:srgbClr val="222222"/>
                </a:solidFill>
                <a:latin typeface="맑은 고딕"/>
              </a:rPr>
              <a:t> 가 쌓인다</a:t>
            </a:r>
          </a:p>
          <a:p>
            <a:pPr algn="l">
              <a:spcAft>
                <a:spcPts val="1000"/>
              </a:spcAft>
            </a:pPr>
            <a:r>
              <a:rPr sz="1700" b="0">
                <a:solidFill>
                  <a:srgbClr val="222222"/>
                </a:solidFill>
                <a:latin typeface="맑은 고딕"/>
              </a:rPr>
              <a:t>•  아카이버가 밀리고, 그대로 두면 로그 전환이 멈춘다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 의 온라인 리두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SEQUENCE# 가 전부 0</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 는 자기 온라인 리두에 </a:t>
            </a:r>
            <a:r>
              <a:rPr sz="1700" b="1">
                <a:solidFill>
                  <a:srgbClr val="222222"/>
                </a:solidFill>
                <a:latin typeface="맑은 고딕"/>
              </a:rPr>
              <a:t>아무것도 쓰지 않는다</a:t>
            </a:r>
          </a:p>
          <a:p>
            <a:pPr algn="l">
              <a:spcAft>
                <a:spcPts val="1000"/>
              </a:spcAft>
            </a:pPr>
            <a:r>
              <a:rPr sz="1700" b="0">
                <a:solidFill>
                  <a:srgbClr val="222222"/>
                </a:solidFill>
                <a:latin typeface="맑은 고딕"/>
              </a:rPr>
              <a:t>•  역할이 바뀐 뒤 쓰기 위한 그룹 — 14장 </a:t>
            </a:r>
            <a:r>
              <a:rPr sz="1700" b="0">
                <a:solidFill>
                  <a:srgbClr val="222222"/>
                </a:solidFill>
                <a:latin typeface="Consolas"/>
                <a:cs typeface="Consolas"/>
              </a:rPr>
              <a:t>Future</a:t>
            </a:r>
            <a:r>
              <a:rPr sz="1700" b="0">
                <a:solidFill>
                  <a:srgbClr val="222222"/>
                </a:solidFill>
                <a:latin typeface="맑은 고딕"/>
              </a:rPr>
              <a:t> 구성</a:t>
            </a:r>
          </a:p>
          <a:p>
            <a:pPr algn="l">
              <a:spcAft>
                <a:spcPts val="1000"/>
              </a:spcAft>
            </a:pPr>
            <a:r>
              <a:rPr sz="1700" b="0">
                <a:solidFill>
                  <a:srgbClr val="222222"/>
                </a:solidFill>
                <a:latin typeface="맑은 고딕"/>
              </a:rPr>
              <a:t>•  </a:t>
            </a:r>
            <a:r>
              <a:rPr sz="1700" b="0">
                <a:solidFill>
                  <a:srgbClr val="222222"/>
                </a:solidFill>
                <a:latin typeface="Consolas"/>
                <a:cs typeface="Consolas"/>
              </a:rPr>
              <a:t>V$LOGFILE</a:t>
            </a:r>
            <a:r>
              <a:rPr sz="1700" b="0">
                <a:solidFill>
                  <a:srgbClr val="222222"/>
                </a:solidFill>
                <a:latin typeface="맑은 고딕"/>
              </a:rPr>
              <a:t> — chicago 7행, boston 14행 (OMF 다중화)</a:t>
            </a:r>
          </a:p>
          <a:p>
            <a:pPr algn="l">
              <a:spcAft>
                <a:spcPts val="1000"/>
              </a:spcAft>
            </a:pPr>
            <a:r>
              <a:rPr sz="1700" b="0">
                <a:solidFill>
                  <a:srgbClr val="222222"/>
                </a:solidFill>
                <a:latin typeface="맑은 고딕"/>
              </a:rPr>
              <a:t>•  </a:t>
            </a:r>
            <a:r>
              <a:rPr sz="1700" b="0">
                <a:solidFill>
                  <a:srgbClr val="222222"/>
                </a:solidFill>
                <a:latin typeface="Consolas"/>
                <a:cs typeface="Consolas"/>
              </a:rPr>
              <a:t>V$LOGFILE.STATUS</a:t>
            </a:r>
            <a:r>
              <a:rPr sz="1700" b="0">
                <a:solidFill>
                  <a:srgbClr val="222222"/>
                </a:solidFill>
                <a:latin typeface="맑은 고딕"/>
              </a:rPr>
              <a:t> 는 </a:t>
            </a:r>
            <a:r>
              <a:rPr sz="1700" b="1">
                <a:solidFill>
                  <a:srgbClr val="222222"/>
                </a:solidFill>
                <a:latin typeface="맑은 고딕"/>
              </a:rPr>
              <a:t>비어 있는 것이 정상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SRL 이 진짜 정보다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V$STANDBY_LOG</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넷 중 하나만 </a:t>
            </a:r>
            <a:r>
              <a:rPr sz="1700" b="0">
                <a:solidFill>
                  <a:srgbClr val="222222"/>
                </a:solidFill>
                <a:latin typeface="Consolas"/>
                <a:cs typeface="Consolas"/>
              </a:rPr>
              <a:t>ACTIVE</a:t>
            </a:r>
            <a:r>
              <a:rPr sz="1700" b="0">
                <a:solidFill>
                  <a:srgbClr val="222222"/>
                </a:solidFill>
                <a:latin typeface="맑은 고딕"/>
              </a:rPr>
              <a:t> — </a:t>
            </a:r>
            <a:r>
              <a:rPr sz="1700" b="0">
                <a:solidFill>
                  <a:srgbClr val="222222"/>
                </a:solidFill>
                <a:latin typeface="Consolas"/>
                <a:cs typeface="Consolas"/>
              </a:rPr>
              <a:t>SEQUENCE#</a:t>
            </a:r>
            <a:r>
              <a:rPr sz="1700" b="0">
                <a:solidFill>
                  <a:srgbClr val="222222"/>
                </a:solidFill>
                <a:latin typeface="맑은 고딕"/>
              </a:rPr>
              <a:t> </a:t>
            </a:r>
            <a:r>
              <a:rPr sz="1700" b="1">
                <a:solidFill>
                  <a:srgbClr val="222222"/>
                </a:solidFill>
                <a:latin typeface="맑은 고딕"/>
              </a:rPr>
              <a:t>74</a:t>
            </a:r>
            <a:r>
              <a:rPr sz="1700" b="0">
                <a:solidFill>
                  <a:srgbClr val="222222"/>
                </a:solidFill>
                <a:latin typeface="맑은 고딕"/>
              </a:rPr>
              <a:t>, USED 8,977KB</a:t>
            </a:r>
          </a:p>
          <a:p>
            <a:pPr algn="l">
              <a:spcAft>
                <a:spcPts val="1000"/>
              </a:spcAft>
            </a:pPr>
            <a:r>
              <a:rPr sz="1700" b="0">
                <a:solidFill>
                  <a:srgbClr val="222222"/>
                </a:solidFill>
                <a:latin typeface="맑은 고딕"/>
              </a:rPr>
              <a:t>•  Primary 의 </a:t>
            </a:r>
            <a:r>
              <a:rPr sz="1700" b="0">
                <a:solidFill>
                  <a:srgbClr val="222222"/>
                </a:solidFill>
                <a:latin typeface="Consolas"/>
                <a:cs typeface="Consolas"/>
              </a:rPr>
              <a:t>CURRENT</a:t>
            </a:r>
            <a:r>
              <a:rPr sz="1700" b="0">
                <a:solidFill>
                  <a:srgbClr val="222222"/>
                </a:solidFill>
                <a:latin typeface="맑은 고딕"/>
              </a:rPr>
              <a:t> 와 같다 → 실시간으로 받고 있다</a:t>
            </a:r>
          </a:p>
          <a:p>
            <a:pPr algn="l">
              <a:spcAft>
                <a:spcPts val="1000"/>
              </a:spcAft>
            </a:pPr>
            <a:r>
              <a:rPr sz="1700" b="0">
                <a:solidFill>
                  <a:srgbClr val="222222"/>
                </a:solidFill>
                <a:latin typeface="맑은 고딕"/>
              </a:rPr>
              <a:t>•  ACTIVE 1개 정상 / 2개 이상 아카이브 밀림 / </a:t>
            </a:r>
            <a:r>
              <a:rPr sz="1700" b="1">
                <a:solidFill>
                  <a:srgbClr val="222222"/>
                </a:solidFill>
                <a:latin typeface="맑은 고딕"/>
              </a:rPr>
              <a:t>0개 리두가 안 온다</a:t>
            </a:r>
          </a:p>
          <a:p>
            <a:pPr algn="l">
              <a:spcAft>
                <a:spcPts val="1000"/>
              </a:spcAft>
            </a:pPr>
            <a:r>
              <a:rPr sz="1700" b="0">
                <a:solidFill>
                  <a:srgbClr val="222222"/>
                </a:solidFill>
                <a:latin typeface="맑은 고딕"/>
              </a:rPr>
              <a:t>•  Primary 에서 조회하면 전부 </a:t>
            </a:r>
            <a:r>
              <a:rPr sz="1700" b="0">
                <a:solidFill>
                  <a:srgbClr val="222222"/>
                </a:solidFill>
                <a:latin typeface="Consolas"/>
                <a:cs typeface="Consolas"/>
              </a:rPr>
              <a:t>UNASSIGNED</a:t>
            </a:r>
            <a:r>
              <a:rPr sz="1700" b="0">
                <a:solidFill>
                  <a:srgbClr val="222222"/>
                </a:solidFill>
                <a:latin typeface="맑은 고딕"/>
              </a:rPr>
              <a:t> — 오류 없이 조회된다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다섯 줄로 판정한다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리두가 흐르고 있는가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[Primary] </a:t>
            </a:r>
            <a:r>
              <a:rPr sz="1700" b="0">
                <a:solidFill>
                  <a:srgbClr val="222222"/>
                </a:solidFill>
                <a:latin typeface="Consolas"/>
                <a:cs typeface="Consolas"/>
              </a:rPr>
              <a:t>V$LOG</a:t>
            </a:r>
            <a:r>
              <a:rPr sz="1700" b="0">
                <a:solidFill>
                  <a:srgbClr val="222222"/>
                </a:solidFill>
                <a:latin typeface="맑은 고딕"/>
              </a:rPr>
              <a:t> 의 </a:t>
            </a:r>
            <a:r>
              <a:rPr sz="1700" b="0">
                <a:solidFill>
                  <a:srgbClr val="222222"/>
                </a:solidFill>
                <a:latin typeface="Consolas"/>
                <a:cs typeface="Consolas"/>
              </a:rPr>
              <a:t>CURRENT</a:t>
            </a:r>
            <a:r>
              <a:rPr sz="1700" b="0">
                <a:solidFill>
                  <a:srgbClr val="222222"/>
                </a:solidFill>
                <a:latin typeface="맑은 고딕"/>
              </a:rPr>
              <a:t> 가 정확히 하나</a:t>
            </a:r>
          </a:p>
          <a:p>
            <a:pPr algn="l">
              <a:spcAft>
                <a:spcPts val="1000"/>
              </a:spcAft>
            </a:pPr>
            <a:r>
              <a:rPr sz="1700" b="0">
                <a:solidFill>
                  <a:srgbClr val="222222"/>
                </a:solidFill>
                <a:latin typeface="맑은 고딕"/>
              </a:rPr>
              <a:t>•  ② [Primary] </a:t>
            </a:r>
            <a:r>
              <a:rPr sz="1700" b="0">
                <a:solidFill>
                  <a:srgbClr val="222222"/>
                </a:solidFill>
                <a:latin typeface="Consolas"/>
                <a:cs typeface="Consolas"/>
              </a:rPr>
              <a:t>ACTIVE</a:t>
            </a:r>
            <a:r>
              <a:rPr sz="1700" b="0">
                <a:solidFill>
                  <a:srgbClr val="222222"/>
                </a:solidFill>
                <a:latin typeface="맑은 고딕"/>
              </a:rPr>
              <a:t> + </a:t>
            </a:r>
            <a:r>
              <a:rPr sz="1700" b="0">
                <a:solidFill>
                  <a:srgbClr val="222222"/>
                </a:solidFill>
                <a:latin typeface="Consolas"/>
                <a:cs typeface="Consolas"/>
              </a:rPr>
              <a:t>ARCHIVED=NO</a:t>
            </a:r>
            <a:r>
              <a:rPr sz="1700" b="0">
                <a:solidFill>
                  <a:srgbClr val="222222"/>
                </a:solidFill>
                <a:latin typeface="맑은 고딕"/>
              </a:rPr>
              <a:t> 가 쌓이지 않았다</a:t>
            </a:r>
          </a:p>
          <a:p>
            <a:pPr algn="l">
              <a:spcAft>
                <a:spcPts val="1000"/>
              </a:spcAft>
            </a:pPr>
            <a:r>
              <a:rPr sz="1700" b="0">
                <a:solidFill>
                  <a:srgbClr val="222222"/>
                </a:solidFill>
                <a:latin typeface="맑은 고딕"/>
              </a:rPr>
              <a:t>•  ③ [Standby] </a:t>
            </a:r>
            <a:r>
              <a:rPr sz="1700" b="0">
                <a:solidFill>
                  <a:srgbClr val="222222"/>
                </a:solidFill>
                <a:latin typeface="Consolas"/>
                <a:cs typeface="Consolas"/>
              </a:rPr>
              <a:t>V$STANDBY_LOG</a:t>
            </a:r>
            <a:r>
              <a:rPr sz="1700" b="0">
                <a:solidFill>
                  <a:srgbClr val="222222"/>
                </a:solidFill>
                <a:latin typeface="맑은 고딕"/>
              </a:rPr>
              <a:t> 의 </a:t>
            </a:r>
            <a:r>
              <a:rPr sz="1700" b="0">
                <a:solidFill>
                  <a:srgbClr val="222222"/>
                </a:solidFill>
                <a:latin typeface="Consolas"/>
                <a:cs typeface="Consolas"/>
              </a:rPr>
              <a:t>ACTIVE</a:t>
            </a:r>
            <a:r>
              <a:rPr sz="1700" b="0">
                <a:solidFill>
                  <a:srgbClr val="222222"/>
                </a:solidFill>
                <a:latin typeface="맑은 고딕"/>
              </a:rPr>
              <a:t> 가 정확히 하나</a:t>
            </a:r>
          </a:p>
          <a:p>
            <a:pPr algn="l">
              <a:spcAft>
                <a:spcPts val="1000"/>
              </a:spcAft>
            </a:pPr>
            <a:r>
              <a:rPr sz="1700" b="0">
                <a:solidFill>
                  <a:srgbClr val="222222"/>
                </a:solidFill>
                <a:latin typeface="맑은 고딕"/>
              </a:rPr>
              <a:t>•  ④ [Standby] 그 </a:t>
            </a:r>
            <a:r>
              <a:rPr sz="1700" b="0">
                <a:solidFill>
                  <a:srgbClr val="222222"/>
                </a:solidFill>
                <a:latin typeface="Consolas"/>
                <a:cs typeface="Consolas"/>
              </a:rPr>
              <a:t>SEQUENCE#</a:t>
            </a:r>
            <a:r>
              <a:rPr sz="1700" b="0">
                <a:solidFill>
                  <a:srgbClr val="222222"/>
                </a:solidFill>
                <a:latin typeface="맑은 고딕"/>
              </a:rPr>
              <a:t> 가 ① 과 같다</a:t>
            </a:r>
          </a:p>
          <a:p>
            <a:pPr algn="l">
              <a:spcAft>
                <a:spcPts val="1000"/>
              </a:spcAft>
            </a:pPr>
            <a:r>
              <a:rPr sz="1700" b="0">
                <a:solidFill>
                  <a:srgbClr val="222222"/>
                </a:solidFill>
                <a:latin typeface="맑은 고딕"/>
              </a:rPr>
              <a:t>•  ⑤ [양쪽] </a:t>
            </a:r>
            <a:r>
              <a:rPr sz="1700" b="0">
                <a:solidFill>
                  <a:srgbClr val="222222"/>
                </a:solidFill>
                <a:latin typeface="Consolas"/>
                <a:cs typeface="Consolas"/>
              </a:rPr>
              <a:t>V$LOGFILE</a:t>
            </a:r>
            <a:r>
              <a:rPr sz="1700" b="0">
                <a:solidFill>
                  <a:srgbClr val="222222"/>
                </a:solidFill>
                <a:latin typeface="맑은 고딕"/>
              </a:rPr>
              <a:t> 에 </a:t>
            </a:r>
            <a:r>
              <a:rPr sz="1700" b="0">
                <a:solidFill>
                  <a:srgbClr val="222222"/>
                </a:solidFill>
                <a:latin typeface="Consolas"/>
                <a:cs typeface="Consolas"/>
              </a:rPr>
              <a:t>STATUS</a:t>
            </a:r>
            <a:r>
              <a:rPr sz="1700" b="0">
                <a:solidFill>
                  <a:srgbClr val="222222"/>
                </a:solidFill>
                <a:latin typeface="맑은 고딕"/>
              </a:rPr>
              <a:t> 가 찬 행이 없다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아카이브 목적지를 읽는다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설정과 상태 — 두 뷰</a:t>
            </a:r>
          </a:p>
          <a:p>
            <a:pPr algn="l">
              <a:spcAft>
                <a:spcPts val="800"/>
              </a:spcAft>
            </a:pPr>
            <a:r>
              <a:rPr sz="1600" b="0">
                <a:solidFill>
                  <a:srgbClr val="FFFFFF"/>
                </a:solidFill>
                <a:latin typeface="맑은 고딕"/>
              </a:rPr>
              <a:t>•  열 이름 오류의 번호</a:t>
            </a:r>
          </a:p>
          <a:p>
            <a:pPr algn="l">
              <a:spcAft>
                <a:spcPts val="800"/>
              </a:spcAft>
            </a:pPr>
            <a:r>
              <a:rPr sz="1600" b="0">
                <a:solidFill>
                  <a:srgbClr val="FFFFFF"/>
                </a:solidFill>
                <a:latin typeface="맑은 고딕"/>
              </a:rPr>
              <a:t>•  VALID_NOW 의 다섯 값</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이름이 비슷한 두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다른 질문에 답한다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V$ARCHIVE_DEST</a:t>
            </a:r>
            <a:r>
              <a:rPr sz="1700" b="0">
                <a:solidFill>
                  <a:srgbClr val="222222"/>
                </a:solidFill>
                <a:latin typeface="맑은 고딕"/>
              </a:rPr>
              <a:t> — </a:t>
            </a:r>
            <a:r>
              <a:rPr sz="1700" b="1">
                <a:solidFill>
                  <a:srgbClr val="222222"/>
                </a:solidFill>
                <a:latin typeface="맑은 고딕"/>
              </a:rPr>
              <a:t>설정</a:t>
            </a:r>
            <a:r>
              <a:rPr sz="1700" b="0">
                <a:solidFill>
                  <a:srgbClr val="222222"/>
                </a:solidFill>
                <a:latin typeface="맑은 고딕"/>
              </a:rPr>
              <a:t>이 어떻게 되어 있는가</a:t>
            </a:r>
          </a:p>
          <a:p>
            <a:pPr algn="l">
              <a:spcAft>
                <a:spcPts val="1000"/>
              </a:spcAft>
            </a:pPr>
            <a:r>
              <a:rPr sz="1700" b="0">
                <a:solidFill>
                  <a:srgbClr val="222222"/>
                </a:solidFill>
                <a:latin typeface="맑은 고딕"/>
              </a:rPr>
              <a:t>•  </a:t>
            </a:r>
            <a:r>
              <a:rPr sz="1700" b="0">
                <a:solidFill>
                  <a:srgbClr val="222222"/>
                </a:solidFill>
                <a:latin typeface="Consolas"/>
                <a:cs typeface="Consolas"/>
              </a:rPr>
              <a:t>V$ARCHIVE_DEST_STATUS</a:t>
            </a:r>
            <a:r>
              <a:rPr sz="1700" b="0">
                <a:solidFill>
                  <a:srgbClr val="222222"/>
                </a:solidFill>
                <a:latin typeface="맑은 고딕"/>
              </a:rPr>
              <a:t> — </a:t>
            </a:r>
            <a:r>
              <a:rPr sz="1700" b="1">
                <a:solidFill>
                  <a:srgbClr val="222222"/>
                </a:solidFill>
                <a:latin typeface="맑은 고딕"/>
              </a:rPr>
              <a:t>지금</a:t>
            </a:r>
            <a:r>
              <a:rPr sz="1700" b="0">
                <a:solidFill>
                  <a:srgbClr val="222222"/>
                </a:solidFill>
                <a:latin typeface="맑은 고딕"/>
              </a:rPr>
              <a:t> 어떤 상태인가</a:t>
            </a:r>
          </a:p>
          <a:p>
            <a:pPr algn="l">
              <a:spcAft>
                <a:spcPts val="1000"/>
              </a:spcAft>
            </a:pPr>
            <a:r>
              <a:rPr sz="1700" b="0">
                <a:solidFill>
                  <a:srgbClr val="222222"/>
                </a:solidFill>
                <a:latin typeface="맑은 고딕"/>
              </a:rPr>
              <a:t>•  </a:t>
            </a:r>
            <a:r>
              <a:rPr sz="1700" b="0">
                <a:solidFill>
                  <a:srgbClr val="222222"/>
                </a:solidFill>
                <a:latin typeface="Consolas"/>
                <a:cs typeface="Consolas"/>
              </a:rPr>
              <a:t>RECOVERY_MODE</a:t>
            </a:r>
            <a:r>
              <a:rPr sz="1700" b="0">
                <a:solidFill>
                  <a:srgbClr val="222222"/>
                </a:solidFill>
                <a:latin typeface="맑은 고딕"/>
              </a:rPr>
              <a:t> 가 있으면 </a:t>
            </a:r>
            <a:r>
              <a:rPr sz="1700" b="0">
                <a:solidFill>
                  <a:srgbClr val="222222"/>
                </a:solidFill>
                <a:latin typeface="Consolas"/>
                <a:cs typeface="Consolas"/>
              </a:rPr>
              <a:t>_STATUS</a:t>
            </a:r>
            <a:r>
              <a:rPr sz="1700" b="0">
                <a:solidFill>
                  <a:srgbClr val="222222"/>
                </a:solidFill>
                <a:latin typeface="맑은 고딕"/>
              </a:rPr>
              <a:t>, </a:t>
            </a:r>
            <a:r>
              <a:rPr sz="1700" b="0">
                <a:solidFill>
                  <a:srgbClr val="222222"/>
                </a:solidFill>
                <a:latin typeface="Consolas"/>
                <a:cs typeface="Consolas"/>
              </a:rPr>
              <a:t>VALID_NOW</a:t>
            </a:r>
            <a:r>
              <a:rPr sz="1700" b="0">
                <a:solidFill>
                  <a:srgbClr val="222222"/>
                </a:solidFill>
                <a:latin typeface="맑은 고딕"/>
              </a:rPr>
              <a:t> 가 있으면 </a:t>
            </a:r>
            <a:r>
              <a:rPr sz="1700" b="0">
                <a:solidFill>
                  <a:srgbClr val="222222"/>
                </a:solidFill>
                <a:latin typeface="Consolas"/>
                <a:cs typeface="Consolas"/>
              </a:rPr>
              <a:t>V$ARCHIVE_DEST</a:t>
            </a:r>
          </a:p>
          <a:p>
            <a:pPr algn="l">
              <a:spcAft>
                <a:spcPts val="1000"/>
              </a:spcAft>
            </a:pPr>
            <a:r>
              <a:rPr sz="1700" b="0">
                <a:solidFill>
                  <a:srgbClr val="222222"/>
                </a:solidFill>
                <a:latin typeface="맑은 고딕"/>
              </a:rPr>
              <a:t>•  로컬 1번은 </a:t>
            </a:r>
            <a:r>
              <a:rPr sz="1700" b="0">
                <a:solidFill>
                  <a:srgbClr val="222222"/>
                </a:solidFill>
                <a:latin typeface="Consolas"/>
                <a:cs typeface="Consolas"/>
              </a:rPr>
              <a:t>IDLE</a:t>
            </a:r>
            <a:r>
              <a:rPr sz="1700" b="0">
                <a:solidFill>
                  <a:srgbClr val="222222"/>
                </a:solidFill>
                <a:latin typeface="맑은 고딕"/>
              </a:rPr>
              <a:t>, 원격 2번은 </a:t>
            </a:r>
            <a:r>
              <a:rPr sz="1700" b="0">
                <a:solidFill>
                  <a:srgbClr val="222222"/>
                </a:solidFill>
                <a:latin typeface="Consolas"/>
                <a:cs typeface="Consolas"/>
              </a:rPr>
              <a:t>MANAGED REAL TIME APPLY</a:t>
            </a:r>
          </a:p>
          <a:p>
            <a:pPr algn="l">
              <a:spcAft>
                <a:spcPts val="1000"/>
              </a:spcAft>
            </a:pPr>
            <a:r>
              <a:rPr sz="1700" b="0">
                <a:solidFill>
                  <a:srgbClr val="222222"/>
                </a:solidFill>
                <a:latin typeface="맑은 고딕"/>
              </a:rPr>
              <a:t>•  </a:t>
            </a:r>
            <a:r>
              <a:rPr sz="1700" b="0">
                <a:solidFill>
                  <a:srgbClr val="222222"/>
                </a:solidFill>
                <a:latin typeface="Consolas"/>
                <a:cs typeface="Consolas"/>
              </a:rPr>
              <a:t>ERROR</a:t>
            </a:r>
            <a:r>
              <a:rPr sz="1700" b="0">
                <a:solidFill>
                  <a:srgbClr val="222222"/>
                </a:solidFill>
                <a:latin typeface="맑은 고딕"/>
              </a:rPr>
              <a:t> 열은 양쪽에 있고 같은 값</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 이름을 틀리면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SELECT dest_id, valid_nowx FROM v$archive_dest</a:t>
            </a:r>
          </a:p>
          <a:p>
            <a:pPr algn="l">
              <a:spcAft>
                <a:spcPts val="1000"/>
              </a:spcAft>
            </a:pPr>
            <a:r>
              <a:rPr sz="1700" b="0">
                <a:solidFill>
                  <a:srgbClr val="222222"/>
                </a:solidFill>
                <a:latin typeface="맑은 고딕"/>
              </a:rPr>
              <a:t>•  → </a:t>
            </a:r>
            <a:r>
              <a:rPr sz="1700" b="1">
                <a:solidFill>
                  <a:srgbClr val="222222"/>
                </a:solidFill>
                <a:latin typeface="맑은 고딕"/>
              </a:rPr>
              <a:t>ORA-00904</a:t>
            </a:r>
            <a:r>
              <a:rPr sz="1700" b="0">
                <a:solidFill>
                  <a:srgbClr val="222222"/>
                </a:solidFill>
                <a:latin typeface="맑은 고딕"/>
              </a:rPr>
              <a:t>: "VALID_NOWX": invalid identifier</a:t>
            </a:r>
          </a:p>
          <a:p>
            <a:pPr algn="l">
              <a:spcAft>
                <a:spcPts val="1000"/>
              </a:spcAft>
            </a:pPr>
            <a:r>
              <a:rPr sz="1700" b="0">
                <a:solidFill>
                  <a:srgbClr val="222222"/>
                </a:solidFill>
                <a:latin typeface="맑은 고딕"/>
              </a:rPr>
              <a:t>•  ORA-00904 = 열 이름 → </a:t>
            </a:r>
            <a:r>
              <a:rPr sz="1700" b="0">
                <a:solidFill>
                  <a:srgbClr val="222222"/>
                </a:solidFill>
                <a:latin typeface="Consolas"/>
                <a:cs typeface="Consolas"/>
              </a:rPr>
              <a:t>DESC</a:t>
            </a:r>
            <a:r>
              <a:rPr sz="1700" b="0">
                <a:solidFill>
                  <a:srgbClr val="222222"/>
                </a:solidFill>
                <a:latin typeface="맑은 고딕"/>
              </a:rPr>
              <a:t> 로 열 목록 확인</a:t>
            </a:r>
          </a:p>
          <a:p>
            <a:pPr algn="l">
              <a:spcAft>
                <a:spcPts val="1000"/>
              </a:spcAft>
            </a:pPr>
            <a:r>
              <a:rPr sz="1700" b="0">
                <a:solidFill>
                  <a:srgbClr val="222222"/>
                </a:solidFill>
                <a:latin typeface="맑은 고딕"/>
              </a:rPr>
              <a:t>•  ORA-00942 = 뷰 이름 또는 권한 → 뷰와 계정 확인</a:t>
            </a:r>
          </a:p>
          <a:p>
            <a:pPr algn="l">
              <a:spcAft>
                <a:spcPts val="1000"/>
              </a:spcAft>
            </a:pPr>
            <a:r>
              <a:rPr sz="1700" b="0">
                <a:solidFill>
                  <a:srgbClr val="222222"/>
                </a:solidFill>
                <a:latin typeface="맑은 고딕"/>
              </a:rPr>
              <a:t>•  </a:t>
            </a:r>
            <a:r>
              <a:rPr sz="1700" b="0">
                <a:solidFill>
                  <a:srgbClr val="222222"/>
                </a:solidFill>
                <a:latin typeface="Consolas"/>
                <a:cs typeface="Consolas"/>
              </a:rPr>
              <a:t>SELECT *</a:t>
            </a:r>
            <a:r>
              <a:rPr sz="1700" b="0">
                <a:solidFill>
                  <a:srgbClr val="222222"/>
                </a:solidFill>
                <a:latin typeface="맑은 고딕"/>
              </a:rPr>
              <a:t> 대신 필요한 열만 — 40개가 넘는다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VALID_TYPE 과 VALID_ROLE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VALID_FOR 가 열로 나뉜다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VALID_FOR=(online_logfiles, all_roles)</a:t>
            </a:r>
            <a:r>
              <a:rPr sz="1700" b="0">
                <a:solidFill>
                  <a:srgbClr val="222222"/>
                </a:solidFill>
                <a:latin typeface="맑은 고딕"/>
              </a:rPr>
              <a:t> → </a:t>
            </a:r>
            <a:r>
              <a:rPr sz="1700" b="0">
                <a:solidFill>
                  <a:srgbClr val="222222"/>
                </a:solidFill>
                <a:latin typeface="Consolas"/>
                <a:cs typeface="Consolas"/>
              </a:rPr>
              <a:t>ONLINE_LOGFILE</a:t>
            </a:r>
            <a:r>
              <a:rPr sz="1700" b="0">
                <a:solidFill>
                  <a:srgbClr val="222222"/>
                </a:solidFill>
                <a:latin typeface="맑은 고딕"/>
              </a:rPr>
              <a:t> / </a:t>
            </a:r>
            <a:r>
              <a:rPr sz="1700" b="0">
                <a:solidFill>
                  <a:srgbClr val="222222"/>
                </a:solidFill>
                <a:latin typeface="Consolas"/>
                <a:cs typeface="Consolas"/>
              </a:rPr>
              <a:t>ALL_ROLES</a:t>
            </a:r>
          </a:p>
          <a:p>
            <a:pPr algn="l">
              <a:spcAft>
                <a:spcPts val="1000"/>
              </a:spcAft>
            </a:pPr>
            <a:r>
              <a:rPr sz="1700" b="0">
                <a:solidFill>
                  <a:srgbClr val="222222"/>
                </a:solidFill>
                <a:latin typeface="맑은 고딕"/>
              </a:rPr>
              <a:t>•  </a:t>
            </a:r>
            <a:r>
              <a:rPr sz="1700" b="0">
                <a:solidFill>
                  <a:srgbClr val="222222"/>
                </a:solidFill>
                <a:latin typeface="Consolas"/>
                <a:cs typeface="Consolas"/>
              </a:rPr>
              <a:t>TARGET</a:t>
            </a:r>
            <a:r>
              <a:rPr sz="1700" b="0">
                <a:solidFill>
                  <a:srgbClr val="222222"/>
                </a:solidFill>
                <a:latin typeface="맑은 고딕"/>
              </a:rPr>
              <a:t> — PRIMARY 는 로컬, STANDBY 는 원격</a:t>
            </a:r>
          </a:p>
          <a:p>
            <a:pPr algn="l">
              <a:spcAft>
                <a:spcPts val="1000"/>
              </a:spcAft>
            </a:pPr>
            <a:r>
              <a:rPr sz="1700" b="0">
                <a:solidFill>
                  <a:srgbClr val="222222"/>
                </a:solidFill>
                <a:latin typeface="맑은 고딕"/>
              </a:rPr>
              <a:t>•  로컬 1번이 </a:t>
            </a:r>
            <a:r>
              <a:rPr sz="1700" b="0">
                <a:solidFill>
                  <a:srgbClr val="222222"/>
                </a:solidFill>
                <a:latin typeface="Consolas"/>
                <a:cs typeface="Consolas"/>
              </a:rPr>
              <a:t>SYNCHRONOUS</a:t>
            </a:r>
            <a:r>
              <a:rPr sz="1700" b="0">
                <a:solidFill>
                  <a:srgbClr val="222222"/>
                </a:solidFill>
                <a:latin typeface="맑은 고딕"/>
              </a:rPr>
              <a:t> — </a:t>
            </a:r>
            <a:r>
              <a:rPr sz="1700" b="1">
                <a:solidFill>
                  <a:srgbClr val="222222"/>
                </a:solidFill>
                <a:latin typeface="맑은 고딕"/>
              </a:rPr>
              <a:t>디스크 쓰기, 보호 모드와 무관</a:t>
            </a:r>
          </a:p>
          <a:p>
            <a:pPr algn="l">
              <a:spcAft>
                <a:spcPts val="1000"/>
              </a:spcAft>
            </a:pPr>
            <a:r>
              <a:rPr sz="1700" b="0">
                <a:solidFill>
                  <a:srgbClr val="222222"/>
                </a:solidFill>
                <a:latin typeface="맑은 고딕"/>
              </a:rPr>
              <a:t>•  원격 2번 </a:t>
            </a:r>
            <a:r>
              <a:rPr sz="1700" b="0">
                <a:solidFill>
                  <a:srgbClr val="222222"/>
                </a:solidFill>
                <a:latin typeface="Consolas"/>
                <a:cs typeface="Consolas"/>
              </a:rPr>
              <a:t>AFFIRM=NO</a:t>
            </a:r>
            <a:r>
              <a:rPr sz="1700" b="0">
                <a:solidFill>
                  <a:srgbClr val="222222"/>
                </a:solidFill>
                <a:latin typeface="맑은 고딕"/>
              </a:rPr>
              <a:t> — MaxPerformance 라서 쓰기 완료를 기다리지 않는다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VALID_NOW 의 값들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UNKNOWN 29개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YES</a:t>
            </a:r>
            <a:r>
              <a:rPr sz="1700" b="0">
                <a:solidFill>
                  <a:srgbClr val="222222"/>
                </a:solidFill>
                <a:latin typeface="맑은 고딕"/>
              </a:rPr>
              <a:t> 유효 / </a:t>
            </a:r>
            <a:r>
              <a:rPr sz="1700" b="0">
                <a:solidFill>
                  <a:srgbClr val="222222"/>
                </a:solidFill>
                <a:latin typeface="Consolas"/>
                <a:cs typeface="Consolas"/>
              </a:rPr>
              <a:t>INACTIVE</a:t>
            </a:r>
            <a:r>
              <a:rPr sz="1700" b="0">
                <a:solidFill>
                  <a:srgbClr val="222222"/>
                </a:solidFill>
                <a:latin typeface="맑은 고딕"/>
              </a:rPr>
              <a:t> 유효하지만 지금 동작 안 함</a:t>
            </a:r>
          </a:p>
          <a:p>
            <a:pPr algn="l">
              <a:spcAft>
                <a:spcPts val="1000"/>
              </a:spcAft>
            </a:pPr>
            <a:r>
              <a:rPr sz="1700" b="0">
                <a:solidFill>
                  <a:srgbClr val="222222"/>
                </a:solidFill>
                <a:latin typeface="맑은 고딕"/>
              </a:rPr>
              <a:t>•  </a:t>
            </a:r>
            <a:r>
              <a:rPr sz="1700" b="0">
                <a:solidFill>
                  <a:srgbClr val="222222"/>
                </a:solidFill>
                <a:latin typeface="Consolas"/>
                <a:cs typeface="Consolas"/>
              </a:rPr>
              <a:t>WRONG VALID_TYPE</a:t>
            </a:r>
            <a:r>
              <a:rPr sz="1700" b="0">
                <a:solidFill>
                  <a:srgbClr val="222222"/>
                </a:solidFill>
                <a:latin typeface="맑은 고딕"/>
              </a:rPr>
              <a:t> · </a:t>
            </a:r>
            <a:r>
              <a:rPr sz="1700" b="0">
                <a:solidFill>
                  <a:srgbClr val="222222"/>
                </a:solidFill>
                <a:latin typeface="Consolas"/>
                <a:cs typeface="Consolas"/>
              </a:rPr>
              <a:t>WRONG VALID_ROLE</a:t>
            </a:r>
            <a:r>
              <a:rPr sz="1700" b="0">
                <a:solidFill>
                  <a:srgbClr val="222222"/>
                </a:solidFill>
                <a:latin typeface="맑은 고딕"/>
              </a:rPr>
              <a:t> — 종류·역할이 맞지 않음</a:t>
            </a:r>
          </a:p>
          <a:p>
            <a:pPr algn="l">
              <a:spcAft>
                <a:spcPts val="1000"/>
              </a:spcAft>
            </a:pPr>
            <a:r>
              <a:rPr sz="1700" b="0">
                <a:solidFill>
                  <a:srgbClr val="222222"/>
                </a:solidFill>
                <a:latin typeface="맑은 고딕"/>
              </a:rPr>
              <a:t>•  </a:t>
            </a:r>
            <a:r>
              <a:rPr sz="1700" b="0">
                <a:solidFill>
                  <a:srgbClr val="222222"/>
                </a:solidFill>
                <a:latin typeface="Consolas"/>
                <a:cs typeface="Consolas"/>
              </a:rPr>
              <a:t>UNKNOWN</a:t>
            </a:r>
            <a:r>
              <a:rPr sz="1700" b="0">
                <a:solidFill>
                  <a:srgbClr val="222222"/>
                </a:solidFill>
                <a:latin typeface="맑은 고딕"/>
              </a:rPr>
              <a:t> — 19c 목적지 31개 중 </a:t>
            </a:r>
            <a:r>
              <a:rPr sz="1700" b="1">
                <a:solidFill>
                  <a:srgbClr val="222222"/>
                </a:solidFill>
                <a:latin typeface="맑은 고딕"/>
              </a:rPr>
              <a:t>쓰지 않는 29개</a:t>
            </a:r>
          </a:p>
          <a:p>
            <a:pPr algn="l">
              <a:spcAft>
                <a:spcPts val="1000"/>
              </a:spcAft>
            </a:pPr>
            <a:r>
              <a:rPr sz="1700" b="0">
                <a:solidFill>
                  <a:srgbClr val="222222"/>
                </a:solidFill>
                <a:latin typeface="맑은 고딕"/>
              </a:rPr>
              <a:t>•  막 바꾼 직후도 </a:t>
            </a:r>
            <a:r>
              <a:rPr sz="1700" b="0">
                <a:solidFill>
                  <a:srgbClr val="222222"/>
                </a:solidFill>
                <a:latin typeface="Consolas"/>
                <a:cs typeface="Consolas"/>
              </a:rPr>
              <a:t>UNKNOWN</a:t>
            </a:r>
            <a:r>
              <a:rPr sz="1700" b="0">
                <a:solidFill>
                  <a:srgbClr val="222222"/>
                </a:solidFill>
                <a:latin typeface="맑은 고딕"/>
              </a:rPr>
              <a:t> (10장 Far Sync)</a:t>
            </a:r>
          </a:p>
          <a:p>
            <a:pPr algn="l">
              <a:spcAft>
                <a:spcPts val="1000"/>
              </a:spcAft>
            </a:pPr>
            <a:r>
              <a:rPr sz="1700" b="0">
                <a:solidFill>
                  <a:srgbClr val="222222"/>
                </a:solidFill>
                <a:latin typeface="맑은 고딕"/>
              </a:rPr>
              <a:t>•  → </a:t>
            </a:r>
            <a:r>
              <a:rPr sz="1700" b="0">
                <a:solidFill>
                  <a:srgbClr val="222222"/>
                </a:solidFill>
                <a:latin typeface="Consolas"/>
                <a:cs typeface="Consolas"/>
              </a:rPr>
              <a:t>DESTINATION</a:t>
            </a:r>
            <a:r>
              <a:rPr sz="1700" b="0">
                <a:solidFill>
                  <a:srgbClr val="222222"/>
                </a:solidFill>
                <a:latin typeface="맑은 고딕"/>
              </a:rPr>
              <a:t> 이 비었는지 먼저 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전송 중단 재현과 진단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리스너를 내린다</a:t>
            </a:r>
          </a:p>
          <a:p>
            <a:pPr algn="l">
              <a:spcAft>
                <a:spcPts val="800"/>
              </a:spcAft>
            </a:pPr>
            <a:r>
              <a:rPr sz="1600" b="0">
                <a:solidFill>
                  <a:srgbClr val="FFFFFF"/>
                </a:solidFill>
                <a:latin typeface="맑은 고딕"/>
              </a:rPr>
              <a:t>•  각 층이 보여 주는 것</a:t>
            </a:r>
          </a:p>
          <a:p>
            <a:pPr algn="l">
              <a:spcAft>
                <a:spcPts val="800"/>
              </a:spcAft>
            </a:pPr>
            <a:r>
              <a:rPr sz="1600" b="0">
                <a:solidFill>
                  <a:srgbClr val="FFFFFF"/>
                </a:solidFill>
                <a:latin typeface="맑은 고딕"/>
              </a:rPr>
              <a:t>•  복구가 바로 되지 않는 이유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의도하지 않은 중단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리스너를 내린다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14장 </a:t>
            </a:r>
            <a:r>
              <a:rPr sz="1700" b="0">
                <a:solidFill>
                  <a:srgbClr val="222222"/>
                </a:solidFill>
                <a:latin typeface="Consolas"/>
                <a:cs typeface="Consolas"/>
              </a:rPr>
              <a:t>LogShipping=OFF</a:t>
            </a:r>
            <a:r>
              <a:rPr sz="1700" b="0">
                <a:solidFill>
                  <a:srgbClr val="222222"/>
                </a:solidFill>
                <a:latin typeface="맑은 고딕"/>
              </a:rPr>
              <a:t> — </a:t>
            </a:r>
            <a:r>
              <a:rPr sz="1700" b="1">
                <a:solidFill>
                  <a:srgbClr val="222222"/>
                </a:solidFill>
                <a:latin typeface="맑은 고딕"/>
              </a:rPr>
              <a:t>의도한</a:t>
            </a:r>
            <a:r>
              <a:rPr sz="1700" b="0">
                <a:solidFill>
                  <a:srgbClr val="222222"/>
                </a:solidFill>
                <a:latin typeface="맑은 고딕"/>
              </a:rPr>
              <a:t> 중단, </a:t>
            </a:r>
            <a:r>
              <a:rPr sz="1700" b="0">
                <a:solidFill>
                  <a:srgbClr val="222222"/>
                </a:solidFill>
                <a:latin typeface="Consolas"/>
                <a:cs typeface="Consolas"/>
              </a:rPr>
              <a:t>SUCCESS</a:t>
            </a:r>
          </a:p>
          <a:p>
            <a:pPr algn="l">
              <a:spcAft>
                <a:spcPts val="1000"/>
              </a:spcAft>
            </a:pPr>
            <a:r>
              <a:rPr sz="1700" b="0">
                <a:solidFill>
                  <a:srgbClr val="222222"/>
                </a:solidFill>
                <a:latin typeface="맑은 고딕"/>
              </a:rPr>
              <a:t>•  이번 — boston </a:t>
            </a:r>
            <a:r>
              <a:rPr sz="1700" b="0">
                <a:solidFill>
                  <a:srgbClr val="222222"/>
                </a:solidFill>
                <a:latin typeface="Consolas"/>
                <a:cs typeface="Consolas"/>
              </a:rPr>
              <a:t>lsnrctl stop</a:t>
            </a:r>
            <a:r>
              <a:rPr sz="1700" b="0">
                <a:solidFill>
                  <a:srgbClr val="222222"/>
                </a:solidFill>
                <a:latin typeface="맑은 고딕"/>
              </a:rPr>
              <a:t> → </a:t>
            </a:r>
            <a:r>
              <a:rPr sz="1700" b="0">
                <a:solidFill>
                  <a:srgbClr val="222222"/>
                </a:solidFill>
                <a:latin typeface="Consolas"/>
                <a:cs typeface="Consolas"/>
              </a:rPr>
              <a:t>TNS-12541</a:t>
            </a:r>
            <a:r>
              <a:rPr sz="1700" b="0">
                <a:solidFill>
                  <a:srgbClr val="222222"/>
                </a:solidFill>
                <a:latin typeface="맑은 고딕"/>
              </a:rPr>
              <a:t>, Linux Error 111</a:t>
            </a:r>
          </a:p>
          <a:p>
            <a:pPr algn="l">
              <a:spcAft>
                <a:spcPts val="1000"/>
              </a:spcAft>
            </a:pPr>
            <a:r>
              <a:rPr sz="1700" b="0">
                <a:solidFill>
                  <a:srgbClr val="222222"/>
                </a:solidFill>
                <a:latin typeface="맑은 고딕"/>
              </a:rPr>
              <a:t>•  boston DB 는 살아 있다 — 접속만 안 된다</a:t>
            </a:r>
          </a:p>
          <a:p>
            <a:pPr algn="l">
              <a:spcAft>
                <a:spcPts val="1000"/>
              </a:spcAft>
            </a:pPr>
            <a:r>
              <a:rPr sz="1700" b="0">
                <a:solidFill>
                  <a:srgbClr val="222222"/>
                </a:solidFill>
                <a:latin typeface="맑은 고딕"/>
              </a:rPr>
              <a:t>•  Primary 에 변경 + 로그 전환 두 번 — 보낼 것이 생겼다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Primary 쪽 — 목적지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열이 한꺼번에 바뀐다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STATUS</a:t>
            </a:r>
            <a:r>
              <a:rPr sz="1700" b="0">
                <a:solidFill>
                  <a:srgbClr val="222222"/>
                </a:solidFill>
                <a:latin typeface="맑은 고딕"/>
              </a:rPr>
              <a:t> VALID → </a:t>
            </a:r>
            <a:r>
              <a:rPr sz="1700" b="1">
                <a:solidFill>
                  <a:srgbClr val="222222"/>
                </a:solidFill>
                <a:latin typeface="맑은 고딕"/>
              </a:rPr>
              <a:t>ERROR</a:t>
            </a:r>
          </a:p>
          <a:p>
            <a:pPr algn="l">
              <a:spcAft>
                <a:spcPts val="1000"/>
              </a:spcAft>
            </a:pPr>
            <a:r>
              <a:rPr sz="1700" b="0">
                <a:solidFill>
                  <a:srgbClr val="222222"/>
                </a:solidFill>
                <a:latin typeface="맑은 고딕"/>
              </a:rPr>
              <a:t>•  </a:t>
            </a:r>
            <a:r>
              <a:rPr sz="1700" b="0">
                <a:solidFill>
                  <a:srgbClr val="222222"/>
                </a:solidFill>
                <a:latin typeface="Consolas"/>
                <a:cs typeface="Consolas"/>
              </a:rPr>
              <a:t>VALID_NOW</a:t>
            </a:r>
            <a:r>
              <a:rPr sz="1700" b="0">
                <a:solidFill>
                  <a:srgbClr val="222222"/>
                </a:solidFill>
                <a:latin typeface="맑은 고딕"/>
              </a:rPr>
              <a:t> YES → </a:t>
            </a:r>
            <a:r>
              <a:rPr sz="1700" b="1">
                <a:solidFill>
                  <a:srgbClr val="222222"/>
                </a:solidFill>
                <a:latin typeface="맑은 고딕"/>
              </a:rPr>
              <a:t>INACTIVE</a:t>
            </a:r>
          </a:p>
          <a:p>
            <a:pPr algn="l">
              <a:spcAft>
                <a:spcPts val="1000"/>
              </a:spcAft>
            </a:pPr>
            <a:r>
              <a:rPr sz="1700" b="0">
                <a:solidFill>
                  <a:srgbClr val="222222"/>
                </a:solidFill>
                <a:latin typeface="맑은 고딕"/>
              </a:rPr>
              <a:t>•  </a:t>
            </a:r>
            <a:r>
              <a:rPr sz="1700" b="0">
                <a:solidFill>
                  <a:srgbClr val="222222"/>
                </a:solidFill>
                <a:latin typeface="Consolas"/>
                <a:cs typeface="Consolas"/>
              </a:rPr>
              <a:t>ERROR</a:t>
            </a:r>
            <a:r>
              <a:rPr sz="1700" b="0">
                <a:solidFill>
                  <a:srgbClr val="222222"/>
                </a:solidFill>
                <a:latin typeface="맑은 고딕"/>
              </a:rPr>
              <a:t> (빈칸) → </a:t>
            </a:r>
            <a:r>
              <a:rPr sz="1700" b="1">
                <a:solidFill>
                  <a:srgbClr val="222222"/>
                </a:solidFill>
                <a:latin typeface="맑은 고딕"/>
              </a:rPr>
              <a:t>ORA-12541: TNS:no listener</a:t>
            </a:r>
          </a:p>
          <a:p>
            <a:pPr algn="l">
              <a:spcAft>
                <a:spcPts val="1000"/>
              </a:spcAft>
            </a:pPr>
            <a:r>
              <a:rPr sz="1700" b="0">
                <a:solidFill>
                  <a:srgbClr val="222222"/>
                </a:solidFill>
                <a:latin typeface="맑은 고딕"/>
              </a:rPr>
              <a:t>•  원인이 그대로 들어 있다 — Broker 는 "문제가 있다" 까지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장애인가 설정인가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STATE_2 × STATUS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ENABLE</a:t>
            </a:r>
            <a:r>
              <a:rPr sz="1700" b="0">
                <a:solidFill>
                  <a:srgbClr val="222222"/>
                </a:solidFill>
                <a:latin typeface="맑은 고딕"/>
              </a:rPr>
              <a:t> + </a:t>
            </a:r>
            <a:r>
              <a:rPr sz="1700" b="0">
                <a:solidFill>
                  <a:srgbClr val="222222"/>
                </a:solidFill>
                <a:latin typeface="Consolas"/>
                <a:cs typeface="Consolas"/>
              </a:rPr>
              <a:t>VALID</a:t>
            </a:r>
            <a:r>
              <a:rPr sz="1700" b="0">
                <a:solidFill>
                  <a:srgbClr val="222222"/>
                </a:solidFill>
                <a:latin typeface="맑은 고딕"/>
              </a:rPr>
              <a:t> → 정상</a:t>
            </a:r>
          </a:p>
          <a:p>
            <a:pPr algn="l">
              <a:spcAft>
                <a:spcPts val="1000"/>
              </a:spcAft>
            </a:pPr>
            <a:r>
              <a:rPr sz="1700" b="0">
                <a:solidFill>
                  <a:srgbClr val="222222"/>
                </a:solidFill>
                <a:latin typeface="맑은 고딕"/>
              </a:rPr>
              <a:t>•  </a:t>
            </a:r>
            <a:r>
              <a:rPr sz="1700" b="0">
                <a:solidFill>
                  <a:srgbClr val="222222"/>
                </a:solidFill>
                <a:latin typeface="Consolas"/>
                <a:cs typeface="Consolas"/>
              </a:rPr>
              <a:t>ENABLE</a:t>
            </a:r>
            <a:r>
              <a:rPr sz="1700" b="0">
                <a:solidFill>
                  <a:srgbClr val="222222"/>
                </a:solidFill>
                <a:latin typeface="맑은 고딕"/>
              </a:rPr>
              <a:t> + </a:t>
            </a:r>
            <a:r>
              <a:rPr sz="1700" b="0">
                <a:solidFill>
                  <a:srgbClr val="222222"/>
                </a:solidFill>
                <a:latin typeface="Consolas"/>
                <a:cs typeface="Consolas"/>
              </a:rPr>
              <a:t>ERROR</a:t>
            </a:r>
            <a:r>
              <a:rPr sz="1700" b="0">
                <a:solidFill>
                  <a:srgbClr val="222222"/>
                </a:solidFill>
                <a:latin typeface="맑은 고딕"/>
              </a:rPr>
              <a:t> → </a:t>
            </a:r>
            <a:r>
              <a:rPr sz="1700" b="1">
                <a:solidFill>
                  <a:srgbClr val="222222"/>
                </a:solidFill>
                <a:latin typeface="맑은 고딕"/>
              </a:rPr>
              <a:t>장애</a:t>
            </a:r>
            <a:r>
              <a:rPr sz="1700" b="0">
                <a:solidFill>
                  <a:srgbClr val="222222"/>
                </a:solidFill>
                <a:latin typeface="맑은 고딕"/>
              </a:rPr>
              <a:t> — </a:t>
            </a:r>
            <a:r>
              <a:rPr sz="1700" b="0">
                <a:solidFill>
                  <a:srgbClr val="222222"/>
                </a:solidFill>
                <a:latin typeface="Consolas"/>
                <a:cs typeface="Consolas"/>
              </a:rPr>
              <a:t>ERROR</a:t>
            </a:r>
            <a:r>
              <a:rPr sz="1700" b="0">
                <a:solidFill>
                  <a:srgbClr val="222222"/>
                </a:solidFill>
                <a:latin typeface="맑은 고딕"/>
              </a:rPr>
              <a:t> 열을 읽는다</a:t>
            </a:r>
          </a:p>
          <a:p>
            <a:pPr algn="l">
              <a:spcAft>
                <a:spcPts val="1000"/>
              </a:spcAft>
            </a:pPr>
            <a:r>
              <a:rPr sz="1700" b="0">
                <a:solidFill>
                  <a:srgbClr val="222222"/>
                </a:solidFill>
                <a:latin typeface="맑은 고딕"/>
              </a:rPr>
              <a:t>•  </a:t>
            </a:r>
            <a:r>
              <a:rPr sz="1700" b="0">
                <a:solidFill>
                  <a:srgbClr val="222222"/>
                </a:solidFill>
                <a:latin typeface="Consolas"/>
                <a:cs typeface="Consolas"/>
              </a:rPr>
              <a:t>RESET</a:t>
            </a:r>
            <a:r>
              <a:rPr sz="1700" b="0">
                <a:solidFill>
                  <a:srgbClr val="222222"/>
                </a:solidFill>
                <a:latin typeface="맑은 고딕"/>
              </a:rPr>
              <a:t> + </a:t>
            </a:r>
            <a:r>
              <a:rPr sz="1700" b="0">
                <a:solidFill>
                  <a:srgbClr val="222222"/>
                </a:solidFill>
                <a:latin typeface="Consolas"/>
                <a:cs typeface="Consolas"/>
              </a:rPr>
              <a:t>DEFERRED</a:t>
            </a:r>
            <a:r>
              <a:rPr sz="1700" b="0">
                <a:solidFill>
                  <a:srgbClr val="222222"/>
                </a:solidFill>
                <a:latin typeface="맑은 고딕"/>
              </a:rPr>
              <a:t> → Broker 가 껐다 (14장)</a:t>
            </a:r>
          </a:p>
          <a:p>
            <a:pPr algn="l">
              <a:spcAft>
                <a:spcPts val="1000"/>
              </a:spcAft>
            </a:pPr>
            <a:r>
              <a:rPr sz="1700" b="0">
                <a:solidFill>
                  <a:srgbClr val="222222"/>
                </a:solidFill>
                <a:latin typeface="맑은 고딕"/>
              </a:rPr>
              <a:t>•  </a:t>
            </a:r>
            <a:r>
              <a:rPr sz="1700" b="0">
                <a:solidFill>
                  <a:srgbClr val="222222"/>
                </a:solidFill>
                <a:latin typeface="Consolas"/>
                <a:cs typeface="Consolas"/>
              </a:rPr>
              <a:t>DEFER</a:t>
            </a:r>
            <a:r>
              <a:rPr sz="1700" b="0">
                <a:solidFill>
                  <a:srgbClr val="222222"/>
                </a:solidFill>
                <a:latin typeface="맑은 고딕"/>
              </a:rPr>
              <a:t> + </a:t>
            </a:r>
            <a:r>
              <a:rPr sz="1700" b="0">
                <a:solidFill>
                  <a:srgbClr val="222222"/>
                </a:solidFill>
                <a:latin typeface="Consolas"/>
                <a:cs typeface="Consolas"/>
              </a:rPr>
              <a:t>DEFERRED</a:t>
            </a:r>
            <a:r>
              <a:rPr sz="1700" b="0">
                <a:solidFill>
                  <a:srgbClr val="222222"/>
                </a:solidFill>
                <a:latin typeface="맑은 고딕"/>
              </a:rPr>
              <a:t> → 사람이 SQL 로 껐다 (7장)</a:t>
            </a:r>
          </a:p>
          <a:p>
            <a:pPr algn="l">
              <a:spcAft>
                <a:spcPts val="1000"/>
              </a:spcAft>
            </a:pPr>
            <a:r>
              <a:rPr sz="1700" b="0">
                <a:solidFill>
                  <a:srgbClr val="222222"/>
                </a:solidFill>
                <a:latin typeface="맑은 고딕"/>
              </a:rPr>
              <a:t>•  실측 — 파라미터는 </a:t>
            </a:r>
            <a:r>
              <a:rPr sz="1700" b="0">
                <a:solidFill>
                  <a:srgbClr val="222222"/>
                </a:solidFill>
                <a:latin typeface="Consolas"/>
                <a:cs typeface="Consolas"/>
              </a:rPr>
              <a:t>ENABLE</a:t>
            </a:r>
            <a:r>
              <a:rPr sz="1700" b="0">
                <a:solidFill>
                  <a:srgbClr val="222222"/>
                </a:solidFill>
                <a:latin typeface="맑은 고딕"/>
              </a:rPr>
              <a:t> 그대로였다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사건 기록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Warning 인데 봐야 하는 행</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V$DATAGUARD_STATUS WHERE error_code &lt;&gt; 0</a:t>
            </a:r>
          </a:p>
          <a:p>
            <a:pPr algn="l">
              <a:spcAft>
                <a:spcPts val="1000"/>
              </a:spcAft>
            </a:pPr>
            <a:r>
              <a:rPr sz="1700" b="0">
                <a:solidFill>
                  <a:srgbClr val="222222"/>
                </a:solidFill>
                <a:latin typeface="맑은 고딕"/>
              </a:rPr>
              <a:t>•  Error 12541 / </a:t>
            </a:r>
            <a:r>
              <a:rPr sz="1700" b="1">
                <a:solidFill>
                  <a:srgbClr val="222222"/>
                </a:solidFill>
                <a:latin typeface="맑은 고딕"/>
              </a:rPr>
              <a:t>Warning 12541</a:t>
            </a:r>
            <a:r>
              <a:rPr sz="1700" b="0">
                <a:solidFill>
                  <a:srgbClr val="222222"/>
                </a:solidFill>
                <a:latin typeface="맑은 고딕"/>
              </a:rPr>
              <a:t> "Check whether the listener is up"</a:t>
            </a:r>
          </a:p>
          <a:p>
            <a:pPr algn="l">
              <a:spcAft>
                <a:spcPts val="1000"/>
              </a:spcAft>
            </a:pPr>
            <a:r>
              <a:rPr sz="1700" b="0">
                <a:solidFill>
                  <a:srgbClr val="222222"/>
                </a:solidFill>
                <a:latin typeface="맑은 고딕"/>
              </a:rPr>
              <a:t>•  14장 — Warning 인데 </a:t>
            </a:r>
            <a:r>
              <a:rPr sz="1700" b="0">
                <a:solidFill>
                  <a:srgbClr val="222222"/>
                </a:solidFill>
                <a:latin typeface="Consolas"/>
                <a:cs typeface="Consolas"/>
              </a:rPr>
              <a:t>ERROR_CODE</a:t>
            </a:r>
            <a:r>
              <a:rPr sz="1700" b="0">
                <a:solidFill>
                  <a:srgbClr val="222222"/>
                </a:solidFill>
                <a:latin typeface="맑은 고딕"/>
              </a:rPr>
              <a:t> 0 → 정상</a:t>
            </a:r>
          </a:p>
          <a:p>
            <a:pPr algn="l">
              <a:spcAft>
                <a:spcPts val="1000"/>
              </a:spcAft>
            </a:pPr>
            <a:r>
              <a:rPr sz="1700" b="0">
                <a:solidFill>
                  <a:srgbClr val="222222"/>
                </a:solidFill>
                <a:latin typeface="맑은 고딕"/>
              </a:rPr>
              <a:t>•  이번 — Warning 인데 </a:t>
            </a:r>
            <a:r>
              <a:rPr sz="1700" b="0">
                <a:solidFill>
                  <a:srgbClr val="222222"/>
                </a:solidFill>
                <a:latin typeface="Consolas"/>
                <a:cs typeface="Consolas"/>
              </a:rPr>
              <a:t>ERROR_CODE</a:t>
            </a:r>
            <a:r>
              <a:rPr sz="1700" b="0">
                <a:solidFill>
                  <a:srgbClr val="222222"/>
                </a:solidFill>
                <a:latin typeface="맑은 고딕"/>
              </a:rPr>
              <a:t> 12541 → 봐야 한다</a:t>
            </a:r>
          </a:p>
          <a:p>
            <a:pPr algn="l">
              <a:spcAft>
                <a:spcPts val="1000"/>
              </a:spcAft>
            </a:pPr>
            <a:r>
              <a:rPr sz="1700" b="0">
                <a:solidFill>
                  <a:srgbClr val="222222"/>
                </a:solidFill>
                <a:latin typeface="맑은 고딕"/>
              </a:rPr>
              <a:t>•  판정 기준은 </a:t>
            </a:r>
            <a:r>
              <a:rPr sz="1700" b="0">
                <a:solidFill>
                  <a:srgbClr val="222222"/>
                </a:solidFill>
                <a:latin typeface="Consolas"/>
                <a:cs typeface="Consolas"/>
              </a:rPr>
              <a:t>SEVERITY</a:t>
            </a:r>
            <a:r>
              <a:rPr sz="1700" b="0">
                <a:solidFill>
                  <a:srgbClr val="222222"/>
                </a:solidFill>
                <a:latin typeface="맑은 고딕"/>
              </a:rPr>
              <a:t> 가 아니라 </a:t>
            </a:r>
            <a:r>
              <a:rPr sz="1700" b="1">
                <a:solidFill>
                  <a:srgbClr val="222222"/>
                </a:solidFill>
                <a:latin typeface="Consolas"/>
                <a:cs typeface="Consolas"/>
              </a:rPr>
              <a:t>ERROR_CODE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알림 로그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뷰에 없는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접속 문자열 전체 — HOST · PORT · SERVICE_NAME</a:t>
            </a:r>
          </a:p>
          <a:p>
            <a:pPr algn="l">
              <a:spcAft>
                <a:spcPts val="1000"/>
              </a:spcAft>
            </a:pPr>
            <a:r>
              <a:rPr sz="1700" b="0">
                <a:solidFill>
                  <a:srgbClr val="222222"/>
                </a:solidFill>
                <a:latin typeface="맑은 고딕"/>
              </a:rPr>
              <a:t>•  프로세스와 트레이스 파일 — </a:t>
            </a:r>
            <a:r>
              <a:rPr sz="1700" b="0">
                <a:solidFill>
                  <a:srgbClr val="222222"/>
                </a:solidFill>
                <a:latin typeface="Consolas"/>
                <a:cs typeface="Consolas"/>
              </a:rPr>
              <a:t>ARC1 (PID:2482)</a:t>
            </a:r>
            <a:r>
              <a:rPr sz="1700" b="0">
                <a:solidFill>
                  <a:srgbClr val="222222"/>
                </a:solidFill>
                <a:latin typeface="맑은 고딕"/>
              </a:rPr>
              <a:t>, </a:t>
            </a:r>
            <a:r>
              <a:rPr sz="1700" b="0">
                <a:solidFill>
                  <a:srgbClr val="222222"/>
                </a:solidFill>
                <a:latin typeface="Consolas"/>
                <a:cs typeface="Consolas"/>
              </a:rPr>
              <a:t>chicago_arc1_2482.trc</a:t>
            </a:r>
          </a:p>
          <a:p>
            <a:pPr algn="l">
              <a:spcAft>
                <a:spcPts val="1000"/>
              </a:spcAft>
            </a:pPr>
            <a:r>
              <a:rPr sz="1700" b="0">
                <a:solidFill>
                  <a:srgbClr val="222222"/>
                </a:solidFill>
                <a:latin typeface="맑은 고딕"/>
              </a:rPr>
              <a:t>•  </a:t>
            </a:r>
            <a:r>
              <a:rPr sz="1700" b="0">
                <a:solidFill>
                  <a:srgbClr val="222222"/>
                </a:solidFill>
                <a:latin typeface="Consolas"/>
                <a:cs typeface="Consolas"/>
              </a:rPr>
              <a:t>ORA-16055: FAL request rejected</a:t>
            </a:r>
            <a:r>
              <a:rPr sz="1700" b="0">
                <a:solidFill>
                  <a:srgbClr val="222222"/>
                </a:solidFill>
                <a:latin typeface="맑은 고딕"/>
              </a:rPr>
              <a:t> — 8장의 메커니즘</a:t>
            </a:r>
          </a:p>
          <a:p>
            <a:pPr algn="l">
              <a:spcAft>
                <a:spcPts val="1000"/>
              </a:spcAft>
            </a:pPr>
            <a:r>
              <a:rPr sz="1700" b="0">
                <a:solidFill>
                  <a:srgbClr val="222222"/>
                </a:solidFill>
                <a:latin typeface="맑은 고딕"/>
              </a:rPr>
              <a:t>•  </a:t>
            </a:r>
            <a:r>
              <a:rPr sz="1700" b="1">
                <a:solidFill>
                  <a:srgbClr val="222222"/>
                </a:solidFill>
                <a:latin typeface="Consolas"/>
                <a:cs typeface="Consolas"/>
              </a:rPr>
              <a:t>archiver continuing</a:t>
            </a:r>
            <a:r>
              <a:rPr sz="1700" b="0">
                <a:solidFill>
                  <a:srgbClr val="222222"/>
                </a:solidFill>
                <a:latin typeface="맑은 고딕"/>
              </a:rPr>
              <a:t> — Primary 는 멈추지 않는다</a:t>
            </a:r>
          </a:p>
          <a:p>
            <a:pPr algn="l">
              <a:spcAft>
                <a:spcPts val="1000"/>
              </a:spcAft>
            </a:pPr>
            <a:r>
              <a:rPr sz="1700" b="0">
                <a:solidFill>
                  <a:srgbClr val="222222"/>
                </a:solidFill>
                <a:latin typeface="맑은 고딕"/>
              </a:rPr>
              <a:t>•  MaxPerformance 이기 때문 — MaxProtection 이면 멈춘다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 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지연이 아니라 프로세스를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두 지연 — </a:t>
            </a:r>
            <a:r>
              <a:rPr sz="1700" b="1">
                <a:solidFill>
                  <a:srgbClr val="222222"/>
                </a:solidFill>
                <a:latin typeface="맑은 고딕"/>
              </a:rPr>
              <a:t>또 0</a:t>
            </a:r>
            <a:r>
              <a:rPr sz="1700" b="0">
                <a:solidFill>
                  <a:srgbClr val="222222"/>
                </a:solidFill>
                <a:latin typeface="맑은 고딕"/>
              </a:rPr>
              <a:t> (오지 않으니 늦지도 않는다)</a:t>
            </a:r>
          </a:p>
          <a:p>
            <a:pPr algn="l">
              <a:spcAft>
                <a:spcPts val="1000"/>
              </a:spcAft>
            </a:pPr>
            <a:r>
              <a:rPr sz="1700" b="0">
                <a:solidFill>
                  <a:srgbClr val="222222"/>
                </a:solidFill>
                <a:latin typeface="맑은 고딕"/>
              </a:rPr>
              <a:t>•  MRP0 </a:t>
            </a:r>
            <a:r>
              <a:rPr sz="1700" b="0">
                <a:solidFill>
                  <a:srgbClr val="222222"/>
                </a:solidFill>
                <a:latin typeface="Consolas"/>
                <a:cs typeface="Consolas"/>
              </a:rPr>
              <a:t>APPLYING_LOG</a:t>
            </a:r>
            <a:r>
              <a:rPr sz="1700" b="0">
                <a:solidFill>
                  <a:srgbClr val="222222"/>
                </a:solidFill>
                <a:latin typeface="맑은 고딕"/>
              </a:rPr>
              <a:t> → </a:t>
            </a:r>
            <a:r>
              <a:rPr sz="1700" b="1">
                <a:solidFill>
                  <a:srgbClr val="222222"/>
                </a:solidFill>
                <a:latin typeface="Consolas"/>
                <a:cs typeface="Consolas"/>
              </a:rPr>
              <a:t>WAIT_FOR_LOG</a:t>
            </a:r>
            <a:r>
              <a:rPr sz="1700" b="0">
                <a:solidFill>
                  <a:srgbClr val="222222"/>
                </a:solidFill>
                <a:latin typeface="맑은 고딕"/>
              </a:rPr>
              <a:t> 75번</a:t>
            </a:r>
          </a:p>
          <a:p>
            <a:pPr algn="l">
              <a:spcAft>
                <a:spcPts val="1000"/>
              </a:spcAft>
            </a:pPr>
            <a:r>
              <a:rPr sz="1700" b="0">
                <a:solidFill>
                  <a:srgbClr val="222222"/>
                </a:solidFill>
                <a:latin typeface="맑은 고딕"/>
              </a:rPr>
              <a:t>•  RFS(</a:t>
            </a:r>
            <a:r>
              <a:rPr sz="1700" b="0">
                <a:solidFill>
                  <a:srgbClr val="222222"/>
                </a:solidFill>
                <a:latin typeface="Consolas"/>
                <a:cs typeface="Consolas"/>
              </a:rPr>
              <a:t>CLIENT_PROCESS=LGWR</a:t>
            </a:r>
            <a:r>
              <a:rPr sz="1700" b="0">
                <a:solidFill>
                  <a:srgbClr val="222222"/>
                </a:solidFill>
                <a:latin typeface="맑은 고딕"/>
              </a:rPr>
              <a:t>) </a:t>
            </a:r>
            <a:r>
              <a:rPr sz="1700" b="1">
                <a:solidFill>
                  <a:srgbClr val="222222"/>
                </a:solidFill>
                <a:latin typeface="맑은 고딕"/>
              </a:rPr>
              <a:t>사라짐</a:t>
            </a:r>
          </a:p>
          <a:p>
            <a:pPr algn="l">
              <a:spcAft>
                <a:spcPts val="1000"/>
              </a:spcAft>
            </a:pPr>
            <a:r>
              <a:rPr sz="1700" b="0">
                <a:solidFill>
                  <a:srgbClr val="222222"/>
                </a:solidFill>
                <a:latin typeface="맑은 고딕"/>
              </a:rPr>
              <a:t>•  </a:t>
            </a:r>
            <a:r>
              <a:rPr sz="1700" b="0">
                <a:solidFill>
                  <a:srgbClr val="222222"/>
                </a:solidFill>
                <a:latin typeface="Consolas"/>
                <a:cs typeface="Consolas"/>
              </a:rPr>
              <a:t>ACTIVE</a:t>
            </a:r>
            <a:r>
              <a:rPr sz="1700" b="0">
                <a:solidFill>
                  <a:srgbClr val="222222"/>
                </a:solidFill>
                <a:latin typeface="맑은 고딕"/>
              </a:rPr>
              <a:t> SRL 1개 → </a:t>
            </a:r>
            <a:r>
              <a:rPr sz="1700" b="1">
                <a:solidFill>
                  <a:srgbClr val="222222"/>
                </a:solidFill>
                <a:latin typeface="맑은 고딕"/>
              </a:rPr>
              <a:t>0개</a:t>
            </a:r>
          </a:p>
          <a:p>
            <a:pPr algn="l">
              <a:spcAft>
                <a:spcPts val="1000"/>
              </a:spcAft>
            </a:pPr>
            <a:r>
              <a:rPr sz="1700" b="0">
                <a:solidFill>
                  <a:srgbClr val="222222"/>
                </a:solidFill>
                <a:latin typeface="맑은 고딕"/>
              </a:rPr>
              <a:t>•  </a:t>
            </a:r>
            <a:r>
              <a:rPr sz="1700" b="0">
                <a:solidFill>
                  <a:srgbClr val="222222"/>
                </a:solidFill>
                <a:latin typeface="Consolas"/>
                <a:cs typeface="Consolas"/>
              </a:rPr>
              <a:t>V$ARCHIVE_GAP</a:t>
            </a:r>
            <a:r>
              <a:rPr sz="1700" b="0">
                <a:solidFill>
                  <a:srgbClr val="222222"/>
                </a:solidFill>
                <a:latin typeface="맑은 고딕"/>
              </a:rPr>
              <a:t> 도 비었다 — 통신이 끊기면 갭을 인식 못 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 는 무엇이라 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층별로 다른 답</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SHOW CONFIGURATION</a:t>
            </a:r>
            <a:r>
              <a:rPr sz="1700" b="0">
                <a:solidFill>
                  <a:srgbClr val="222222"/>
                </a:solidFill>
                <a:latin typeface="맑은 고딕"/>
              </a:rPr>
              <a:t> — WARNING + </a:t>
            </a:r>
            <a:r>
              <a:rPr sz="1700" b="1">
                <a:solidFill>
                  <a:srgbClr val="222222"/>
                </a:solidFill>
                <a:latin typeface="맑은 고딕"/>
              </a:rPr>
              <a:t>ORA-16857</a:t>
            </a:r>
            <a:r>
              <a:rPr sz="1700" b="0">
                <a:solidFill>
                  <a:srgbClr val="222222"/>
                </a:solidFill>
                <a:latin typeface="맑은 고딕"/>
              </a:rPr>
              <a:t> → 문제가 있다</a:t>
            </a:r>
          </a:p>
          <a:p>
            <a:pPr algn="l">
              <a:spcAft>
                <a:spcPts val="1000"/>
              </a:spcAft>
            </a:pPr>
            <a:r>
              <a:rPr sz="1700" b="0">
                <a:solidFill>
                  <a:srgbClr val="222222"/>
                </a:solidFill>
                <a:latin typeface="맑은 고딕"/>
              </a:rPr>
              <a:t>•  </a:t>
            </a:r>
            <a:r>
              <a:rPr sz="1700" b="0">
                <a:solidFill>
                  <a:srgbClr val="222222"/>
                </a:solidFill>
                <a:latin typeface="Consolas"/>
                <a:cs typeface="Consolas"/>
              </a:rPr>
              <a:t>VALIDATE</a:t>
            </a:r>
            <a:r>
              <a:rPr sz="1700" b="0">
                <a:solidFill>
                  <a:srgbClr val="222222"/>
                </a:solidFill>
                <a:latin typeface="맑은 고딕"/>
              </a:rPr>
              <a:t> — Ready for Switchover: </a:t>
            </a:r>
            <a:r>
              <a:rPr sz="1700" b="1">
                <a:solidFill>
                  <a:srgbClr val="222222"/>
                </a:solidFill>
                <a:latin typeface="맑은 고딕"/>
              </a:rPr>
              <a:t>No</a:t>
            </a:r>
            <a:r>
              <a:rPr sz="1700" b="0">
                <a:solidFill>
                  <a:srgbClr val="222222"/>
                </a:solidFill>
                <a:latin typeface="맑은 고딕"/>
              </a:rPr>
              <a:t> → 전환할 수 없다</a:t>
            </a:r>
          </a:p>
          <a:p>
            <a:pPr algn="l">
              <a:spcAft>
                <a:spcPts val="1000"/>
              </a:spcAft>
            </a:pPr>
            <a:r>
              <a:rPr sz="1700" b="0">
                <a:solidFill>
                  <a:srgbClr val="222222"/>
                </a:solidFill>
                <a:latin typeface="맑은 고딕"/>
              </a:rPr>
              <a:t>•  </a:t>
            </a:r>
            <a:r>
              <a:rPr sz="1700" b="0">
                <a:solidFill>
                  <a:srgbClr val="222222"/>
                </a:solidFill>
                <a:latin typeface="Consolas"/>
                <a:cs typeface="Consolas"/>
              </a:rPr>
              <a:t>V$ARCHIVE_DEST</a:t>
            </a:r>
            <a:r>
              <a:rPr sz="1700" b="0">
                <a:solidFill>
                  <a:srgbClr val="222222"/>
                </a:solidFill>
                <a:latin typeface="맑은 고딕"/>
              </a:rPr>
              <a:t> — ERROR + ORA-12541 → 왜 그런지</a:t>
            </a:r>
          </a:p>
          <a:p>
            <a:pPr algn="l">
              <a:spcAft>
                <a:spcPts val="1000"/>
              </a:spcAft>
            </a:pPr>
            <a:r>
              <a:rPr sz="1700" b="0">
                <a:solidFill>
                  <a:srgbClr val="222222"/>
                </a:solidFill>
                <a:latin typeface="맑은 고딕"/>
              </a:rPr>
              <a:t>•  알림 로그 — 접속 문자열 · 프로세스 → 어디를 고칠지</a:t>
            </a:r>
          </a:p>
          <a:p>
            <a:pPr algn="l">
              <a:spcAft>
                <a:spcPts val="1000"/>
              </a:spcAft>
            </a:pPr>
            <a:r>
              <a:rPr sz="1700" b="0">
                <a:solidFill>
                  <a:srgbClr val="222222"/>
                </a:solidFill>
                <a:latin typeface="맑은 고딕"/>
              </a:rPr>
              <a:t>•  </a:t>
            </a:r>
            <a:r>
              <a:rPr sz="1700" b="1">
                <a:solidFill>
                  <a:srgbClr val="222222"/>
                </a:solidFill>
                <a:latin typeface="맑은 고딕"/>
              </a:rPr>
              <a:t>층을 내려갈수록 구체적이 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복구가 바로 되지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ReopenSecs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리스너를 올린 뒤 70 · 170 · 220초 — 여전히 ORA-12541</a:t>
            </a:r>
          </a:p>
          <a:p>
            <a:pPr algn="l">
              <a:spcAft>
                <a:spcPts val="1000"/>
              </a:spcAft>
            </a:pPr>
            <a:r>
              <a:rPr sz="1700" b="0">
                <a:solidFill>
                  <a:srgbClr val="222222"/>
                </a:solidFill>
                <a:latin typeface="맑은 고딕"/>
              </a:rPr>
              <a:t>•  270초 뒤 </a:t>
            </a:r>
            <a:r>
              <a:rPr sz="1700" b="0">
                <a:solidFill>
                  <a:srgbClr val="222222"/>
                </a:solidFill>
                <a:latin typeface="Consolas"/>
                <a:cs typeface="Consolas"/>
              </a:rPr>
              <a:t>VALID</a:t>
            </a:r>
            <a:r>
              <a:rPr sz="1700" b="0">
                <a:solidFill>
                  <a:srgbClr val="222222"/>
                </a:solidFill>
                <a:latin typeface="맑은 고딕"/>
              </a:rPr>
              <a:t> — </a:t>
            </a:r>
            <a:r>
              <a:rPr sz="1700" b="1">
                <a:solidFill>
                  <a:srgbClr val="222222"/>
                </a:solidFill>
                <a:latin typeface="맑은 고딕"/>
              </a:rPr>
              <a:t>약 4~5분</a:t>
            </a:r>
          </a:p>
          <a:p>
            <a:pPr algn="l">
              <a:spcAft>
                <a:spcPts val="1000"/>
              </a:spcAft>
            </a:pPr>
            <a:r>
              <a:rPr sz="1700" b="0">
                <a:solidFill>
                  <a:srgbClr val="222222"/>
                </a:solidFill>
                <a:latin typeface="맑은 고딕"/>
              </a:rPr>
              <a:t>•  이유 — </a:t>
            </a:r>
            <a:r>
              <a:rPr sz="1700" b="0">
                <a:solidFill>
                  <a:srgbClr val="222222"/>
                </a:solidFill>
                <a:latin typeface="Consolas"/>
                <a:cs typeface="Consolas"/>
              </a:rPr>
              <a:t>ReopenSecs</a:t>
            </a:r>
            <a:r>
              <a:rPr sz="1700" b="0">
                <a:solidFill>
                  <a:srgbClr val="222222"/>
                </a:solidFill>
                <a:latin typeface="맑은 고딕"/>
              </a:rPr>
              <a:t> 300초 (13장 실측)</a:t>
            </a:r>
          </a:p>
          <a:p>
            <a:pPr algn="l">
              <a:spcAft>
                <a:spcPts val="1000"/>
              </a:spcAft>
            </a:pPr>
            <a:r>
              <a:rPr sz="1700" b="0">
                <a:solidFill>
                  <a:srgbClr val="222222"/>
                </a:solidFill>
                <a:latin typeface="맑은 고딕"/>
              </a:rPr>
              <a:t>•  재촉 — Broker 환경 </a:t>
            </a:r>
            <a:r>
              <a:rPr sz="1700" b="0">
                <a:solidFill>
                  <a:srgbClr val="222222"/>
                </a:solidFill>
                <a:latin typeface="Consolas"/>
                <a:cs typeface="Consolas"/>
              </a:rPr>
              <a:t>LogShipping</a:t>
            </a:r>
            <a:r>
              <a:rPr sz="1700" b="0">
                <a:solidFill>
                  <a:srgbClr val="222222"/>
                </a:solidFill>
                <a:latin typeface="맑은 고딕"/>
              </a:rPr>
              <a:t> OFF→ON / 없으면 </a:t>
            </a:r>
            <a:r>
              <a:rPr sz="1700" b="0">
                <a:solidFill>
                  <a:srgbClr val="222222"/>
                </a:solidFill>
                <a:latin typeface="Consolas"/>
                <a:cs typeface="Consolas"/>
              </a:rPr>
              <a:t>DEFER</a:t>
            </a:r>
            <a:r>
              <a:rPr sz="1700" b="0">
                <a:solidFill>
                  <a:srgbClr val="222222"/>
                </a:solidFill>
                <a:latin typeface="맑은 고딕"/>
              </a:rPr>
              <a:t>→</a:t>
            </a:r>
            <a:r>
              <a:rPr sz="1700" b="0">
                <a:solidFill>
                  <a:srgbClr val="222222"/>
                </a:solidFill>
                <a:latin typeface="Consolas"/>
                <a:cs typeface="Consolas"/>
              </a:rPr>
              <a:t>ENABLE</a:t>
            </a:r>
          </a:p>
          <a:p>
            <a:pPr algn="l">
              <a:spcAft>
                <a:spcPts val="1000"/>
              </a:spcAft>
            </a:pPr>
            <a:r>
              <a:rPr sz="1700" b="0">
                <a:solidFill>
                  <a:srgbClr val="222222"/>
                </a:solidFill>
                <a:latin typeface="맑은 고딕"/>
              </a:rPr>
              <a:t>•  Broker 환경에서 SQL 로 재촉하지 않는다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조치 직후의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판정 시차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재개 직후 </a:t>
            </a:r>
            <a:r>
              <a:rPr sz="1700" b="0">
                <a:solidFill>
                  <a:srgbClr val="222222"/>
                </a:solidFill>
                <a:latin typeface="Consolas"/>
                <a:cs typeface="Consolas"/>
              </a:rPr>
              <a:t>SHOW CONFIGURATION</a:t>
            </a:r>
            <a:r>
              <a:rPr sz="1700" b="0">
                <a:solidFill>
                  <a:srgbClr val="222222"/>
                </a:solidFill>
                <a:latin typeface="맑은 고딕"/>
              </a:rPr>
              <a:t> — 오히려 </a:t>
            </a:r>
            <a:r>
              <a:rPr sz="1700" b="1">
                <a:solidFill>
                  <a:srgbClr val="222222"/>
                </a:solidFill>
                <a:latin typeface="맑은 고딕"/>
              </a:rPr>
              <a:t>ERROR</a:t>
            </a:r>
          </a:p>
          <a:p>
            <a:pPr algn="l">
              <a:spcAft>
                <a:spcPts val="1000"/>
              </a:spcAft>
            </a:pPr>
            <a:r>
              <a:rPr sz="1700" b="0">
                <a:solidFill>
                  <a:srgbClr val="222222"/>
                </a:solidFill>
                <a:latin typeface="맑은 고딕"/>
              </a:rPr>
              <a:t>•  chicago 에 </a:t>
            </a:r>
            <a:r>
              <a:rPr sz="1700" b="1">
                <a:solidFill>
                  <a:srgbClr val="222222"/>
                </a:solidFill>
                <a:latin typeface="맑은 고딕"/>
              </a:rPr>
              <a:t>ORA-16778</a:t>
            </a:r>
            <a:r>
              <a:rPr sz="1700" b="0">
                <a:solidFill>
                  <a:srgbClr val="222222"/>
                </a:solidFill>
                <a:latin typeface="맑은 고딕"/>
              </a:rPr>
              <a:t> redo transport error</a:t>
            </a:r>
          </a:p>
          <a:p>
            <a:pPr algn="l">
              <a:spcAft>
                <a:spcPts val="1000"/>
              </a:spcAft>
            </a:pPr>
            <a:r>
              <a:rPr sz="1700" b="0">
                <a:solidFill>
                  <a:srgbClr val="222222"/>
                </a:solidFill>
                <a:latin typeface="맑은 고딕"/>
              </a:rPr>
              <a:t>•  </a:t>
            </a:r>
            <a:r>
              <a:rPr sz="1700" b="0">
                <a:solidFill>
                  <a:srgbClr val="222222"/>
                </a:solidFill>
                <a:latin typeface="Consolas"/>
                <a:cs typeface="Consolas"/>
              </a:rPr>
              <a:t>status updated 58 seconds ago</a:t>
            </a:r>
            <a:r>
              <a:rPr sz="1700" b="0">
                <a:solidFill>
                  <a:srgbClr val="222222"/>
                </a:solidFill>
                <a:latin typeface="맑은 고딕"/>
              </a:rPr>
              <a:t> — 과거 구간의 판정</a:t>
            </a:r>
          </a:p>
          <a:p>
            <a:pPr algn="l">
              <a:spcAft>
                <a:spcPts val="1000"/>
              </a:spcAft>
            </a:pPr>
            <a:r>
              <a:rPr sz="1700" b="0">
                <a:solidFill>
                  <a:srgbClr val="222222"/>
                </a:solidFill>
                <a:latin typeface="맑은 고딕"/>
              </a:rPr>
              <a:t>•  잠시 후 </a:t>
            </a:r>
            <a:r>
              <a:rPr sz="1700" b="0">
                <a:solidFill>
                  <a:srgbClr val="222222"/>
                </a:solidFill>
                <a:latin typeface="Consolas"/>
                <a:cs typeface="Consolas"/>
              </a:rPr>
              <a:t>SUCCESS</a:t>
            </a:r>
            <a:r>
              <a:rPr sz="1700" b="0">
                <a:solidFill>
                  <a:srgbClr val="222222"/>
                </a:solidFill>
                <a:latin typeface="맑은 고딕"/>
              </a:rPr>
              <a:t> — SQL 뷰는 이미 </a:t>
            </a:r>
            <a:r>
              <a:rPr sz="1700" b="0">
                <a:solidFill>
                  <a:srgbClr val="222222"/>
                </a:solidFill>
                <a:latin typeface="Consolas"/>
                <a:cs typeface="Consolas"/>
              </a:rPr>
              <a:t>VALID</a:t>
            </a:r>
            <a:r>
              <a:rPr sz="1700" b="0">
                <a:solidFill>
                  <a:srgbClr val="222222"/>
                </a:solidFill>
                <a:latin typeface="맑은 고딕"/>
              </a:rPr>
              <a:t> 였다</a:t>
            </a:r>
          </a:p>
          <a:p>
            <a:pPr algn="l">
              <a:spcAft>
                <a:spcPts val="1000"/>
              </a:spcAft>
            </a:pPr>
            <a:r>
              <a:rPr sz="1700" b="0">
                <a:solidFill>
                  <a:srgbClr val="222222"/>
                </a:solidFill>
                <a:latin typeface="맑은 고딕"/>
              </a:rPr>
              <a:t>•  </a:t>
            </a:r>
            <a:r>
              <a:rPr sz="1700" b="1">
                <a:solidFill>
                  <a:srgbClr val="222222"/>
                </a:solidFill>
                <a:latin typeface="맑은 고딕"/>
              </a:rPr>
              <a:t>아래층이 먼저 회복되고 요약이 따라온다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적용의 진행과 APPLIED 열의 함정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프로세스 전체 보기</a:t>
            </a:r>
          </a:p>
          <a:p>
            <a:pPr algn="l">
              <a:spcAft>
                <a:spcPts val="800"/>
              </a:spcAft>
            </a:pPr>
            <a:r>
              <a:rPr sz="1600" b="0">
                <a:solidFill>
                  <a:srgbClr val="FFFFFF"/>
                </a:solidFill>
                <a:latin typeface="맑은 고딕"/>
              </a:rPr>
              <a:t>•  세 곳의 같은 숫자</a:t>
            </a:r>
          </a:p>
          <a:p>
            <a:pPr algn="l">
              <a:spcAft>
                <a:spcPts val="800"/>
              </a:spcAft>
            </a:pPr>
            <a:r>
              <a:rPr sz="1600" b="0">
                <a:solidFill>
                  <a:srgbClr val="FFFFFF"/>
                </a:solidFill>
                <a:latin typeface="맑은 고딕"/>
              </a:rPr>
              <a:t>•  오해하기 쉬운 두 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V$MANAGED_STANDBY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프로세스마다 하는 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RFS(LGWR) 실시간 리두 → SRL / RFS(Archival) 아카이브 수신</a:t>
            </a:r>
          </a:p>
          <a:p>
            <a:pPr algn="l">
              <a:spcAft>
                <a:spcPts val="1000"/>
              </a:spcAft>
            </a:pPr>
            <a:r>
              <a:rPr sz="1700" b="0">
                <a:solidFill>
                  <a:srgbClr val="222222"/>
                </a:solidFill>
                <a:latin typeface="맑은 고딕"/>
              </a:rPr>
              <a:t>•  RFS(UNKNOWN) 예비 / MRP0 적용 / ARCH SRL 아카이브</a:t>
            </a:r>
          </a:p>
          <a:p>
            <a:pPr algn="l">
              <a:spcAft>
                <a:spcPts val="1000"/>
              </a:spcAft>
            </a:pPr>
            <a:r>
              <a:rPr sz="1700" b="0">
                <a:solidFill>
                  <a:srgbClr val="222222"/>
                </a:solidFill>
                <a:latin typeface="맑은 고딕"/>
              </a:rPr>
              <a:t>•  </a:t>
            </a:r>
            <a:r>
              <a:rPr sz="1700" b="1">
                <a:solidFill>
                  <a:srgbClr val="222222"/>
                </a:solidFill>
                <a:latin typeface="맑은 고딕"/>
              </a:rPr>
              <a:t>DGRD</a:t>
            </a:r>
            <a:r>
              <a:rPr sz="1700" b="0">
                <a:solidFill>
                  <a:srgbClr val="222222"/>
                </a:solidFill>
                <a:latin typeface="맑은 고딕"/>
              </a:rPr>
              <a:t> — Broker 통신용, 13장 이후에 생겼다</a:t>
            </a:r>
          </a:p>
          <a:p>
            <a:pPr algn="l">
              <a:spcAft>
                <a:spcPts val="1000"/>
              </a:spcAft>
            </a:pPr>
            <a:r>
              <a:rPr sz="1700" b="0">
                <a:solidFill>
                  <a:srgbClr val="222222"/>
                </a:solidFill>
                <a:latin typeface="맑은 고딕"/>
              </a:rPr>
              <a:t>•  ARCH </a:t>
            </a:r>
            <a:r>
              <a:rPr sz="1700" b="0">
                <a:solidFill>
                  <a:srgbClr val="222222"/>
                </a:solidFill>
                <a:latin typeface="Consolas"/>
                <a:cs typeface="Consolas"/>
              </a:rPr>
              <a:t>CLOSING</a:t>
            </a:r>
            <a:r>
              <a:rPr sz="1700" b="0">
                <a:solidFill>
                  <a:srgbClr val="222222"/>
                </a:solidFill>
                <a:latin typeface="맑은 고딕"/>
              </a:rPr>
              <a:t> 넷 — 각각 다른 시퀀스, 정상</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실시간 적용의 모습</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곳의 같은 숫자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RFS(LGWR) </a:t>
            </a:r>
            <a:r>
              <a:rPr sz="1700" b="0">
                <a:solidFill>
                  <a:srgbClr val="222222"/>
                </a:solidFill>
                <a:latin typeface="Consolas"/>
                <a:cs typeface="Consolas"/>
              </a:rPr>
              <a:t>SEQUENCE#</a:t>
            </a:r>
            <a:r>
              <a:rPr sz="1700" b="0">
                <a:solidFill>
                  <a:srgbClr val="222222"/>
                </a:solidFill>
                <a:latin typeface="맑은 고딕"/>
              </a:rPr>
              <a:t> 74 </a:t>
            </a:r>
            <a:r>
              <a:rPr sz="1700" b="0">
                <a:solidFill>
                  <a:srgbClr val="222222"/>
                </a:solidFill>
                <a:latin typeface="Consolas"/>
                <a:cs typeface="Consolas"/>
              </a:rPr>
              <a:t>BLOCK#</a:t>
            </a:r>
            <a:r>
              <a:rPr sz="1700" b="0">
                <a:solidFill>
                  <a:srgbClr val="222222"/>
                </a:solidFill>
                <a:latin typeface="맑은 고딕"/>
              </a:rPr>
              <a:t> 17964</a:t>
            </a:r>
          </a:p>
          <a:p>
            <a:pPr algn="l">
              <a:spcAft>
                <a:spcPts val="1000"/>
              </a:spcAft>
            </a:pPr>
            <a:r>
              <a:rPr sz="1700" b="0">
                <a:solidFill>
                  <a:srgbClr val="222222"/>
                </a:solidFill>
                <a:latin typeface="맑은 고딕"/>
              </a:rPr>
              <a:t>•  MRP0       </a:t>
            </a:r>
            <a:r>
              <a:rPr sz="1700" b="0">
                <a:solidFill>
                  <a:srgbClr val="222222"/>
                </a:solidFill>
                <a:latin typeface="Consolas"/>
                <a:cs typeface="Consolas"/>
              </a:rPr>
              <a:t>SEQUENCE#</a:t>
            </a:r>
            <a:r>
              <a:rPr sz="1700" b="0">
                <a:solidFill>
                  <a:srgbClr val="222222"/>
                </a:solidFill>
                <a:latin typeface="맑은 고딕"/>
              </a:rPr>
              <a:t> 74 </a:t>
            </a:r>
            <a:r>
              <a:rPr sz="1700" b="0">
                <a:solidFill>
                  <a:srgbClr val="222222"/>
                </a:solidFill>
                <a:latin typeface="Consolas"/>
                <a:cs typeface="Consolas"/>
              </a:rPr>
              <a:t>BLOCK#</a:t>
            </a:r>
            <a:r>
              <a:rPr sz="1700" b="0">
                <a:solidFill>
                  <a:srgbClr val="222222"/>
                </a:solidFill>
                <a:latin typeface="맑은 고딕"/>
              </a:rPr>
              <a:t> 17964 — </a:t>
            </a:r>
            <a:r>
              <a:rPr sz="1700" b="1">
                <a:solidFill>
                  <a:srgbClr val="222222"/>
                </a:solidFill>
                <a:latin typeface="맑은 고딕"/>
              </a:rPr>
              <a:t>블록까지 같다</a:t>
            </a:r>
          </a:p>
          <a:p>
            <a:pPr algn="l">
              <a:spcAft>
                <a:spcPts val="1000"/>
              </a:spcAft>
            </a:pPr>
            <a:r>
              <a:rPr sz="1700" b="0">
                <a:solidFill>
                  <a:srgbClr val="222222"/>
                </a:solidFill>
                <a:latin typeface="맑은 고딕"/>
              </a:rPr>
              <a:t>•  벌어지면 밀린 것 — </a:t>
            </a:r>
            <a:r>
              <a:rPr sz="1700" b="0">
                <a:solidFill>
                  <a:srgbClr val="222222"/>
                </a:solidFill>
                <a:latin typeface="Consolas"/>
                <a:cs typeface="Consolas"/>
              </a:rPr>
              <a:t>apply lag</a:t>
            </a:r>
            <a:r>
              <a:rPr sz="1700" b="0">
                <a:solidFill>
                  <a:srgbClr val="222222"/>
                </a:solidFill>
                <a:latin typeface="맑은 고딕"/>
              </a:rPr>
              <a:t> 보다 정밀</a:t>
            </a:r>
          </a:p>
          <a:p>
            <a:pPr algn="l">
              <a:spcAft>
                <a:spcPts val="1000"/>
              </a:spcAft>
            </a:pPr>
            <a:r>
              <a:rPr sz="1700" b="0">
                <a:solidFill>
                  <a:srgbClr val="222222"/>
                </a:solidFill>
                <a:latin typeface="맑은 고딕"/>
              </a:rPr>
              <a:t>•  Primary </a:t>
            </a:r>
            <a:r>
              <a:rPr sz="1700" b="0">
                <a:solidFill>
                  <a:srgbClr val="222222"/>
                </a:solidFill>
                <a:latin typeface="Consolas"/>
                <a:cs typeface="Consolas"/>
              </a:rPr>
              <a:t>CURRENT</a:t>
            </a:r>
            <a:r>
              <a:rPr sz="1700" b="0">
                <a:solidFill>
                  <a:srgbClr val="222222"/>
                </a:solidFill>
                <a:latin typeface="맑은 고딕"/>
              </a:rPr>
              <a:t> 74 = Standby </a:t>
            </a:r>
            <a:r>
              <a:rPr sz="1700" b="0">
                <a:solidFill>
                  <a:srgbClr val="222222"/>
                </a:solidFill>
                <a:latin typeface="Consolas"/>
                <a:cs typeface="Consolas"/>
              </a:rPr>
              <a:t>ACTIVE</a:t>
            </a:r>
            <a:r>
              <a:rPr sz="1700" b="0">
                <a:solidFill>
                  <a:srgbClr val="222222"/>
                </a:solidFill>
                <a:latin typeface="맑은 고딕"/>
              </a:rPr>
              <a:t> SRL 74 = MRP0 74</a:t>
            </a:r>
          </a:p>
          <a:p>
            <a:pPr algn="l">
              <a:spcAft>
                <a:spcPts val="1000"/>
              </a:spcAft>
            </a:pPr>
            <a:r>
              <a:rPr sz="1700" b="0">
                <a:solidFill>
                  <a:srgbClr val="222222"/>
                </a:solidFill>
                <a:latin typeface="맑은 고딕"/>
              </a:rPr>
              <a:t>•  </a:t>
            </a:r>
            <a:r>
              <a:rPr sz="1700" b="0">
                <a:solidFill>
                  <a:srgbClr val="222222"/>
                </a:solidFill>
                <a:latin typeface="Consolas"/>
                <a:cs typeface="Consolas"/>
              </a:rPr>
              <a:t>WAIT_FOR_LOG</a:t>
            </a:r>
            <a:r>
              <a:rPr sz="1700" b="0">
                <a:solidFill>
                  <a:srgbClr val="222222"/>
                </a:solidFill>
                <a:latin typeface="맑은 고딕"/>
              </a:rPr>
              <a:t> 는 </a:t>
            </a:r>
            <a:r>
              <a:rPr sz="1700" b="0">
                <a:solidFill>
                  <a:srgbClr val="222222"/>
                </a:solidFill>
                <a:latin typeface="Consolas"/>
                <a:cs typeface="Consolas"/>
              </a:rPr>
              <a:t>SEQUENCE#</a:t>
            </a:r>
            <a:r>
              <a:rPr sz="1700" b="0">
                <a:solidFill>
                  <a:srgbClr val="222222"/>
                </a:solidFill>
                <a:latin typeface="맑은 고딕"/>
              </a:rPr>
              <a:t> 와 함께 판정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함정 ① APPLIED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절반이 NO 로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V$ARCHIVED_LOG</a:t>
            </a:r>
            <a:r>
              <a:rPr sz="1700" b="0">
                <a:solidFill>
                  <a:srgbClr val="222222"/>
                </a:solidFill>
                <a:latin typeface="맑은 고딕"/>
              </a:rPr>
              <a:t> — 같은 시퀀스가 두 줄, YES / NO</a:t>
            </a:r>
          </a:p>
          <a:p>
            <a:pPr algn="l">
              <a:spcAft>
                <a:spcPts val="1000"/>
              </a:spcAft>
            </a:pPr>
            <a:r>
              <a:rPr sz="1700" b="0">
                <a:solidFill>
                  <a:srgbClr val="222222"/>
                </a:solidFill>
                <a:latin typeface="맑은 고딕"/>
              </a:rPr>
              <a:t>•  </a:t>
            </a:r>
            <a:r>
              <a:rPr sz="1700" b="0">
                <a:solidFill>
                  <a:srgbClr val="222222"/>
                </a:solidFill>
                <a:latin typeface="Consolas"/>
                <a:cs typeface="Consolas"/>
              </a:rPr>
              <a:t>dest_id=1</a:t>
            </a:r>
            <a:r>
              <a:rPr sz="1700" b="0">
                <a:solidFill>
                  <a:srgbClr val="222222"/>
                </a:solidFill>
                <a:latin typeface="맑은 고딕"/>
              </a:rPr>
              <a:t> 은 로컬 아카이브 — </a:t>
            </a:r>
            <a:r>
              <a:rPr sz="1700" b="1">
                <a:solidFill>
                  <a:srgbClr val="222222"/>
                </a:solidFill>
                <a:latin typeface="맑은 고딕"/>
              </a:rPr>
              <a:t>영원히 NO</a:t>
            </a:r>
          </a:p>
          <a:p>
            <a:pPr algn="l">
              <a:spcAft>
                <a:spcPts val="1000"/>
              </a:spcAft>
            </a:pPr>
            <a:r>
              <a:rPr sz="1700" b="0">
                <a:solidFill>
                  <a:srgbClr val="222222"/>
                </a:solidFill>
                <a:latin typeface="맑은 고딕"/>
              </a:rPr>
              <a:t>•  적용 여부는 </a:t>
            </a:r>
            <a:r>
              <a:rPr sz="1700" b="1">
                <a:solidFill>
                  <a:srgbClr val="222222"/>
                </a:solidFill>
                <a:latin typeface="Consolas"/>
                <a:cs typeface="Consolas"/>
              </a:rPr>
              <a:t>WHERE dest_id=2</a:t>
            </a:r>
            <a:r>
              <a:rPr sz="1700" b="0">
                <a:solidFill>
                  <a:srgbClr val="222222"/>
                </a:solidFill>
                <a:latin typeface="맑은 고딕"/>
              </a:rPr>
              <a:t> 로만 본다</a:t>
            </a:r>
          </a:p>
          <a:p>
            <a:pPr algn="l">
              <a:spcAft>
                <a:spcPts val="1000"/>
              </a:spcAft>
            </a:pPr>
            <a:r>
              <a:rPr sz="1700" b="0">
                <a:solidFill>
                  <a:srgbClr val="222222"/>
                </a:solidFill>
                <a:latin typeface="맑은 고딕"/>
              </a:rPr>
              <a:t>•  70번 로컬 19:55:38 / 원격 19:56:30 — </a:t>
            </a:r>
            <a:r>
              <a:rPr sz="1700" b="1">
                <a:solidFill>
                  <a:srgbClr val="222222"/>
                </a:solidFill>
                <a:latin typeface="맑은 고딕"/>
              </a:rPr>
              <a:t>52초</a:t>
            </a:r>
            <a:r>
              <a:rPr sz="1700" b="0">
                <a:solidFill>
                  <a:srgbClr val="222222"/>
                </a:solidFill>
                <a:latin typeface="맑은 고딕"/>
              </a:rPr>
              <a:t> = 전송 시간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함정 ② APPLIED_SEQ#</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0 인데 정상이다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boston </a:t>
            </a:r>
            <a:r>
              <a:rPr sz="1700" b="0">
                <a:solidFill>
                  <a:srgbClr val="222222"/>
                </a:solidFill>
                <a:latin typeface="Consolas"/>
                <a:cs typeface="Consolas"/>
              </a:rPr>
              <a:t>APPLIED_SEQ#</a:t>
            </a:r>
            <a:r>
              <a:rPr sz="1700" b="0">
                <a:solidFill>
                  <a:srgbClr val="222222"/>
                </a:solidFill>
                <a:latin typeface="맑은 고딕"/>
              </a:rPr>
              <a:t> = </a:t>
            </a:r>
            <a:r>
              <a:rPr sz="1700" b="1">
                <a:solidFill>
                  <a:srgbClr val="222222"/>
                </a:solidFill>
                <a:latin typeface="맑은 고딕"/>
              </a:rPr>
              <a:t>0</a:t>
            </a:r>
            <a:r>
              <a:rPr sz="1700" b="0">
                <a:solidFill>
                  <a:srgbClr val="222222"/>
                </a:solidFill>
                <a:latin typeface="맑은 고딕"/>
              </a:rPr>
              <a:t>, </a:t>
            </a:r>
            <a:r>
              <a:rPr sz="1700" b="0">
                <a:solidFill>
                  <a:srgbClr val="222222"/>
                </a:solidFill>
                <a:latin typeface="Consolas"/>
                <a:cs typeface="Consolas"/>
              </a:rPr>
              <a:t>ARCHIVED_SEQ#</a:t>
            </a:r>
            <a:r>
              <a:rPr sz="1700" b="0">
                <a:solidFill>
                  <a:srgbClr val="222222"/>
                </a:solidFill>
                <a:latin typeface="맑은 고딕"/>
              </a:rPr>
              <a:t> = 73</a:t>
            </a:r>
          </a:p>
          <a:p>
            <a:pPr algn="l">
              <a:spcAft>
                <a:spcPts val="1000"/>
              </a:spcAft>
            </a:pPr>
            <a:r>
              <a:rPr sz="1700" b="0">
                <a:solidFill>
                  <a:srgbClr val="222222"/>
                </a:solidFill>
                <a:latin typeface="맑은 고딕"/>
              </a:rPr>
              <a:t>•  </a:t>
            </a:r>
            <a:r>
              <a:rPr sz="1700" b="0">
                <a:solidFill>
                  <a:srgbClr val="222222"/>
                </a:solidFill>
                <a:latin typeface="Consolas"/>
                <a:cs typeface="Consolas"/>
              </a:rPr>
              <a:t>RECOVERY_MODE</a:t>
            </a:r>
            <a:r>
              <a:rPr sz="1700" b="0">
                <a:solidFill>
                  <a:srgbClr val="222222"/>
                </a:solidFill>
                <a:latin typeface="맑은 고딕"/>
              </a:rPr>
              <a:t> = MANAGED </a:t>
            </a:r>
            <a:r>
              <a:rPr sz="1700" b="1">
                <a:solidFill>
                  <a:srgbClr val="222222"/>
                </a:solidFill>
                <a:latin typeface="맑은 고딕"/>
              </a:rPr>
              <a:t>REAL TIME</a:t>
            </a:r>
            <a:r>
              <a:rPr sz="1700" b="0">
                <a:solidFill>
                  <a:srgbClr val="222222"/>
                </a:solidFill>
                <a:latin typeface="맑은 고딕"/>
              </a:rPr>
              <a:t> APPLY</a:t>
            </a:r>
          </a:p>
          <a:p>
            <a:pPr algn="l">
              <a:spcAft>
                <a:spcPts val="1000"/>
              </a:spcAft>
            </a:pPr>
            <a:r>
              <a:rPr sz="1700" b="0">
                <a:solidFill>
                  <a:srgbClr val="222222"/>
                </a:solidFill>
                <a:latin typeface="맑은 고딕"/>
              </a:rPr>
              <a:t>•  실시간 적용은 SRL 에서 직접 읽는다 → 이 열이 안 채워진다</a:t>
            </a:r>
          </a:p>
          <a:p>
            <a:pPr algn="l">
              <a:spcAft>
                <a:spcPts val="1000"/>
              </a:spcAft>
            </a:pPr>
            <a:r>
              <a:rPr sz="1700" b="0">
                <a:solidFill>
                  <a:srgbClr val="222222"/>
                </a:solidFill>
                <a:latin typeface="맑은 고딕"/>
              </a:rPr>
              <a:t>•  같은 시각 MRP0 은 74 — 아카이브보다 앞서 있다</a:t>
            </a:r>
          </a:p>
          <a:p>
            <a:pPr algn="l">
              <a:spcAft>
                <a:spcPts val="1000"/>
              </a:spcAft>
            </a:pPr>
            <a:r>
              <a:rPr sz="1700" b="0">
                <a:solidFill>
                  <a:srgbClr val="222222"/>
                </a:solidFill>
                <a:latin typeface="맑은 고딕"/>
              </a:rPr>
              <a:t>•  감시 지표로 쓰면 </a:t>
            </a:r>
            <a:r>
              <a:rPr sz="1700" b="1">
                <a:solidFill>
                  <a:srgbClr val="222222"/>
                </a:solidFill>
                <a:latin typeface="맑은 고딕"/>
              </a:rPr>
              <a:t>상시 경보</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과거의 흔적</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ERROR_CODE 만으로는 부족하다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V$DATAGUARD_STATUS</a:t>
            </a:r>
            <a:r>
              <a:rPr sz="1700" b="0">
                <a:solidFill>
                  <a:srgbClr val="222222"/>
                </a:solidFill>
                <a:latin typeface="맑은 고딕"/>
              </a:rPr>
              <a:t> 에 ORA-16037 두 행 (MRP 취소)</a:t>
            </a:r>
          </a:p>
          <a:p>
            <a:pPr algn="l">
              <a:spcAft>
                <a:spcPts val="1000"/>
              </a:spcAft>
            </a:pPr>
            <a:r>
              <a:rPr sz="1700" b="0">
                <a:solidFill>
                  <a:srgbClr val="222222"/>
                </a:solidFill>
                <a:latin typeface="맑은 고딕"/>
              </a:rPr>
              <a:t>•  적용은 정상 — 실습 준비 때의 흔적</a:t>
            </a:r>
          </a:p>
          <a:p>
            <a:pPr algn="l">
              <a:spcAft>
                <a:spcPts val="1000"/>
              </a:spcAft>
            </a:pPr>
            <a:r>
              <a:rPr sz="1700" b="0">
                <a:solidFill>
                  <a:srgbClr val="222222"/>
                </a:solidFill>
                <a:latin typeface="맑은 고딕"/>
              </a:rPr>
              <a:t>•  이 뷰는 </a:t>
            </a:r>
            <a:r>
              <a:rPr sz="1700" b="1">
                <a:solidFill>
                  <a:srgbClr val="222222"/>
                </a:solidFill>
                <a:latin typeface="맑은 고딕"/>
              </a:rPr>
              <a:t>재기동 전까지 과거를 들고 있다</a:t>
            </a:r>
          </a:p>
          <a:p>
            <a:pPr algn="l">
              <a:spcAft>
                <a:spcPts val="1000"/>
              </a:spcAft>
            </a:pPr>
            <a:r>
              <a:rPr sz="1700" b="0">
                <a:solidFill>
                  <a:srgbClr val="222222"/>
                </a:solidFill>
                <a:latin typeface="맑은 고딕"/>
              </a:rPr>
              <a:t>•  감시 SQL — </a:t>
            </a:r>
            <a:r>
              <a:rPr sz="1700" b="0">
                <a:solidFill>
                  <a:srgbClr val="222222"/>
                </a:solidFill>
                <a:latin typeface="Consolas"/>
                <a:cs typeface="Consolas"/>
              </a:rPr>
              <a:t>AND timestamp &gt; sysdate - 1/24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LOG_ARCHIVE_TRACE 로 추적한다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진단의 네 층</a:t>
            </a:r>
          </a:p>
          <a:p>
            <a:pPr algn="l">
              <a:spcAft>
                <a:spcPts val="800"/>
              </a:spcAft>
            </a:pPr>
            <a:r>
              <a:rPr sz="1600" b="0">
                <a:solidFill>
                  <a:srgbClr val="FFFFFF"/>
                </a:solidFill>
                <a:latin typeface="맑은 고딕"/>
              </a:rPr>
              <a:t>•  수준과 트레이스 파일</a:t>
            </a:r>
          </a:p>
          <a:p>
            <a:pPr algn="l">
              <a:spcAft>
                <a:spcPts val="800"/>
              </a:spcAft>
            </a:pPr>
            <a:r>
              <a:rPr sz="1600" b="0">
                <a:solidFill>
                  <a:srgbClr val="FFFFFF"/>
                </a:solidFill>
                <a:latin typeface="맑은 고딕"/>
              </a:rPr>
              <a:t>•  켤 때의 원칙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진단의 네 층</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언제 4층까지 내려가는가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1층 </a:t>
            </a:r>
            <a:r>
              <a:rPr sz="1700" b="0">
                <a:solidFill>
                  <a:srgbClr val="222222"/>
                </a:solidFill>
                <a:latin typeface="Consolas"/>
                <a:cs typeface="Consolas"/>
              </a:rPr>
              <a:t>SHOW CONFIGURATION</a:t>
            </a:r>
            <a:r>
              <a:rPr sz="1700" b="0">
                <a:solidFill>
                  <a:srgbClr val="222222"/>
                </a:solidFill>
                <a:latin typeface="맑은 고딕"/>
              </a:rPr>
              <a:t> — 문제가 있다</a:t>
            </a:r>
          </a:p>
          <a:p>
            <a:pPr algn="l">
              <a:spcAft>
                <a:spcPts val="1000"/>
              </a:spcAft>
            </a:pPr>
            <a:r>
              <a:rPr sz="1700" b="0">
                <a:solidFill>
                  <a:srgbClr val="222222"/>
                </a:solidFill>
                <a:latin typeface="맑은 고딕"/>
              </a:rPr>
              <a:t>•  2층 </a:t>
            </a:r>
            <a:r>
              <a:rPr sz="1700" b="0">
                <a:solidFill>
                  <a:srgbClr val="222222"/>
                </a:solidFill>
                <a:latin typeface="Consolas"/>
                <a:cs typeface="Consolas"/>
              </a:rPr>
              <a:t>V$ARCHIVE_DEST.ERROR</a:t>
            </a:r>
            <a:r>
              <a:rPr sz="1700" b="0">
                <a:solidFill>
                  <a:srgbClr val="222222"/>
                </a:solidFill>
                <a:latin typeface="맑은 고딕"/>
              </a:rPr>
              <a:t> — 왜 그런지</a:t>
            </a:r>
          </a:p>
          <a:p>
            <a:pPr algn="l">
              <a:spcAft>
                <a:spcPts val="1000"/>
              </a:spcAft>
            </a:pPr>
            <a:r>
              <a:rPr sz="1700" b="0">
                <a:solidFill>
                  <a:srgbClr val="222222"/>
                </a:solidFill>
                <a:latin typeface="맑은 고딕"/>
              </a:rPr>
              <a:t>•  3층 알림 로그 — 접속 문자열 · 프로세스</a:t>
            </a:r>
          </a:p>
          <a:p>
            <a:pPr algn="l">
              <a:spcAft>
                <a:spcPts val="1000"/>
              </a:spcAft>
            </a:pPr>
            <a:r>
              <a:rPr sz="1700" b="0">
                <a:solidFill>
                  <a:srgbClr val="222222"/>
                </a:solidFill>
                <a:latin typeface="맑은 고딕"/>
              </a:rPr>
              <a:t>•  4층 트레이스 — 전송 과정 자체</a:t>
            </a:r>
          </a:p>
          <a:p>
            <a:pPr algn="l">
              <a:spcAft>
                <a:spcPts val="1000"/>
              </a:spcAft>
            </a:pPr>
            <a:r>
              <a:rPr sz="1700" b="0">
                <a:solidFill>
                  <a:srgbClr val="222222"/>
                </a:solidFill>
                <a:latin typeface="맑은 고딕"/>
              </a:rPr>
              <a:t>•  15.4 는 2층에서 끝났다 / 4층은 </a:t>
            </a:r>
            <a:r>
              <a:rPr sz="1700" b="1">
                <a:solidFill>
                  <a:srgbClr val="222222"/>
                </a:solidFill>
                <a:latin typeface="맑은 고딕"/>
              </a:rPr>
              <a:t>"오류는 없는데 느리다"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수준은 비트마스크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12 = 4 + 8</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목적지 활동 / 2 파일 이름 / 4 목적지 상태 / 8 목적지 활동</a:t>
            </a:r>
          </a:p>
          <a:p>
            <a:pPr algn="l">
              <a:spcAft>
                <a:spcPts val="1000"/>
              </a:spcAft>
            </a:pPr>
            <a:r>
              <a:rPr sz="1700" b="0">
                <a:solidFill>
                  <a:srgbClr val="222222"/>
                </a:solidFill>
                <a:latin typeface="맑은 고딕"/>
              </a:rPr>
              <a:t>•  16 상세 디버깅 / 128 FAL / 4096 실시간 적용</a:t>
            </a:r>
          </a:p>
          <a:p>
            <a:pPr algn="l">
              <a:spcAft>
                <a:spcPts val="1000"/>
              </a:spcAft>
            </a:pPr>
            <a:r>
              <a:rPr sz="1700" b="0">
                <a:solidFill>
                  <a:srgbClr val="222222"/>
                </a:solidFill>
                <a:latin typeface="맑은 고딕"/>
              </a:rPr>
              <a:t>•  실측 — </a:t>
            </a:r>
            <a:r>
              <a:rPr sz="1700" b="0">
                <a:solidFill>
                  <a:srgbClr val="222222"/>
                </a:solidFill>
                <a:latin typeface="Consolas"/>
                <a:cs typeface="Consolas"/>
              </a:rPr>
              <a:t>log_archive_trace=12</a:t>
            </a:r>
          </a:p>
          <a:p>
            <a:pPr algn="l">
              <a:spcAft>
                <a:spcPts val="1000"/>
              </a:spcAft>
            </a:pPr>
            <a:r>
              <a:rPr sz="1700" b="0">
                <a:solidFill>
                  <a:srgbClr val="222222"/>
                </a:solidFill>
                <a:latin typeface="맑은 고딕"/>
              </a:rPr>
              <a:t>•  알림 로그에 </a:t>
            </a:r>
            <a:r>
              <a:rPr sz="1700" b="1">
                <a:solidFill>
                  <a:srgbClr val="222222"/>
                </a:solidFill>
                <a:latin typeface="Consolas"/>
                <a:cs typeface="Consolas"/>
              </a:rPr>
              <a:t>SCOPE=BOTH</a:t>
            </a:r>
            <a:r>
              <a:rPr sz="1700" b="0">
                <a:solidFill>
                  <a:srgbClr val="222222"/>
                </a:solidFill>
                <a:latin typeface="맑은 고딕"/>
              </a:rPr>
              <a:t> 가 자동으로 붙는다</a:t>
            </a:r>
          </a:p>
          <a:p>
            <a:pPr algn="l">
              <a:spcAft>
                <a:spcPts val="1000"/>
              </a:spcAft>
            </a:pPr>
            <a:r>
              <a:rPr sz="1700" b="0">
                <a:solidFill>
                  <a:srgbClr val="222222"/>
                </a:solidFill>
                <a:latin typeface="맑은 고딕"/>
              </a:rPr>
              <a:t>•  켜 둔 채 잊으면 다음 기동에도 유지 → 디스크가 찬다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트레이스는 어디에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프로세스별 파일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이름 — </a:t>
            </a:r>
            <a:r>
              <a:rPr sz="1700" b="0">
                <a:solidFill>
                  <a:srgbClr val="222222"/>
                </a:solidFill>
                <a:latin typeface="Consolas"/>
                <a:cs typeface="Consolas"/>
              </a:rPr>
              <a:t>&lt;SID&gt;_&lt;프로세스&gt;_&lt;PID&gt;.trc</a:t>
            </a:r>
            <a:r>
              <a:rPr sz="1700" b="0">
                <a:solidFill>
                  <a:srgbClr val="222222"/>
                </a:solidFill>
                <a:latin typeface="맑은 고딕"/>
              </a:rPr>
              <a:t>, ADR 의 trace</a:t>
            </a:r>
          </a:p>
          <a:p>
            <a:pPr algn="l">
              <a:spcAft>
                <a:spcPts val="1000"/>
              </a:spcAft>
            </a:pPr>
            <a:r>
              <a:rPr sz="1700" b="0">
                <a:solidFill>
                  <a:srgbClr val="222222"/>
                </a:solidFill>
                <a:latin typeface="맑은 고딕"/>
              </a:rPr>
              <a:t>•  알림 로그가 파일 이름을 알려 준다 — </a:t>
            </a:r>
            <a:r>
              <a:rPr sz="1700" b="0">
                <a:solidFill>
                  <a:srgbClr val="222222"/>
                </a:solidFill>
                <a:latin typeface="Consolas"/>
                <a:cs typeface="Consolas"/>
              </a:rPr>
              <a:t>chicago_arc1_2482.trc</a:t>
            </a:r>
          </a:p>
          <a:p>
            <a:pPr algn="l">
              <a:spcAft>
                <a:spcPts val="1000"/>
              </a:spcAft>
            </a:pPr>
            <a:r>
              <a:rPr sz="1700" b="0">
                <a:solidFill>
                  <a:srgbClr val="222222"/>
                </a:solidFill>
                <a:latin typeface="맑은 고딕"/>
              </a:rPr>
              <a:t>•  ARCn 아카이브 전송·FAL / </a:t>
            </a:r>
            <a:r>
              <a:rPr sz="1700" b="1">
                <a:solidFill>
                  <a:srgbClr val="222222"/>
                </a:solidFill>
                <a:latin typeface="맑은 고딕"/>
              </a:rPr>
              <a:t>TTnn·NSAn 실시간 전송</a:t>
            </a:r>
            <a:r>
              <a:rPr sz="1700" b="0">
                <a:solidFill>
                  <a:srgbClr val="222222"/>
                </a:solidFill>
                <a:latin typeface="맑은 고딕"/>
              </a:rPr>
              <a:t> / NSSn 동기 전송</a:t>
            </a:r>
          </a:p>
          <a:p>
            <a:pPr algn="l">
              <a:spcAft>
                <a:spcPts val="1000"/>
              </a:spcAft>
            </a:pPr>
            <a:r>
              <a:rPr sz="1700" b="0">
                <a:solidFill>
                  <a:srgbClr val="222222"/>
                </a:solidFill>
                <a:latin typeface="맑은 고딕"/>
              </a:rPr>
              <a:t>•  tt04 </a:t>
            </a:r>
            <a:r>
              <a:rPr sz="1700" b="1">
                <a:solidFill>
                  <a:srgbClr val="222222"/>
                </a:solidFill>
                <a:latin typeface="맑은 고딕"/>
              </a:rPr>
              <a:t>664KB</a:t>
            </a:r>
            <a:r>
              <a:rPr sz="1700" b="0">
                <a:solidFill>
                  <a:srgbClr val="222222"/>
                </a:solidFill>
                <a:latin typeface="맑은 고딕"/>
              </a:rPr>
              <a:t> — 아카이버 파일의 20배</a:t>
            </a:r>
          </a:p>
          <a:p>
            <a:pPr algn="l">
              <a:spcAft>
                <a:spcPts val="1000"/>
              </a:spcAft>
            </a:pPr>
            <a:r>
              <a:rPr sz="1700" b="0">
                <a:solidFill>
                  <a:srgbClr val="222222"/>
                </a:solidFill>
                <a:latin typeface="맑은 고딕"/>
              </a:rPr>
              <a:t>•  정상 — </a:t>
            </a:r>
            <a:r>
              <a:rPr sz="1700" b="0">
                <a:solidFill>
                  <a:srgbClr val="222222"/>
                </a:solidFill>
                <a:latin typeface="Consolas"/>
                <a:cs typeface="Consolas"/>
              </a:rPr>
              <a:t>Sleeping for 100 centi-second(s)</a:t>
            </a:r>
            <a:r>
              <a:rPr sz="1700" b="0">
                <a:solidFill>
                  <a:srgbClr val="222222"/>
                </a:solidFill>
                <a:latin typeface="맑은 고딕"/>
              </a:rPr>
              <a:t> · </a:t>
            </a:r>
            <a:r>
              <a:rPr sz="1700" b="0">
                <a:solidFill>
                  <a:srgbClr val="222222"/>
                </a:solidFill>
                <a:latin typeface="Consolas"/>
                <a:cs typeface="Consolas"/>
              </a:rPr>
              <a:t>No work found</a:t>
            </a:r>
            <a:r>
              <a:rPr sz="1700" b="0">
                <a:solidFill>
                  <a:srgbClr val="222222"/>
                </a:solidFill>
                <a:latin typeface="맑은 고딕"/>
              </a:rPr>
              <a:t> 의 반복</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잘못된 수준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log_archive_trace=-1</a:t>
            </a:r>
            <a:r>
              <a:rPr sz="1700" b="0">
                <a:solidFill>
                  <a:srgbClr val="222222"/>
                </a:solidFill>
                <a:latin typeface="맑은 고딕"/>
              </a:rPr>
              <a:t> → </a:t>
            </a:r>
            <a:r>
              <a:rPr sz="1700" b="1">
                <a:solidFill>
                  <a:srgbClr val="222222"/>
                </a:solidFill>
                <a:latin typeface="맑은 고딕"/>
              </a:rPr>
              <a:t>ORA-02017</a:t>
            </a:r>
            <a:r>
              <a:rPr sz="1700" b="0">
                <a:solidFill>
                  <a:srgbClr val="222222"/>
                </a:solidFill>
                <a:latin typeface="맑은 고딕"/>
              </a:rPr>
              <a:t>: integer value required</a:t>
            </a:r>
          </a:p>
          <a:p>
            <a:pPr algn="l">
              <a:spcAft>
                <a:spcPts val="1000"/>
              </a:spcAft>
            </a:pPr>
            <a:r>
              <a:rPr sz="1700" b="0">
                <a:solidFill>
                  <a:srgbClr val="222222"/>
                </a:solidFill>
                <a:latin typeface="맑은 고딕"/>
              </a:rPr>
              <a:t>•  </a:t>
            </a:r>
            <a:r>
              <a:rPr sz="1700" b="0">
                <a:solidFill>
                  <a:srgbClr val="222222"/>
                </a:solidFill>
                <a:latin typeface="Consolas"/>
                <a:cs typeface="Consolas"/>
              </a:rPr>
              <a:t>log_archive_trace='high'</a:t>
            </a:r>
            <a:r>
              <a:rPr sz="1700" b="0">
                <a:solidFill>
                  <a:srgbClr val="222222"/>
                </a:solidFill>
                <a:latin typeface="맑은 고딕"/>
              </a:rPr>
              <a:t> → 같은 ORA-02017</a:t>
            </a:r>
          </a:p>
          <a:p>
            <a:pPr algn="l">
              <a:spcAft>
                <a:spcPts val="1000"/>
              </a:spcAft>
            </a:pPr>
            <a:r>
              <a:rPr sz="1700" b="0">
                <a:solidFill>
                  <a:srgbClr val="222222"/>
                </a:solidFill>
                <a:latin typeface="맑은 고딕"/>
              </a:rPr>
              <a:t>•  음수가 "정수가 아니다"? — 부호 없는 정수를 받는다</a:t>
            </a:r>
          </a:p>
          <a:p>
            <a:pPr algn="l">
              <a:spcAft>
                <a:spcPts val="1000"/>
              </a:spcAft>
            </a:pPr>
            <a:r>
              <a:rPr sz="1700" b="0">
                <a:solidFill>
                  <a:srgbClr val="222222"/>
                </a:solidFill>
                <a:latin typeface="맑은 고딕"/>
              </a:rPr>
              <a:t>•  메시지보다 </a:t>
            </a:r>
            <a:r>
              <a:rPr sz="1700" b="1">
                <a:solidFill>
                  <a:srgbClr val="222222"/>
                </a:solidFill>
                <a:latin typeface="맑은 고딕"/>
              </a:rPr>
              <a:t>문서의 유효 범위</a:t>
            </a:r>
            <a:r>
              <a:rPr sz="1700" b="0">
                <a:solidFill>
                  <a:srgbClr val="222222"/>
                </a:solidFill>
                <a:latin typeface="맑은 고딕"/>
              </a:rPr>
              <a:t>를 믿는다</a:t>
            </a:r>
          </a:p>
          <a:p>
            <a:pPr algn="l">
              <a:spcAft>
                <a:spcPts val="1000"/>
              </a:spcAft>
            </a:pPr>
            <a:r>
              <a:rPr sz="1700" b="0">
                <a:solidFill>
                  <a:srgbClr val="222222"/>
                </a:solidFill>
                <a:latin typeface="맑은 고딕"/>
              </a:rPr>
              <a:t>•  끄기 = 0 + </a:t>
            </a:r>
            <a:r>
              <a:rPr sz="1700" b="0">
                <a:solidFill>
                  <a:srgbClr val="222222"/>
                </a:solidFill>
                <a:latin typeface="Consolas"/>
                <a:cs typeface="Consolas"/>
              </a:rPr>
              <a:t>V$PARAMETER</a:t>
            </a:r>
            <a:r>
              <a:rPr sz="1700" b="0">
                <a:solidFill>
                  <a:srgbClr val="222222"/>
                </a:solidFill>
                <a:latin typeface="맑은 고딕"/>
              </a:rPr>
              <a:t> 확인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켤 때의 다섯 원칙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흔한 사고를 막는다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필요한 수준만 — 12 만으로도 664KB</a:t>
            </a:r>
          </a:p>
          <a:p>
            <a:pPr algn="l">
              <a:spcAft>
                <a:spcPts val="1000"/>
              </a:spcAft>
            </a:pPr>
            <a:r>
              <a:rPr sz="1700" b="0">
                <a:solidFill>
                  <a:srgbClr val="222222"/>
                </a:solidFill>
                <a:latin typeface="맑은 고딕"/>
              </a:rPr>
              <a:t>•  ② 시간을 정한다 — "30분간"</a:t>
            </a:r>
          </a:p>
          <a:p>
            <a:pPr algn="l">
              <a:spcAft>
                <a:spcPts val="1000"/>
              </a:spcAft>
            </a:pPr>
            <a:r>
              <a:rPr sz="1700" b="0">
                <a:solidFill>
                  <a:srgbClr val="222222"/>
                </a:solidFill>
                <a:latin typeface="맑은 고딕"/>
              </a:rPr>
              <a:t>•  ③ 켜기 전에 ADR 공간 확인</a:t>
            </a:r>
          </a:p>
          <a:p>
            <a:pPr algn="l">
              <a:spcAft>
                <a:spcPts val="1000"/>
              </a:spcAft>
            </a:pPr>
            <a:r>
              <a:rPr sz="1700" b="0">
                <a:solidFill>
                  <a:srgbClr val="222222"/>
                </a:solidFill>
                <a:latin typeface="맑은 고딕"/>
              </a:rPr>
              <a:t>•  ④ 끈 뒤 </a:t>
            </a:r>
            <a:r>
              <a:rPr sz="1700" b="0">
                <a:solidFill>
                  <a:srgbClr val="222222"/>
                </a:solidFill>
                <a:latin typeface="Consolas"/>
                <a:cs typeface="Consolas"/>
              </a:rPr>
              <a:t>V$PARAMETER</a:t>
            </a:r>
            <a:r>
              <a:rPr sz="1700" b="0">
                <a:solidFill>
                  <a:srgbClr val="222222"/>
                </a:solidFill>
                <a:latin typeface="맑은 고딕"/>
              </a:rPr>
              <a:t> 로 0 확인</a:t>
            </a:r>
          </a:p>
          <a:p>
            <a:pPr algn="l">
              <a:spcAft>
                <a:spcPts val="1000"/>
              </a:spcAft>
            </a:pPr>
            <a:r>
              <a:rPr sz="1700" b="0">
                <a:solidFill>
                  <a:srgbClr val="222222"/>
                </a:solidFill>
                <a:latin typeface="맑은 고딕"/>
              </a:rPr>
              <a:t>•  ⑤ 오래된 트레이스는 </a:t>
            </a:r>
            <a:r>
              <a:rPr sz="1700" b="0">
                <a:solidFill>
                  <a:srgbClr val="222222"/>
                </a:solidFill>
                <a:latin typeface="Consolas"/>
                <a:cs typeface="Consolas"/>
              </a:rPr>
              <a:t>adrci</a:t>
            </a:r>
            <a:r>
              <a:rPr sz="1700" b="0">
                <a:solidFill>
                  <a:srgbClr val="222222"/>
                </a:solidFill>
                <a:latin typeface="맑은 고딕"/>
              </a:rPr>
              <a:t> purge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상시 점검 스크립트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역할별 묶음</a:t>
            </a:r>
          </a:p>
          <a:p>
            <a:pPr algn="l">
              <a:spcAft>
                <a:spcPts val="800"/>
              </a:spcAft>
            </a:pPr>
            <a:r>
              <a:rPr sz="1600" b="0">
                <a:solidFill>
                  <a:srgbClr val="FFFFFF"/>
                </a:solidFill>
                <a:latin typeface="맑은 고딕"/>
              </a:rPr>
              <a:t>•  주 지표와 보조 지표</a:t>
            </a:r>
          </a:p>
          <a:p>
            <a:pPr algn="l">
              <a:spcAft>
                <a:spcPts val="800"/>
              </a:spcAft>
            </a:pPr>
            <a:r>
              <a:rPr sz="1600" b="0">
                <a:solidFill>
                  <a:srgbClr val="FFFFFF"/>
                </a:solidFill>
                <a:latin typeface="맑은 고딕"/>
              </a:rPr>
              <a:t>•  네 단계 판정</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역할별 묶음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실측값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 목적지 둘 다 VALID, LOG_ABNORMAL 0, </a:t>
            </a:r>
            <a:r>
              <a:rPr sz="1700" b="1">
                <a:solidFill>
                  <a:srgbClr val="222222"/>
                </a:solidFill>
                <a:latin typeface="맑은 고딕"/>
              </a:rPr>
              <a:t>DG_ERR 3</a:t>
            </a:r>
            <a:r>
              <a:rPr sz="1700" b="0">
                <a:solidFill>
                  <a:srgbClr val="222222"/>
                </a:solidFill>
                <a:latin typeface="맑은 고딕"/>
              </a:rPr>
              <a:t>, CUR_SEQ 83</a:t>
            </a:r>
          </a:p>
          <a:p>
            <a:pPr algn="l">
              <a:spcAft>
                <a:spcPts val="1000"/>
              </a:spcAft>
            </a:pPr>
            <a:r>
              <a:rPr sz="1700" b="0">
                <a:solidFill>
                  <a:srgbClr val="222222"/>
                </a:solidFill>
                <a:latin typeface="맑은 고딕"/>
              </a:rPr>
              <a:t>•  Standby — MRP0 APPLYING_LOG </a:t>
            </a:r>
            <a:r>
              <a:rPr sz="1700" b="1">
                <a:solidFill>
                  <a:srgbClr val="222222"/>
                </a:solidFill>
                <a:latin typeface="맑은 고딕"/>
              </a:rPr>
              <a:t>83</a:t>
            </a:r>
            <a:r>
              <a:rPr sz="1700" b="0">
                <a:solidFill>
                  <a:srgbClr val="222222"/>
                </a:solidFill>
                <a:latin typeface="맑은 고딕"/>
              </a:rPr>
              <a:t>, REAL TIME APPLY, SRL_ACTIVE 1, GAP 0, DG_ERR 0</a:t>
            </a:r>
          </a:p>
          <a:p>
            <a:pPr algn="l">
              <a:spcAft>
                <a:spcPts val="1000"/>
              </a:spcAft>
            </a:pPr>
            <a:r>
              <a:rPr sz="1700" b="0">
                <a:solidFill>
                  <a:srgbClr val="222222"/>
                </a:solidFill>
                <a:latin typeface="맑은 고딕"/>
              </a:rPr>
              <a:t>•  83 = 83 → 정상</a:t>
            </a:r>
          </a:p>
          <a:p>
            <a:pPr algn="l">
              <a:spcAft>
                <a:spcPts val="1000"/>
              </a:spcAft>
            </a:pPr>
            <a:r>
              <a:rPr sz="1700" b="0">
                <a:solidFill>
                  <a:srgbClr val="222222"/>
                </a:solidFill>
                <a:latin typeface="맑은 고딕"/>
              </a:rPr>
              <a:t>•  DG_ERR 3 — 15.4 의 ORA-12541, 한 시간 뒤 자동으로 0</a:t>
            </a:r>
          </a:p>
          <a:p>
            <a:pPr algn="l">
              <a:spcAft>
                <a:spcPts val="1000"/>
              </a:spcAft>
            </a:pPr>
            <a:r>
              <a:rPr sz="1700" b="0">
                <a:solidFill>
                  <a:srgbClr val="222222"/>
                </a:solidFill>
                <a:latin typeface="맑은 고딕"/>
              </a:rPr>
              <a:t>•  </a:t>
            </a:r>
            <a:r>
              <a:rPr sz="1700" b="1">
                <a:solidFill>
                  <a:srgbClr val="222222"/>
                </a:solidFill>
                <a:latin typeface="맑은 고딕"/>
              </a:rPr>
              <a:t>오류는 보내는 쪽에만</a:t>
            </a:r>
            <a:r>
              <a:rPr sz="1700" b="0">
                <a:solidFill>
                  <a:srgbClr val="222222"/>
                </a:solidFill>
                <a:latin typeface="맑은 고딕"/>
              </a:rPr>
              <a:t> 기록된다 — 양쪽을 다 본다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주 지표와 보조 지표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끊김과 느림을 구별한다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두 번 확인 — 14장 속성 OFF, 15장 리스너 중단 → </a:t>
            </a:r>
            <a:r>
              <a:rPr sz="1700" b="1">
                <a:solidFill>
                  <a:srgbClr val="222222"/>
                </a:solidFill>
                <a:latin typeface="맑은 고딕"/>
              </a:rPr>
              <a:t>지연 0</a:t>
            </a:r>
          </a:p>
          <a:p>
            <a:pPr algn="l">
              <a:spcAft>
                <a:spcPts val="1000"/>
              </a:spcAft>
            </a:pPr>
            <a:r>
              <a:rPr sz="1700" b="0">
                <a:solidFill>
                  <a:srgbClr val="222222"/>
                </a:solidFill>
                <a:latin typeface="맑은 고딕"/>
              </a:rPr>
              <a:t>•  그때 </a:t>
            </a:r>
            <a:r>
              <a:rPr sz="1700" b="0">
                <a:solidFill>
                  <a:srgbClr val="222222"/>
                </a:solidFill>
                <a:latin typeface="Consolas"/>
                <a:cs typeface="Consolas"/>
              </a:rPr>
              <a:t>SRL_ACTIVE</a:t>
            </a:r>
            <a:r>
              <a:rPr sz="1700" b="0">
                <a:solidFill>
                  <a:srgbClr val="222222"/>
                </a:solidFill>
                <a:latin typeface="맑은 고딕"/>
              </a:rPr>
              <a:t> 는 </a:t>
            </a:r>
            <a:r>
              <a:rPr sz="1700" b="1">
                <a:solidFill>
                  <a:srgbClr val="222222"/>
                </a:solidFill>
                <a:latin typeface="맑은 고딕"/>
              </a:rPr>
              <a:t>0</a:t>
            </a:r>
          </a:p>
          <a:p>
            <a:pPr algn="l">
              <a:spcAft>
                <a:spcPts val="1000"/>
              </a:spcAft>
            </a:pPr>
            <a:r>
              <a:rPr sz="1700" b="0">
                <a:solidFill>
                  <a:srgbClr val="222222"/>
                </a:solidFill>
                <a:latin typeface="맑은 고딕"/>
              </a:rPr>
              <a:t>•  주 지표 — SRL_ACTIVE · MRP0 · 두 SEQUENCE# · 목적지 STATUS → 흐름</a:t>
            </a:r>
          </a:p>
          <a:p>
            <a:pPr algn="l">
              <a:spcAft>
                <a:spcPts val="1000"/>
              </a:spcAft>
            </a:pPr>
            <a:r>
              <a:rPr sz="1700" b="0">
                <a:solidFill>
                  <a:srgbClr val="222222"/>
                </a:solidFill>
                <a:latin typeface="맑은 고딕"/>
              </a:rPr>
              <a:t>•  보조 지표 — transport lag · apply lag → 속도</a:t>
            </a:r>
          </a:p>
          <a:p>
            <a:pPr algn="l">
              <a:spcAft>
                <a:spcPts val="1000"/>
              </a:spcAft>
            </a:pPr>
            <a:r>
              <a:rPr sz="1700" b="0">
                <a:solidFill>
                  <a:srgbClr val="222222"/>
                </a:solidFill>
                <a:latin typeface="맑은 고딕"/>
              </a:rPr>
              <a:t>•  주 정상 + 보조 나쁨 = 느림 / 주 무너짐 = 끊김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판정 규칙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단계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정상 — 모든 기댓값과 일치</a:t>
            </a:r>
          </a:p>
          <a:p>
            <a:pPr algn="l">
              <a:spcAft>
                <a:spcPts val="1000"/>
              </a:spcAft>
            </a:pPr>
            <a:r>
              <a:rPr sz="1700" b="0">
                <a:solidFill>
                  <a:srgbClr val="222222"/>
                </a:solidFill>
                <a:latin typeface="맑은 고딕"/>
              </a:rPr>
              <a:t>•  주의 — 지연이 임계값 초과 (SRL_ACTIVE=1) → 추세 기록</a:t>
            </a:r>
          </a:p>
          <a:p>
            <a:pPr algn="l">
              <a:spcAft>
                <a:spcPts val="1000"/>
              </a:spcAft>
            </a:pPr>
            <a:r>
              <a:rPr sz="1700" b="0">
                <a:solidFill>
                  <a:srgbClr val="222222"/>
                </a:solidFill>
                <a:latin typeface="맑은 고딕"/>
              </a:rPr>
              <a:t>•  경고 — DG_ERR &gt; 0 또는 SEQUENCE# 차이 2 이상 → 근무 시간에 확인</a:t>
            </a:r>
          </a:p>
          <a:p>
            <a:pPr algn="l">
              <a:spcAft>
                <a:spcPts val="1000"/>
              </a:spcAft>
            </a:pPr>
            <a:r>
              <a:rPr sz="1700" b="0">
                <a:solidFill>
                  <a:srgbClr val="222222"/>
                </a:solidFill>
                <a:latin typeface="맑은 고딕"/>
              </a:rPr>
              <a:t>•  심각 — SRL_ACTIVE=0 / MRP0 없음 / STATUS=ERROR → </a:t>
            </a:r>
            <a:r>
              <a:rPr sz="1700" b="1">
                <a:solidFill>
                  <a:srgbClr val="222222"/>
                </a:solidFill>
                <a:latin typeface="맑은 고딕"/>
              </a:rPr>
              <a:t>즉시 호출</a:t>
            </a:r>
          </a:p>
          <a:p>
            <a:pPr algn="l">
              <a:spcAft>
                <a:spcPts val="1000"/>
              </a:spcAft>
            </a:pPr>
            <a:r>
              <a:rPr sz="1700" b="0">
                <a:solidFill>
                  <a:srgbClr val="222222"/>
                </a:solidFill>
                <a:latin typeface="맑은 고딕"/>
              </a:rPr>
              <a:t>•  지금 — chicago 경고, boston 정상</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반대쪽에 돌리면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chicago 에서 </a:t>
            </a:r>
            <a:r>
              <a:rPr sz="1700" b="0">
                <a:solidFill>
                  <a:srgbClr val="222222"/>
                </a:solidFill>
                <a:latin typeface="Consolas"/>
                <a:cs typeface="Consolas"/>
              </a:rPr>
              <a:t>V$DATAGUARD_STATS</a:t>
            </a:r>
            <a:r>
              <a:rPr sz="1700" b="0">
                <a:solidFill>
                  <a:srgbClr val="222222"/>
                </a:solidFill>
                <a:latin typeface="맑은 고딕"/>
              </a:rPr>
              <a:t> → </a:t>
            </a:r>
            <a:r>
              <a:rPr sz="1700" b="1">
                <a:solidFill>
                  <a:srgbClr val="222222"/>
                </a:solidFill>
                <a:latin typeface="맑은 고딕"/>
              </a:rPr>
              <a:t>no rows selected</a:t>
            </a:r>
          </a:p>
          <a:p>
            <a:pPr algn="l">
              <a:spcAft>
                <a:spcPts val="1000"/>
              </a:spcAft>
            </a:pPr>
            <a:r>
              <a:rPr sz="1700" b="0">
                <a:solidFill>
                  <a:srgbClr val="222222"/>
                </a:solidFill>
                <a:latin typeface="맑은 고딕"/>
              </a:rPr>
              <a:t>•  chicago 에서 </a:t>
            </a:r>
            <a:r>
              <a:rPr sz="1700" b="0">
                <a:solidFill>
                  <a:srgbClr val="222222"/>
                </a:solidFill>
                <a:latin typeface="Consolas"/>
                <a:cs typeface="Consolas"/>
              </a:rPr>
              <a:t>SRL_ACTIVE</a:t>
            </a:r>
            <a:r>
              <a:rPr sz="1700" b="0">
                <a:solidFill>
                  <a:srgbClr val="222222"/>
                </a:solidFill>
                <a:latin typeface="맑은 고딕"/>
              </a:rPr>
              <a:t> → </a:t>
            </a:r>
            <a:r>
              <a:rPr sz="1700" b="1">
                <a:solidFill>
                  <a:srgbClr val="222222"/>
                </a:solidFill>
                <a:latin typeface="맑은 고딕"/>
              </a:rPr>
              <a:t>0</a:t>
            </a:r>
          </a:p>
          <a:p>
            <a:pPr algn="l">
              <a:spcAft>
                <a:spcPts val="1000"/>
              </a:spcAft>
            </a:pPr>
            <a:r>
              <a:rPr sz="1700" b="0">
                <a:solidFill>
                  <a:srgbClr val="222222"/>
                </a:solidFill>
                <a:latin typeface="맑은 고딕"/>
              </a:rPr>
              <a:t>•  </a:t>
            </a:r>
            <a:r>
              <a:rPr sz="1700" b="1">
                <a:solidFill>
                  <a:srgbClr val="222222"/>
                </a:solidFill>
                <a:latin typeface="맑은 고딕"/>
              </a:rPr>
              <a:t>오류가 나지 않았다 — 그것이 더 위험하다</a:t>
            </a:r>
          </a:p>
          <a:p>
            <a:pPr algn="l">
              <a:spcAft>
                <a:spcPts val="1000"/>
              </a:spcAft>
            </a:pPr>
            <a:r>
              <a:rPr sz="1700" b="0">
                <a:solidFill>
                  <a:srgbClr val="222222"/>
                </a:solidFill>
                <a:latin typeface="맑은 고딕"/>
              </a:rPr>
              <a:t>•  그대로 판정하면 Primary 가 상시 "심각"</a:t>
            </a:r>
          </a:p>
          <a:p>
            <a:pPr algn="l">
              <a:spcAft>
                <a:spcPts val="1000"/>
              </a:spcAft>
            </a:pPr>
            <a:r>
              <a:rPr sz="1700" b="0">
                <a:solidFill>
                  <a:srgbClr val="222222"/>
                </a:solidFill>
                <a:latin typeface="맑은 고딕"/>
              </a:rPr>
              <a:t>•  조치 — </a:t>
            </a:r>
            <a:r>
              <a:rPr sz="1700" b="0">
                <a:solidFill>
                  <a:srgbClr val="222222"/>
                </a:solidFill>
                <a:latin typeface="Consolas"/>
                <a:cs typeface="Consolas"/>
              </a:rPr>
              <a:t>DATABASE_ROLE</a:t>
            </a:r>
            <a:r>
              <a:rPr sz="1700" b="0">
                <a:solidFill>
                  <a:srgbClr val="222222"/>
                </a:solidFill>
                <a:latin typeface="맑은 고딕"/>
              </a:rPr>
              <a:t> 로 판정 후 분기</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어디까지 자동화할 것인가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층으로 짠다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5분마다 — 이 절의 SQL 점검</a:t>
            </a:r>
          </a:p>
          <a:p>
            <a:pPr algn="l">
              <a:spcAft>
                <a:spcPts val="1000"/>
              </a:spcAft>
            </a:pPr>
            <a:r>
              <a:rPr sz="1700" b="0">
                <a:solidFill>
                  <a:srgbClr val="222222"/>
                </a:solidFill>
                <a:latin typeface="맑은 고딕"/>
              </a:rPr>
              <a:t>•  하루 1회 — </a:t>
            </a:r>
            <a:r>
              <a:rPr sz="1700" b="0">
                <a:solidFill>
                  <a:srgbClr val="222222"/>
                </a:solidFill>
                <a:latin typeface="Consolas"/>
                <a:cs typeface="Consolas"/>
              </a:rPr>
              <a:t>dgmgrl ... | grep 'Ready for Switchover'</a:t>
            </a:r>
          </a:p>
          <a:p>
            <a:pPr algn="l">
              <a:spcAft>
                <a:spcPts val="1000"/>
              </a:spcAft>
            </a:pPr>
            <a:r>
              <a:rPr sz="1700" b="0">
                <a:solidFill>
                  <a:srgbClr val="222222"/>
                </a:solidFill>
                <a:latin typeface="맑은 고딕"/>
              </a:rPr>
              <a:t>•  주 1회 — 사람이 VERBOSE 와 알림 로그를 읽는다</a:t>
            </a:r>
          </a:p>
          <a:p>
            <a:pPr algn="l">
              <a:spcAft>
                <a:spcPts val="1000"/>
              </a:spcAft>
            </a:pPr>
            <a:r>
              <a:rPr sz="1700" b="0">
                <a:solidFill>
                  <a:srgbClr val="222222"/>
                </a:solidFill>
                <a:latin typeface="맑은 고딕"/>
              </a:rPr>
              <a:t>•  </a:t>
            </a:r>
            <a:r>
              <a:rPr sz="1700" b="0">
                <a:solidFill>
                  <a:srgbClr val="222222"/>
                </a:solidFill>
                <a:latin typeface="Consolas"/>
                <a:cs typeface="Consolas"/>
              </a:rPr>
              <a:t>apply finish time</a:t>
            </a:r>
            <a:r>
              <a:rPr sz="1700" b="0">
                <a:solidFill>
                  <a:srgbClr val="222222"/>
                </a:solidFill>
                <a:latin typeface="맑은 고딕"/>
              </a:rPr>
              <a:t> 30일 최댓값 → RTO 를 숫자로</a:t>
            </a:r>
          </a:p>
          <a:p>
            <a:pPr algn="l">
              <a:spcAft>
                <a:spcPts val="1000"/>
              </a:spcAft>
            </a:pPr>
            <a:r>
              <a:rPr sz="1700" b="0">
                <a:solidFill>
                  <a:srgbClr val="222222"/>
                </a:solidFill>
                <a:latin typeface="맑은 고딕"/>
              </a:rPr>
              <a:t>•  점검 계정에 SYSDBA 상시 접속 금지 — </a:t>
            </a:r>
            <a:r>
              <a:rPr sz="1700" b="0">
                <a:solidFill>
                  <a:srgbClr val="222222"/>
                </a:solidFill>
                <a:latin typeface="Consolas"/>
                <a:cs typeface="Consolas"/>
              </a:rPr>
              <a:t>V_$</a:t>
            </a:r>
            <a:r>
              <a:rPr sz="1700" b="0">
                <a:solidFill>
                  <a:srgbClr val="222222"/>
                </a:solidFill>
                <a:latin typeface="맑은 고딕"/>
              </a:rPr>
              <a:t> 조회 권한으로 충분</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Logical Standby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점검표의 어디가 비는가</a:t>
            </a:r>
          </a:p>
          <a:p>
            <a:pPr algn="l">
              <a:spcAft>
                <a:spcPts val="800"/>
              </a:spcAft>
            </a:pPr>
            <a:r>
              <a:rPr sz="1600" b="0">
                <a:solidFill>
                  <a:srgbClr val="FFFFFF"/>
                </a:solidFill>
                <a:latin typeface="맑은 고딕"/>
              </a:rPr>
              <a:t>•  트랜잭션 단위로 추적한다</a:t>
            </a:r>
          </a:p>
          <a:p>
            <a:pPr algn="l">
              <a:spcAft>
                <a:spcPts val="800"/>
              </a:spcAft>
            </a:pPr>
            <a:r>
              <a:rPr sz="1600" b="0">
                <a:solidFill>
                  <a:srgbClr val="FFFFFF"/>
                </a:solidFill>
                <a:latin typeface="맑은 고딕"/>
              </a:rPr>
              <a:t>•  멈춘 적용을 되살린다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시작 전 — 스냅샷</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되돌릴 수 없는 명령</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RECOVER TO LOGICAL STANDBY</a:t>
            </a:r>
            <a:r>
              <a:rPr sz="1700" b="0">
                <a:solidFill>
                  <a:srgbClr val="222222"/>
                </a:solidFill>
                <a:latin typeface="맑은 고딕"/>
              </a:rPr>
              <a:t> — 취소가 없다</a:t>
            </a:r>
          </a:p>
          <a:p>
            <a:pPr algn="l">
              <a:spcAft>
                <a:spcPts val="1000"/>
              </a:spcAft>
            </a:pPr>
            <a:r>
              <a:rPr sz="1700" b="0">
                <a:solidFill>
                  <a:srgbClr val="222222"/>
                </a:solidFill>
                <a:latin typeface="맑은 고딕"/>
              </a:rPr>
              <a:t>•  양쪽을 끈 상태에서 VM 스냅샷</a:t>
            </a:r>
          </a:p>
          <a:p>
            <a:pPr algn="l">
              <a:spcAft>
                <a:spcPts val="1000"/>
              </a:spcAft>
            </a:pPr>
            <a:r>
              <a:rPr sz="1700" b="0">
                <a:solidFill>
                  <a:srgbClr val="222222"/>
                </a:solidFill>
                <a:latin typeface="맑은 고딕"/>
              </a:rPr>
              <a:t>•  </a:t>
            </a:r>
            <a:r>
              <a:rPr sz="1700" b="0">
                <a:solidFill>
                  <a:srgbClr val="222222"/>
                </a:solidFill>
                <a:latin typeface="Consolas"/>
                <a:cs typeface="Consolas"/>
              </a:rPr>
              <a:t>shutdown -h</a:t>
            </a:r>
            <a:r>
              <a:rPr sz="1700" b="0">
                <a:solidFill>
                  <a:srgbClr val="222222"/>
                </a:solidFill>
                <a:latin typeface="맑은 고딕"/>
              </a:rPr>
              <a:t> 후에도 </a:t>
            </a:r>
            <a:r>
              <a:rPr sz="1700" b="0">
                <a:solidFill>
                  <a:srgbClr val="222222"/>
                </a:solidFill>
                <a:latin typeface="Consolas"/>
                <a:cs typeface="Consolas"/>
              </a:rPr>
              <a:t>vmrun list</a:t>
            </a:r>
            <a:r>
              <a:rPr sz="1700" b="0">
                <a:solidFill>
                  <a:srgbClr val="222222"/>
                </a:solidFill>
                <a:latin typeface="맑은 고딕"/>
              </a:rPr>
              <a:t> 는 running</a:t>
            </a:r>
          </a:p>
          <a:p>
            <a:pPr algn="l">
              <a:spcAft>
                <a:spcPts val="1000"/>
              </a:spcAft>
            </a:pPr>
            <a:r>
              <a:rPr sz="1700" b="0">
                <a:solidFill>
                  <a:srgbClr val="222222"/>
                </a:solidFill>
                <a:latin typeface="맑은 고딕"/>
              </a:rPr>
              <a:t>•  → </a:t>
            </a:r>
            <a:r>
              <a:rPr sz="1700" b="0">
                <a:solidFill>
                  <a:srgbClr val="222222"/>
                </a:solidFill>
                <a:latin typeface="Consolas"/>
                <a:cs typeface="Consolas"/>
              </a:rPr>
              <a:t>vmrun stop ... hard</a:t>
            </a:r>
            <a:r>
              <a:rPr sz="1700" b="0">
                <a:solidFill>
                  <a:srgbClr val="222222"/>
                </a:solidFill>
                <a:latin typeface="맑은 고딕"/>
              </a:rPr>
              <a:t> 로 마무리 후 스냅샷</a:t>
            </a:r>
          </a:p>
          <a:p>
            <a:pPr algn="l">
              <a:spcAft>
                <a:spcPts val="1000"/>
              </a:spcAft>
            </a:pPr>
            <a:r>
              <a:rPr sz="1700" b="0">
                <a:solidFill>
                  <a:srgbClr val="222222"/>
                </a:solidFill>
                <a:latin typeface="맑은 고딕"/>
              </a:rPr>
              <a:t>•  끝나면 스냅샷으로 원복 — 리두 흐름까지 확인</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Broker 아래에서 MRP 를 끄면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show database</a:t>
            </a:r>
            <a:r>
              <a:rPr sz="1700" b="0">
                <a:solidFill>
                  <a:srgbClr val="222222"/>
                </a:solidFill>
                <a:latin typeface="맑은 고딕"/>
              </a:rPr>
              <a:t> — </a:t>
            </a:r>
            <a:r>
              <a:rPr sz="1700" b="1">
                <a:solidFill>
                  <a:srgbClr val="222222"/>
                </a:solidFill>
                <a:latin typeface="맑은 고딕"/>
              </a:rPr>
              <a:t>ORA-16766</a:t>
            </a:r>
            <a:r>
              <a:rPr sz="1700" b="0">
                <a:solidFill>
                  <a:srgbClr val="222222"/>
                </a:solidFill>
                <a:latin typeface="맑은 고딕"/>
              </a:rPr>
              <a:t> Redo Apply stopped (오류)</a:t>
            </a:r>
          </a:p>
          <a:p>
            <a:pPr algn="l">
              <a:spcAft>
                <a:spcPts val="1000"/>
              </a:spcAft>
            </a:pPr>
            <a:r>
              <a:rPr sz="1700" b="0">
                <a:solidFill>
                  <a:srgbClr val="222222"/>
                </a:solidFill>
                <a:latin typeface="맑은 고딕"/>
              </a:rPr>
              <a:t>•  + </a:t>
            </a:r>
            <a:r>
              <a:rPr sz="1700" b="1">
                <a:solidFill>
                  <a:srgbClr val="222222"/>
                </a:solidFill>
                <a:latin typeface="맑은 고딕"/>
              </a:rPr>
              <a:t>ORA-16853</a:t>
            </a:r>
            <a:r>
              <a:rPr sz="1700" b="0">
                <a:solidFill>
                  <a:srgbClr val="222222"/>
                </a:solidFill>
                <a:latin typeface="맑은 고딕"/>
              </a:rPr>
              <a:t> apply lag 임계값 초과 (경고)</a:t>
            </a:r>
          </a:p>
          <a:p>
            <a:pPr algn="l">
              <a:spcAft>
                <a:spcPts val="1000"/>
              </a:spcAft>
            </a:pPr>
            <a:r>
              <a:rPr sz="1700" b="0">
                <a:solidFill>
                  <a:srgbClr val="222222"/>
                </a:solidFill>
                <a:latin typeface="맑은 고딕"/>
              </a:rPr>
              <a:t>•  </a:t>
            </a:r>
            <a:r>
              <a:rPr sz="1700" b="0">
                <a:solidFill>
                  <a:srgbClr val="222222"/>
                </a:solidFill>
                <a:latin typeface="Consolas"/>
                <a:cs typeface="Consolas"/>
              </a:rPr>
              <a:t>show configuration</a:t>
            </a:r>
            <a:r>
              <a:rPr sz="1700" b="0">
                <a:solidFill>
                  <a:srgbClr val="222222"/>
                </a:solidFill>
                <a:latin typeface="맑은 고딕"/>
              </a:rPr>
              <a:t> — </a:t>
            </a:r>
            <a:r>
              <a:rPr sz="1700" b="1">
                <a:solidFill>
                  <a:srgbClr val="222222"/>
                </a:solidFill>
                <a:latin typeface="맑은 고딕"/>
              </a:rPr>
              <a:t>ORA-16810</a:t>
            </a:r>
            <a:r>
              <a:rPr sz="1700" b="0">
                <a:solidFill>
                  <a:srgbClr val="222222"/>
                </a:solidFill>
                <a:latin typeface="맑은 고딕"/>
              </a:rPr>
              <a:t> 요약만</a:t>
            </a:r>
          </a:p>
          <a:p>
            <a:pPr algn="l">
              <a:spcAft>
                <a:spcPts val="1000"/>
              </a:spcAft>
            </a:pPr>
            <a:r>
              <a:rPr sz="1700" b="0">
                <a:solidFill>
                  <a:srgbClr val="222222"/>
                </a:solidFill>
                <a:latin typeface="맑은 고딕"/>
              </a:rPr>
              <a:t>•  </a:t>
            </a:r>
            <a:r>
              <a:rPr sz="1700" b="0">
                <a:solidFill>
                  <a:srgbClr val="222222"/>
                </a:solidFill>
                <a:latin typeface="Consolas"/>
                <a:cs typeface="Consolas"/>
              </a:rPr>
              <a:t>Intended State</a:t>
            </a:r>
            <a:r>
              <a:rPr sz="1700" b="0">
                <a:solidFill>
                  <a:srgbClr val="222222"/>
                </a:solidFill>
                <a:latin typeface="맑은 고딕"/>
              </a:rPr>
              <a:t> 는 여전히 APPLY-ON</a:t>
            </a:r>
          </a:p>
          <a:p>
            <a:pPr algn="l">
              <a:spcAft>
                <a:spcPts val="1000"/>
              </a:spcAft>
            </a:pPr>
            <a:r>
              <a:rPr sz="1700" b="0">
                <a:solidFill>
                  <a:srgbClr val="222222"/>
                </a:solidFill>
                <a:latin typeface="맑은 고딕"/>
              </a:rPr>
              <a:t>•  전환 명령은 딕셔너리를 기다리며 멈춘다 — 클라이언트를 죽여도 서버 세션은 ACTIVE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구성을 걷어내면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ORA-16057</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REMOVE CONFIGURATION</a:t>
            </a:r>
            <a:r>
              <a:rPr sz="1700" b="0">
                <a:solidFill>
                  <a:srgbClr val="222222"/>
                </a:solidFill>
                <a:latin typeface="맑은 고딕"/>
              </a:rPr>
              <a:t> — DB 는 그대로, </a:t>
            </a:r>
            <a:r>
              <a:rPr sz="1700" b="1">
                <a:solidFill>
                  <a:srgbClr val="222222"/>
                </a:solidFill>
                <a:latin typeface="맑은 고딕"/>
              </a:rPr>
              <a:t>파라미터는 바뀐다</a:t>
            </a:r>
          </a:p>
          <a:p>
            <a:pPr algn="l">
              <a:spcAft>
                <a:spcPts val="1000"/>
              </a:spcAft>
            </a:pPr>
            <a:r>
              <a:rPr sz="1700" b="0">
                <a:solidFill>
                  <a:srgbClr val="222222"/>
                </a:solidFill>
                <a:latin typeface="맑은 고딕"/>
              </a:rPr>
              <a:t>•  boston </a:t>
            </a:r>
            <a:r>
              <a:rPr sz="1700" b="0">
                <a:solidFill>
                  <a:srgbClr val="222222"/>
                </a:solidFill>
                <a:latin typeface="Consolas"/>
                <a:cs typeface="Consolas"/>
              </a:rPr>
              <a:t>log_archive_config='dg_config=(farsync)'</a:t>
            </a:r>
            <a:r>
              <a:rPr sz="1700" b="0">
                <a:solidFill>
                  <a:srgbClr val="222222"/>
                </a:solidFill>
                <a:latin typeface="맑은 고딕"/>
              </a:rPr>
              <a:t>, </a:t>
            </a:r>
            <a:r>
              <a:rPr sz="1700" b="0">
                <a:solidFill>
                  <a:srgbClr val="222222"/>
                </a:solidFill>
                <a:latin typeface="Consolas"/>
                <a:cs typeface="Consolas"/>
              </a:rPr>
              <a:t>fal_server=''</a:t>
            </a:r>
          </a:p>
          <a:p>
            <a:pPr algn="l">
              <a:spcAft>
                <a:spcPts val="1000"/>
              </a:spcAft>
            </a:pPr>
            <a:r>
              <a:rPr sz="1700" b="0">
                <a:solidFill>
                  <a:srgbClr val="222222"/>
                </a:solidFill>
                <a:latin typeface="맑은 고딕"/>
              </a:rPr>
              <a:t>•  chicago 목적지 2번 — ERROR </a:t>
            </a:r>
            <a:r>
              <a:rPr sz="1700" b="1">
                <a:solidFill>
                  <a:srgbClr val="222222"/>
                </a:solidFill>
                <a:latin typeface="맑은 고딕"/>
              </a:rPr>
              <a:t>ORA-16057</a:t>
            </a:r>
            <a:r>
              <a:rPr sz="1700" b="0">
                <a:solidFill>
                  <a:srgbClr val="222222"/>
                </a:solidFill>
                <a:latin typeface="맑은 고딕"/>
              </a:rPr>
              <a:t> server not in DG configuration</a:t>
            </a:r>
          </a:p>
          <a:p>
            <a:pPr algn="l">
              <a:spcAft>
                <a:spcPts val="1000"/>
              </a:spcAft>
            </a:pPr>
            <a:r>
              <a:rPr sz="1700" b="0">
                <a:solidFill>
                  <a:srgbClr val="222222"/>
                </a:solidFill>
                <a:latin typeface="맑은 고딕"/>
              </a:rPr>
              <a:t>•  같은 </a:t>
            </a:r>
            <a:r>
              <a:rPr sz="1700" b="0">
                <a:solidFill>
                  <a:srgbClr val="222222"/>
                </a:solidFill>
                <a:latin typeface="Consolas"/>
                <a:cs typeface="Consolas"/>
              </a:rPr>
              <a:t>STATUS=ERROR</a:t>
            </a:r>
            <a:r>
              <a:rPr sz="1700" b="0">
                <a:solidFill>
                  <a:srgbClr val="222222"/>
                </a:solidFill>
                <a:latin typeface="맑은 고딕"/>
              </a:rPr>
              <a:t> 라도 15.4 의 ORA-12541 과 원인이 다르다</a:t>
            </a:r>
          </a:p>
          <a:p>
            <a:pPr algn="l">
              <a:spcAft>
                <a:spcPts val="1000"/>
              </a:spcAft>
            </a:pPr>
            <a:r>
              <a:rPr sz="1700" b="0">
                <a:solidFill>
                  <a:srgbClr val="222222"/>
                </a:solidFill>
                <a:latin typeface="맑은 고딕"/>
              </a:rPr>
              <a:t>•  손으로 복구 + </a:t>
            </a:r>
            <a:r>
              <a:rPr sz="1700" b="0">
                <a:solidFill>
                  <a:srgbClr val="222222"/>
                </a:solidFill>
                <a:latin typeface="Consolas"/>
                <a:cs typeface="Consolas"/>
              </a:rPr>
              <a:t>DEFER</a:t>
            </a:r>
            <a:r>
              <a:rPr sz="1700" b="0">
                <a:solidFill>
                  <a:srgbClr val="222222"/>
                </a:solidFill>
                <a:latin typeface="맑은 고딕"/>
              </a:rPr>
              <a:t>→</a:t>
            </a:r>
            <a:r>
              <a:rPr sz="1700" b="0">
                <a:solidFill>
                  <a:srgbClr val="222222"/>
                </a:solidFill>
                <a:latin typeface="Consolas"/>
                <a:cs typeface="Consolas"/>
              </a:rPr>
              <a:t>ENABLE</a:t>
            </a:r>
            <a:r>
              <a:rPr sz="1700" b="0">
                <a:solidFill>
                  <a:srgbClr val="222222"/>
                </a:solidFill>
                <a:latin typeface="맑은 고딕"/>
              </a:rPr>
              <a:t> (Broker 가 없으니 SQL 이 맞다)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익숙한 뷰가 조용해진다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점검표의 보조 지표가 사라진다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V$MANAGED_STANDBY</a:t>
            </a:r>
            <a:r>
              <a:rPr sz="1700" b="0">
                <a:solidFill>
                  <a:srgbClr val="222222"/>
                </a:solidFill>
                <a:latin typeface="맑은 고딕"/>
              </a:rPr>
              <a:t> — ARCH · DGRD 뿐, </a:t>
            </a:r>
            <a:r>
              <a:rPr sz="1700" b="1">
                <a:solidFill>
                  <a:srgbClr val="222222"/>
                </a:solidFill>
                <a:latin typeface="맑은 고딕"/>
              </a:rPr>
              <a:t>MRP0 없음</a:t>
            </a:r>
          </a:p>
          <a:p>
            <a:pPr algn="l">
              <a:spcAft>
                <a:spcPts val="1000"/>
              </a:spcAft>
            </a:pPr>
            <a:r>
              <a:rPr sz="1700" b="0">
                <a:solidFill>
                  <a:srgbClr val="222222"/>
                </a:solidFill>
                <a:latin typeface="맑은 고딕"/>
              </a:rPr>
              <a:t>•  </a:t>
            </a:r>
            <a:r>
              <a:rPr sz="1700" b="0">
                <a:solidFill>
                  <a:srgbClr val="222222"/>
                </a:solidFill>
                <a:latin typeface="Consolas"/>
                <a:cs typeface="Consolas"/>
              </a:rPr>
              <a:t>V$DATAGUARD_STATS</a:t>
            </a:r>
            <a:r>
              <a:rPr sz="1700" b="0">
                <a:solidFill>
                  <a:srgbClr val="222222"/>
                </a:solidFill>
                <a:latin typeface="맑은 고딕"/>
              </a:rPr>
              <a:t> — </a:t>
            </a:r>
            <a:r>
              <a:rPr sz="1700" b="1">
                <a:solidFill>
                  <a:srgbClr val="222222"/>
                </a:solidFill>
                <a:latin typeface="맑은 고딕"/>
              </a:rPr>
              <a:t>no rows selected</a:t>
            </a:r>
          </a:p>
          <a:p>
            <a:pPr algn="l">
              <a:spcAft>
                <a:spcPts val="1000"/>
              </a:spcAft>
            </a:pPr>
            <a:r>
              <a:rPr sz="1700" b="0">
                <a:solidFill>
                  <a:srgbClr val="222222"/>
                </a:solidFill>
                <a:latin typeface="맑은 고딕"/>
              </a:rPr>
              <a:t>•  대신 — </a:t>
            </a:r>
            <a:r>
              <a:rPr sz="1700" b="0">
                <a:solidFill>
                  <a:srgbClr val="222222"/>
                </a:solidFill>
                <a:latin typeface="Consolas"/>
                <a:cs typeface="Consolas"/>
              </a:rPr>
              <a:t>V$LOGSTDBY_PROCESS</a:t>
            </a:r>
            <a:r>
              <a:rPr sz="1700" b="0">
                <a:solidFill>
                  <a:srgbClr val="222222"/>
                </a:solidFill>
                <a:latin typeface="맑은 고딕"/>
              </a:rPr>
              <a:t> (APPLIER 5 등)</a:t>
            </a:r>
          </a:p>
          <a:p>
            <a:pPr algn="l">
              <a:spcAft>
                <a:spcPts val="1000"/>
              </a:spcAft>
            </a:pPr>
            <a:r>
              <a:rPr sz="1700" b="0">
                <a:solidFill>
                  <a:srgbClr val="222222"/>
                </a:solidFill>
                <a:latin typeface="맑은 고딕"/>
              </a:rPr>
              <a:t>•  </a:t>
            </a:r>
            <a:r>
              <a:rPr sz="1700" b="0">
                <a:solidFill>
                  <a:srgbClr val="222222"/>
                </a:solidFill>
                <a:latin typeface="Consolas"/>
                <a:cs typeface="Consolas"/>
              </a:rPr>
              <a:t>V$LOGSTDBY_STATE</a:t>
            </a:r>
            <a:r>
              <a:rPr sz="1700" b="0">
                <a:solidFill>
                  <a:srgbClr val="222222"/>
                </a:solidFill>
                <a:latin typeface="맑은 고딕"/>
              </a:rPr>
              <a:t> — IDLE / APPLYING / SQL APPLY NOT ON</a:t>
            </a:r>
          </a:p>
          <a:p>
            <a:pPr algn="l">
              <a:spcAft>
                <a:spcPts val="1000"/>
              </a:spcAft>
            </a:pPr>
            <a:r>
              <a:rPr sz="1700" b="0">
                <a:solidFill>
                  <a:srgbClr val="222222"/>
                </a:solidFill>
                <a:latin typeface="맑은 고딕"/>
              </a:rPr>
              <a:t>•  </a:t>
            </a:r>
            <a:r>
              <a:rPr sz="1700" b="0">
                <a:solidFill>
                  <a:srgbClr val="222222"/>
                </a:solidFill>
                <a:latin typeface="Consolas"/>
                <a:cs typeface="Consolas"/>
              </a:rPr>
              <a:t>DBA_LOGSTDBY_PROGRESS</a:t>
            </a:r>
            <a:r>
              <a:rPr sz="1700" b="0">
                <a:solidFill>
                  <a:srgbClr val="222222"/>
                </a:solidFill>
                <a:latin typeface="맑은 고딕"/>
              </a:rPr>
              <a:t> — NEWEST_SCN − APPLIED_SCN 이 지연을 대신한다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V$LOGSTDBY_TRANSACTION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 이름은 DESC 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SELECT xidusn ...</a:t>
            </a:r>
            <a:r>
              <a:rPr sz="1700" b="0">
                <a:solidFill>
                  <a:srgbClr val="222222"/>
                </a:solidFill>
                <a:latin typeface="맑은 고딕"/>
              </a:rPr>
              <a:t> → </a:t>
            </a:r>
            <a:r>
              <a:rPr sz="1700" b="1">
                <a:solidFill>
                  <a:srgbClr val="222222"/>
                </a:solidFill>
                <a:latin typeface="맑은 고딕"/>
              </a:rPr>
              <a:t>ORA-00904</a:t>
            </a:r>
            <a:r>
              <a:rPr sz="1700" b="0">
                <a:solidFill>
                  <a:srgbClr val="222222"/>
                </a:solidFill>
                <a:latin typeface="맑은 고딕"/>
              </a:rPr>
              <a:t> (15.3.2 의 규칙)</a:t>
            </a:r>
          </a:p>
          <a:p>
            <a:pPr algn="l">
              <a:spcAft>
                <a:spcPts val="1000"/>
              </a:spcAft>
            </a:pPr>
            <a:r>
              <a:rPr sz="1700" b="0">
                <a:solidFill>
                  <a:srgbClr val="222222"/>
                </a:solidFill>
                <a:latin typeface="맑은 고딕"/>
              </a:rPr>
              <a:t>•  열은 전부 </a:t>
            </a:r>
            <a:r>
              <a:rPr sz="1700" b="1">
                <a:solidFill>
                  <a:srgbClr val="222222"/>
                </a:solidFill>
                <a:latin typeface="Consolas"/>
                <a:cs typeface="Consolas"/>
              </a:rPr>
              <a:t>PRIMARY_</a:t>
            </a:r>
            <a:r>
              <a:rPr sz="1700" b="1">
                <a:solidFill>
                  <a:srgbClr val="222222"/>
                </a:solidFill>
                <a:latin typeface="맑은 고딕"/>
              </a:rPr>
              <a:t> 접두어</a:t>
            </a:r>
            <a:r>
              <a:rPr sz="1700" b="0">
                <a:solidFill>
                  <a:srgbClr val="222222"/>
                </a:solidFill>
                <a:latin typeface="맑은 고딕"/>
              </a:rPr>
              <a:t> — Primary 의 XID</a:t>
            </a:r>
          </a:p>
          <a:p>
            <a:pPr algn="l">
              <a:spcAft>
                <a:spcPts val="1000"/>
              </a:spcAft>
            </a:pPr>
            <a:r>
              <a:rPr sz="1700" b="0">
                <a:solidFill>
                  <a:srgbClr val="222222"/>
                </a:solidFill>
                <a:latin typeface="맑은 고딕"/>
              </a:rPr>
              <a:t>•  문서의 </a:t>
            </a:r>
            <a:r>
              <a:rPr sz="1700" b="0">
                <a:solidFill>
                  <a:srgbClr val="222222"/>
                </a:solidFill>
                <a:latin typeface="Consolas"/>
                <a:cs typeface="Consolas"/>
              </a:rPr>
              <a:t>SAVEPOINT_SCN</a:t>
            </a:r>
            <a:r>
              <a:rPr sz="1700" b="0">
                <a:solidFill>
                  <a:srgbClr val="222222"/>
                </a:solidFill>
                <a:latin typeface="맑은 고딕"/>
              </a:rPr>
              <a:t> · </a:t>
            </a:r>
            <a:r>
              <a:rPr sz="1700" b="0">
                <a:solidFill>
                  <a:srgbClr val="222222"/>
                </a:solidFill>
                <a:latin typeface="Consolas"/>
                <a:cs typeface="Consolas"/>
              </a:rPr>
              <a:t>COMMIT_SCN</a:t>
            </a:r>
            <a:r>
              <a:rPr sz="1700" b="0">
                <a:solidFill>
                  <a:srgbClr val="222222"/>
                </a:solidFill>
                <a:latin typeface="맑은 고딕"/>
              </a:rPr>
              <a:t> — 19c 에는 없다</a:t>
            </a:r>
          </a:p>
          <a:p>
            <a:pPr algn="l">
              <a:spcAft>
                <a:spcPts val="1000"/>
              </a:spcAft>
            </a:pPr>
            <a:r>
              <a:rPr sz="1700" b="0">
                <a:solidFill>
                  <a:srgbClr val="222222"/>
                </a:solidFill>
                <a:latin typeface="맑은 고딕"/>
              </a:rPr>
              <a:t>•  실측 </a:t>
            </a:r>
            <a:r>
              <a:rPr sz="1700" b="0">
                <a:solidFill>
                  <a:srgbClr val="222222"/>
                </a:solidFill>
                <a:latin typeface="Consolas"/>
                <a:cs typeface="Consolas"/>
              </a:rPr>
              <a:t>XID 9.9.821 | DML | MINING COMPLETE | APPLY NONE | SRC_CON 3</a:t>
            </a:r>
          </a:p>
          <a:p>
            <a:pPr algn="l">
              <a:spcAft>
                <a:spcPts val="1000"/>
              </a:spcAft>
            </a:pPr>
            <a:r>
              <a:rPr sz="1700" b="0">
                <a:solidFill>
                  <a:srgbClr val="222222"/>
                </a:solidFill>
                <a:latin typeface="맑은 고딕"/>
              </a:rPr>
              <a:t>•  시작 시각과의 차이(52초) — 트랜잭션 단위의 지연</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적용이 멈출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DBA_LOGSTDBY_EVENTS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 에서 SYS 로 행 삭제 → Primary 가 그 행을 UPDATE</a:t>
            </a:r>
          </a:p>
          <a:p>
            <a:pPr algn="l">
              <a:spcAft>
                <a:spcPts val="1000"/>
              </a:spcAft>
            </a:pPr>
            <a:r>
              <a:rPr sz="1700" b="0">
                <a:solidFill>
                  <a:srgbClr val="222222"/>
                </a:solidFill>
                <a:latin typeface="맑은 고딕"/>
              </a:rPr>
              <a:t>•  </a:t>
            </a:r>
            <a:r>
              <a:rPr sz="1700" b="0">
                <a:solidFill>
                  <a:srgbClr val="222222"/>
                </a:solidFill>
                <a:latin typeface="Consolas"/>
                <a:cs typeface="Consolas"/>
              </a:rPr>
              <a:t>STATE</a:t>
            </a:r>
            <a:r>
              <a:rPr sz="1700" b="0">
                <a:solidFill>
                  <a:srgbClr val="222222"/>
                </a:solidFill>
                <a:latin typeface="맑은 고딕"/>
              </a:rPr>
              <a:t> = </a:t>
            </a:r>
            <a:r>
              <a:rPr sz="1700" b="1">
                <a:solidFill>
                  <a:srgbClr val="222222"/>
                </a:solidFill>
                <a:latin typeface="맑은 고딕"/>
              </a:rPr>
              <a:t>SQL APPLY NOT ON</a:t>
            </a:r>
          </a:p>
          <a:p>
            <a:pPr algn="l">
              <a:spcAft>
                <a:spcPts val="1000"/>
              </a:spcAft>
            </a:pPr>
            <a:r>
              <a:rPr sz="1700" b="0">
                <a:solidFill>
                  <a:srgbClr val="222222"/>
                </a:solidFill>
                <a:latin typeface="맑은 고딕"/>
              </a:rPr>
              <a:t>•  </a:t>
            </a:r>
            <a:r>
              <a:rPr sz="1700" b="1">
                <a:solidFill>
                  <a:srgbClr val="222222"/>
                </a:solidFill>
                <a:latin typeface="맑은 고딕"/>
              </a:rPr>
              <a:t>ORA-26787</a:t>
            </a:r>
            <a:r>
              <a:rPr sz="1700" b="0">
                <a:solidFill>
                  <a:srgbClr val="222222"/>
                </a:solidFill>
                <a:latin typeface="맑은 고딕"/>
              </a:rPr>
              <a:t> row with key ("ID") = (5) does not exist in LG15.TX</a:t>
            </a:r>
          </a:p>
          <a:p>
            <a:pPr algn="l">
              <a:spcAft>
                <a:spcPts val="1000"/>
              </a:spcAft>
            </a:pPr>
            <a:r>
              <a:rPr sz="1700" b="0">
                <a:solidFill>
                  <a:srgbClr val="222222"/>
                </a:solidFill>
                <a:latin typeface="맑은 고딕"/>
              </a:rPr>
              <a:t>•  이때 </a:t>
            </a:r>
            <a:r>
              <a:rPr sz="1700" b="0">
                <a:solidFill>
                  <a:srgbClr val="222222"/>
                </a:solidFill>
                <a:latin typeface="Consolas"/>
                <a:cs typeface="Consolas"/>
              </a:rPr>
              <a:t>V$LOGSTDBY_TRANSACTION</a:t>
            </a:r>
            <a:r>
              <a:rPr sz="1700" b="0">
                <a:solidFill>
                  <a:srgbClr val="222222"/>
                </a:solidFill>
                <a:latin typeface="맑은 고딕"/>
              </a:rPr>
              <a:t> 은 </a:t>
            </a:r>
            <a:r>
              <a:rPr sz="1700" b="1">
                <a:solidFill>
                  <a:srgbClr val="222222"/>
                </a:solidFill>
                <a:latin typeface="맑은 고딕"/>
              </a:rPr>
              <a:t>0행</a:t>
            </a:r>
            <a:r>
              <a:rPr sz="1700" b="0">
                <a:solidFill>
                  <a:srgbClr val="222222"/>
                </a:solidFill>
                <a:latin typeface="맑은 고딕"/>
              </a:rPr>
              <a:t> — 적용 중에만 채워진다</a:t>
            </a:r>
          </a:p>
          <a:p>
            <a:pPr algn="l">
              <a:spcAft>
                <a:spcPts val="1000"/>
              </a:spcAft>
            </a:pPr>
            <a:r>
              <a:rPr sz="1700" b="0">
                <a:solidFill>
                  <a:srgbClr val="222222"/>
                </a:solidFill>
                <a:latin typeface="맑은 고딕"/>
              </a:rPr>
              <a:t>•  XID 는 EVENTS 에서 — 열 이름은 </a:t>
            </a:r>
            <a:r>
              <a:rPr sz="1700" b="0">
                <a:solidFill>
                  <a:srgbClr val="222222"/>
                </a:solidFill>
                <a:latin typeface="Consolas"/>
                <a:cs typeface="Consolas"/>
              </a:rPr>
              <a:t>XIDUSN</a:t>
            </a:r>
            <a:r>
              <a:rPr sz="1700" b="0">
                <a:solidFill>
                  <a:srgbClr val="222222"/>
                </a:solidFill>
                <a:latin typeface="맑은 고딕"/>
              </a:rPr>
              <a:t> (뷰마다 다르다)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건너뛰기보다 원인을 없앤다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SKIP_TRANSACTION 이 거부되다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PDB 에서 호출 → </a:t>
            </a:r>
            <a:r>
              <a:rPr sz="1700" b="1">
                <a:solidFill>
                  <a:srgbClr val="222222"/>
                </a:solidFill>
                <a:latin typeface="맑은 고딕"/>
              </a:rPr>
              <a:t>ORA-65040</a:t>
            </a:r>
            <a:r>
              <a:rPr sz="1700" b="0">
                <a:solidFill>
                  <a:srgbClr val="222222"/>
                </a:solidFill>
                <a:latin typeface="맑은 고딕"/>
              </a:rPr>
              <a:t> (CDB$ROOT 에서 불러야 한다)</a:t>
            </a:r>
          </a:p>
          <a:p>
            <a:pPr algn="l">
              <a:spcAft>
                <a:spcPts val="1000"/>
              </a:spcAft>
            </a:pPr>
            <a:r>
              <a:rPr sz="1700" b="0">
                <a:solidFill>
                  <a:srgbClr val="222222"/>
                </a:solidFill>
                <a:latin typeface="맑은 고딕"/>
              </a:rPr>
              <a:t>•  루트, 적용 STOP 후 → </a:t>
            </a:r>
            <a:r>
              <a:rPr sz="1700" b="1">
                <a:solidFill>
                  <a:srgbClr val="222222"/>
                </a:solidFill>
                <a:latin typeface="맑은 고딕"/>
              </a:rPr>
              <a:t>ORA-16104</a:t>
            </a:r>
            <a:r>
              <a:rPr sz="1700" b="0">
                <a:solidFill>
                  <a:srgbClr val="222222"/>
                </a:solidFill>
                <a:latin typeface="맑은 고딕"/>
              </a:rPr>
              <a:t> (등록할 대상이 없다)</a:t>
            </a:r>
          </a:p>
          <a:p>
            <a:pPr algn="l">
              <a:spcAft>
                <a:spcPts val="1000"/>
              </a:spcAft>
            </a:pPr>
            <a:r>
              <a:rPr sz="1700" b="0">
                <a:solidFill>
                  <a:srgbClr val="222222"/>
                </a:solidFill>
                <a:latin typeface="맑은 고딕"/>
              </a:rPr>
              <a:t>•  목적은 적용을 되살리는 것 — 없어진 행을 되돌려 넣고 START</a:t>
            </a:r>
          </a:p>
          <a:p>
            <a:pPr algn="l">
              <a:spcAft>
                <a:spcPts val="1000"/>
              </a:spcAft>
            </a:pPr>
            <a:r>
              <a:rPr sz="1700" b="0">
                <a:solidFill>
                  <a:srgbClr val="222222"/>
                </a:solidFill>
                <a:latin typeface="맑은 고딕"/>
              </a:rPr>
              <a:t>•  결과 </a:t>
            </a:r>
            <a:r>
              <a:rPr sz="1700" b="0">
                <a:solidFill>
                  <a:srgbClr val="222222"/>
                </a:solidFill>
                <a:latin typeface="Consolas"/>
                <a:cs typeface="Consolas"/>
              </a:rPr>
              <a:t>tag='boom'</a:t>
            </a:r>
            <a:r>
              <a:rPr sz="1700" b="0">
                <a:solidFill>
                  <a:srgbClr val="222222"/>
                </a:solidFill>
                <a:latin typeface="맑은 고딕"/>
              </a:rPr>
              <a:t> — 밀린 UPDATE 가 </a:t>
            </a:r>
            <a:r>
              <a:rPr sz="1700" b="1">
                <a:solidFill>
                  <a:srgbClr val="222222"/>
                </a:solidFill>
                <a:latin typeface="맑은 고딕"/>
              </a:rPr>
              <a:t>정상 적용</a:t>
            </a:r>
          </a:p>
          <a:p>
            <a:pPr algn="l">
              <a:spcAft>
                <a:spcPts val="1000"/>
              </a:spcAft>
            </a:pPr>
            <a:r>
              <a:rPr sz="1700" b="0">
                <a:solidFill>
                  <a:srgbClr val="222222"/>
                </a:solidFill>
                <a:latin typeface="맑은 고딕"/>
              </a:rPr>
              <a:t>•  건너뛰었다면 영원히 </a:t>
            </a:r>
            <a:r>
              <a:rPr sz="1700" b="0">
                <a:solidFill>
                  <a:srgbClr val="222222"/>
                </a:solidFill>
                <a:latin typeface="Consolas"/>
                <a:cs typeface="Consolas"/>
              </a:rPr>
              <a:t>seed</a:t>
            </a:r>
            <a:r>
              <a:rPr sz="1700" b="0">
                <a:solidFill>
                  <a:srgbClr val="222222"/>
                </a:solidFill>
                <a:latin typeface="맑은 고딕"/>
              </a:rPr>
              <a:t> 로 남았다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스스로 판정해 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정상인가 조치인가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시퀀스가 APPLIED YES · NO 두 행 → 정상 (dest_id=1 은 로컬)</a:t>
            </a:r>
          </a:p>
          <a:p>
            <a:pPr algn="l">
              <a:spcAft>
                <a:spcPts val="1000"/>
              </a:spcAft>
            </a:pPr>
            <a:r>
              <a:rPr sz="1700" b="0">
                <a:solidFill>
                  <a:srgbClr val="222222"/>
                </a:solidFill>
                <a:latin typeface="맑은 고딕"/>
              </a:rPr>
              <a:t>•  </a:t>
            </a:r>
            <a:r>
              <a:rPr sz="1700" b="0">
                <a:solidFill>
                  <a:srgbClr val="222222"/>
                </a:solidFill>
                <a:latin typeface="Consolas"/>
                <a:cs typeface="Consolas"/>
              </a:rPr>
              <a:t>APPLIED_SEQ#=0</a:t>
            </a:r>
            <a:r>
              <a:rPr sz="1700" b="0">
                <a:solidFill>
                  <a:srgbClr val="222222"/>
                </a:solidFill>
                <a:latin typeface="맑은 고딕"/>
              </a:rPr>
              <a:t> + REAL TIME APPLY → 정상</a:t>
            </a:r>
          </a:p>
          <a:p>
            <a:pPr algn="l">
              <a:spcAft>
                <a:spcPts val="1000"/>
              </a:spcAft>
            </a:pPr>
            <a:r>
              <a:rPr sz="1700" b="0">
                <a:solidFill>
                  <a:srgbClr val="222222"/>
                </a:solidFill>
                <a:latin typeface="맑은 고딕"/>
              </a:rPr>
              <a:t>•  지연 0 인데 ACTIVE SRL 없음 · MRP0 뒤짐 → </a:t>
            </a:r>
            <a:r>
              <a:rPr sz="1700" b="1">
                <a:solidFill>
                  <a:srgbClr val="222222"/>
                </a:solidFill>
                <a:latin typeface="맑은 고딕"/>
              </a:rPr>
              <a:t>조치 필요</a:t>
            </a:r>
          </a:p>
          <a:p>
            <a:pPr algn="l">
              <a:spcAft>
                <a:spcPts val="1000"/>
              </a:spcAft>
            </a:pPr>
            <a:r>
              <a:rPr sz="1700" b="0">
                <a:solidFill>
                  <a:srgbClr val="222222"/>
                </a:solidFill>
                <a:latin typeface="맑은 고딕"/>
              </a:rPr>
              <a:t>•  리스너를 올린 지 3분, 여전히 ORA-12541 → 정상 (ReopenSecs)</a:t>
            </a:r>
          </a:p>
          <a:p>
            <a:pPr algn="l">
              <a:spcAft>
                <a:spcPts val="1000"/>
              </a:spcAft>
            </a:pPr>
            <a:r>
              <a:rPr sz="1700" b="0">
                <a:solidFill>
                  <a:srgbClr val="222222"/>
                </a:solidFill>
                <a:latin typeface="맑은 고딕"/>
              </a:rPr>
              <a:t>•  Primary 에서 </a:t>
            </a:r>
            <a:r>
              <a:rPr sz="1700" b="0">
                <a:solidFill>
                  <a:srgbClr val="222222"/>
                </a:solidFill>
                <a:latin typeface="Consolas"/>
                <a:cs typeface="Consolas"/>
              </a:rPr>
              <a:t>V$DATAGUARD_STATS</a:t>
            </a:r>
            <a:r>
              <a:rPr sz="1700" b="0">
                <a:solidFill>
                  <a:srgbClr val="222222"/>
                </a:solidFill>
                <a:latin typeface="맑은 고딕"/>
              </a:rPr>
              <a:t> no rows → 정상</a:t>
            </a:r>
          </a:p>
          <a:p>
            <a:pPr algn="l">
              <a:spcAft>
                <a:spcPts val="1000"/>
              </a:spcAft>
            </a:pPr>
            <a:r>
              <a:rPr sz="1700" b="0">
                <a:solidFill>
                  <a:srgbClr val="222222"/>
                </a:solidFill>
                <a:latin typeface="맑은 고딕"/>
              </a:rPr>
              <a:t>•  </a:t>
            </a:r>
            <a:r>
              <a:rPr sz="1700" b="0">
                <a:solidFill>
                  <a:srgbClr val="222222"/>
                </a:solidFill>
                <a:latin typeface="Consolas"/>
                <a:cs typeface="Consolas"/>
              </a:rPr>
              <a:t>V$LOGSTDBY_TRANSACTION</a:t>
            </a:r>
            <a:r>
              <a:rPr sz="1700" b="0">
                <a:solidFill>
                  <a:srgbClr val="222222"/>
                </a:solidFill>
                <a:latin typeface="맑은 고딕"/>
              </a:rPr>
              <a:t> 0행 + SQL APPLY NOT ON → </a:t>
            </a:r>
            <a:r>
              <a:rPr sz="1700" b="1">
                <a:solidFill>
                  <a:srgbClr val="222222"/>
                </a:solidFill>
                <a:latin typeface="맑은 고딕"/>
              </a:rPr>
              <a:t>조치 필요</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세 곳의 같은 시퀀스 — Primary </a:t>
            </a:r>
            <a:r>
              <a:rPr sz="1600" b="0">
                <a:solidFill>
                  <a:srgbClr val="222222"/>
                </a:solidFill>
                <a:latin typeface="Consolas"/>
                <a:cs typeface="Consolas"/>
              </a:rPr>
              <a:t>CURRENT</a:t>
            </a:r>
            <a:r>
              <a:rPr sz="1600" b="0">
                <a:solidFill>
                  <a:srgbClr val="222222"/>
                </a:solidFill>
                <a:latin typeface="맑은 고딕"/>
              </a:rPr>
              <a:t> · Standby </a:t>
            </a:r>
            <a:r>
              <a:rPr sz="1600" b="0">
                <a:solidFill>
                  <a:srgbClr val="222222"/>
                </a:solidFill>
                <a:latin typeface="Consolas"/>
                <a:cs typeface="Consolas"/>
              </a:rPr>
              <a:t>ACTIVE</a:t>
            </a:r>
            <a:r>
              <a:rPr sz="1600" b="0">
                <a:solidFill>
                  <a:srgbClr val="222222"/>
                </a:solidFill>
                <a:latin typeface="맑은 고딕"/>
              </a:rPr>
              <a:t> SRL · MRP0</a:t>
            </a:r>
          </a:p>
          <a:p>
            <a:pPr algn="l">
              <a:spcAft>
                <a:spcPts val="1000"/>
              </a:spcAft>
            </a:pPr>
            <a:r>
              <a:rPr sz="1600" b="0">
                <a:solidFill>
                  <a:srgbClr val="222222"/>
                </a:solidFill>
                <a:latin typeface="맑은 고딕"/>
              </a:rPr>
              <a:t>•  SRL </a:t>
            </a:r>
            <a:r>
              <a:rPr sz="1600" b="0">
                <a:solidFill>
                  <a:srgbClr val="222222"/>
                </a:solidFill>
                <a:latin typeface="Consolas"/>
                <a:cs typeface="Consolas"/>
              </a:rPr>
              <a:t>ACTIVE</a:t>
            </a:r>
            <a:r>
              <a:rPr sz="1600" b="0">
                <a:solidFill>
                  <a:srgbClr val="222222"/>
                </a:solidFill>
                <a:latin typeface="맑은 고딕"/>
              </a:rPr>
              <a:t> 0개 = 리두가 안 온다. Primary 에서는 전부 </a:t>
            </a:r>
            <a:r>
              <a:rPr sz="1600" b="0">
                <a:solidFill>
                  <a:srgbClr val="222222"/>
                </a:solidFill>
                <a:latin typeface="Consolas"/>
                <a:cs typeface="Consolas"/>
              </a:rPr>
              <a:t>UNASSIGNED</a:t>
            </a:r>
          </a:p>
          <a:p>
            <a:pPr algn="l">
              <a:spcAft>
                <a:spcPts val="1000"/>
              </a:spcAft>
            </a:pPr>
            <a:r>
              <a:rPr sz="1600" b="0">
                <a:solidFill>
                  <a:srgbClr val="222222"/>
                </a:solidFill>
                <a:latin typeface="맑은 고딕"/>
              </a:rPr>
              <a:t>•  </a:t>
            </a:r>
            <a:r>
              <a:rPr sz="1600" b="0">
                <a:solidFill>
                  <a:srgbClr val="222222"/>
                </a:solidFill>
                <a:latin typeface="Consolas"/>
                <a:cs typeface="Consolas"/>
              </a:rPr>
              <a:t>V$ARCHIVE_DEST</a:t>
            </a:r>
            <a:r>
              <a:rPr sz="1600" b="0">
                <a:solidFill>
                  <a:srgbClr val="222222"/>
                </a:solidFill>
                <a:latin typeface="맑은 고딕"/>
              </a:rPr>
              <a:t> 는 설정, </a:t>
            </a:r>
            <a:r>
              <a:rPr sz="1600" b="0">
                <a:solidFill>
                  <a:srgbClr val="222222"/>
                </a:solidFill>
                <a:latin typeface="Consolas"/>
                <a:cs typeface="Consolas"/>
              </a:rPr>
              <a:t>_STATUS</a:t>
            </a:r>
            <a:r>
              <a:rPr sz="1600" b="0">
                <a:solidFill>
                  <a:srgbClr val="222222"/>
                </a:solidFill>
                <a:latin typeface="맑은 고딕"/>
              </a:rPr>
              <a:t> 는 지금. 열 오류 ORA-00904, 뷰 ORA-00942</a:t>
            </a:r>
          </a:p>
          <a:p>
            <a:pPr algn="l">
              <a:spcAft>
                <a:spcPts val="1000"/>
              </a:spcAft>
            </a:pPr>
            <a:r>
              <a:rPr sz="1600" b="0">
                <a:solidFill>
                  <a:srgbClr val="222222"/>
                </a:solidFill>
                <a:latin typeface="맑은 고딕"/>
              </a:rPr>
              <a:t>•  </a:t>
            </a:r>
            <a:r>
              <a:rPr sz="1600" b="0">
                <a:solidFill>
                  <a:srgbClr val="222222"/>
                </a:solidFill>
                <a:latin typeface="Consolas"/>
                <a:cs typeface="Consolas"/>
              </a:rPr>
              <a:t>STATE_n</a:t>
            </a:r>
            <a:r>
              <a:rPr sz="1600" b="0">
                <a:solidFill>
                  <a:srgbClr val="222222"/>
                </a:solidFill>
                <a:latin typeface="맑은 고딕"/>
              </a:rPr>
              <a:t> × </a:t>
            </a:r>
            <a:r>
              <a:rPr sz="1600" b="0">
                <a:solidFill>
                  <a:srgbClr val="222222"/>
                </a:solidFill>
                <a:latin typeface="Consolas"/>
                <a:cs typeface="Consolas"/>
              </a:rPr>
              <a:t>STATUS</a:t>
            </a:r>
            <a:r>
              <a:rPr sz="1600" b="0">
                <a:solidFill>
                  <a:srgbClr val="222222"/>
                </a:solidFill>
                <a:latin typeface="맑은 고딕"/>
              </a:rPr>
              <a:t> — ENABLE+ERROR 장애 / RESET Broker / DEFER 사람</a:t>
            </a:r>
          </a:p>
          <a:p>
            <a:pPr algn="l">
              <a:spcAft>
                <a:spcPts val="1000"/>
              </a:spcAft>
            </a:pPr>
            <a:r>
              <a:rPr sz="1600" b="0">
                <a:solidFill>
                  <a:srgbClr val="222222"/>
                </a:solidFill>
                <a:latin typeface="맑은 고딕"/>
              </a:rPr>
              <a:t>•  끊겨도 </a:t>
            </a:r>
            <a:r>
              <a:rPr sz="1600" b="1">
                <a:solidFill>
                  <a:srgbClr val="222222"/>
                </a:solidFill>
                <a:latin typeface="맑은 고딕"/>
              </a:rPr>
              <a:t>두 지연은 0</a:t>
            </a:r>
            <a:r>
              <a:rPr sz="1600" b="0">
                <a:solidFill>
                  <a:srgbClr val="222222"/>
                </a:solidFill>
                <a:latin typeface="맑은 고딕"/>
              </a:rPr>
              <a:t>. 갭 뷰도 비었다. 프로세스와 SRL 을 본다</a:t>
            </a:r>
          </a:p>
          <a:p>
            <a:pPr algn="l">
              <a:spcAft>
                <a:spcPts val="1000"/>
              </a:spcAft>
            </a:pPr>
            <a:r>
              <a:rPr sz="1600" b="0">
                <a:solidFill>
                  <a:srgbClr val="222222"/>
                </a:solidFill>
                <a:latin typeface="맑은 고딕"/>
              </a:rPr>
              <a:t>•  복구는 </a:t>
            </a:r>
            <a:r>
              <a:rPr sz="1600" b="0">
                <a:solidFill>
                  <a:srgbClr val="222222"/>
                </a:solidFill>
                <a:latin typeface="Consolas"/>
                <a:cs typeface="Consolas"/>
              </a:rPr>
              <a:t>ReopenSecs</a:t>
            </a:r>
            <a:r>
              <a:rPr sz="1600" b="0">
                <a:solidFill>
                  <a:srgbClr val="222222"/>
                </a:solidFill>
                <a:latin typeface="맑은 고딕"/>
              </a:rPr>
              <a:t>(300초) 만큼. 직후의 ORA-16778 은 판정 시차</a:t>
            </a:r>
          </a:p>
          <a:p>
            <a:pPr algn="l">
              <a:spcAft>
                <a:spcPts val="1000"/>
              </a:spcAft>
            </a:pPr>
            <a:r>
              <a:rPr sz="1600" b="0">
                <a:solidFill>
                  <a:srgbClr val="222222"/>
                </a:solidFill>
                <a:latin typeface="맑은 고딕"/>
              </a:rPr>
              <a:t>•  </a:t>
            </a:r>
            <a:r>
              <a:rPr sz="1600" b="0">
                <a:solidFill>
                  <a:srgbClr val="222222"/>
                </a:solidFill>
                <a:latin typeface="Consolas"/>
                <a:cs typeface="Consolas"/>
              </a:rPr>
              <a:t>APPLIED</a:t>
            </a:r>
            <a:r>
              <a:rPr sz="1600" b="0">
                <a:solidFill>
                  <a:srgbClr val="222222"/>
                </a:solidFill>
                <a:latin typeface="맑은 고딕"/>
              </a:rPr>
              <a:t> 는 dest_id=2 만, </a:t>
            </a:r>
            <a:r>
              <a:rPr sz="1600" b="0">
                <a:solidFill>
                  <a:srgbClr val="222222"/>
                </a:solidFill>
                <a:latin typeface="Consolas"/>
                <a:cs typeface="Consolas"/>
              </a:rPr>
              <a:t>APPLIED_SEQ#=0</a:t>
            </a:r>
            <a:r>
              <a:rPr sz="1600" b="0">
                <a:solidFill>
                  <a:srgbClr val="222222"/>
                </a:solidFill>
                <a:latin typeface="맑은 고딕"/>
              </a:rPr>
              <a:t> 은 실시간 적용이라 정상</a:t>
            </a:r>
          </a:p>
          <a:p>
            <a:pPr algn="l">
              <a:spcAft>
                <a:spcPts val="1000"/>
              </a:spcAft>
            </a:pPr>
            <a:r>
              <a:rPr sz="1600" b="0">
                <a:solidFill>
                  <a:srgbClr val="222222"/>
                </a:solidFill>
                <a:latin typeface="맑은 고딕"/>
              </a:rPr>
              <a:t>•  </a:t>
            </a:r>
            <a:r>
              <a:rPr sz="1600" b="0">
                <a:solidFill>
                  <a:srgbClr val="222222"/>
                </a:solidFill>
                <a:latin typeface="Consolas"/>
                <a:cs typeface="Consolas"/>
              </a:rPr>
              <a:t>LOG_ARCHIVE_TRACE</a:t>
            </a:r>
            <a:r>
              <a:rPr sz="1600" b="0">
                <a:solidFill>
                  <a:srgbClr val="222222"/>
                </a:solidFill>
                <a:latin typeface="맑은 고딕"/>
              </a:rPr>
              <a:t> 12 = 4+8, </a:t>
            </a:r>
            <a:r>
              <a:rPr sz="1600" b="0">
                <a:solidFill>
                  <a:srgbClr val="222222"/>
                </a:solidFill>
                <a:latin typeface="Consolas"/>
                <a:cs typeface="Consolas"/>
              </a:rPr>
              <a:t>SCOPE=BOTH</a:t>
            </a:r>
            <a:r>
              <a:rPr sz="1600" b="0">
                <a:solidFill>
                  <a:srgbClr val="222222"/>
                </a:solidFill>
                <a:latin typeface="맑은 고딕"/>
              </a:rPr>
              <a:t>, ORA-02017, 끈 뒤 0 확인</a:t>
            </a:r>
          </a:p>
          <a:p>
            <a:pPr algn="l">
              <a:spcAft>
                <a:spcPts val="1000"/>
              </a:spcAft>
            </a:pPr>
            <a:r>
              <a:rPr sz="1600" b="0">
                <a:solidFill>
                  <a:srgbClr val="222222"/>
                </a:solidFill>
                <a:latin typeface="맑은 고딕"/>
              </a:rPr>
              <a:t>•  점검은 </a:t>
            </a:r>
            <a:r>
              <a:rPr sz="1600" b="1">
                <a:solidFill>
                  <a:srgbClr val="222222"/>
                </a:solidFill>
                <a:latin typeface="맑은 고딕"/>
              </a:rPr>
              <a:t>역할 분기</a:t>
            </a:r>
            <a:r>
              <a:rPr sz="1600" b="0">
                <a:solidFill>
                  <a:srgbClr val="222222"/>
                </a:solidFill>
                <a:latin typeface="맑은 고딕"/>
              </a:rPr>
              <a:t> + 주 지표(흐름) · 보조 지표(속도) + 네 단계 판정</a:t>
            </a:r>
          </a:p>
          <a:p>
            <a:pPr algn="l">
              <a:spcAft>
                <a:spcPts val="1000"/>
              </a:spcAft>
            </a:pPr>
            <a:r>
              <a:rPr sz="1600" b="0">
                <a:solidFill>
                  <a:srgbClr val="222222"/>
                </a:solidFill>
                <a:latin typeface="맑은 고딕"/>
              </a:rPr>
              <a:t>•  Logical — MRP0 · 지연이 비고, EVENTS 로 진단해 원인을 없앤다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로그 파일과 SRL</a:t>
            </a:r>
          </a:p>
          <a:p>
            <a:pPr algn="l">
              <a:spcAft>
                <a:spcPts val="1000"/>
              </a:spcAft>
            </a:pPr>
            <a:r>
              <a:rPr sz="1600" b="0">
                <a:solidFill>
                  <a:srgbClr val="222222"/>
                </a:solidFill>
                <a:latin typeface="맑은 고딕"/>
              </a:rPr>
              <a:t>•  실습 02 — 아카이브 목적지</a:t>
            </a:r>
          </a:p>
          <a:p>
            <a:pPr algn="l">
              <a:spcAft>
                <a:spcPts val="1000"/>
              </a:spcAft>
            </a:pPr>
            <a:r>
              <a:rPr sz="1600" b="0">
                <a:solidFill>
                  <a:srgbClr val="222222"/>
                </a:solidFill>
                <a:latin typeface="맑은 고딕"/>
              </a:rPr>
              <a:t>•  실습 03 — 전송 중단 재현과 진단 (복구에 약 5분)</a:t>
            </a:r>
          </a:p>
          <a:p>
            <a:pPr algn="l">
              <a:spcAft>
                <a:spcPts val="1000"/>
              </a:spcAft>
            </a:pPr>
            <a:r>
              <a:rPr sz="1600" b="0">
                <a:solidFill>
                  <a:srgbClr val="222222"/>
                </a:solidFill>
                <a:latin typeface="맑은 고딕"/>
              </a:rPr>
              <a:t>•  실습 04 — 적용의 진행과 APPLIED</a:t>
            </a:r>
          </a:p>
          <a:p>
            <a:pPr algn="l">
              <a:spcAft>
                <a:spcPts val="1000"/>
              </a:spcAft>
            </a:pPr>
            <a:r>
              <a:rPr sz="1600" b="0">
                <a:solidFill>
                  <a:srgbClr val="222222"/>
                </a:solidFill>
                <a:latin typeface="맑은 고딕"/>
              </a:rPr>
              <a:t>•  실습 05 — LOG_ARCHIVE_TRACE (반드시 0 으로 되돌린다)</a:t>
            </a:r>
          </a:p>
          <a:p>
            <a:pPr algn="l">
              <a:spcAft>
                <a:spcPts val="1000"/>
              </a:spcAft>
            </a:pPr>
            <a:r>
              <a:rPr sz="1600" b="0">
                <a:solidFill>
                  <a:srgbClr val="222222"/>
                </a:solidFill>
                <a:latin typeface="맑은 고딕"/>
              </a:rPr>
              <a:t>•  실습 06 — 상시 점검 스크립트</a:t>
            </a:r>
          </a:p>
          <a:p>
            <a:pPr algn="l">
              <a:spcAft>
                <a:spcPts val="1000"/>
              </a:spcAft>
            </a:pPr>
            <a:r>
              <a:rPr sz="1600" b="0">
                <a:solidFill>
                  <a:srgbClr val="222222"/>
                </a:solidFill>
                <a:latin typeface="맑은 고딕"/>
              </a:rPr>
              <a:t>•  실습 07 — Logical Standby 모니터링 (스냅샷 → 원복)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
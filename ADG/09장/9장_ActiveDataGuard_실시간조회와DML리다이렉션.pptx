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Standby는 서버와 스토리지 비용이 Primary와 비슷하게 드는데, 마운트 상태로만 두면 장애가 나기 전까지 업무에 쓰이지 않습니다. 운영 DB에서 OLTP와 월말 보고서가 같이 돌면 응답 시간이 흔들리는데, 보고서 쪽을 Standby로 옮기면 Primary는 갱신 업무만 맡게 됩니다. 별도 복제 도구로 보고서 DB를 만드는 방식과 비교하면, Standby는 리두를 블록 단위로 적용하므로 데이터 유형 제약이 없고 재해 복구 사본 역할도 그대로 유지합니다. 다만 읽기 전용이라 보고서용 인덱스를 추가할 수 없고, 그런 요구가 있으면 12장의 논리 Standby가 후보입니다.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Data Guard는 이 목록 전체를 하나의 옵션으로 삽니다. 그중 하나라도 쓰면 옵션을 쓰는 것으로 봅니다. 재미있는 대비가 하나 있는데, 갱신이 가능한 Snapshot Standby와 논리 Standby는 오히려 Enterprise Edition 기본 기능입니다. 수강생들이 "쓰기가 되는 쪽이 더 비싸겠지"라고 짐작하기 쉬운데 실제는 반대입니다. 판단할 때는 공식 문서에서 해당 기능 설명에 Active Data Guard 옵션이 필요하다는 문구가 붙어 있는지를 기준으로 삼으면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경계는 생각보다 단순해서 "열린 채로 적용하는가" 한 가지입니다. 실무에서 문제가 되는 것은 의도치 않게 이 상태가 되는 경로입니다. Standby를 습관처럼 STARTUP으로 올리면 읽기 전용으로 열리고, 그다음 Broker나 기동 스크립트가 적용을 시작하는 순간 READ ONLY WITH APPLY가 됩니다. 아무 오류도 경고도 없습니다. 옵션을 사지 않은 사이트는 기동 스크립트와 Oracle Restart 등록 정보의 시작 모드를 마운트로 고정해 둡니다. 라이선스는 원칙적으로 Primary와 Standby 서버 모두에 필요하지만 계약 조건은 도입 전에 따로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 옵션을 쓰고 있는지는 OPEN_MODE 하나로 판단됩니다. 기능 사용 통계는 주기적으로 수집되는 기록이라 즉시 반영되지 않고, 읽기 전용 Standby에서는 갱신이 제한되기도 합니다. CDB 구성에서 루트에 접속해 DBA_ 뷰를 조회하면 행이 하나도 안 나오는 일이 흔한데, 현재 컨테이너만 보여 주기 때문입니다. CDB_ 뷰로 바꾸면 PDB별 행이 나옵니다. 감사에서는 경고 로그의 기동 기록도 근거가 되므로, 한 번이라도 열린 채 적용했다면 그 흔적은 남는다고 보는 것이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다룬 실시간 적용은 MRP0가 SRL에 막 쓰인 리두를 곧장 따라 읽는 방식으로, 마운트 상태에서도 동작합니다. 다만 마운트 상태에서는 사용자 테이블을 조회할 수 없습니다. 실시간 조회는 그 위에 열린 데이터베이스를 얹은 것입니다. 아카이브 기반 적용에 읽기 전용 열기를 조합하는 것도 이론상 가능하지만, 그래도 옵션 사용이면서 데이터는 로그 전환 단위로 늦게 보이므로 얻는 것이 거의 없습니다. 두 용어가 시험이나 면접에서 자주 섞여 나오는데, 하나는 적용 시점, 하나는 조회 가능 여부를 묻는 개념입니다.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적용이 도는 동안에는 데이터베이스를 열 수 없어서 순서가 이렇게 됩니다. 열기는 모든 데이터 파일이 같은 SCN까지 복구된 일관된 상태여야 성공하는데, 적용을 정상 CANCEL하면 이 조건이 맞춰집니다. CDB에서 자주 놓치는 것이 PDB 열기입니다. 루트만 열고 PDB를 열지 않으면 애플리케이션 사용자는 여전히 접속하지 못합니다. SAVE STATE로 상태를 저장해 두면 다음 기동부터 따라서 열립니다. Broker로 관리하는 구성은 적용을 멈추고 다시 거는 일을 Broker가 처리하므로 Standby를 열기만 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끌 때는 재기동이 필요합니다. 열린 데이터베이스를 닫아 마운트로 되돌리는 명령이 없기 때문입니다. 적용만 CANCEL하면 OPEN_MODE가 READ ONLY로 바뀌어 그 순간은 옵션 사용 상태를 벗어나지만, 데이터는 그 시점에 고정됩니다. 그 상태에서 누군가 적용을 다시 기동하면 그 즉시 옵션 사용 상태로 돌아갑니다. 옵션을 정말 끄려는 목적이라면 재기동해 마운트로 내리는 것까지가 한 세트입니다. 실습 8에서 이 순서와 원복을 직접 해 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V$DATABASE의 OPEN_MODE는 세 값 중 하나로 나옵니다. READ ONLY는 열렸지만 적용이 멈춘 상태이고, 열린 뒤 적용을 기동하면 READ ONLY WITH APPLY로 바뀝니다. Primary에서 원격 목적지의 V$ARCHIVE_DEST_STATUS를 보면 RECOVERY_MODE가 MANAGED REAL TIME APPLY WITH QUERY처럼 끝에 WITH QUERY가 붙고, Broker에서는 Real Time Query 항목이 ON으로 표시됩니다. 점검 스크립트를 만들 때 Standby에 접속하지 못하는 상황도 있으니, Primary 쪽에서 볼 수 있는 지표를 하나 함께 넣어 두면 쓸모가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리두는 커밋을 기다리지 않고 전송·적용되므로 Standby 데이터 블록에는 아직 커밋되지 않은 변경이 들어 있을 수 있습니다. 그래도 조회 결과에는 나타나지 않는데, 언두 블록도 리두로 함께 적용되어 있어 Primary와 똑같이 과거 시점으로 되돌려 읽기 때문입니다. 기준 시점이 쿼리 SCN이고, 적용이 일관된 지점까지 갈 때마다 앞으로 움직입니다. 커밋 전 행이 안 보인다고 "리두가 아직 안 왔다"로 해석하면 틀린 결론이 됩니다. 실습 2에서 적용 지점이 해당 변경을 넘어섰는지 확인하는 단계를 넣은 이유가 이것입니다.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Standby의 블록은 Primary 블록의 복제본이어야 다음 리두가 그대로 적용됩니다. Standby가 스스로 블록 하나라도 바꾸면 그 뒤 도착하는 리두와 내용이 맞지 않게 되니, 리두를 만드는 작업은 전부 거부됩니다. 통계 수집이 막히는 것을 의외로 여기는 분이 많은데, 통계도 딕셔너리 테이블에 쓰는 작업입니다. Standby의 실행 계획은 Primary에서 수집해 리두로 넘어온 통계로 만들어집니다. AWR은 기능 쪽에서 먼저 상태를 확인하기 때문에 ORA-16000이 아닌 전용 오류 ORA-13516이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정렬과 해시 조인은 임시 테이블스페이스를 쓰므로 문제없이 돌아갑니다. 한 가지 함정은 임시 파일이 리두로 만들어지지 않는다는 것입니다. Standby를 새로 만들었거나 Primary에서 임시 테이블스페이스를 바꿨다면 Standby 쪽 임시 파일이 있는지 확인하고 필요하면 직접 추가해야 합니다. EXPLAIN PLAN이 되는 이유는 19c의 PLAN_TABLE이 전역 임시 테이블이기 때문입니다. Data Pump 내보내기는 마스터 테이블을 써야 해서 Standby에서 직접 돌릴 수 없고, 다른 읽기·쓰기 DB에서 네트워크 링크로 끌어오는 방식을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목록을 외우기보다 "블록, 언두, 딕셔너리 중 영구 파일에 기록되는 것이 있는가"를 묻는 습관을 들이면 처음 보는 작업도 결과를 대부분 맞힙니다. 성공하는 작업을 보면 공통점이 있습니다. GTT는 언두를 임시 공간으로, PTT는 정의를 메모리로 옮겼고, 시퀀스와 리다이렉션은 실제 기록을 Primary에 맡깁니다. 오류 번호도 단서입니다. ORA-16000은 읽기 전용 검사에서 막힌 것이고, 기능 전용 오류가 먼저 나오면 그 기능이 초기에 상태를 점검한 것입니다. 실습 3이 이 경계를 하나씩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히스토그램의 각 행은 "apply lag가 몇 초였던 관측이 몇 번 있었고 마지막은 언제였다"로 읽습니다. 누적값이라 특정 시간대만 보려면 시작 시점과 끝 시점에 한 번씩 저장해 빼야 합니다. 이 분포가 다음 슬라이드의 지연 한도를 정하는 근거가 됩니다. 평소 관측의 대부분이 1초 이내이고 야간 배치 때만 꼬리가 길어진다면, 보고서 세션의 한도를 5초 정도로 두어도 낮 시간에는 오류가 거의 나지 않습니다. 한도를 감으로 정하면 오류가 너무 잦거나 반대로 아무 의미가 없는 값이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기본값 NONE이 무엇을 뜻하는지 짚고 넘어가야 합니다. 이 파라미터를 건드리지 않은 세션은 적용이 한 시간 멈춘 Standby에서도 한 시간 전 데이터를 아무 경고 없이 받습니다. 한도를 걸면 넘는 순간 기다리지 않고 ORA-03172로 끝나므로, 애플리케이션이 이 오류를 받아 Primary로 재시도하는 식의 처리가 가능해집니다. SYS 세션에는 적용되지 않아 관리자 계정으로 시험하면 한도가 무시됩니다. 기능이 안 된다고 오판하는 가장 흔한 원인이라 실습 6도 일반 사용자로 진행합니다.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한도를 0으로 두면 쿼리는 "쿼리를 낸 시점의 Primary SCN"까지 Standby가 따라올 때까지 기다렸다가 실행됩니다. 이것이 가능하려면 커밋된 리두가 이미 Standby에 와 있어야 하므로 SYNC 전송과 Maximum Availability 이상의 보호 모드가 필요하고, 쿼리 SCN이 초 단위로 움직여야 하니 실시간 조회도 켜져 있어야 합니다. 조건이 하나라도 빠지면 기다림으로 해결되지 않고 오류로 끝난다고 보면 됩니다. ASYNC로 원거리 Standby를 둔 구성에서 zero lag를 요구하는 업무가 있다면 그 업무는 Primary로 보내는 편이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STANDBY_MAX_DATA_DELAY를 0으로 두는 방식은 쿼리마다 기다리고, 이 명령은 보고서 시작 시점에 한 번만 기다립니다. 보고서 하나가 수십 개 쿼리로 이루어져 있고 시작 시점의 데이터면 충분하다면 이쪽이 대기 시간을 크게 줄입니다. 명령이 돌아온 뒤에는 Standby가 다시 조금씩 뒤처질 수 있다는 것도 함께 알아 두어야 합니다. 적용이 꺼져 있으면 ORA-03173이 나오는데, 이 오류는 적용 상태에서 오는 문제이므로 7장의 점검 순서로 돌아가 MRP0부터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트리거를 Standby에서 만들 수는 없으니 Primary에서 만들고, 그 정의가 리두로 넘어가 Standby에도 같은 트리거가 생깁니다. Primary에서는 조건이 거짓이라 아무 일도 하지 않고 Standby에서 로그온할 때만 동작합니다. 역할이 바뀌어도 조건이 알아서 따라가므로 Switchover 후에 손댈 것이 없습니다. SYNC WITH PRIMARY를 트리거에 넣는 경우에는 주의가 필요합니다. 연결 풀은 한 번 로그온한 연결을 몇 시간씩 재사용하므로 로그온 시점에 맞춘 동기화가 실제 보고서 시점의 신선도를 보장하지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 문자열에 Standby 서버 이름을 직접 적어 두면 역할 전환 때마다 애플리케이션 설정을 바꿔야 합니다. 서비스를 역할에 따라 켜지게 해 두면 클라이언트는 두 서버 주소를 모두 적고 서비스 이름만 지정하면 되고, 서비스가 켜진 쪽으로 자연스럽게 연결됩니다. 이 과정은 Grid Infrastructure가 없는 단일 인스턴스 구성이라 DBMS_SERVICE로 만든 서비스를 기동 트리거와 역할 변경 트리거에서 켜고 끕니다. Standby를 MOUNTED로 내리면 리스너가 조회 서비스를 모르게 되어 ORA-12514가 나는데, 실습 8에서 이 장면을 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Standby를 여러 업무가 같이 쓰면 신선도 요구가 다릅니다. 대시보드는 몇 초 늦어도 괜찮지만 적용이 몇 분씩 밀리는 날에는 알아야 하므로 5초 한도를 겁니다. 정산 확인 조회는 Primary와 결과가 같아야 하는데, 구성이 ASYNC라면 zero lag가 성립하지 않으니 처음부터 Primary로 보내는 것이 정직한 설계입니다. 업무마다 서비스 이름을 나눠 두면 나중에 정책을 바꿀 때 애플리케이션 대신 서비스 설정만 고치면 되고, 트리거도 스키마나 서비스 단위로 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예전에는 Standby에서 GTT에 INSERT할 수 없었는데, 걸림돌은 언두였습니다. 언두가 언두 테이블스페이스에 쓰이면 그 언두에 대한 리두가 생기고, 읽기 전용 DB는 리두를 만들 수 없습니다. 임시 언두는 그 고리를 끊습니다. Primary에서도 켜면 GTT를 많이 쓰는 배치의 리두가 줄어 전송량과 Standby의 SRL·아카이브 쓰기까지 함께 줄어듭니다. Primary에서는 세션이 GTT를 처음 쓰기 전에 설정되어야 적용되고, 이미 일반 언두로 GTT를 쓴 세션은 끝날 때까지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GTT 데이터는 세션별 임시 공간에 있지만 테이블 정의는 딕셔너리에 있으므로 만들고 지우는 일은 원래 Primary 몫입니다. 공식 교재는 Standby에서 실행한 GTT의 CREATE와 DROP을 Primary로 넘겨 실행하고 적용될 때까지 기다리는 기능을 소개하는데, 언더바로 시작하는 숨은 파라미터로 켭니다. 숨은 파라미터는 Oracle Support 지침 없이 바꾸지 않는 것이 원칙이라, 실제 운영에서는 보고서가 쓸 GTT를 Primary에서 미리 만들어 두는 방식을 씁니다. 일반 테이블 DDL은 9.7절의 리다이렉션을 켜도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PTT는 정의를 딕셔너리 대신 메모리에 둡니다. GTT와 가장 크게 다른 부분이고, 덕분에 Standby에서 Primary를 거치지 않고 만들 수 있습니다. 접두어는 PRIVATE_TEMP_TABLE_PREFIX 파라미터 값을 따르며 기본은 ORA$PTT_입니다. 접두어 없이 만들면 거부되니 수강생이 처음 만들 때 거의 반드시 한 번 겪습니다. 생성해도 트랜잭션을 커밋하지 않는다는 점도 일반 DDL과 다릅니다. 여러 연결로 같은 보고서를 돌리면서 각자 같은 이름의 중간 테이블을 쓰는 프로그램에 잘 맞습니다. 인덱스나 영구 객체에서의 참조는 쓸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Standby가 시퀀스를 처음 쓰면 Primary에 번호 범위를 요청하고, Primary는 딕셔너리의 시퀀스 값을 캐시 크기만큼 앞으로 옮긴 뒤 그 범위를 넘겨줍니다. 이 때문에 Primary에서 1, 2를 쓴 직후 Standby에서 21이 나오는 식으로 값이 뜁니다. 요청마다 Primary와 왕복하므로 Standby에서 자주 쓰는 시퀀스는 캐시를 넉넉하게 잡습니다. 순서 보장이나 캐시 없음 속성은 매번 Primary를 거쳐야 해서 지원되지 않습니다. 세션 시퀀스는 세션 범위 GTT와 짝을 이루도록 만든 것으로, 보고서 중간 결과에 일련번호를 붙이는 용도에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19c에서 새로 들어온 기능입니다. 조회 위주 애플리케이션이 가끔 하는 작은 갱신 하나 때문에 Standby로 옮기지 못하던 문제를 겨냥했습니다. Standby는 여전히 읽기 전용이고 실제 기록은 Primary에서 일어나므로 9.4절의 원칙은 깨지지 않습니다. 세션은 4단계가 끝날 때까지 기다리므로 응답 시간은 Primary 실행 시간에 왕복 지연과 적용 지연이 더해진 값입니다. 해당 세션은 커밋 전에도 자기 변경을 보고, 다른 세션과 다른 Standby는 커밋과 적용이 끝난 뒤에야 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수준으로 켜면 편하지만, 의도하지 않은 프로그램의 갱신까지 조용히 Primary로 넘어갑니다. 예전에는 ORA-16000으로 실패해 드러나던 잘못된 갱신이 이제는 성공해 버리는 셈이라 Primary 부하가 예상 밖으로 늘 수 있습니다. 처음에는 필요한 스키마의 로그온 트리거나 애플리케이션 초기화 코드에서 세션 수준으로 켜는 방식을 권합니다. 세션 수준으로 켠 상태는 V$PARAMETER에 나타나지 않으므로, 확인은 실제로 DML을 하나 실행해 보는 편이 확실합니다.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DML 리다이렉션도 PL/SQL 블록 안의 DML을 넘기지만, 그 경우 문장 하나마다 Primary와 왕복합니다. PL/SQL 리다이렉션은 호출 전체를 Primary로 보내 실행하므로 여러 DML을 묶어 처리하는 프로시저에 유리하고, 프로시저 안에 리두를 만드는 다른 작업이 있어도 Primary에서 실행됩니다. 제약은 바인드 변수입니다. 애플리케이션이 바인드 변수로 프로시저를 호출하는 구조라면 쓸 수 없으니, 도입 전에 호출 방식을 먼저 확인해야 합니다. 시스템 수준 파라미터는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 번호를 구분하면 진단 범위가 반으로 줄어듭니다. ORA-16000은 리다이렉션이 아예 시도되지 않은 경우라 기능이 꺼져 있는지, 문장이 DDL처럼 대상이 아닌지를 봅니다. ORA-16397은 시도했다가 Primary 쪽에서 실패한 경우라 접속 계정, Primary로의 연결, 대상 객체와 권한을 차례로 봅니다. 가장 흔한 실패는 SYS로 시험하는 것입니다. 관리자 계정으로 해 보고 기능이 안 된다고 결론 내리는 일이 잦으니, 검증은 실제 애플리케이션 계정과 같은 종류의 사용자로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대표적인 예가 조회 화면의 감사 기록입니다. 고객 정보 조회는 읽기만 하는데 개인 정보 조회 이력을 한 행씩 남겨야 해서 화면 전체가 Primary에 묶여 있던 경우, 그 INSERT 하나만 리다이렉션으로 넘기면 나머지 조회는 Standby에서 끝납니다. 반대로 갱신이 잦은 업무에 쓰면 실행은 어차피 Primary에서 일어나고 문장마다 대기가 붙어 오히려 느려집니다. 도입 후에는 Primary에서 해당 서비스가 만드는 트랜잭션 수를 주기적으로 보고, apply lag 경보와 리다이렉션 응답 시간을 같은 기준으로 묶어 감시합니다.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Standby는 Primary와 블록 단위로 같은 사본이라, 한쪽 블록이 깨져도 다른 쪽에는 정상 블록이 있을 가능성이 높습니다. 이 기능은 그 사본을 자동으로 활용합니다. Primary에서 손상 블록을 읽은 세션은 ORA-01578을 받는 대신 Standby에서 정상 블록을 받아 교체한 뒤 계속 진행합니다. 실시간 조회가 켜진 Standby가 전제이므로 마운트 Standby에서는 일어나지 않습니다. 감지되지 않는 손상까지 고쳐 주지는 않으니 7장에서 본 DB_BLOCK_CHECKSUM과 DB_LOST_WRITE_PROTECT 설정을 함께 갖춰야 효과가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 조회가 열 형식으로 압축된 데이터를 메모리에서 읽으므로 집계 위주의 쿼리가 빨라집니다. 흥미로운 점은 Primary와 Standby의 열 저장소에 다른 객체를 올릴 수 있다는 것입니다. OLTP가 쓰는 테이블은 Primary에, 보고서가 쓰는 테이블은 Standby에 올리면 애플리케이션 입장에서는 열 저장소가 두 배가 된 효과가 납니다. 다만 In-Memory 자체가 별도 옵션이라 Standby에서 쓰려면 Active Data Guard와 Database In-Memory를 모두 갖춰야 합니다. multi-instance Redo Apply와 함께 쓸 수 없다는 제약은 단일 인스턴스인 이 과정에는 해당하지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AWR은 결과를 AWR 테이블에 써야 하므로 읽기 전용 Standby에서는 로컬 스냅샷을 만들 수 없습니다. UMF는 Standby의 성능 데이터를 Primary 같은 읽기·쓰기 데이터베이스에 저장해 주는 구조입니다. 두 데이터베이스를 노드로 등록해 토폴로지를 만들고, Standby를 원격 대상으로 등록한 뒤 원격 스냅샷을 만드는 순서이며, SYS$UMF 사용자와 데이터베이스 링크가 쓰입니다. 세부 절차는 버전별 차이가 있어 도입할 때 19c 문서를 기준으로 따르면 됩니다. 평소 진단은 V$ 뷰와 V$ACTIVE_SESSION_HISTORY만으로도 대부분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Data Guard는 설치하거나 켜는 스위치가 따로 없고 바이너리에 이미 들어 있습니다. 옵션 범위 관리는 결국 기능을 쓰는 순간을 잡아내는 일이 됩니다. 블록 변경 추적은 작아 보이지만 Standby에서 증분 백업을 받는 구성이라면 이것 하나로 옵션 사용입니다. 점검 항목에는 OPEN_MODE 같은 상태와 함께 Standby의 블록 변경 추적, ADG_REDIRECT_DML, In-Memory 크기 같은 설정도 넣어야 빠짐이 없습니다. Far Sync는 10장에서, 백업 오프로드는 16장에서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ORA-01219와 ORA-16000을 구분해 두면 상태를 오류 번호만으로 읽어 낼 수 있습니다. 16000은 열려 있는데 쓰려고 한 것이고, 01219는 아예 열려 있지 않은 것입니다. 01219 메시지 뒷부분을 보면 고정 테이블과 뷰는 조회된다고 적혀 있는데, 실제로 V$DATAGUARD_STATS 같은 감시용 뷰는 모두 동작합니다. 동기화 감시만 필요하다면 옵션 없이도 충분합니다. 다만 옵션을 내리면 조회 서비스가 사라져 보고서 접속이 ORA-12514로 실패하므로, 옵션을 끄는 결정은 애플리케이션 접속 설계와 같이 검토해야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야간에 적용을 멈추고 보고서를 돌린 뒤 다시 적용하는 방식으로 옵션 없이 조회를 쓸 수 있습니다. 전송은 계속되므로 데이터 손실 관점의 보호는 유지됩니다. 대신 조회 창 동안 쌓인 리두를 나중에 몰아서 적용해야 하고, 그 사이 장애가 나면 Failover가 그만큼 오래 걸립니다. 가장 조심할 지점은 재개입니다. 열린 상태에서 적용만 다시 기동하면 그 순간 READ ONLY WITH APPLY가 되어 옵션 사용 상태로 넘어가므로, 반드시 재기동해 마운트로 내린 뒤 적용을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신선도가 중요하면서 Standby를 보호 용도로도 쓰려면 Active Data Guard 말고는 마땅한 답이 없습니다. 테스트처럼 갱신이 필요하지만 결과를 남길 필요가 없으면 Snapshot Standby, 보고서용 인덱스나 별도 테이블이 필요하면 Logical Standby가 후보가 됩니다. 감시만 하면 되는 사이트라면 MOUNTED로 충분하고, V$ 뷰 기반 감시 스크립트를 Primary와 Standby에 똑같이 두면 옵션 유무와 관계없이 그대로 동작합니다. 옵션 없는 사이트는 기동 모드와 OPEN_MODE를 정기 점검 항목에 넣어 두면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조회를 켠다고 보호 수준이 떨어지지는 않습니다. 하지만 Standby에 보고서가 몰려 CPU와 I/O를 다 쓰면 적용이 밀리고, 그만큼 장애 때 Failover가 오래 걸립니다. 조회 부하가 큰 사이트는 Resource Manager로 사용자 세션을 제한하거나 보호 전용 Standby를 따로 둡니다. Standby의 긴 조회는 Primary가 정한 언두 보존을 그대로 따르므로 ORA-01555가 나면 Primary 쪽 설정을 봐야 합니다. 지연 한도와 리다이렉션은 SYS에게 다르게 동작하니 검증은 항상 일반 사용자로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Active Data Guard ① 실시간 조회와 DML 리다이렉션</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열린 채 적용하는 Standby에 무엇을 맡길 것인가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제9장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옵션의 범위와 과금 경계를 설명한다</a:t>
            </a:r>
          </a:p>
          <a:p>
            <a:pPr algn="l">
              <a:spcAft>
                <a:spcPts val="1000"/>
              </a:spcAft>
            </a:pPr>
            <a:r>
              <a:rPr sz="1600" b="0">
                <a:solidFill>
                  <a:srgbClr val="222222"/>
                </a:solidFill>
                <a:latin typeface="맑은 고딕"/>
              </a:rPr>
              <a:t>•  실시간 조회를 켜고 끄고 판별한다</a:t>
            </a:r>
          </a:p>
          <a:p>
            <a:pPr algn="l">
              <a:spcAft>
                <a:spcPts val="1000"/>
              </a:spcAft>
            </a:pPr>
            <a:r>
              <a:rPr sz="1600" b="0">
                <a:solidFill>
                  <a:srgbClr val="222222"/>
                </a:solidFill>
                <a:latin typeface="맑은 고딕"/>
              </a:rPr>
              <a:t>•  쿼리 SCN으로 읽기 일관성을 설명한다</a:t>
            </a:r>
          </a:p>
          <a:p>
            <a:pPr algn="l">
              <a:spcAft>
                <a:spcPts val="1000"/>
              </a:spcAft>
            </a:pPr>
            <a:r>
              <a:rPr sz="1600" b="0">
                <a:solidFill>
                  <a:srgbClr val="222222"/>
                </a:solidFill>
                <a:latin typeface="맑은 고딕"/>
              </a:rPr>
              <a:t>•  오프로드 가능 작업을 기준으로 가른다</a:t>
            </a:r>
          </a:p>
          <a:p>
            <a:pPr algn="l">
              <a:spcAft>
                <a:spcPts val="1000"/>
              </a:spcAft>
            </a:pPr>
            <a:r>
              <a:rPr sz="1600" b="0">
                <a:solidFill>
                  <a:srgbClr val="222222"/>
                </a:solidFill>
                <a:latin typeface="맑은 고딕"/>
              </a:rPr>
              <a:t>•  지연 한도와 강제 동기화로 신선도를 통제한다</a:t>
            </a:r>
          </a:p>
          <a:p>
            <a:pPr algn="l">
              <a:spcAft>
                <a:spcPts val="1000"/>
              </a:spcAft>
            </a:pPr>
            <a:r>
              <a:rPr sz="1600" b="0">
                <a:solidFill>
                  <a:srgbClr val="222222"/>
                </a:solidFill>
                <a:latin typeface="맑은 고딕"/>
              </a:rPr>
              <a:t>•  임시 테이블·시퀀스·DML 리다이렉션을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9.2  Active Data Guard 옵션과 라이선스</a:t>
            </a:r>
          </a:p>
          <a:p>
            <a:pPr algn="l">
              <a:spcAft>
                <a:spcPts val="1000"/>
              </a:spcAft>
            </a:pPr>
            <a:r>
              <a:rPr sz="1600" b="0">
                <a:solidFill>
                  <a:srgbClr val="222222"/>
                </a:solidFill>
                <a:latin typeface="맑은 고딕"/>
              </a:rPr>
              <a:t>•  9.3  Real-Time Query의 동작</a:t>
            </a:r>
          </a:p>
          <a:p>
            <a:pPr algn="l">
              <a:spcAft>
                <a:spcPts val="1000"/>
              </a:spcAft>
            </a:pPr>
            <a:r>
              <a:rPr sz="1600" b="0">
                <a:solidFill>
                  <a:srgbClr val="222222"/>
                </a:solidFill>
                <a:latin typeface="맑은 고딕"/>
              </a:rPr>
              <a:t>•  9.4  Standby에서 되는 일과 안 되는 일</a:t>
            </a:r>
          </a:p>
          <a:p>
            <a:pPr algn="l">
              <a:spcAft>
                <a:spcPts val="1000"/>
              </a:spcAft>
            </a:pPr>
            <a:r>
              <a:rPr sz="1600" b="0">
                <a:solidFill>
                  <a:srgbClr val="222222"/>
                </a:solidFill>
                <a:latin typeface="맑은 고딕"/>
              </a:rPr>
              <a:t>•  9.5  데이터 신선도 관리  /  9.6  임시 데이터와 시퀀스</a:t>
            </a:r>
          </a:p>
          <a:p>
            <a:pPr algn="l">
              <a:spcAft>
                <a:spcPts val="1000"/>
              </a:spcAft>
            </a:pPr>
            <a:r>
              <a:rPr sz="1600" b="0">
                <a:solidFill>
                  <a:srgbClr val="222222"/>
                </a:solidFill>
                <a:latin typeface="맑은 고딕"/>
              </a:rPr>
              <a:t>•  9.7  DML 리다이렉션  /  9.8  자동 블록 손상 복구와 관련 기능</a:t>
            </a:r>
          </a:p>
          <a:p>
            <a:pPr algn="l">
              <a:spcAft>
                <a:spcPts val="1000"/>
              </a:spcAft>
            </a:pPr>
            <a:r>
              <a:rPr sz="1600" b="0">
                <a:solidFill>
                  <a:srgbClr val="222222"/>
                </a:solidFill>
                <a:latin typeface="맑은 고딕"/>
              </a:rPr>
              <a:t>•  9.9  옵션 없이 쓸 수 있는 대안  /  9.10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Active Data Guard 옵션과 라이선스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Standby를 쉬게 두지 않으려는 이유</a:t>
            </a:r>
          </a:p>
          <a:p>
            <a:pPr algn="l">
              <a:spcAft>
                <a:spcPts val="800"/>
              </a:spcAft>
            </a:pPr>
            <a:r>
              <a:rPr sz="1600" b="0">
                <a:solidFill>
                  <a:srgbClr val="FFFFFF"/>
                </a:solidFill>
                <a:latin typeface="맑은 고딕"/>
              </a:rPr>
              <a:t>•  옵션에 묶인 기능</a:t>
            </a:r>
          </a:p>
          <a:p>
            <a:pPr algn="l">
              <a:spcAft>
                <a:spcPts val="800"/>
              </a:spcAft>
            </a:pPr>
            <a:r>
              <a:rPr sz="1600" b="0">
                <a:solidFill>
                  <a:srgbClr val="FFFFFF"/>
                </a:solidFill>
                <a:latin typeface="맑은 고딕"/>
              </a:rPr>
              <a:t>•  어떤 상태가 옵션 사용인가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Standby를 쉬게 두지 않으려는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보호용 사본을 평소에도 일하게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마운트 Standby는 장애 전까지 업무 기여가 없음</a:t>
            </a:r>
          </a:p>
          <a:p>
            <a:pPr algn="l">
              <a:spcAft>
                <a:spcPts val="1000"/>
              </a:spcAft>
            </a:pPr>
            <a:r>
              <a:rPr sz="1700" b="0">
                <a:solidFill>
                  <a:srgbClr val="222222"/>
                </a:solidFill>
                <a:latin typeface="맑은 고딕"/>
              </a:rPr>
              <a:t>•  보고서·추출·임의 조회를 Standby로 오프로드</a:t>
            </a:r>
          </a:p>
          <a:p>
            <a:pPr algn="l">
              <a:spcAft>
                <a:spcPts val="1000"/>
              </a:spcAft>
            </a:pPr>
            <a:r>
              <a:rPr sz="1700" b="0">
                <a:solidFill>
                  <a:srgbClr val="222222"/>
                </a:solidFill>
                <a:latin typeface="맑은 고딕"/>
              </a:rPr>
              <a:t>•  별도 복제 도구 없이, 데이터 유형 제약 없이</a:t>
            </a:r>
          </a:p>
          <a:p>
            <a:pPr algn="l">
              <a:spcAft>
                <a:spcPts val="1000"/>
              </a:spcAft>
            </a:pPr>
            <a:r>
              <a:rPr sz="1700" b="0">
                <a:solidFill>
                  <a:srgbClr val="222222"/>
                </a:solidFill>
                <a:latin typeface="맑은 고딕"/>
              </a:rPr>
              <a:t>•  갱신은 Primary, 조회는 여러 Standby로 분산</a:t>
            </a:r>
          </a:p>
          <a:p>
            <a:pPr algn="l">
              <a:spcAft>
                <a:spcPts val="1000"/>
              </a:spcAft>
            </a:pPr>
            <a:r>
              <a:rPr sz="1700" b="0">
                <a:solidFill>
                  <a:srgbClr val="222222"/>
                </a:solidFill>
                <a:latin typeface="맑은 고딕"/>
              </a:rPr>
              <a:t>•  보고서용 인덱스·MV는 만들 수 없음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옵션에 묶인 기능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하나라도 쓰면 옵션 사용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Real-Time Query, 임시 테이블·시퀀스 지원</a:t>
            </a:r>
          </a:p>
          <a:p>
            <a:pPr algn="l">
              <a:spcAft>
                <a:spcPts val="1000"/>
              </a:spcAft>
            </a:pPr>
            <a:r>
              <a:rPr sz="1700" b="0">
                <a:solidFill>
                  <a:srgbClr val="222222"/>
                </a:solidFill>
                <a:latin typeface="맑은 고딕"/>
              </a:rPr>
              <a:t>•  DML·PL/SQL 리다이렉션</a:t>
            </a:r>
          </a:p>
          <a:p>
            <a:pPr algn="l">
              <a:spcAft>
                <a:spcPts val="1000"/>
              </a:spcAft>
            </a:pPr>
            <a:r>
              <a:rPr sz="1700" b="0">
                <a:solidFill>
                  <a:srgbClr val="222222"/>
                </a:solidFill>
                <a:latin typeface="맑은 고딕"/>
              </a:rPr>
              <a:t>•  자동 블록 손상 복구, Standby In-Memory</a:t>
            </a:r>
          </a:p>
          <a:p>
            <a:pPr algn="l">
              <a:spcAft>
                <a:spcPts val="1000"/>
              </a:spcAft>
            </a:pPr>
            <a:r>
              <a:rPr sz="1700" b="0">
                <a:solidFill>
                  <a:srgbClr val="222222"/>
                </a:solidFill>
                <a:latin typeface="맑은 고딕"/>
              </a:rPr>
              <a:t>•  Standby의 블록 변경 추적</a:t>
            </a:r>
          </a:p>
          <a:p>
            <a:pPr algn="l">
              <a:spcAft>
                <a:spcPts val="1000"/>
              </a:spcAft>
            </a:pPr>
            <a:r>
              <a:rPr sz="1700" b="0">
                <a:solidFill>
                  <a:srgbClr val="222222"/>
                </a:solidFill>
                <a:latin typeface="맑은 고딕"/>
              </a:rPr>
              <a:t>•  Far Sync, Real-Time Cascading (10장)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과금 경계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열린 채로 적용하면 옵션 사용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마운트 상태에서 적용: 기본 기능</a:t>
            </a:r>
          </a:p>
          <a:p>
            <a:pPr algn="l">
              <a:spcAft>
                <a:spcPts val="1000"/>
              </a:spcAft>
            </a:pPr>
            <a:r>
              <a:rPr sz="1700" b="0">
                <a:solidFill>
                  <a:srgbClr val="222222"/>
                </a:solidFill>
                <a:latin typeface="맑은 고딕"/>
              </a:rPr>
              <a:t>•  적용을 멈추고 READ ONLY: 기본 기능</a:t>
            </a:r>
          </a:p>
          <a:p>
            <a:pPr algn="l">
              <a:spcAft>
                <a:spcPts val="1000"/>
              </a:spcAft>
            </a:pPr>
            <a:r>
              <a:rPr sz="1700" b="0">
                <a:solidFill>
                  <a:srgbClr val="222222"/>
                </a:solidFill>
                <a:latin typeface="맑은 고딕"/>
              </a:rPr>
              <a:t>•  READ ONLY 상태에서 적용 기동: 옵션 사용</a:t>
            </a:r>
          </a:p>
          <a:p>
            <a:pPr algn="l">
              <a:spcAft>
                <a:spcPts val="1000"/>
              </a:spcAft>
            </a:pPr>
            <a:r>
              <a:rPr sz="1700" b="0">
                <a:solidFill>
                  <a:srgbClr val="222222"/>
                </a:solidFill>
                <a:latin typeface="맑은 고딕"/>
              </a:rPr>
              <a:t>•  STARTUP만으로 기동하면 READ ONLY로 열림</a:t>
            </a:r>
          </a:p>
          <a:p>
            <a:pPr algn="l">
              <a:spcAft>
                <a:spcPts val="1000"/>
              </a:spcAft>
            </a:pPr>
            <a:r>
              <a:rPr sz="1700" b="0">
                <a:solidFill>
                  <a:srgbClr val="222222"/>
                </a:solidFill>
                <a:latin typeface="맑은 고딕"/>
              </a:rPr>
              <a:t>•  옵션 없는 사이트는 STARTUP MOUNT로 고정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 흔적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상태는 OPEN_MODE, 기록은 기능 사용 통계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지금 상태: V$DATABASE.OPEN_MODE</a:t>
            </a:r>
          </a:p>
          <a:p>
            <a:pPr algn="l">
              <a:spcAft>
                <a:spcPts val="1000"/>
              </a:spcAft>
            </a:pPr>
            <a:r>
              <a:rPr sz="1700" b="0">
                <a:solidFill>
                  <a:srgbClr val="222222"/>
                </a:solidFill>
                <a:latin typeface="맑은 고딕"/>
              </a:rPr>
              <a:t>•  READ ONLY WITH APPLY면 옵션 사용 중</a:t>
            </a:r>
          </a:p>
          <a:p>
            <a:pPr algn="l">
              <a:spcAft>
                <a:spcPts val="1000"/>
              </a:spcAft>
            </a:pPr>
            <a:r>
              <a:rPr sz="1700" b="0">
                <a:solidFill>
                  <a:srgbClr val="222222"/>
                </a:solidFill>
                <a:latin typeface="맑은 고딕"/>
              </a:rPr>
              <a:t>•  기록: CDB_FEATURE_USAGE_STATISTICS</a:t>
            </a:r>
          </a:p>
          <a:p>
            <a:pPr algn="l">
              <a:spcAft>
                <a:spcPts val="1000"/>
              </a:spcAft>
            </a:pPr>
            <a:r>
              <a:rPr sz="1700" b="0">
                <a:solidFill>
                  <a:srgbClr val="222222"/>
                </a:solidFill>
                <a:latin typeface="맑은 고딕"/>
              </a:rPr>
              <a:t>•  CDB에서 DBA_ 뷰는 현재 컨테이너만 보여 줌</a:t>
            </a:r>
          </a:p>
          <a:p>
            <a:pPr algn="l">
              <a:spcAft>
                <a:spcPts val="1000"/>
              </a:spcAft>
            </a:pPr>
            <a:r>
              <a:rPr sz="1700" b="0">
                <a:solidFill>
                  <a:srgbClr val="222222"/>
                </a:solidFill>
                <a:latin typeface="맑은 고딕"/>
              </a:rPr>
              <a:t>•  통계는 늦게 갱신되므로 0이 미사용 증거는 아님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Real-Time Query의 동작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실시간 적용과 실시간 조회의 차이</a:t>
            </a:r>
          </a:p>
          <a:p>
            <a:pPr algn="l">
              <a:spcAft>
                <a:spcPts val="800"/>
              </a:spcAft>
            </a:pPr>
            <a:r>
              <a:rPr sz="1600" b="0">
                <a:solidFill>
                  <a:srgbClr val="FFFFFF"/>
                </a:solidFill>
                <a:latin typeface="맑은 고딕"/>
              </a:rPr>
              <a:t>•  켜고 끄는 절차, 열린 모드 판별</a:t>
            </a:r>
          </a:p>
          <a:p>
            <a:pPr algn="l">
              <a:spcAft>
                <a:spcPts val="800"/>
              </a:spcAft>
            </a:pPr>
            <a:r>
              <a:rPr sz="1600" b="0">
                <a:solidFill>
                  <a:srgbClr val="FFFFFF"/>
                </a:solidFill>
                <a:latin typeface="맑은 고딕"/>
              </a:rPr>
              <a:t>•  쿼리 SCN과 읽기 일관성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실시간 적용과 실시간 조회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이름은 비슷하지만 다른 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실시간 적용: 리두를 언제 읽어 적용하는가</a:t>
            </a:r>
          </a:p>
          <a:p>
            <a:pPr algn="l">
              <a:spcAft>
                <a:spcPts val="1000"/>
              </a:spcAft>
            </a:pPr>
            <a:r>
              <a:rPr sz="1700" b="0">
                <a:solidFill>
                  <a:srgbClr val="222222"/>
                </a:solidFill>
                <a:latin typeface="맑은 고딕"/>
              </a:rPr>
              <a:t>•  실시간 조회: 적용 중에 조회할 수 있는가</a:t>
            </a:r>
          </a:p>
          <a:p>
            <a:pPr algn="l">
              <a:spcAft>
                <a:spcPts val="1000"/>
              </a:spcAft>
            </a:pPr>
            <a:r>
              <a:rPr sz="1700" b="0">
                <a:solidFill>
                  <a:srgbClr val="222222"/>
                </a:solidFill>
                <a:latin typeface="맑은 고딕"/>
              </a:rPr>
              <a:t>•  실시간 적용은 SRL 전제, 19c 기본, 기본 기능</a:t>
            </a:r>
          </a:p>
          <a:p>
            <a:pPr algn="l">
              <a:spcAft>
                <a:spcPts val="1000"/>
              </a:spcAft>
            </a:pPr>
            <a:r>
              <a:rPr sz="1700" b="0">
                <a:solidFill>
                  <a:srgbClr val="222222"/>
                </a:solidFill>
                <a:latin typeface="맑은 고딕"/>
              </a:rPr>
              <a:t>•  실시간 조회는 명시적 열기, 옵션 필요</a:t>
            </a:r>
          </a:p>
          <a:p>
            <a:pPr algn="l">
              <a:spcAft>
                <a:spcPts val="1000"/>
              </a:spcAft>
            </a:pPr>
            <a:r>
              <a:rPr sz="1700" b="0">
                <a:solidFill>
                  <a:srgbClr val="222222"/>
                </a:solidFill>
                <a:latin typeface="맑은 고딕"/>
              </a:rPr>
              <a:t>•  둘을 함께 써야 초 단위 신선도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켜는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멈추고, 열고, 다시 기동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RECOVER MANAGED STANDBY DATABASE CANCEL</a:t>
            </a:r>
          </a:p>
          <a:p>
            <a:pPr algn="l">
              <a:spcAft>
                <a:spcPts val="1000"/>
              </a:spcAft>
            </a:pPr>
            <a:r>
              <a:rPr sz="1700" b="0">
                <a:solidFill>
                  <a:srgbClr val="222222"/>
                </a:solidFill>
                <a:latin typeface="맑은 고딕"/>
              </a:rPr>
              <a:t>•  ALTER DATABASE OPEN READ ONLY</a:t>
            </a:r>
          </a:p>
          <a:p>
            <a:pPr algn="l">
              <a:spcAft>
                <a:spcPts val="1000"/>
              </a:spcAft>
            </a:pPr>
            <a:r>
              <a:rPr sz="1700" b="0">
                <a:solidFill>
                  <a:srgbClr val="222222"/>
                </a:solidFill>
                <a:latin typeface="맑은 고딕"/>
              </a:rPr>
              <a:t>•  CDB면 ALTER PLUGGABLE DATABASE ALL OPEN READ ONLY</a:t>
            </a:r>
          </a:p>
          <a:p>
            <a:pPr algn="l">
              <a:spcAft>
                <a:spcPts val="1000"/>
              </a:spcAft>
            </a:pPr>
            <a:r>
              <a:rPr sz="1700" b="0">
                <a:solidFill>
                  <a:srgbClr val="222222"/>
                </a:solidFill>
                <a:latin typeface="맑은 고딕"/>
              </a:rPr>
              <a:t>•  RECOVER MANAGED STANDBY DATABASE DISCONNECT</a:t>
            </a:r>
          </a:p>
          <a:p>
            <a:pPr algn="l">
              <a:spcAft>
                <a:spcPts val="1000"/>
              </a:spcAft>
            </a:pPr>
            <a:r>
              <a:rPr sz="1700" b="0">
                <a:solidFill>
                  <a:srgbClr val="222222"/>
                </a:solidFill>
                <a:latin typeface="맑은 고딕"/>
              </a:rPr>
              <a:t>•  Broker 구성은 열기만 하면 적용 상태 유지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끄는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열린 DB를 마운트로 바로 내리는 명령은 없음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SHUTDOWN IMMEDIATE</a:t>
            </a:r>
          </a:p>
          <a:p>
            <a:pPr algn="l">
              <a:spcAft>
                <a:spcPts val="1000"/>
              </a:spcAft>
            </a:pPr>
            <a:r>
              <a:rPr sz="1700" b="0">
                <a:solidFill>
                  <a:srgbClr val="222222"/>
                </a:solidFill>
                <a:latin typeface="맑은 고딕"/>
              </a:rPr>
              <a:t>•  STARTUP MOUNT</a:t>
            </a:r>
          </a:p>
          <a:p>
            <a:pPr algn="l">
              <a:spcAft>
                <a:spcPts val="1000"/>
              </a:spcAft>
            </a:pPr>
            <a:r>
              <a:rPr sz="1700" b="0">
                <a:solidFill>
                  <a:srgbClr val="222222"/>
                </a:solidFill>
                <a:latin typeface="맑은 고딕"/>
              </a:rPr>
              <a:t>•  RECOVER MANAGED STANDBY DATABASE DISCONNECT</a:t>
            </a:r>
          </a:p>
          <a:p>
            <a:pPr algn="l">
              <a:spcAft>
                <a:spcPts val="1000"/>
              </a:spcAft>
            </a:pPr>
            <a:r>
              <a:rPr sz="1700" b="0">
                <a:solidFill>
                  <a:srgbClr val="222222"/>
                </a:solidFill>
                <a:latin typeface="맑은 고딕"/>
              </a:rPr>
              <a:t>•  적용만 CANCEL하면 READ ONLY로 남음</a:t>
            </a:r>
          </a:p>
          <a:p>
            <a:pPr algn="l">
              <a:spcAft>
                <a:spcPts val="1000"/>
              </a:spcAft>
            </a:pPr>
            <a:r>
              <a:rPr sz="1700" b="0">
                <a:solidFill>
                  <a:srgbClr val="222222"/>
                </a:solidFill>
                <a:latin typeface="맑은 고딕"/>
              </a:rPr>
              <a:t>•  COMPATIBLE 11.0 이상이 전제 (19c는 충족)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열린 모드 판별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위치가 같은 사실을 보여 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MOUNTED / READ ONLY / READ ONLY WITH APPLY</a:t>
            </a:r>
          </a:p>
          <a:p>
            <a:pPr algn="l">
              <a:spcAft>
                <a:spcPts val="1000"/>
              </a:spcAft>
            </a:pPr>
            <a:r>
              <a:rPr sz="1700" b="0">
                <a:solidFill>
                  <a:srgbClr val="222222"/>
                </a:solidFill>
                <a:latin typeface="맑은 고딕"/>
              </a:rPr>
              <a:t>•  Primary의 RECOVERY_MODE 끝에 WITH QUERY</a:t>
            </a:r>
          </a:p>
          <a:p>
            <a:pPr algn="l">
              <a:spcAft>
                <a:spcPts val="1000"/>
              </a:spcAft>
            </a:pPr>
            <a:r>
              <a:rPr sz="1700" b="0">
                <a:solidFill>
                  <a:srgbClr val="222222"/>
                </a:solidFill>
                <a:latin typeface="맑은 고딕"/>
              </a:rPr>
              <a:t>•  Broker SHOW DATABASE: Real Time Query ON</a:t>
            </a:r>
          </a:p>
          <a:p>
            <a:pPr algn="l">
              <a:spcAft>
                <a:spcPts val="1000"/>
              </a:spcAft>
            </a:pPr>
            <a:r>
              <a:rPr sz="1700" b="0">
                <a:solidFill>
                  <a:srgbClr val="222222"/>
                </a:solidFill>
                <a:latin typeface="맑은 고딕"/>
              </a:rPr>
              <a:t>•  Standby 쪽 하나, Primary 쪽 하나를 함께 확인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읽기 일관성과 쿼리 SCN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 결과 = 조금 과거의 Primary 결과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커밋 전 변경도 리두로 Standby 블록에 반영됨</a:t>
            </a:r>
          </a:p>
          <a:p>
            <a:pPr algn="l">
              <a:spcAft>
                <a:spcPts val="1000"/>
              </a:spcAft>
            </a:pPr>
            <a:r>
              <a:rPr sz="1700" b="0">
                <a:solidFill>
                  <a:srgbClr val="222222"/>
                </a:solidFill>
                <a:latin typeface="맑은 고딕"/>
              </a:rPr>
              <a:t>•  언두 블록도 함께 적용되어 있음</a:t>
            </a:r>
          </a:p>
          <a:p>
            <a:pPr algn="l">
              <a:spcAft>
                <a:spcPts val="1000"/>
              </a:spcAft>
            </a:pPr>
            <a:r>
              <a:rPr sz="1700" b="0">
                <a:solidFill>
                  <a:srgbClr val="222222"/>
                </a:solidFill>
                <a:latin typeface="맑은 고딕"/>
              </a:rPr>
              <a:t>•  쿼리 SCN 기준으로 블록을 되돌려 읽음</a:t>
            </a:r>
          </a:p>
          <a:p>
            <a:pPr algn="l">
              <a:spcAft>
                <a:spcPts val="1000"/>
              </a:spcAft>
            </a:pPr>
            <a:r>
              <a:rPr sz="1700" b="0">
                <a:solidFill>
                  <a:srgbClr val="222222"/>
                </a:solidFill>
                <a:latin typeface="맑은 고딕"/>
              </a:rPr>
              <a:t>•  적용이 멈추면 쿼리 SCN도 멈춤</a:t>
            </a:r>
          </a:p>
          <a:p>
            <a:pPr algn="l">
              <a:spcAft>
                <a:spcPts val="1000"/>
              </a:spcAft>
            </a:pPr>
            <a:r>
              <a:rPr sz="1700" b="0">
                <a:solidFill>
                  <a:srgbClr val="222222"/>
                </a:solidFill>
                <a:latin typeface="맑은 고딕"/>
              </a:rPr>
              <a:t>•  긴 조회는 ORA-01555 가능, Primary 언두 설정과 연동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Standby에서 되는 일과 안 되는 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쓰기가 막히는 이유</a:t>
            </a:r>
          </a:p>
          <a:p>
            <a:pPr algn="l">
              <a:spcAft>
                <a:spcPts val="800"/>
              </a:spcAft>
            </a:pPr>
            <a:r>
              <a:rPr sz="1600" b="0">
                <a:solidFill>
                  <a:srgbClr val="FFFFFF"/>
                </a:solidFill>
                <a:latin typeface="맑은 고딕"/>
              </a:rPr>
              <a:t>•  오프로드에 적합한 작업</a:t>
            </a:r>
          </a:p>
          <a:p>
            <a:pPr algn="l">
              <a:spcAft>
                <a:spcPts val="800"/>
              </a:spcAft>
            </a:pPr>
            <a:r>
              <a:rPr sz="1600" b="0">
                <a:solidFill>
                  <a:srgbClr val="FFFFFF"/>
                </a:solidFill>
                <a:latin typeface="맑은 고딕"/>
              </a:rPr>
              <a:t>•  판단 기준: 영구 파일·딕셔너리를 바꾸는가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쓰기가 막히는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 파일은 Primary의 리두로만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Standby가 블록을 바꾸면 다음 리두와 어긋남</a:t>
            </a:r>
          </a:p>
          <a:p>
            <a:pPr algn="l">
              <a:spcAft>
                <a:spcPts val="1000"/>
              </a:spcAft>
            </a:pPr>
            <a:r>
              <a:rPr sz="1700" b="0">
                <a:solidFill>
                  <a:srgbClr val="222222"/>
                </a:solidFill>
                <a:latin typeface="맑은 고딕"/>
              </a:rPr>
              <a:t>•  일반 DML·DDL: ORA-16000</a:t>
            </a:r>
          </a:p>
          <a:p>
            <a:pPr algn="l">
              <a:spcAft>
                <a:spcPts val="1000"/>
              </a:spcAft>
            </a:pPr>
            <a:r>
              <a:rPr sz="1700" b="0">
                <a:solidFill>
                  <a:srgbClr val="222222"/>
                </a:solidFill>
                <a:latin typeface="맑은 고딕"/>
              </a:rPr>
              <a:t>•  통계 수집: 딕셔너리 기록이라 ORA-16000</a:t>
            </a:r>
          </a:p>
          <a:p>
            <a:pPr algn="l">
              <a:spcAft>
                <a:spcPts val="1000"/>
              </a:spcAft>
            </a:pPr>
            <a:r>
              <a:rPr sz="1700" b="0">
                <a:solidFill>
                  <a:srgbClr val="222222"/>
                </a:solidFill>
                <a:latin typeface="맑은 고딕"/>
              </a:rPr>
              <a:t>•  로컬 AWR 스냅샷: ORA-13516</a:t>
            </a:r>
          </a:p>
          <a:p>
            <a:pPr algn="l">
              <a:spcAft>
                <a:spcPts val="1000"/>
              </a:spcAft>
            </a:pPr>
            <a:r>
              <a:rPr sz="1700" b="0">
                <a:solidFill>
                  <a:srgbClr val="222222"/>
                </a:solidFill>
                <a:latin typeface="맑은 고딕"/>
              </a:rPr>
              <a:t>•  옵티마이저는 Primary에서 넘어온 통계를 사용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오프로드에 적합한 작업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파일을 바꾸지 않거나 임시 공간만 쓰는 작업</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조회·보고서, 정렬·해시 조인(TEMP 사용)</a:t>
            </a:r>
          </a:p>
          <a:p>
            <a:pPr algn="l">
              <a:spcAft>
                <a:spcPts val="1000"/>
              </a:spcAft>
            </a:pPr>
            <a:r>
              <a:rPr sz="1700" b="0">
                <a:solidFill>
                  <a:srgbClr val="222222"/>
                </a:solidFill>
                <a:latin typeface="맑은 고딕"/>
              </a:rPr>
              <a:t>•  V$ 뷰, DISPLAY_CURSOR, EXPLAIN PLAN</a:t>
            </a:r>
          </a:p>
          <a:p>
            <a:pPr algn="l">
              <a:spcAft>
                <a:spcPts val="1000"/>
              </a:spcAft>
            </a:pPr>
            <a:r>
              <a:rPr sz="1700" b="0">
                <a:solidFill>
                  <a:srgbClr val="222222"/>
                </a:solidFill>
                <a:latin typeface="맑은 고딕"/>
              </a:rPr>
              <a:t>•  파일 추출, 네트워크 링크 기반 Data Pump</a:t>
            </a:r>
          </a:p>
          <a:p>
            <a:pPr algn="l">
              <a:spcAft>
                <a:spcPts val="1000"/>
              </a:spcAft>
            </a:pPr>
            <a:r>
              <a:rPr sz="1700" b="0">
                <a:solidFill>
                  <a:srgbClr val="222222"/>
                </a:solidFill>
                <a:latin typeface="맑은 고딕"/>
              </a:rPr>
              <a:t>•  RMAN 백업(기본 기능), BCT는 옵션</a:t>
            </a:r>
          </a:p>
          <a:p>
            <a:pPr algn="l">
              <a:spcAft>
                <a:spcPts val="1000"/>
              </a:spcAft>
            </a:pPr>
            <a:r>
              <a:rPr sz="1700" b="0">
                <a:solidFill>
                  <a:srgbClr val="222222"/>
                </a:solidFill>
                <a:latin typeface="맑은 고딕"/>
              </a:rPr>
              <a:t>•  임시 파일은 리두로 안 만들어짐, 직접 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막히는 작업과 우회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기준 하나로 결과를 예측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일반 DML → 리다이렉션 또는 Primary 접속</a:t>
            </a:r>
          </a:p>
          <a:p>
            <a:pPr algn="l">
              <a:spcAft>
                <a:spcPts val="1000"/>
              </a:spcAft>
            </a:pPr>
            <a:r>
              <a:rPr sz="1700" b="0">
                <a:solidFill>
                  <a:srgbClr val="222222"/>
                </a:solidFill>
                <a:latin typeface="맑은 고딕"/>
              </a:rPr>
              <a:t>•  DDL·인덱스·통계 → Primary에서 수행</a:t>
            </a:r>
          </a:p>
          <a:p>
            <a:pPr algn="l">
              <a:spcAft>
                <a:spcPts val="1000"/>
              </a:spcAft>
            </a:pPr>
            <a:r>
              <a:rPr sz="1700" b="0">
                <a:solidFill>
                  <a:srgbClr val="222222"/>
                </a:solidFill>
                <a:latin typeface="맑은 고딕"/>
              </a:rPr>
              <a:t>•  로컬 AWR → 원격 AWR(UMF)</a:t>
            </a:r>
          </a:p>
          <a:p>
            <a:pPr algn="l">
              <a:spcAft>
                <a:spcPts val="1000"/>
              </a:spcAft>
            </a:pPr>
            <a:r>
              <a:rPr sz="1700" b="0">
                <a:solidFill>
                  <a:srgbClr val="222222"/>
                </a:solidFill>
                <a:latin typeface="맑은 고딕"/>
              </a:rPr>
              <a:t>•  GTT·PTT·CACHE 시퀀스 → Standby에서 성공</a:t>
            </a:r>
          </a:p>
          <a:p>
            <a:pPr algn="l">
              <a:spcAft>
                <a:spcPts val="1000"/>
              </a:spcAft>
            </a:pPr>
            <a:r>
              <a:rPr sz="1700" b="0">
                <a:solidFill>
                  <a:srgbClr val="222222"/>
                </a:solidFill>
                <a:latin typeface="맑은 고딕"/>
              </a:rPr>
              <a:t>•  보고서용 인덱스·MV → 논리 Standby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 신선도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지연 관찰과 히스토그램</a:t>
            </a:r>
          </a:p>
          <a:p>
            <a:pPr algn="l">
              <a:spcAft>
                <a:spcPts val="800"/>
              </a:spcAft>
            </a:pPr>
            <a:r>
              <a:rPr sz="1600" b="0">
                <a:solidFill>
                  <a:srgbClr val="FFFFFF"/>
                </a:solidFill>
                <a:latin typeface="맑은 고딕"/>
              </a:rPr>
              <a:t>•  STANDBY_MAX_DATA_DELAY, zero lag</a:t>
            </a:r>
          </a:p>
          <a:p>
            <a:pPr algn="l">
              <a:spcAft>
                <a:spcPts val="800"/>
              </a:spcAft>
            </a:pPr>
            <a:r>
              <a:rPr sz="1600" b="0">
                <a:solidFill>
                  <a:srgbClr val="FFFFFF"/>
                </a:solidFill>
                <a:latin typeface="맑은 고딕"/>
              </a:rPr>
              <a:t>•  SYNC WITH PRIMARY, 트리거, 서비스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지연의 원인과 분포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순간값보다 분포로 한도를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원인: CPU·I/O 부족, 네트워크 지연, 대역폭</a:t>
            </a:r>
          </a:p>
          <a:p>
            <a:pPr algn="l">
              <a:spcAft>
                <a:spcPts val="1000"/>
              </a:spcAft>
            </a:pPr>
            <a:r>
              <a:rPr sz="1700" b="0">
                <a:solidFill>
                  <a:srgbClr val="222222"/>
                </a:solidFill>
                <a:latin typeface="맑은 고딕"/>
              </a:rPr>
              <a:t>•  transport lag와 apply lag로 구간 구분(7.8절)</a:t>
            </a:r>
          </a:p>
          <a:p>
            <a:pPr algn="l">
              <a:spcAft>
                <a:spcPts val="1000"/>
              </a:spcAft>
            </a:pPr>
            <a:r>
              <a:rPr sz="1700" b="0">
                <a:solidFill>
                  <a:srgbClr val="222222"/>
                </a:solidFill>
                <a:latin typeface="맑은 고딕"/>
              </a:rPr>
              <a:t>•  V$STANDBY_EVENT_HISTOGRAM: 값별 관측 횟수</a:t>
            </a:r>
          </a:p>
          <a:p>
            <a:pPr algn="l">
              <a:spcAft>
                <a:spcPts val="1000"/>
              </a:spcAft>
            </a:pPr>
            <a:r>
              <a:rPr sz="1700" b="0">
                <a:solidFill>
                  <a:srgbClr val="222222"/>
                </a:solidFill>
                <a:latin typeface="맑은 고딕"/>
              </a:rPr>
              <a:t>•  누적값이므로 시작·끝을 저장해 차이를 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STANDBY_MAX_DATA_DELAY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세션이 허용할 지연을 초 단위로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SESSION SET STANDBY_MAX_DATA_DELAY = 5</a:t>
            </a:r>
          </a:p>
          <a:p>
            <a:pPr algn="l">
              <a:spcAft>
                <a:spcPts val="1000"/>
              </a:spcAft>
            </a:pPr>
            <a:r>
              <a:rPr sz="1700" b="0">
                <a:solidFill>
                  <a:srgbClr val="222222"/>
                </a:solidFill>
                <a:latin typeface="맑은 고딕"/>
              </a:rPr>
              <a:t>•  세션 파라미터, 시스템 수준 설정 없음</a:t>
            </a:r>
          </a:p>
          <a:p>
            <a:pPr algn="l">
              <a:spcAft>
                <a:spcPts val="1000"/>
              </a:spcAft>
            </a:pPr>
            <a:r>
              <a:rPr sz="1700" b="0">
                <a:solidFill>
                  <a:srgbClr val="222222"/>
                </a:solidFill>
                <a:latin typeface="맑은 고딕"/>
              </a:rPr>
              <a:t>•  한도 초과 시 ORA-03172, 경고 로그에도 기록</a:t>
            </a:r>
          </a:p>
          <a:p>
            <a:pPr algn="l">
              <a:spcAft>
                <a:spcPts val="1000"/>
              </a:spcAft>
            </a:pPr>
            <a:r>
              <a:rPr sz="1700" b="0">
                <a:solidFill>
                  <a:srgbClr val="222222"/>
                </a:solidFill>
                <a:latin typeface="맑은 고딕"/>
              </a:rPr>
              <a:t>•  기본 NONE: 지연과 무관하게 실행</a:t>
            </a:r>
          </a:p>
          <a:p>
            <a:pPr algn="l">
              <a:spcAft>
                <a:spcPts val="1000"/>
              </a:spcAft>
            </a:pPr>
            <a:r>
              <a:rPr sz="1700" b="0">
                <a:solidFill>
                  <a:srgbClr val="222222"/>
                </a:solidFill>
                <a:latin typeface="맑은 고딕"/>
              </a:rPr>
              <a:t>•  SYS에는 적용되지 않음 (일반 사용자로 검증)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zero lag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한도 0은 전제 조건이 붙는 별도 모드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쿼리 SCN이 Primary의 현재 SCN에 닿을 때까지 대기</a:t>
            </a:r>
          </a:p>
          <a:p>
            <a:pPr algn="l">
              <a:spcAft>
                <a:spcPts val="1000"/>
              </a:spcAft>
            </a:pPr>
            <a:r>
              <a:rPr sz="1700" b="0">
                <a:solidFill>
                  <a:srgbClr val="222222"/>
                </a:solidFill>
                <a:latin typeface="맑은 고딕"/>
              </a:rPr>
              <a:t>•  결과가 같은 시점 Primary 결과와 동일</a:t>
            </a:r>
          </a:p>
          <a:p>
            <a:pPr algn="l">
              <a:spcAft>
                <a:spcPts val="1000"/>
              </a:spcAft>
            </a:pPr>
            <a:r>
              <a:rPr sz="1700" b="0">
                <a:solidFill>
                  <a:srgbClr val="222222"/>
                </a:solidFill>
                <a:latin typeface="맑은 고딕"/>
              </a:rPr>
              <a:t>•  보호 모드: Maximum Availability 이상</a:t>
            </a:r>
          </a:p>
          <a:p>
            <a:pPr algn="l">
              <a:spcAft>
                <a:spcPts val="1000"/>
              </a:spcAft>
            </a:pPr>
            <a:r>
              <a:rPr sz="1700" b="0">
                <a:solidFill>
                  <a:srgbClr val="222222"/>
                </a:solidFill>
                <a:latin typeface="맑은 고딕"/>
              </a:rPr>
              <a:t>•  해당 Standby로 SYNC 전송</a:t>
            </a:r>
          </a:p>
          <a:p>
            <a:pPr algn="l">
              <a:spcAft>
                <a:spcPts val="1000"/>
              </a:spcAft>
            </a:pPr>
            <a:r>
              <a:rPr sz="1700" b="0">
                <a:solidFill>
                  <a:srgbClr val="222222"/>
                </a:solidFill>
                <a:latin typeface="맑은 고딕"/>
              </a:rPr>
              <a:t>•  실시간 조회 활성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ALTER SESSION SYNC WITH PRIMARY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세션 시작 시점에 한 번 맞추기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실행 시점의 Primary까지 따라잡을 때까지 대기</a:t>
            </a:r>
          </a:p>
          <a:p>
            <a:pPr algn="l">
              <a:spcAft>
                <a:spcPts val="1000"/>
              </a:spcAft>
            </a:pPr>
            <a:r>
              <a:rPr sz="1700" b="0">
                <a:solidFill>
                  <a:srgbClr val="222222"/>
                </a:solidFill>
                <a:latin typeface="맑은 고딕"/>
              </a:rPr>
              <a:t>•  돌아온 뒤의 쿼리는 기다리지 않음</a:t>
            </a:r>
          </a:p>
          <a:p>
            <a:pPr algn="l">
              <a:spcAft>
                <a:spcPts val="1000"/>
              </a:spcAft>
            </a:pPr>
            <a:r>
              <a:rPr sz="1700" b="0">
                <a:solidFill>
                  <a:srgbClr val="222222"/>
                </a:solidFill>
                <a:latin typeface="맑은 고딕"/>
              </a:rPr>
              <a:t>•  적용이 없거나 중간에 취소되면 ORA-03173</a:t>
            </a:r>
          </a:p>
          <a:p>
            <a:pPr algn="l">
              <a:spcAft>
                <a:spcPts val="1000"/>
              </a:spcAft>
            </a:pPr>
            <a:r>
              <a:rPr sz="1700" b="0">
                <a:solidFill>
                  <a:srgbClr val="222222"/>
                </a:solidFill>
                <a:latin typeface="맑은 고딕"/>
              </a:rPr>
              <a:t>•  SYNC 전송 구성을 전제로 사용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인식 AFTER LOGON 트리거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애플리케이션 소스를 고치지 않고 정책 적용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SYS_CONTEXT('USERENV','DATABASE_ROLE')</a:t>
            </a:r>
          </a:p>
          <a:p>
            <a:pPr algn="l">
              <a:spcAft>
                <a:spcPts val="1000"/>
              </a:spcAft>
            </a:pPr>
            <a:r>
              <a:rPr sz="1700" b="0">
                <a:solidFill>
                  <a:srgbClr val="222222"/>
                </a:solidFill>
                <a:latin typeface="맑은 고딕"/>
              </a:rPr>
              <a:t>•  PHYSICAL STANDBY일 때만 ALTER SESSION 실행</a:t>
            </a:r>
          </a:p>
          <a:p>
            <a:pPr algn="l">
              <a:spcAft>
                <a:spcPts val="1000"/>
              </a:spcAft>
            </a:pPr>
            <a:r>
              <a:rPr sz="1700" b="0">
                <a:solidFill>
                  <a:srgbClr val="222222"/>
                </a:solidFill>
                <a:latin typeface="맑은 고딕"/>
              </a:rPr>
              <a:t>•  Primary에서 생성, 리두로 Standby에 전달</a:t>
            </a:r>
          </a:p>
          <a:p>
            <a:pPr algn="l">
              <a:spcAft>
                <a:spcPts val="1000"/>
              </a:spcAft>
            </a:pPr>
            <a:r>
              <a:rPr sz="1700" b="0">
                <a:solidFill>
                  <a:srgbClr val="222222"/>
                </a:solidFill>
                <a:latin typeface="맑은 고딕"/>
              </a:rPr>
              <a:t>•  역할 전환 뒤에도 다시 만들 필요 없음</a:t>
            </a:r>
          </a:p>
          <a:p>
            <a:pPr algn="l">
              <a:spcAft>
                <a:spcPts val="1000"/>
              </a:spcAft>
            </a:pPr>
            <a:r>
              <a:rPr sz="1700" b="0">
                <a:solidFill>
                  <a:srgbClr val="222222"/>
                </a:solidFill>
                <a:latin typeface="맑은 고딕"/>
              </a:rPr>
              <a:t>•  SYNC WITH PRIMARY 트리거는 전용 연결에서만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기반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서버 이름 대신 서비스 이름으로 접속</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갱신용 sales_rw는 Primary, 조회용 sales_ro는 Standby</a:t>
            </a:r>
          </a:p>
          <a:p>
            <a:pPr algn="l">
              <a:spcAft>
                <a:spcPts val="1000"/>
              </a:spcAft>
            </a:pPr>
            <a:r>
              <a:rPr sz="1700" b="0">
                <a:solidFill>
                  <a:srgbClr val="222222"/>
                </a:solidFill>
                <a:latin typeface="맑은 고딕"/>
              </a:rPr>
              <a:t>•  Grid·Restart: srvctl add service -role</a:t>
            </a:r>
          </a:p>
          <a:p>
            <a:pPr algn="l">
              <a:spcAft>
                <a:spcPts val="1000"/>
              </a:spcAft>
            </a:pPr>
            <a:r>
              <a:rPr sz="1700" b="0">
                <a:solidFill>
                  <a:srgbClr val="222222"/>
                </a:solidFill>
                <a:latin typeface="맑은 고딕"/>
              </a:rPr>
              <a:t>•  단일 인스턴스: DBMS_SERVICE + 시작 트리거</a:t>
            </a:r>
          </a:p>
          <a:p>
            <a:pPr algn="l">
              <a:spcAft>
                <a:spcPts val="1000"/>
              </a:spcAft>
            </a:pPr>
            <a:r>
              <a:rPr sz="1700" b="0">
                <a:solidFill>
                  <a:srgbClr val="222222"/>
                </a:solidFill>
                <a:latin typeface="맑은 고딕"/>
              </a:rPr>
              <a:t>•  역할 전환 대비 DB_ROLE_CHANGE 트리거</a:t>
            </a:r>
          </a:p>
          <a:p>
            <a:pPr algn="l">
              <a:spcAft>
                <a:spcPts val="1000"/>
              </a:spcAft>
            </a:pPr>
            <a:r>
              <a:rPr sz="1700" b="0">
                <a:solidFill>
                  <a:srgbClr val="222222"/>
                </a:solidFill>
                <a:latin typeface="맑은 고딕"/>
              </a:rPr>
              <a:t>•  MOUNTED로 내리면 조회 서비스 접속은 ORA-12514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신선도 요구가 다른 두 업무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서비스와 트리거로 정책을 나눈다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대시보드: 5초 한도 트리거, 초과 시 Primary로 재시도</a:t>
            </a:r>
          </a:p>
          <a:p>
            <a:pPr algn="l">
              <a:spcAft>
                <a:spcPts val="1000"/>
              </a:spcAft>
            </a:pPr>
            <a:r>
              <a:rPr sz="1700" b="0">
                <a:solidFill>
                  <a:srgbClr val="222222"/>
                </a:solidFill>
                <a:latin typeface="맑은 고딕"/>
              </a:rPr>
              <a:t>•  정산 확인: zero lag 조건의 SYNC Standby에서만</a:t>
            </a:r>
          </a:p>
          <a:p>
            <a:pPr algn="l">
              <a:spcAft>
                <a:spcPts val="1000"/>
              </a:spcAft>
            </a:pPr>
            <a:r>
              <a:rPr sz="1700" b="0">
                <a:solidFill>
                  <a:srgbClr val="222222"/>
                </a:solidFill>
                <a:latin typeface="맑은 고딕"/>
              </a:rPr>
              <a:t>•  조건이 없으면 정산은 처음부터 Primary 서비스</a:t>
            </a:r>
          </a:p>
          <a:p>
            <a:pPr algn="l">
              <a:spcAft>
                <a:spcPts val="1000"/>
              </a:spcAft>
            </a:pPr>
            <a:r>
              <a:rPr sz="1700" b="0">
                <a:solidFill>
                  <a:srgbClr val="222222"/>
                </a:solidFill>
                <a:latin typeface="맑은 고딕"/>
              </a:rPr>
              <a:t>•  정책 변경은 서비스 단위로 끝냄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Standby에서의 임시 데이터와 시퀀스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전역 임시 테이블과 임시 언두</a:t>
            </a:r>
          </a:p>
          <a:p>
            <a:pPr algn="l">
              <a:spcAft>
                <a:spcPts val="800"/>
              </a:spcAft>
            </a:pPr>
            <a:r>
              <a:rPr sz="1600" b="0">
                <a:solidFill>
                  <a:srgbClr val="FFFFFF"/>
                </a:solidFill>
                <a:latin typeface="맑은 고딕"/>
              </a:rPr>
              <a:t>•  전용 임시 테이블</a:t>
            </a:r>
          </a:p>
          <a:p>
            <a:pPr algn="l">
              <a:spcAft>
                <a:spcPts val="800"/>
              </a:spcAft>
            </a:pPr>
            <a:r>
              <a:rPr sz="1600" b="0">
                <a:solidFill>
                  <a:srgbClr val="FFFFFF"/>
                </a:solidFill>
                <a:latin typeface="맑은 고딕"/>
              </a:rPr>
              <a:t>•  전역 시퀀스와 세션 시퀀스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GTT의 DML과 임시 언두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언두를 TEMP에 두면 리두가 생기지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GTT 데이터 변경 자체는 리두 없음</a:t>
            </a:r>
          </a:p>
          <a:p>
            <a:pPr algn="l">
              <a:spcAft>
                <a:spcPts val="1000"/>
              </a:spcAft>
            </a:pPr>
            <a:r>
              <a:rPr sz="1700" b="0">
                <a:solidFill>
                  <a:srgbClr val="222222"/>
                </a:solidFill>
                <a:latin typeface="맑은 고딕"/>
              </a:rPr>
              <a:t>•  문제는 언두: 언두 기록이 리두를 만듦</a:t>
            </a:r>
          </a:p>
          <a:p>
            <a:pPr algn="l">
              <a:spcAft>
                <a:spcPts val="1000"/>
              </a:spcAft>
            </a:pPr>
            <a:r>
              <a:rPr sz="1700" b="0">
                <a:solidFill>
                  <a:srgbClr val="222222"/>
                </a:solidFill>
                <a:latin typeface="맑은 고딕"/>
              </a:rPr>
              <a:t>•  임시 언두: GTT 언두를 임시 테이블스페이스에</a:t>
            </a:r>
          </a:p>
          <a:p>
            <a:pPr algn="l">
              <a:spcAft>
                <a:spcPts val="1000"/>
              </a:spcAft>
            </a:pPr>
            <a:r>
              <a:rPr sz="1700" b="0">
                <a:solidFill>
                  <a:srgbClr val="222222"/>
                </a:solidFill>
                <a:latin typeface="맑은 고딕"/>
              </a:rPr>
              <a:t>•  ADG Standby에서는 항상 켜짐(파라미터 무시)</a:t>
            </a:r>
          </a:p>
          <a:p>
            <a:pPr algn="l">
              <a:spcAft>
                <a:spcPts val="1000"/>
              </a:spcAft>
            </a:pPr>
            <a:r>
              <a:rPr sz="1700" b="0">
                <a:solidFill>
                  <a:srgbClr val="222222"/>
                </a:solidFill>
                <a:latin typeface="맑은 고딕"/>
              </a:rPr>
              <a:t>•  Primary에서 TEMP_UNDO_ENABLED=TRUE로 리두 감소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GTT의 생성과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정의는 딕셔너리에 있으므로 Primary에서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GTT 정의는 Primary에서 만들어 리두로 전달</a:t>
            </a:r>
          </a:p>
          <a:p>
            <a:pPr algn="l">
              <a:spcAft>
                <a:spcPts val="1000"/>
              </a:spcAft>
            </a:pPr>
            <a:r>
              <a:rPr sz="1700" b="0">
                <a:solidFill>
                  <a:srgbClr val="222222"/>
                </a:solidFill>
                <a:latin typeface="맑은 고딕"/>
              </a:rPr>
              <a:t>•  교재: Standby의 GTT DDL을 Primary로 투명하게 전달</a:t>
            </a:r>
          </a:p>
          <a:p>
            <a:pPr algn="l">
              <a:spcAft>
                <a:spcPts val="1000"/>
              </a:spcAft>
            </a:pPr>
            <a:r>
              <a:rPr sz="1700" b="0">
                <a:solidFill>
                  <a:srgbClr val="222222"/>
                </a:solidFill>
                <a:latin typeface="맑은 고딕"/>
              </a:rPr>
              <a:t>•  숨은 파라미터 _enable_proxy_adg_redirect 사용</a:t>
            </a:r>
          </a:p>
          <a:p>
            <a:pPr algn="l">
              <a:spcAft>
                <a:spcPts val="1000"/>
              </a:spcAft>
            </a:pPr>
            <a:r>
              <a:rPr sz="1700" b="0">
                <a:solidFill>
                  <a:srgbClr val="222222"/>
                </a:solidFill>
                <a:latin typeface="맑은 고딕"/>
              </a:rPr>
              <a:t>•  운영 정석은 Primary에서 미리 생성</a:t>
            </a:r>
          </a:p>
          <a:p>
            <a:pPr algn="l">
              <a:spcAft>
                <a:spcPts val="1000"/>
              </a:spcAft>
            </a:pPr>
            <a:r>
              <a:rPr sz="1700" b="0">
                <a:solidFill>
                  <a:srgbClr val="222222"/>
                </a:solidFill>
                <a:latin typeface="맑은 고딕"/>
              </a:rPr>
              <a:t>•  일반 테이블 DDL은 리다이렉션 대상 아님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전용 임시 테이블 (PTT)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정의가 메모리에 있어 Standby에서 직접 생성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18c 도입, 정의·데이터 모두 세션 전용</a:t>
            </a:r>
          </a:p>
          <a:p>
            <a:pPr algn="l">
              <a:spcAft>
                <a:spcPts val="1000"/>
              </a:spcAft>
            </a:pPr>
            <a:r>
              <a:rPr sz="1700" b="0">
                <a:solidFill>
                  <a:srgbClr val="222222"/>
                </a:solidFill>
                <a:latin typeface="맑은 고딕"/>
              </a:rPr>
              <a:t>•  이름은 ORA$PTT_ 접두어로 시작</a:t>
            </a:r>
          </a:p>
          <a:p>
            <a:pPr algn="l">
              <a:spcAft>
                <a:spcPts val="1000"/>
              </a:spcAft>
            </a:pPr>
            <a:r>
              <a:rPr sz="1700" b="0">
                <a:solidFill>
                  <a:srgbClr val="222222"/>
                </a:solidFill>
                <a:latin typeface="맑은 고딕"/>
              </a:rPr>
              <a:t>•  ON COMMIT DROP DEFINITION (기본, 트랜잭션)</a:t>
            </a:r>
          </a:p>
          <a:p>
            <a:pPr algn="l">
              <a:spcAft>
                <a:spcPts val="1000"/>
              </a:spcAft>
            </a:pPr>
            <a:r>
              <a:rPr sz="1700" b="0">
                <a:solidFill>
                  <a:srgbClr val="222222"/>
                </a:solidFill>
                <a:latin typeface="맑은 고딕"/>
              </a:rPr>
              <a:t>•  ON COMMIT PRESERVE DEFINITION (세션)</a:t>
            </a:r>
          </a:p>
          <a:p>
            <a:pPr algn="l">
              <a:spcAft>
                <a:spcPts val="1000"/>
              </a:spcAft>
            </a:pPr>
            <a:r>
              <a:rPr sz="1700" b="0">
                <a:solidFill>
                  <a:srgbClr val="222222"/>
                </a:solidFill>
                <a:latin typeface="맑은 고딕"/>
              </a:rPr>
              <a:t>•  같은 이름, 다른 열 구성을 세션마다 가질 수 있음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시퀀스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전역 시퀀스는 범위 할당, 세션 시퀀스는 세션 안에서만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CACHE·NOORDER 시퀀스는 Standby에서 NEXTVAL 가능</a:t>
            </a:r>
          </a:p>
          <a:p>
            <a:pPr algn="l">
              <a:spcAft>
                <a:spcPts val="1000"/>
              </a:spcAft>
            </a:pPr>
            <a:r>
              <a:rPr sz="1700" b="0">
                <a:solidFill>
                  <a:srgbClr val="222222"/>
                </a:solidFill>
                <a:latin typeface="맑은 고딕"/>
              </a:rPr>
              <a:t>•  Primary가 캐시 크기만큼 범위를 떼어 줌</a:t>
            </a:r>
          </a:p>
          <a:p>
            <a:pPr algn="l">
              <a:spcAft>
                <a:spcPts val="1000"/>
              </a:spcAft>
            </a:pPr>
            <a:r>
              <a:rPr sz="1700" b="0">
                <a:solidFill>
                  <a:srgbClr val="222222"/>
                </a:solidFill>
                <a:latin typeface="맑은 고딕"/>
              </a:rPr>
              <a:t>•  번호는 유일하지만 연속적이지 않음</a:t>
            </a:r>
          </a:p>
          <a:p>
            <a:pPr algn="l">
              <a:spcAft>
                <a:spcPts val="1000"/>
              </a:spcAft>
            </a:pPr>
            <a:r>
              <a:rPr sz="1700" b="0">
                <a:solidFill>
                  <a:srgbClr val="222222"/>
                </a:solidFill>
                <a:latin typeface="맑은 고딕"/>
              </a:rPr>
              <a:t>•  ORDER·NOCACHE 시퀀스는 사용 불가</a:t>
            </a:r>
          </a:p>
          <a:p>
            <a:pPr algn="l">
              <a:spcAft>
                <a:spcPts val="1000"/>
              </a:spcAft>
            </a:pPr>
            <a:r>
              <a:rPr sz="1700" b="0">
                <a:solidFill>
                  <a:srgbClr val="222222"/>
                </a:solidFill>
                <a:latin typeface="맑은 고딕"/>
              </a:rPr>
              <a:t>•  CREATE SEQUENCE ... SESSION: 세션 범위, 비영속</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DML 리다이렉션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동작 흐름과 가시성</a:t>
            </a:r>
          </a:p>
          <a:p>
            <a:pPr algn="l">
              <a:spcAft>
                <a:spcPts val="800"/>
              </a:spcAft>
            </a:pPr>
            <a:r>
              <a:rPr sz="1600" b="0">
                <a:solidFill>
                  <a:srgbClr val="FFFFFF"/>
                </a:solidFill>
                <a:latin typeface="맑은 고딕"/>
              </a:rPr>
              <a:t>•  ADG_REDIRECT_DML, ADG_REDIRECT_PLSQL</a:t>
            </a:r>
          </a:p>
          <a:p>
            <a:pPr algn="l">
              <a:spcAft>
                <a:spcPts val="800"/>
              </a:spcAft>
            </a:pPr>
            <a:r>
              <a:rPr sz="1600" b="0">
                <a:solidFill>
                  <a:srgbClr val="FFFFFF"/>
                </a:solidFill>
                <a:latin typeface="맑은 고딕"/>
              </a:rPr>
              <a:t>•  제약, 오류 번호, 쓸 곳과 피할 곳</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동작 흐름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기록은 전부 Primary에서 일어난다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Standby 세션이 DML 실행</a:t>
            </a:r>
          </a:p>
          <a:p>
            <a:pPr algn="l">
              <a:spcAft>
                <a:spcPts val="1000"/>
              </a:spcAft>
            </a:pPr>
            <a:r>
              <a:rPr sz="1700" b="0">
                <a:solidFill>
                  <a:srgbClr val="222222"/>
                </a:solidFill>
                <a:latin typeface="맑은 고딕"/>
              </a:rPr>
              <a:t>•  2 Standby가 Primary로 연결해 문장 전달</a:t>
            </a:r>
          </a:p>
          <a:p>
            <a:pPr algn="l">
              <a:spcAft>
                <a:spcPts val="1000"/>
              </a:spcAft>
            </a:pPr>
            <a:r>
              <a:rPr sz="1700" b="0">
                <a:solidFill>
                  <a:srgbClr val="222222"/>
                </a:solidFill>
                <a:latin typeface="맑은 고딕"/>
              </a:rPr>
              <a:t>•  3 Primary에서 실행, 리두 생성</a:t>
            </a:r>
          </a:p>
          <a:p>
            <a:pPr algn="l">
              <a:spcAft>
                <a:spcPts val="1000"/>
              </a:spcAft>
            </a:pPr>
            <a:r>
              <a:rPr sz="1700" b="0">
                <a:solidFill>
                  <a:srgbClr val="222222"/>
                </a:solidFill>
                <a:latin typeface="맑은 고딕"/>
              </a:rPr>
              <a:t>•  4 리두가 평소 경로로 Standby에 적용</a:t>
            </a:r>
          </a:p>
          <a:p>
            <a:pPr algn="l">
              <a:spcAft>
                <a:spcPts val="1000"/>
              </a:spcAft>
            </a:pPr>
            <a:r>
              <a:rPr sz="1700" b="0">
                <a:solidFill>
                  <a:srgbClr val="222222"/>
                </a:solidFill>
                <a:latin typeface="맑은 고딕"/>
              </a:rPr>
              <a:t>•  5 적용 후 세션에 제어 반환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ADG_REDIRECT_DML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시스템 수준과 세션 수준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초기화 파라미터, 기본값 FALSE</a:t>
            </a:r>
          </a:p>
          <a:p>
            <a:pPr algn="l">
              <a:spcAft>
                <a:spcPts val="1000"/>
              </a:spcAft>
            </a:pPr>
            <a:r>
              <a:rPr sz="1700" b="0">
                <a:solidFill>
                  <a:srgbClr val="222222"/>
                </a:solidFill>
                <a:latin typeface="맑은 고딕"/>
              </a:rPr>
              <a:t>•  ALTER SESSION ENABLE ADG_REDIRECT_DML</a:t>
            </a:r>
          </a:p>
          <a:p>
            <a:pPr algn="l">
              <a:spcAft>
                <a:spcPts val="1000"/>
              </a:spcAft>
            </a:pPr>
            <a:r>
              <a:rPr sz="1700" b="0">
                <a:solidFill>
                  <a:srgbClr val="222222"/>
                </a:solidFill>
                <a:latin typeface="맑은 고딕"/>
              </a:rPr>
              <a:t>•  세션 설정이 시스템 설정보다 우선</a:t>
            </a:r>
          </a:p>
          <a:p>
            <a:pPr algn="l">
              <a:spcAft>
                <a:spcPts val="1000"/>
              </a:spcAft>
            </a:pPr>
            <a:r>
              <a:rPr sz="1700" b="0">
                <a:solidFill>
                  <a:srgbClr val="222222"/>
                </a:solidFill>
                <a:latin typeface="맑은 고딕"/>
              </a:rPr>
              <a:t>•  세션 수준 상태는 V$PARAMETER에 안 보임</a:t>
            </a:r>
          </a:p>
          <a:p>
            <a:pPr algn="l">
              <a:spcAft>
                <a:spcPts val="1000"/>
              </a:spcAft>
            </a:pPr>
            <a:r>
              <a:rPr sz="1700" b="0">
                <a:solidFill>
                  <a:srgbClr val="222222"/>
                </a:solidFill>
                <a:latin typeface="맑은 고딕"/>
              </a:rPr>
              <a:t>•  도입 초기에는 세션 수준 권장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ADG_REDIRECT_PLSQL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호출을 통째로 Primary로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SESSION ENABLE ADG_REDIRECT_PLSQL</a:t>
            </a:r>
          </a:p>
          <a:p>
            <a:pPr algn="l">
              <a:spcAft>
                <a:spcPts val="1000"/>
              </a:spcAft>
            </a:pPr>
            <a:r>
              <a:rPr sz="1700" b="0">
                <a:solidFill>
                  <a:srgbClr val="222222"/>
                </a:solidFill>
                <a:latin typeface="맑은 고딕"/>
              </a:rPr>
              <a:t>•  세션 수준에서만 설정 가능</a:t>
            </a:r>
          </a:p>
          <a:p>
            <a:pPr algn="l">
              <a:spcAft>
                <a:spcPts val="1000"/>
              </a:spcAft>
            </a:pPr>
            <a:r>
              <a:rPr sz="1700" b="0">
                <a:solidFill>
                  <a:srgbClr val="222222"/>
                </a:solidFill>
                <a:latin typeface="맑은 고딕"/>
              </a:rPr>
              <a:t>•  바인드 변수를 쓰는 블록은 대상 아님</a:t>
            </a:r>
          </a:p>
          <a:p>
            <a:pPr algn="l">
              <a:spcAft>
                <a:spcPts val="1000"/>
              </a:spcAft>
            </a:pPr>
            <a:r>
              <a:rPr sz="1700" b="0">
                <a:solidFill>
                  <a:srgbClr val="222222"/>
                </a:solidFill>
                <a:latin typeface="맑은 고딕"/>
              </a:rPr>
              <a:t>•  블록 안 DML 리다이렉션과 구분: 왕복이 적음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제약과 오류 번호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16000은 미시도, 16397은 시도 후 실패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Primary로 새 연결 후 현재 사용자로 재인증</a:t>
            </a:r>
          </a:p>
          <a:p>
            <a:pPr algn="l">
              <a:spcAft>
                <a:spcPts val="1000"/>
              </a:spcAft>
            </a:pPr>
            <a:r>
              <a:rPr sz="1700" b="0">
                <a:solidFill>
                  <a:srgbClr val="222222"/>
                </a:solidFill>
                <a:latin typeface="맑은 고딕"/>
              </a:rPr>
              <a:t>•  SYS(SYSDBA)는 재인증 불가 → ORA-16397</a:t>
            </a:r>
          </a:p>
          <a:p>
            <a:pPr algn="l">
              <a:spcAft>
                <a:spcPts val="1000"/>
              </a:spcAft>
            </a:pPr>
            <a:r>
              <a:rPr sz="1700" b="0">
                <a:solidFill>
                  <a:srgbClr val="222222"/>
                </a:solidFill>
                <a:latin typeface="맑은 고딕"/>
              </a:rPr>
              <a:t>•  Standby의 LOG_ARCHIVE_DEST_n 접속 정보 사용</a:t>
            </a:r>
          </a:p>
          <a:p>
            <a:pPr algn="l">
              <a:spcAft>
                <a:spcPts val="1000"/>
              </a:spcAft>
            </a:pPr>
            <a:r>
              <a:rPr sz="1700" b="0">
                <a:solidFill>
                  <a:srgbClr val="222222"/>
                </a:solidFill>
                <a:latin typeface="맑은 고딕"/>
              </a:rPr>
              <a:t>•  XA 분산 트랜잭션, 일반 DDL은 대상 아님</a:t>
            </a:r>
          </a:p>
          <a:p>
            <a:pPr algn="l">
              <a:spcAft>
                <a:spcPts val="1000"/>
              </a:spcAft>
            </a:pPr>
            <a:r>
              <a:rPr sz="1700" b="0">
                <a:solidFill>
                  <a:srgbClr val="222222"/>
                </a:solidFill>
                <a:latin typeface="맑은 고딕"/>
              </a:rPr>
              <a:t>•  16397 메시지는 원인을 말해 주지 않음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쓸 곳과 피할 곳</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거의 읽기만 하고 가끔 쓰는 애플리케이션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적합: 실행 이력 한 행, 조회 시각 갱신</a:t>
            </a:r>
          </a:p>
          <a:p>
            <a:pPr algn="l">
              <a:spcAft>
                <a:spcPts val="1000"/>
              </a:spcAft>
            </a:pPr>
            <a:r>
              <a:rPr sz="1700" b="0">
                <a:solidFill>
                  <a:srgbClr val="222222"/>
                </a:solidFill>
                <a:latin typeface="맑은 고딕"/>
              </a:rPr>
              <a:t>•  부적합: 대량 DML, 잦은 갱신</a:t>
            </a:r>
          </a:p>
          <a:p>
            <a:pPr algn="l">
              <a:spcAft>
                <a:spcPts val="1000"/>
              </a:spcAft>
            </a:pPr>
            <a:r>
              <a:rPr sz="1700" b="0">
                <a:solidFill>
                  <a:srgbClr val="222222"/>
                </a:solidFill>
                <a:latin typeface="맑은 고딕"/>
              </a:rPr>
              <a:t>•  문장마다 왕복·적용 대기 → Primary 직접보다 느림</a:t>
            </a:r>
          </a:p>
          <a:p>
            <a:pPr algn="l">
              <a:spcAft>
                <a:spcPts val="1000"/>
              </a:spcAft>
            </a:pPr>
            <a:r>
              <a:rPr sz="1700" b="0">
                <a:solidFill>
                  <a:srgbClr val="222222"/>
                </a:solidFill>
                <a:latin typeface="맑은 고딕"/>
              </a:rPr>
              <a:t>•  리다이렉션이 늘면 오프로드 목적이 뒤집힘</a:t>
            </a:r>
          </a:p>
          <a:p>
            <a:pPr algn="l">
              <a:spcAft>
                <a:spcPts val="1000"/>
              </a:spcAft>
            </a:pPr>
            <a:r>
              <a:rPr sz="1700" b="0">
                <a:solidFill>
                  <a:srgbClr val="222222"/>
                </a:solidFill>
                <a:latin typeface="맑은 고딕"/>
              </a:rPr>
              <a:t>•  갱신이 늘 것 같으면 서비스로 접속 분리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자동 블록 손상 복구와 관련 기능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자동 블록 손상 복구</a:t>
            </a:r>
          </a:p>
          <a:p>
            <a:pPr algn="l">
              <a:spcAft>
                <a:spcPts val="800"/>
              </a:spcAft>
            </a:pPr>
            <a:r>
              <a:rPr sz="1600" b="0">
                <a:solidFill>
                  <a:srgbClr val="FFFFFF"/>
                </a:solidFill>
                <a:latin typeface="맑은 고딕"/>
              </a:rPr>
              <a:t>•  Standby의 In-Memory, 원격 AWR</a:t>
            </a:r>
          </a:p>
          <a:p>
            <a:pPr algn="l">
              <a:spcAft>
                <a:spcPts val="800"/>
              </a:spcAft>
            </a:pPr>
            <a:r>
              <a:rPr sz="1600" b="0">
                <a:solidFill>
                  <a:srgbClr val="FFFFFF"/>
                </a:solidFill>
                <a:latin typeface="맑은 고딕"/>
              </a:rPr>
              <a:t>•  그 밖의 옵션 기능</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블록 손상 복구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상대편의 정상 블록으로 자동 교체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손상 → 실시간 조회 Standby에서 정상 블록</a:t>
            </a:r>
          </a:p>
          <a:p>
            <a:pPr algn="l">
              <a:spcAft>
                <a:spcPts val="1000"/>
              </a:spcAft>
            </a:pPr>
            <a:r>
              <a:rPr sz="1700" b="0">
                <a:solidFill>
                  <a:srgbClr val="222222"/>
                </a:solidFill>
                <a:latin typeface="맑은 고딕"/>
              </a:rPr>
              <a:t>•  Standby 손상 → Primary에서 받아 적용 지속</a:t>
            </a:r>
          </a:p>
          <a:p>
            <a:pPr algn="l">
              <a:spcAft>
                <a:spcPts val="1000"/>
              </a:spcAft>
            </a:pPr>
            <a:r>
              <a:rPr sz="1700" b="0">
                <a:solidFill>
                  <a:srgbClr val="222222"/>
                </a:solidFill>
                <a:latin typeface="맑은 고딕"/>
              </a:rPr>
              <a:t>•  세션은 오류 대신 약간의 지연만 겪음</a:t>
            </a:r>
          </a:p>
          <a:p>
            <a:pPr algn="l">
              <a:spcAft>
                <a:spcPts val="1000"/>
              </a:spcAft>
            </a:pPr>
            <a:r>
              <a:rPr sz="1700" b="0">
                <a:solidFill>
                  <a:srgbClr val="222222"/>
                </a:solidFill>
                <a:latin typeface="맑은 고딕"/>
              </a:rPr>
              <a:t>•  감지된 손상만 대상, 검사 파라미터와 병행</a:t>
            </a:r>
          </a:p>
          <a:p>
            <a:pPr algn="l">
              <a:spcAft>
                <a:spcPts val="1000"/>
              </a:spcAft>
            </a:pPr>
            <a:r>
              <a:rPr sz="1700" b="0">
                <a:solidFill>
                  <a:srgbClr val="222222"/>
                </a:solidFill>
                <a:latin typeface="맑은 고딕"/>
              </a:rPr>
              <a:t>•  마운트 Standby라면 RMAN 블록 복구로 수동 처리</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Standby의 In-Memory 열 저장소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12.2부터 지원, 두 옵션이 모두 필요</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인스턴스에 INMEMORY_SIZE 할당</a:t>
            </a:r>
          </a:p>
          <a:p>
            <a:pPr algn="l">
              <a:spcAft>
                <a:spcPts val="1000"/>
              </a:spcAft>
            </a:pPr>
            <a:r>
              <a:rPr sz="1700" b="0">
                <a:solidFill>
                  <a:srgbClr val="222222"/>
                </a:solidFill>
                <a:latin typeface="맑은 고딕"/>
              </a:rPr>
              <a:t>•  INMEMORY_ADG_ENABLED (기본 TRUE)</a:t>
            </a:r>
          </a:p>
          <a:p>
            <a:pPr algn="l">
              <a:spcAft>
                <a:spcPts val="1000"/>
              </a:spcAft>
            </a:pPr>
            <a:r>
              <a:rPr sz="1700" b="0">
                <a:solidFill>
                  <a:srgbClr val="222222"/>
                </a:solidFill>
                <a:latin typeface="맑은 고딕"/>
              </a:rPr>
              <a:t>•  Primary와 Standby에 서로 다른 객체 적재 가능</a:t>
            </a:r>
          </a:p>
          <a:p>
            <a:pPr algn="l">
              <a:spcAft>
                <a:spcPts val="1000"/>
              </a:spcAft>
            </a:pPr>
            <a:r>
              <a:rPr sz="1700" b="0">
                <a:solidFill>
                  <a:srgbClr val="222222"/>
                </a:solidFill>
                <a:latin typeface="맑은 고딕"/>
              </a:rPr>
              <a:t>•  Expression·ILM은 Primary 활동 기준</a:t>
            </a:r>
          </a:p>
          <a:p>
            <a:pPr algn="l">
              <a:spcAft>
                <a:spcPts val="1000"/>
              </a:spcAft>
            </a:pPr>
            <a:r>
              <a:rPr sz="1700" b="0">
                <a:solidFill>
                  <a:srgbClr val="222222"/>
                </a:solidFill>
                <a:latin typeface="맑은 고딕"/>
              </a:rPr>
              <a:t>•  FastStart, Join Group 미지원</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Standby의 성능 진단과 원격 AWR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로컬 스냅샷은 실패, 이력은 Primary에 저장</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로컬 AWR 스냅샷: ORA-13516</a:t>
            </a:r>
          </a:p>
          <a:p>
            <a:pPr algn="l">
              <a:spcAft>
                <a:spcPts val="1000"/>
              </a:spcAft>
            </a:pPr>
            <a:r>
              <a:rPr sz="1700" b="0">
                <a:solidFill>
                  <a:srgbClr val="222222"/>
                </a:solidFill>
                <a:latin typeface="맑은 고딕"/>
              </a:rPr>
              <a:t>•  UMF(Remote Management Framework), 12.2부터</a:t>
            </a:r>
          </a:p>
          <a:p>
            <a:pPr algn="l">
              <a:spcAft>
                <a:spcPts val="1000"/>
              </a:spcAft>
            </a:pPr>
            <a:r>
              <a:rPr sz="1700" b="0">
                <a:solidFill>
                  <a:srgbClr val="222222"/>
                </a:solidFill>
                <a:latin typeface="맑은 고딕"/>
              </a:rPr>
              <a:t>•  DBMS_UMF로 토폴로지 구성, 원격 DB 등록</a:t>
            </a:r>
          </a:p>
          <a:p>
            <a:pPr algn="l">
              <a:spcAft>
                <a:spcPts val="1000"/>
              </a:spcAft>
            </a:pPr>
            <a:r>
              <a:rPr sz="1700" b="0">
                <a:solidFill>
                  <a:srgbClr val="222222"/>
                </a:solidFill>
                <a:latin typeface="맑은 고딕"/>
              </a:rPr>
              <a:t>•  CREATE_REMOTE_SNAPSHOT으로 스냅샷</a:t>
            </a:r>
          </a:p>
          <a:p>
            <a:pPr algn="l">
              <a:spcAft>
                <a:spcPts val="1000"/>
              </a:spcAft>
            </a:pPr>
            <a:r>
              <a:rPr sz="1700" b="0">
                <a:solidFill>
                  <a:srgbClr val="222222"/>
                </a:solidFill>
                <a:latin typeface="맑은 고딕"/>
              </a:rPr>
              <a:t>•  일상 진단은 V$ 뷰와 ASH 메모리로 충분</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 밖의 관련 기능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이름과 라이선스 위치를 알아 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Standby의 블록 변경 추적: 증분 백업 가속</a:t>
            </a:r>
          </a:p>
          <a:p>
            <a:pPr algn="l">
              <a:spcAft>
                <a:spcPts val="1000"/>
              </a:spcAft>
            </a:pPr>
            <a:r>
              <a:rPr sz="1700" b="0">
                <a:solidFill>
                  <a:srgbClr val="222222"/>
                </a:solidFill>
                <a:latin typeface="맑은 고딕"/>
              </a:rPr>
              <a:t>•  Far Sync, Real-Time Cascading (10장)</a:t>
            </a:r>
          </a:p>
          <a:p>
            <a:pPr algn="l">
              <a:spcAft>
                <a:spcPts val="1000"/>
              </a:spcAft>
            </a:pPr>
            <a:r>
              <a:rPr sz="1700" b="0">
                <a:solidFill>
                  <a:srgbClr val="222222"/>
                </a:solidFill>
                <a:latin typeface="맑은 고딕"/>
              </a:rPr>
              <a:t>•  DBMS_ROLLING 롤링 업그레이드</a:t>
            </a:r>
          </a:p>
          <a:p>
            <a:pPr algn="l">
              <a:spcAft>
                <a:spcPts val="1000"/>
              </a:spcAft>
            </a:pPr>
            <a:r>
              <a:rPr sz="1700" b="0">
                <a:solidFill>
                  <a:srgbClr val="222222"/>
                </a:solidFill>
                <a:latin typeface="맑은 고딕"/>
              </a:rPr>
              <a:t>•  Global Data Services, Application Continuity</a:t>
            </a:r>
          </a:p>
          <a:p>
            <a:pPr algn="l">
              <a:spcAft>
                <a:spcPts val="1000"/>
              </a:spcAft>
            </a:pPr>
            <a:r>
              <a:rPr sz="1700" b="0">
                <a:solidFill>
                  <a:srgbClr val="222222"/>
                </a:solidFill>
                <a:latin typeface="맑은 고딕"/>
              </a:rPr>
              <a:t>•  설치 스위치 없음, 쓰는 순간 옵션 사용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옵션 없이 쓸 수 있는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MOUNTED Standby</a:t>
            </a:r>
          </a:p>
          <a:p>
            <a:pPr algn="l">
              <a:spcAft>
                <a:spcPts val="800"/>
              </a:spcAft>
            </a:pPr>
            <a:r>
              <a:rPr sz="1600" b="0">
                <a:solidFill>
                  <a:srgbClr val="FFFFFF"/>
                </a:solidFill>
                <a:latin typeface="맑은 고딕"/>
              </a:rPr>
              <a:t>•  적용을 멈추고 READ ONLY로 여는 방식</a:t>
            </a:r>
          </a:p>
          <a:p>
            <a:pPr algn="l">
              <a:spcAft>
                <a:spcPts val="800"/>
              </a:spcAft>
            </a:pPr>
            <a:r>
              <a:rPr sz="1600" b="0">
                <a:solidFill>
                  <a:srgbClr val="FFFFFF"/>
                </a:solidFill>
                <a:latin typeface="맑은 고딕"/>
              </a:rPr>
              <a:t>•  선택지 비교</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MOUNTED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보호 수준과 역할 전환 능력은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사용자 테이블 조회: ORA-01219</a:t>
            </a:r>
          </a:p>
          <a:p>
            <a:pPr algn="l">
              <a:spcAft>
                <a:spcPts val="1000"/>
              </a:spcAft>
            </a:pPr>
            <a:r>
              <a:rPr sz="1700" b="0">
                <a:solidFill>
                  <a:srgbClr val="222222"/>
                </a:solidFill>
                <a:latin typeface="맑은 고딕"/>
              </a:rPr>
              <a:t>•  고정 테이블·V$ 뷰는 조회 가능</a:t>
            </a:r>
          </a:p>
          <a:p>
            <a:pPr algn="l">
              <a:spcAft>
                <a:spcPts val="1000"/>
              </a:spcAft>
            </a:pPr>
            <a:r>
              <a:rPr sz="1700" b="0">
                <a:solidFill>
                  <a:srgbClr val="222222"/>
                </a:solidFill>
                <a:latin typeface="맑은 고딕"/>
              </a:rPr>
              <a:t>•  Broker 명령 사용 가능, Real Time Query OFF</a:t>
            </a:r>
          </a:p>
          <a:p>
            <a:pPr algn="l">
              <a:spcAft>
                <a:spcPts val="1000"/>
              </a:spcAft>
            </a:pPr>
            <a:r>
              <a:rPr sz="1700" b="0">
                <a:solidFill>
                  <a:srgbClr val="222222"/>
                </a:solidFill>
                <a:latin typeface="맑은 고딕"/>
              </a:rPr>
              <a:t>•  RMAN 백업 가능, BCT만 불가</a:t>
            </a:r>
          </a:p>
          <a:p>
            <a:pPr algn="l">
              <a:spcAft>
                <a:spcPts val="1000"/>
              </a:spcAft>
            </a:pPr>
            <a:r>
              <a:rPr sz="1700" b="0">
                <a:solidFill>
                  <a:srgbClr val="222222"/>
                </a:solidFill>
                <a:latin typeface="맑은 고딕"/>
              </a:rPr>
              <a:t>•  조회 서비스 접속은 ORA-12514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적용을 멈추고 READ ONLY로 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조회 창 운영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적용을 멈추고 열면 옵션 없이 조회</a:t>
            </a:r>
          </a:p>
          <a:p>
            <a:pPr algn="l">
              <a:spcAft>
                <a:spcPts val="1000"/>
              </a:spcAft>
            </a:pPr>
            <a:r>
              <a:rPr sz="1700" b="0">
                <a:solidFill>
                  <a:srgbClr val="222222"/>
                </a:solidFill>
                <a:latin typeface="맑은 고딕"/>
              </a:rPr>
              <a:t>•  데이터는 멈춘 시점에 고정</a:t>
            </a:r>
          </a:p>
          <a:p>
            <a:pPr algn="l">
              <a:spcAft>
                <a:spcPts val="1000"/>
              </a:spcAft>
            </a:pPr>
            <a:r>
              <a:rPr sz="1700" b="0">
                <a:solidFill>
                  <a:srgbClr val="222222"/>
                </a:solidFill>
                <a:latin typeface="맑은 고딕"/>
              </a:rPr>
              <a:t>•  전송은 계속되어 손실 보호는 유지</a:t>
            </a:r>
          </a:p>
          <a:p>
            <a:pPr algn="l">
              <a:spcAft>
                <a:spcPts val="1000"/>
              </a:spcAft>
            </a:pPr>
            <a:r>
              <a:rPr sz="1700" b="0">
                <a:solidFill>
                  <a:srgbClr val="222222"/>
                </a:solidFill>
                <a:latin typeface="맑은 고딕"/>
              </a:rPr>
              <a:t>•  대가는 apply lag와 늘어나는 Failover 시간</a:t>
            </a:r>
          </a:p>
          <a:p>
            <a:pPr algn="l">
              <a:spcAft>
                <a:spcPts val="1000"/>
              </a:spcAft>
            </a:pPr>
            <a:r>
              <a:rPr sz="1700" b="0">
                <a:solidFill>
                  <a:srgbClr val="222222"/>
                </a:solidFill>
                <a:latin typeface="맑은 고딕"/>
              </a:rPr>
              <a:t>•  재개 전 반드시 재기동해 마운트로</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선택지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포기하는지 알고 고른다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MOUNTED: 조회 불가, 감시만, 기본 기능</a:t>
            </a:r>
          </a:p>
          <a:p>
            <a:pPr algn="l">
              <a:spcAft>
                <a:spcPts val="1000"/>
              </a:spcAft>
            </a:pPr>
            <a:r>
              <a:rPr sz="1700" b="0">
                <a:solidFill>
                  <a:srgbClr val="222222"/>
                </a:solidFill>
                <a:latin typeface="맑은 고딕"/>
              </a:rPr>
              <a:t>•  READ ONLY(적용 정지): 고정 데이터, 기본 기능</a:t>
            </a:r>
          </a:p>
          <a:p>
            <a:pPr algn="l">
              <a:spcAft>
                <a:spcPts val="1000"/>
              </a:spcAft>
            </a:pPr>
            <a:r>
              <a:rPr sz="1700" b="0">
                <a:solidFill>
                  <a:srgbClr val="222222"/>
                </a:solidFill>
                <a:latin typeface="맑은 고딕"/>
              </a:rPr>
              <a:t>•  READ ONLY WITH APPLY: 초 단위 신선도, 옵션</a:t>
            </a:r>
          </a:p>
          <a:p>
            <a:pPr algn="l">
              <a:spcAft>
                <a:spcPts val="1000"/>
              </a:spcAft>
            </a:pPr>
            <a:r>
              <a:rPr sz="1700" b="0">
                <a:solidFill>
                  <a:srgbClr val="222222"/>
                </a:solidFill>
                <a:latin typeface="맑은 고딕"/>
              </a:rPr>
              <a:t>•  Snapshot Standby: 갱신 가능, 나중에 폐기 (11장)</a:t>
            </a:r>
          </a:p>
          <a:p>
            <a:pPr algn="l">
              <a:spcAft>
                <a:spcPts val="1000"/>
              </a:spcAft>
            </a:pPr>
            <a:r>
              <a:rPr sz="1700" b="0">
                <a:solidFill>
                  <a:srgbClr val="222222"/>
                </a:solidFill>
                <a:latin typeface="맑은 고딕"/>
              </a:rPr>
              <a:t>•  Logical Standby: 별도 객체 가능 (12장)</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조회 부하와 apply lag</a:t>
            </a:r>
          </a:p>
          <a:p>
            <a:pPr algn="l">
              <a:spcAft>
                <a:spcPts val="800"/>
              </a:spcAft>
            </a:pPr>
            <a:r>
              <a:rPr sz="1600" b="0">
                <a:solidFill>
                  <a:srgbClr val="FFFFFF"/>
                </a:solidFill>
                <a:latin typeface="맑은 고딕"/>
              </a:rPr>
              <a:t>•  신선도 한도와 언두 보존</a:t>
            </a:r>
          </a:p>
          <a:p>
            <a:pPr algn="l">
              <a:spcAft>
                <a:spcPts val="800"/>
              </a:spcAft>
            </a:pPr>
            <a:r>
              <a:rPr sz="1600" b="0">
                <a:solidFill>
                  <a:srgbClr val="FFFFFF"/>
                </a:solidFill>
                <a:latin typeface="맑은 고딕"/>
              </a:rPr>
              <a:t>•  검증 계정과 임시 파일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조회 부하가 보호 수준을 깎지 않게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조회 부하가 크면 적용 자원이 줄어 apply lag 증가</a:t>
            </a:r>
          </a:p>
          <a:p>
            <a:pPr algn="l">
              <a:spcAft>
                <a:spcPts val="1000"/>
              </a:spcAft>
            </a:pPr>
            <a:r>
              <a:rPr sz="1700" b="0">
                <a:solidFill>
                  <a:srgbClr val="222222"/>
                </a:solidFill>
                <a:latin typeface="맑은 고딕"/>
              </a:rPr>
              <a:t>•  Resource Manager 또는 조회 전용 Standby 분리</a:t>
            </a:r>
          </a:p>
          <a:p>
            <a:pPr algn="l">
              <a:spcAft>
                <a:spcPts val="1000"/>
              </a:spcAft>
            </a:pPr>
            <a:r>
              <a:rPr sz="1700" b="0">
                <a:solidFill>
                  <a:srgbClr val="222222"/>
                </a:solidFill>
                <a:latin typeface="맑은 고딕"/>
              </a:rPr>
              <a:t>•  신선도 요구가 있으면 지연 한도를 반드시 설정</a:t>
            </a:r>
          </a:p>
          <a:p>
            <a:pPr algn="l">
              <a:spcAft>
                <a:spcPts val="1000"/>
              </a:spcAft>
            </a:pPr>
            <a:r>
              <a:rPr sz="1700" b="0">
                <a:solidFill>
                  <a:srgbClr val="222222"/>
                </a:solidFill>
                <a:latin typeface="맑은 고딕"/>
              </a:rPr>
              <a:t>•  긴 보고서는 Primary 언두 보존과 함께 조정</a:t>
            </a:r>
          </a:p>
          <a:p>
            <a:pPr algn="l">
              <a:spcAft>
                <a:spcPts val="1000"/>
              </a:spcAft>
            </a:pPr>
            <a:r>
              <a:rPr sz="1700" b="0">
                <a:solidFill>
                  <a:srgbClr val="222222"/>
                </a:solidFill>
                <a:latin typeface="맑은 고딕"/>
              </a:rPr>
              <a:t>•  검증은 일반 사용자로, 임시 파일은 직접 확인</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READ ONLY WITH APPLY가 대표적인 옵션 사용 상태</a:t>
            </a:r>
          </a:p>
          <a:p>
            <a:pPr algn="l">
              <a:spcAft>
                <a:spcPts val="1000"/>
              </a:spcAft>
            </a:pPr>
            <a:r>
              <a:rPr sz="1600" b="0">
                <a:solidFill>
                  <a:srgbClr val="222222"/>
                </a:solidFill>
                <a:latin typeface="맑은 고딕"/>
              </a:rPr>
              <a:t>•  실시간 적용과 실시간 조회는 다른 축</a:t>
            </a:r>
          </a:p>
          <a:p>
            <a:pPr algn="l">
              <a:spcAft>
                <a:spcPts val="1000"/>
              </a:spcAft>
            </a:pPr>
            <a:r>
              <a:rPr sz="1600" b="0">
                <a:solidFill>
                  <a:srgbClr val="222222"/>
                </a:solidFill>
                <a:latin typeface="맑은 고딕"/>
              </a:rPr>
              <a:t>•  언두와 쿼리 SCN으로 커밋된 데이터만 보임</a:t>
            </a:r>
          </a:p>
          <a:p>
            <a:pPr algn="l">
              <a:spcAft>
                <a:spcPts val="1000"/>
              </a:spcAft>
            </a:pPr>
            <a:r>
              <a:rPr sz="1600" b="0">
                <a:solidFill>
                  <a:srgbClr val="222222"/>
                </a:solidFill>
                <a:latin typeface="맑은 고딕"/>
              </a:rPr>
              <a:t>•  영구 파일·딕셔너리를 바꾸면 Standby에서 불가</a:t>
            </a:r>
          </a:p>
          <a:p>
            <a:pPr algn="l">
              <a:spcAft>
                <a:spcPts val="1000"/>
              </a:spcAft>
            </a:pPr>
            <a:r>
              <a:rPr sz="1600" b="0">
                <a:solidFill>
                  <a:srgbClr val="222222"/>
                </a:solidFill>
                <a:latin typeface="맑은 고딕"/>
              </a:rPr>
              <a:t>•  지연 한도 ORA-03172, zero lag는 SYNC·MaxAvail 전제</a:t>
            </a:r>
          </a:p>
          <a:p>
            <a:pPr algn="l">
              <a:spcAft>
                <a:spcPts val="1000"/>
              </a:spcAft>
            </a:pPr>
            <a:r>
              <a:rPr sz="1600" b="0">
                <a:solidFill>
                  <a:srgbClr val="222222"/>
                </a:solidFill>
                <a:latin typeface="맑은 고딕"/>
              </a:rPr>
              <a:t>•  리다이렉션: 16000 미시도, 16397 시도 후 실패, SYS 불가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옵션 사용 상태는? → READ ONLY에서 적용 중</a:t>
            </a:r>
          </a:p>
          <a:p>
            <a:pPr algn="l">
              <a:spcAft>
                <a:spcPts val="1000"/>
              </a:spcAft>
            </a:pPr>
            <a:r>
              <a:rPr sz="1600" b="0">
                <a:solidFill>
                  <a:srgbClr val="222222"/>
                </a:solidFill>
                <a:latin typeface="맑은 고딕"/>
              </a:rPr>
              <a:t>•  Q2. 커밋 전 행이 Standby에 보이나? → 보이지 않는다</a:t>
            </a:r>
          </a:p>
          <a:p>
            <a:pPr algn="l">
              <a:spcAft>
                <a:spcPts val="1000"/>
              </a:spcAft>
            </a:pPr>
            <a:r>
              <a:rPr sz="1600" b="0">
                <a:solidFill>
                  <a:srgbClr val="222222"/>
                </a:solidFill>
                <a:latin typeface="맑은 고딕"/>
              </a:rPr>
              <a:t>•  Q3. STANDBY_MAX_DATA_DELAY의 특징은? → 세션 단위, 초과 시 ORA-03172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zero lag 전제가 아닌 것은? → ADG_REDIRECT_DML</a:t>
            </a:r>
          </a:p>
          <a:p>
            <a:pPr algn="l">
              <a:spcAft>
                <a:spcPts val="1000"/>
              </a:spcAft>
            </a:pPr>
            <a:r>
              <a:rPr sz="1600" b="0">
                <a:solidFill>
                  <a:srgbClr val="222222"/>
                </a:solidFill>
                <a:latin typeface="맑은 고딕"/>
              </a:rPr>
              <a:t>•  Q5. Standby GTT INSERT가 되는 이유는? → 임시 언두</a:t>
            </a:r>
          </a:p>
          <a:p>
            <a:pPr algn="l">
              <a:spcAft>
                <a:spcPts val="1000"/>
              </a:spcAft>
            </a:pPr>
            <a:r>
              <a:rPr sz="1600" b="0">
                <a:solidFill>
                  <a:srgbClr val="222222"/>
                </a:solidFill>
                <a:latin typeface="맑은 고딕"/>
              </a:rPr>
              <a:t>•  Q6. 리다이렉션 켜고 CREATE INDEX하면? → ORA-16000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ADG 상태 확인 / 02 읽기 일관성 검증 (9.2, 9.3)</a:t>
            </a:r>
          </a:p>
          <a:p>
            <a:pPr algn="l">
              <a:spcAft>
                <a:spcPts val="1000"/>
              </a:spcAft>
            </a:pPr>
            <a:r>
              <a:rPr sz="1600" b="0">
                <a:solidFill>
                  <a:srgbClr val="222222"/>
                </a:solidFill>
                <a:latin typeface="맑은 고딕"/>
              </a:rPr>
              <a:t>•  03 되는 것과 안 되는 것 (9.4, 9.6)</a:t>
            </a:r>
          </a:p>
          <a:p>
            <a:pPr algn="l">
              <a:spcAft>
                <a:spcPts val="1000"/>
              </a:spcAft>
            </a:pPr>
            <a:r>
              <a:rPr sz="1600" b="0">
                <a:solidFill>
                  <a:srgbClr val="222222"/>
                </a:solidFill>
                <a:latin typeface="맑은 고딕"/>
              </a:rPr>
              <a:t>•  04 DML 리다이렉션 / 05 리다이렉션의 제약 (9.7)</a:t>
            </a:r>
          </a:p>
          <a:p>
            <a:pPr algn="l">
              <a:spcAft>
                <a:spcPts val="1000"/>
              </a:spcAft>
            </a:pPr>
            <a:r>
              <a:rPr sz="1600" b="0">
                <a:solidFill>
                  <a:srgbClr val="222222"/>
                </a:solidFill>
                <a:latin typeface="맑은 고딕"/>
              </a:rPr>
              <a:t>•  06 지연 한도 / 07 지연 히스토그램 (9.5)</a:t>
            </a:r>
          </a:p>
          <a:p>
            <a:pPr algn="l">
              <a:spcAft>
                <a:spcPts val="1000"/>
              </a:spcAft>
            </a:pPr>
            <a:r>
              <a:rPr sz="1600" b="0">
                <a:solidFill>
                  <a:srgbClr val="222222"/>
                </a:solidFill>
                <a:latin typeface="맑은 고딕"/>
              </a:rPr>
              <a:t>•  08 옵션 없는 대안 경로 (9.9)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
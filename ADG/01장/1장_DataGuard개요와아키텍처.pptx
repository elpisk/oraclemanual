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Guard를 백업의 확장으로 오해하는 경우가 많습니다. 둘은 막는 사고가 다릅니다. 백업은 사람이 저지른 논리적 오류를 되돌리고, Data Guard는 Primary가 물리적으로 사라지는 사고를 막습니다. 잘못된 DELETE는 리두를 타고 Standby에도 그대로 적용되므로 Standby가 방패가 되지 못합니다. 따라서 Data Guard를 도입해도 백업 주기를 줄여서는 안 된다는 점을 처음부터 분명히 해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30이라는 숫자는 임의로 정해진 값이 아니라 파라미터 구조에서 나옵니다. 12c 이후 LOG_ARCHIVE_DEST_n 목적지가 최대 31개이고 그중 하나를 로컬 아카이브가 쓰기 때문에 원격 목적지로 30개가 남습니다. 실무에서 30개를 다 채우는 경우는 거의 없지만, 이 숫자의 출처를 알아 두면 목적지 번호를 배정할 때 혼란이 줄어듭니다. 또한 Standby가 늘어나면 Primary의 전송 프로세스와 네트워크 부담도 함께 늘어나므로, 개수보다 배치 위치와 보호 모드 조합을 먼저 설계하는 것이 실무의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출발점입니다. 같은 조회를 두 노드에서 실행했을 때 무엇이 같고 무엇이 다른지가 Data Guard의 성질을 그대로 보여 줍니다. 특히 DB_NAME이 같다는 사실 때문에 접속한 노드를 착각하기 쉽습니다. 전송 목적지 지정, Broker 등록, 로그 판독의 기준 이름은 모두 DB_UNIQUE_NAME이라는 점을 반복해서 강조해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 17장에서 이미 RMAN DUPLICATE를 배웠기 때문에 5장의 명령이 낯설지 않을 것입니다. 다만 목적이 전혀 다릅니다. 일반 DUPLICATE는 복제 자체가 목적이라 새 DBID를 받아 독립합니다. FOR STANDBY는 복제 이후의 지속적 동기화가 목적이므로 DBID를 물려받습니다. DBID가 다르면 Primary가 보낸 리두는 다른 데이터베이스의 것으로 판정되어 적용되지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standby가 이 과정의 중심입니다. 4장부터 10장까지가 여기에 해당합니다. 가장 큰 장점은 단순함입니다. 리두를 SQL로 번역하지 않고 블록에 그대로 적용하므로 빠르고, 데이터 타입 제약도 없습니다. Active Data Guard 옵션이 있으면 재해 대비용으로 놀고 있는 장비가 아니라 조회 부하를 나눠 지는 실제 자원이 된다는 점이 도입 논거로 자주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standby는 쓰임이 좁습니다. 적용이 느리고 지원되지 않는 데이터 타입이 있어서 재해 대비 용도로는 physical이 압도적으로 유리합니다. 그럼에도 존재 이유가 분명한 것은 롤링 업그레이드 때문입니다. 버전이 다른 두 데이터베이스 사이에서도 SQL 수준의 적용은 가능하므로, 다운타임을 최소화하면서 패치셋이나 릴리스를 올릴 수 있습니다. 도입을 검토한다면 DBA_LOGSTDBY_UNSUPPORTED를 먼저 조회해 우리 스키마에 지원되지 않는 타입이 있는지 확인하는 것이 첫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standby의 핵심 성질은 "되돌리면 전부 사라진다"입니다. 이것은 선택이 아니라 규칙입니다. 테스트 결과를 남기고 싶다면 복귀 전에 Data Pump 등으로 별도 추출해야 합니다. 또 하나 주의할 점은 FRA 공간입니다. 변환 시 만들어지는 보장 복원 지점 때문에 플래시백 로그가 삭제되지 않으므로, 공간이 부족하면 변환 자체가 실패하거나 이후 운영이 막힙니다.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외우기보다 규칙을 이해하는 편이 낫습니다. CONTROLFILE_TYPE이 STANDBY인 것은 physical standby뿐입니다. 갱신 가능한 상태가 되려면 일반 컨트롤 파일이 필요하기 때문에 snapshot과 logical은 CURRENT입니다. OPEN_MODE의 READ ONLY WITH APPLY는 "열려 있으면서 적용받는" 상태로, Active Data Guard 옵션이 있어야 나타납니다.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04에서 직접 수행하는 내용입니다. 되돌린 뒤 ORA-00942가 나오는 것을 눈으로 보는 것이 중요합니다. 오류처럼 보이지만 설계된 동작이며, snapshot standby의 성질을 가장 분명하게 보여 주는 장면입니다. 복귀 과정에서 인스턴스를 두 번 재기동해야 한다는 점과, 그 사이에 나오는 ORA-01109가 실패가 아니라는 점도 함께 짚어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전송 방식의 선택이 곧 보호 모드의 선택입니다. SYNC는 Standby가 받았다는 확인을 기다린 뒤 커밋하므로 무손실에 가깝지만 Primary의 커밋 응답시간이 네트워크 왕복에 묶입니다. ASYNC는 커밋을 기다리지 않으므로 성능 영향이 작은 대신 미전송 리두만큼 손실 가능성이 남습니다. 실습 환경은 ASYNC이며 2장에서 SYNC로 바꿔 차이를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적용과 그렇지 않은 경우의 차이를 미리 언급해 두면 좋습니다. USING CURRENT LOGFILE 절을 주면 standby 리두 로그에 쓰이는 즉시 적용하고, 주지 않으면 아카이브가 완료된 뒤에야 적용합니다. 후자는 지연이 로그 하나 분량만큼 항상 존재하게 됩니다. 이 차이는 7장에서 실제로 관찰합니다. 실시간 적용을 쓰려면 Standby에 standby 리두 로그가 반드시 있어야 하며, 없으면 명령이 거부됩니다. 이 전제는 4장에서 SRL을 만들 때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Switchover와 Failover를 혼용하는 경우가 많은데 결과가 다릅니다. Switchover는 원래 Primary가 Standby로 살아남지만, Failover는 실패한 Primary가 구성에서 제거됩니다. 되살리려면 Reinstate 절차가 따로 필요하고 그 전제로 Flashback Database가 켜져 있어야 합니다. Fast-Start Failover는 복구 시간을 크게 줄이지만 오탐지 대비가 함께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Guard가 Primary에 주는 부담이 작은 이유가 여기 있습니다. 새로운 저장 계층을 만들지 않고 기존 LGWR과 ARCn 흐름에 전송 경로를 덧붙였기 때문입니다. ASYNC 구성에서는 LGWR이 전송에 거의 관여하지 않고 TTnn 슬레이브가 독립적으로 리두를 읽어 보냅니다. 그래서 Standby가 느리거나 네트워크가 나빠도 Primary의 커밋이 지연되지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V$PROCESS로도 프로세스 목록은 볼 수 있지만 각 TTnn이 무슨 일을 하는지는 알 수 없습니다. 19c의 V$DATAGUARD_PROCESS는 ROLE 열로 각 프로세스의 실제 임무를 알려 줍니다. 예전부터 쓰던 V$MANAGED_STANDBY는 ARCH·LNS·DGRD 같은 굵은 분류만 주므로, 19c 환경에서는 V$DATAGUARD_PROCESS를 기본으로 쓰는 편이 진단에 훨씬 유리합니다.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RFS가 여러 개 생기는 이유는 Primary의 전송 프로세스마다 짝이 하나씩 만들어지기 때문입니다. 실측에서 RFS가 세 개였고 각각 리두 본류, 갭 탐지 신호, 아카이브 갭 수신을 담당했습니다. MRP는 이름과 달리 직접 적용하지 않고 조율만 하며, 실제 적용은 PR00이 리두를 병합해 읽고 PR01 이후 슬레이브가 병렬로 수행합니다. 적용 슬레이브의 개수는 Standby의 CPU 수에 따라 결정되므로, 적용이 지속적으로 밀린다면 Standby의 자원 배분도 함께 살펴봐야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두 줄을 비교하는 습관이 Data Guard 진단의 기본기입니다. 시퀀스가 같으면 실시간으로 따라가고 있는 것이고, MRP0의 시퀀스가 뒤처지면 적용이 밀리는 것입니다. 시퀀스가 같은데 블록 차이가 크다면 순간적인 부하일 뿐이므로 조치가 필요 없습니다. 7장에서 부하를 걸어 실제로 지연이 생겼다가 회복되는 과정을 관찰합니다. 실무에서는 이 조회를 스크립트로 만들어 주기적으로 남겨 두면, 지연이 언제부터 벌어지기 시작했는지 사후에 추적할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CLIENT_ROLE은 19c에서 특히 유용한 열입니다. Standby의 각 rfs가 Primary의 어느 프로세스와 짝을 이루는지 알려 주기 때문에, 양쪽 조회 결과를 문자열로 맞추면 리두가 어느 경로로 흘러오는지 그림이 완성됩니다. 전송이 끊겼을 때 어느 경로가 죽었는지 특정하는 데 직접 쓰이므로 15장 문제 해결에서 다시 활용합니다. 반대로 Primary 쪽에서만 보면 보냈다는 사실까지만 알 수 있고 상대가 받았는지는 알 수 없으므로, 양쪽을 함께 보는 습관이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자동화가 Data Guard 운영을 가볍게 만드는 가장 큰 요소입니다. 네트워크가 잠시 끊겨도 DBA가 아무것도 하지 않아도 동기화가 회복됩니다. 다만 무조건은 아닙니다. Primary의 아카이브 로그를 공격적으로 삭제하는 정책을 쓰고 있다면 자동 해소가 실패할 수 있으므로, FRA 보존 정책과 Standby 적용 상태를 함께 고려해 삭제 정책을 세워야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Maximum Protection은 도입에 신중해야 합니다. 무손실 보장을 지키기 위해 가용성을 희생하는 선택이라, 네트워크 문제나 Standby 장애 하나가 Primary 정지로 직결됩니다. 무손실이 계약상 요구되는 경우가 아니라면 Maximum Availability가 현실적인 절충이며, 이 경우에도 Standby를 둘 이상 두어 단일 장애점을 없애는 편이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두 열의 차이를 아는 것만으로도 진단이 빨라집니다. 구성을 인수받아 처음 볼 때 두 값이 어긋나 있다면 설정 문제가 아니라 현재 전송에 문제가 있다는 뜻입니다. RESYNCHRONIZATION 같은 값이 보이면 갭을 메우는 중이라는 신호입니다. 2장에서 전송을 일부러 끊어 이 값이 어떻게 변하는지 재현합니다. 두 값이 어긋난 상태가 오래 지속되면 보호 수준이 설계와 다르게 운영되고 있다는 뜻이므로, 경보 대상으로 삼아 두는 것이 좋습니다. Broker를 쓰면 SHOW CONFIGURATION의 상태 문구로도 같은 신호를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항목이 실무 도입 논거로 가장 자주 쓰입니다. 재해 대비만을 위해 동일한 사양의 장비를 놀리는 것은 예산 설득이 어렵지만, 그 장비가 평소 리포팅 부하를 나눠 진다면 이야기가 달라집니다. 다만 Standby를 열어 조회에 쓰려면 Active Data Guard 옵션이 필요하다는 점을 예산 단계에서 분명히 해 두지 않으면 나중에 문제가 됩니다. 나머지 네 항목도 각각 근거 자료로 쓸 수 있으니, 도입 제안서를 쓸 때 이 다섯 가지를 축으로 정리하면 설득력이 높아집니다.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"다를 수 있다"와 "달라도 문제없다"는 다릅니다. 오라클이 혼합 플랫폼을 지원한다고 문서에 적어 두었지만 지원 조합은 두 MOS 문서로 엄격히 제한됩니다. 실제 구축 전에 반드시 확인해야 하며, 확인하지 않고 진행했다가 DUPLICATE 단계에서 막히는 사례가 드물지 않습니다. 학습 환경에서는 양쪽을 동일하게 맞추는 것이 안전합니다. 반대로 하드웨어 사양이 달라도 된다는 점은 적극적으로 활용할 만합니다. Standby를 Primary보다 낮은 사양으로 두는 구성도 가능하지만, 그만큼 적용이 밀릴 수 있다는 점은 감안해야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릴리스 일치는 19.3과 19.8을 다른 릴리스로 본다는 뜻입니다. 패치 적용 순서를 잘못 잡아 한쪽만 올렸다가 구성이 깨지는 사고가 흔합니다. Data Guard 환경의 패치는 항상 순서를 정해 두고 진행해야 합니다. ASM과 OMF의 대칭 사용도 마찬가지로, 한쪽만 OMF인 구성은 파일 경로 관리가 복잡해져 나중에 문제를 만듭니다. 릴리스 일치는 구축 시점뿐 아니라 운영 내내 지켜야 하는 조건이므로, 패치 계획 자체를 Data Guard 구성 단위로 세우는 것이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점검표에서 가장 중요한 것은 "무엇이 맞아야 하고 무엇은 달라도 되는가"를 구분하는 일입니다. SESSIONTIMEZONE이 다르다고 문제 삼거나, 반대로 DB_UNIQUE_NAME을 같게 맞추려다 구성이 안 되는 일이 실제로 있습니다. 엔디안 확인은 V$DATABASE와 V$TRANSPORTABLE_PLATFORM을 platform_name으로 조인하면 한 줄로 끝난다는 점도 기억해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이름에는 Active Data Guard가 들어가지만 내용의 대부분은 Enterprise Edition 기본 기능으로 실습할 수 있습니다. 옵션이 필요한 것은 9장과 10장뿐이며, 두 장에는 옵션 없이 같은 목적을 달성하는 대안 경로를 함께 실었습니다. 옵션을 보유하지 않은 환경이라면 Standby를 MOUNT 상태로 두면 나머지 실습은 그대로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03에서 직접 겪는 흐름입니다. 멀티테넌트 환경에서 DBA_ 뷰가 비어 있으면 CDB_ 뷰를 의심하라는 것이 첫 번째 교훈이고, 두 번째는 그렇게 찾아낸 값조차 판정 근거가 되지 못한다는 것입니다. 수집이 MMON의 주간 샘플링에 의존하는 데다 Real-Time Query는 Standby에서 일어나는 사건인데 읽기 전용 Standby는 자기 딕셔너리를 갱신할 수 없기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V$OPTION을 라이선스 근거로 오해하는 경우가 많습니다. Enterprise Edition을 설치하면 대부분의 옵션이 TRUE로 나타나며, 이는 기술적으로 사용 가능하다는 뜻일 뿐입니다. 기술적 가용성과 계약상 사용 권한은 별개이며, 이 구분은 Tuning 과정의 Diagnostics Pack에서 적용한 원칙과 같습니다. 라이선스 실사에 대비한다면 Standby의 OPEN_MODE를 시각과 함께 기록해 두는 것이 실용적입니다.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이렇게 잡은 데는 이유가 있습니다. Broker는 여러 노드에 걸친 파라미터 조정을 알아서 처리해 주므로 편리하지만, 문제가 생겼을 때 원인을 찾으려면 Broker가 감춰 둔 파라미터와 프로세스를 직접 들여다봐야 합니다. 손으로 먼저 해 본 사람은 Broker의 출력에서 무엇이 잘못됐는지 바로 읽어 낼 수 있습니다. 또한 Broker를 도입한 뒤에도 SQL로 설정한 파라미터가 Broker 속성과 어긋나면 경고가 발생하므로, 두 방식을 섞어 쓰지 않는 원칙을 정해 두어야 합니다. 15장에서 그 진단 방법을 다룹니다.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Data Guard 개요와 아키텍처</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Introduction to Oracle Data Guard — 무엇을 지키고 무엇으로 연결되는가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Primary·Standby · 세 가지 서비스 · 프로세스 지도 · 보호 모드 · 라이선스 경계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Data Guard의 정의와 구성 요소를 설명하고, Primary와 Standby가 무엇으로 연결되는지 말한다.</a:t>
            </a:r>
          </a:p>
          <a:p>
            <a:pPr algn="l">
              <a:spcAft>
                <a:spcPts val="1000"/>
              </a:spcAft>
            </a:pPr>
            <a:r>
              <a:rPr sz="1600" b="0">
                <a:solidFill>
                  <a:srgbClr val="222222"/>
                </a:solidFill>
                <a:latin typeface="맑은 고딕"/>
              </a:rPr>
              <a:t>•  Standby 세 유형(physical·logical·snapshot)을 구분하고 ROLE·OPEN_MODE 조합으로 확인한다.</a:t>
            </a:r>
          </a:p>
          <a:p>
            <a:pPr algn="l">
              <a:spcAft>
                <a:spcPts val="1000"/>
              </a:spcAft>
            </a:pPr>
            <a:r>
              <a:rPr sz="1600" b="0">
                <a:solidFill>
                  <a:srgbClr val="222222"/>
                </a:solidFill>
                <a:latin typeface="맑은 고딕"/>
              </a:rPr>
              <a:t>•  세 가지 서비스(리두 전송·적용·역할 관리)를 구분하고 각각의 구현 프로세스와 연결한다.</a:t>
            </a:r>
          </a:p>
          <a:p>
            <a:pPr algn="l">
              <a:spcAft>
                <a:spcPts val="1000"/>
              </a:spcAft>
            </a:pPr>
            <a:r>
              <a:rPr sz="1600" b="0">
                <a:solidFill>
                  <a:srgbClr val="222222"/>
                </a:solidFill>
                <a:latin typeface="맑은 고딕"/>
              </a:rPr>
              <a:t>•  Primary·Standby의 백그라운드 프로세스를 V$MANAGED_STANDBY·V$DATAGUARD_PROCESS로 식별한다.</a:t>
            </a:r>
          </a:p>
          <a:p>
            <a:pPr algn="l">
              <a:spcAft>
                <a:spcPts val="1000"/>
              </a:spcAft>
            </a:pPr>
            <a:r>
              <a:rPr sz="1600" b="0">
                <a:solidFill>
                  <a:srgbClr val="222222"/>
                </a:solidFill>
                <a:latin typeface="맑은 고딕"/>
              </a:rPr>
              <a:t>•  자동 갭 탐지·해소의 동작과 한계를 설명한다.</a:t>
            </a:r>
          </a:p>
          <a:p>
            <a:pPr algn="l">
              <a:spcAft>
                <a:spcPts val="1000"/>
              </a:spcAft>
            </a:pPr>
            <a:r>
              <a:rPr sz="1600" b="0">
                <a:solidFill>
                  <a:srgbClr val="222222"/>
                </a:solidFill>
                <a:latin typeface="맑은 고딕"/>
              </a:rPr>
              <a:t>•  세 가지 데이터 보호 모드의 이름과 기본값을 알고 현재 구성을 확인한다.</a:t>
            </a:r>
          </a:p>
          <a:p>
            <a:pPr algn="l">
              <a:spcAft>
                <a:spcPts val="1000"/>
              </a:spcAft>
            </a:pPr>
            <a:r>
              <a:rPr sz="1600" b="0">
                <a:solidFill>
                  <a:srgbClr val="222222"/>
                </a:solidFill>
                <a:latin typeface="맑은 고딕"/>
              </a:rPr>
              <a:t>•  구성 전에 두 노드에서 맞춰야 할 항목을 점검표로 확인한다.</a:t>
            </a:r>
          </a:p>
          <a:p>
            <a:pPr algn="l">
              <a:spcAft>
                <a:spcPts val="1000"/>
              </a:spcAft>
            </a:pPr>
            <a:r>
              <a:rPr sz="1600" b="0">
                <a:solidFill>
                  <a:srgbClr val="222222"/>
                </a:solidFill>
                <a:latin typeface="맑은 고딕"/>
              </a:rPr>
              <a:t>•  EE 기본 Data Guard와 Active Data Guard 옵션의 경계를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1.2  Data Guard란 무엇인가</a:t>
            </a:r>
          </a:p>
          <a:p>
            <a:pPr algn="l">
              <a:spcAft>
                <a:spcPts val="1000"/>
              </a:spcAft>
            </a:pPr>
            <a:r>
              <a:rPr sz="1600" b="0">
                <a:solidFill>
                  <a:srgbClr val="222222"/>
                </a:solidFill>
                <a:latin typeface="맑은 고딕"/>
              </a:rPr>
              <a:t>•  1.3  Standby 데이터베이스의 세 유형</a:t>
            </a:r>
          </a:p>
          <a:p>
            <a:pPr algn="l">
              <a:spcAft>
                <a:spcPts val="1000"/>
              </a:spcAft>
            </a:pPr>
            <a:r>
              <a:rPr sz="1600" b="0">
                <a:solidFill>
                  <a:srgbClr val="222222"/>
                </a:solidFill>
                <a:latin typeface="맑은 고딕"/>
              </a:rPr>
              <a:t>•  1.4  Data Guard가 제공하는 세 가지 서비스</a:t>
            </a:r>
          </a:p>
          <a:p>
            <a:pPr algn="l">
              <a:spcAft>
                <a:spcPts val="1000"/>
              </a:spcAft>
            </a:pPr>
            <a:r>
              <a:rPr sz="1600" b="0">
                <a:solidFill>
                  <a:srgbClr val="222222"/>
                </a:solidFill>
                <a:latin typeface="맑은 고딕"/>
              </a:rPr>
              <a:t>•  1.5  아키텍처 — 프로세스 지도</a:t>
            </a:r>
          </a:p>
          <a:p>
            <a:pPr algn="l">
              <a:spcAft>
                <a:spcPts val="1000"/>
              </a:spcAft>
            </a:pPr>
            <a:r>
              <a:rPr sz="1600" b="0">
                <a:solidFill>
                  <a:srgbClr val="222222"/>
                </a:solidFill>
                <a:latin typeface="맑은 고딕"/>
              </a:rPr>
              <a:t>•  1.6  데이터 보호 모드 개요</a:t>
            </a:r>
          </a:p>
          <a:p>
            <a:pPr algn="l">
              <a:spcAft>
                <a:spcPts val="1000"/>
              </a:spcAft>
            </a:pPr>
            <a:r>
              <a:rPr sz="1600" b="0">
                <a:solidFill>
                  <a:srgbClr val="222222"/>
                </a:solidFill>
                <a:latin typeface="맑은 고딕"/>
              </a:rPr>
              <a:t>•  1.7  도입 효과와 운영 요건</a:t>
            </a:r>
          </a:p>
          <a:p>
            <a:pPr algn="l">
              <a:spcAft>
                <a:spcPts val="1000"/>
              </a:spcAft>
            </a:pPr>
            <a:r>
              <a:rPr sz="1600" b="0">
                <a:solidFill>
                  <a:srgbClr val="222222"/>
                </a:solidFill>
                <a:latin typeface="맑은 고딕"/>
              </a:rPr>
              <a:t>•  1.8  라이선스 경계 — EE 기본과 ADG 옵션</a:t>
            </a:r>
          </a:p>
          <a:p>
            <a:pPr algn="l">
              <a:spcAft>
                <a:spcPts val="1000"/>
              </a:spcAft>
            </a:pPr>
            <a:r>
              <a:rPr sz="1600" b="0">
                <a:solidFill>
                  <a:srgbClr val="222222"/>
                </a:solidFill>
                <a:latin typeface="맑은 고딕"/>
              </a:rPr>
              <a:t>•  1.9  구성을 관리하는 두 가지 방법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 Guard란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관리·모니터링·자동화 소프트웨어 인프라</a:t>
            </a:r>
          </a:p>
          <a:p>
            <a:pPr algn="l">
              <a:spcAft>
                <a:spcPts val="800"/>
              </a:spcAft>
            </a:pPr>
            <a:r>
              <a:rPr sz="1600" b="0">
                <a:solidFill>
                  <a:srgbClr val="FFFFFF"/>
                </a:solidFill>
                <a:latin typeface="맑은 고딕"/>
              </a:rPr>
              <a:t>•  Primary 1대 + Standby 최대 30대</a:t>
            </a:r>
          </a:p>
          <a:p>
            <a:pPr algn="l">
              <a:spcAft>
                <a:spcPts val="800"/>
              </a:spcAft>
            </a:pPr>
            <a:r>
              <a:rPr sz="1600" b="0">
                <a:solidFill>
                  <a:srgbClr val="FFFFFF"/>
                </a:solidFill>
                <a:latin typeface="맑은 고딕"/>
              </a:rPr>
              <a:t>•  실습 환경으로 직접 확인한다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 Guard의 정의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백업이 아니라 "따라오는 데이터베이스"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운영 DB 한 대와 복제본 여러 대를 함께 관리하는 소프트웨어 인프라</a:t>
            </a:r>
          </a:p>
          <a:p>
            <a:pPr algn="l">
              <a:spcAft>
                <a:spcPts val="1000"/>
              </a:spcAft>
            </a:pPr>
            <a:r>
              <a:rPr sz="1700" b="0">
                <a:solidFill>
                  <a:srgbClr val="222222"/>
                </a:solidFill>
                <a:latin typeface="맑은 고딕"/>
              </a:rPr>
              <a:t>•  목적: 장애·오류·손상으로부터 데이터를 보호한다</a:t>
            </a:r>
          </a:p>
          <a:p>
            <a:pPr algn="l">
              <a:spcAft>
                <a:spcPts val="1000"/>
              </a:spcAft>
            </a:pPr>
            <a:r>
              <a:rPr sz="1700" b="0">
                <a:solidFill>
                  <a:srgbClr val="222222"/>
                </a:solidFill>
                <a:latin typeface="맑은 고딕"/>
              </a:rPr>
              <a:t>•  백업은 과거 시점으로 되돌리는 수단, Data Guard는 현재를 따라오는 또 하나의 DB</a:t>
            </a:r>
          </a:p>
          <a:p>
            <a:pPr algn="l">
              <a:spcAft>
                <a:spcPts val="1000"/>
              </a:spcAft>
            </a:pPr>
            <a:r>
              <a:rPr sz="1700" b="0">
                <a:solidFill>
                  <a:srgbClr val="222222"/>
                </a:solidFill>
                <a:latin typeface="맑은 고딕"/>
              </a:rPr>
              <a:t>•  한 문장 요약: Primary의 리두를 Standby로 옮기고 적용해 같은 상태를 유지한다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Primary와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이름과 개수의 규칙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운영 DB = Primary database / 동기화된 복제본 = Standby database</a:t>
            </a:r>
          </a:p>
          <a:p>
            <a:pPr algn="l">
              <a:spcAft>
                <a:spcPts val="1000"/>
              </a:spcAft>
            </a:pPr>
            <a:r>
              <a:rPr sz="1700" b="0">
                <a:solidFill>
                  <a:srgbClr val="222222"/>
                </a:solidFill>
                <a:latin typeface="맑은 고딕"/>
              </a:rPr>
              <a:t>•  하나의 Primary에 최대 30개의 Standby</a:t>
            </a:r>
          </a:p>
          <a:p>
            <a:pPr algn="l">
              <a:spcAft>
                <a:spcPts val="1000"/>
              </a:spcAft>
            </a:pPr>
            <a:r>
              <a:rPr sz="1700" b="0">
                <a:solidFill>
                  <a:srgbClr val="222222"/>
                </a:solidFill>
                <a:latin typeface="맑은 고딕"/>
              </a:rPr>
              <a:t>•  한계의 출처: LOG_ARCHIVE_DEST_n 목적지 31개 중 하나는 로컬 아카이브가 사용</a:t>
            </a:r>
          </a:p>
          <a:p>
            <a:pPr algn="l">
              <a:spcAft>
                <a:spcPts val="1000"/>
              </a:spcAft>
            </a:pPr>
            <a:r>
              <a:rPr sz="1700" b="0">
                <a:solidFill>
                  <a:srgbClr val="222222"/>
                </a:solidFill>
                <a:latin typeface="맑은 고딕"/>
              </a:rPr>
              <a:t>•  Primary와 Standby들을 통틀어 "Data Guard 구성(configuration)"이라 부른다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환경 구성 확인 — V$DATABASE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조회, 다른 결과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chicago: PRIMARY / READ WRITE / MAXIMUM PERFORMANCE</a:t>
            </a:r>
          </a:p>
          <a:p>
            <a:pPr algn="l">
              <a:spcAft>
                <a:spcPts val="1000"/>
              </a:spcAft>
            </a:pPr>
            <a:r>
              <a:rPr sz="1700" b="0">
                <a:solidFill>
                  <a:srgbClr val="222222"/>
                </a:solidFill>
                <a:latin typeface="맑은 고딕"/>
              </a:rPr>
              <a:t>•  boston: PHYSICAL STANDBY / READ ONLY WITH APPLY / MAXIMUM PERFORMANCE</a:t>
            </a:r>
          </a:p>
          <a:p>
            <a:pPr algn="l">
              <a:spcAft>
                <a:spcPts val="1000"/>
              </a:spcAft>
            </a:pPr>
            <a:r>
              <a:rPr sz="1700" b="0">
                <a:solidFill>
                  <a:srgbClr val="222222"/>
                </a:solidFill>
                <a:latin typeface="맑은 고딕"/>
              </a:rPr>
              <a:t>•  NAME은 양쪽 모두 CHICAGO — DB_NAME은 물리 복제본이므로 같다</a:t>
            </a:r>
          </a:p>
          <a:p>
            <a:pPr algn="l">
              <a:spcAft>
                <a:spcPts val="1000"/>
              </a:spcAft>
            </a:pPr>
            <a:r>
              <a:rPr sz="1700" b="0">
                <a:solidFill>
                  <a:srgbClr val="222222"/>
                </a:solidFill>
                <a:latin typeface="맑은 고딕"/>
              </a:rPr>
              <a:t>•  DB_UNIQUE_NAME만 chicago / boston으로 다르다 — 둘을 구별하는 유일한 이름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DBID가 같다는 것의 의미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 17장과 갈리는 지점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실측: 양쪽 DBID가 모두 1852041610으로 동일</a:t>
            </a:r>
          </a:p>
          <a:p>
            <a:pPr algn="l">
              <a:spcAft>
                <a:spcPts val="1000"/>
              </a:spcAft>
            </a:pPr>
            <a:r>
              <a:rPr sz="1700" b="0">
                <a:solidFill>
                  <a:srgbClr val="222222"/>
                </a:solidFill>
                <a:latin typeface="맑은 고딕"/>
              </a:rPr>
              <a:t>•  DUPLICATE TARGET DATABASE TO &lt;새이름&gt; → 새 DBID, 원본과 관계 단절, 결과는 OPEN</a:t>
            </a:r>
          </a:p>
          <a:p>
            <a:pPr algn="l">
              <a:spcAft>
                <a:spcPts val="1000"/>
              </a:spcAft>
            </a:pPr>
            <a:r>
              <a:rPr sz="1700" b="0">
                <a:solidFill>
                  <a:srgbClr val="222222"/>
                </a:solidFill>
                <a:latin typeface="맑은 고딕"/>
              </a:rPr>
              <a:t>•  DUPLICATE ... FOR STANDBY → 원본 DBID 유지, 리두로 계속 연결, 결과는 MOUNT+Redo Apply</a:t>
            </a:r>
          </a:p>
          <a:p>
            <a:pPr algn="l">
              <a:spcAft>
                <a:spcPts val="1000"/>
              </a:spcAft>
            </a:pPr>
            <a:r>
              <a:rPr sz="1700" b="0">
                <a:solidFill>
                  <a:srgbClr val="222222"/>
                </a:solidFill>
                <a:latin typeface="맑은 고딕"/>
              </a:rPr>
              <a:t>•  CONTROLFILE_TYPE도 CURRENT / STANDBY로 갈린다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 데이터베이스의 세 유형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기준은 "리두를 어떻게 소화하는가"</a:t>
            </a:r>
          </a:p>
          <a:p>
            <a:pPr algn="l">
              <a:spcAft>
                <a:spcPts val="800"/>
              </a:spcAft>
            </a:pPr>
            <a:r>
              <a:rPr sz="1600" b="0">
                <a:solidFill>
                  <a:srgbClr val="FFFFFF"/>
                </a:solidFill>
                <a:latin typeface="맑은 고딕"/>
              </a:rPr>
              <a:t>•  physical · logical · snapshot</a:t>
            </a:r>
          </a:p>
          <a:p>
            <a:pPr algn="l">
              <a:spcAft>
                <a:spcPts val="800"/>
              </a:spcAft>
            </a:pPr>
            <a:r>
              <a:rPr sz="1600" b="0">
                <a:solidFill>
                  <a:srgbClr val="FFFFFF"/>
                </a:solidFill>
                <a:latin typeface="맑은 고딕"/>
              </a:rPr>
              <a:t>•  ROLE과 OPEN_MODE 조합으로 판별한다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Physical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블록 단위로 동일한 복제본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디스크 구조가 Primary와 블록 단위로 같다</a:t>
            </a:r>
          </a:p>
          <a:p>
            <a:pPr algn="l">
              <a:spcAft>
                <a:spcPts val="1000"/>
              </a:spcAft>
            </a:pPr>
            <a:r>
              <a:rPr sz="1700" b="0">
                <a:solidFill>
                  <a:srgbClr val="222222"/>
                </a:solidFill>
                <a:latin typeface="맑은 고딕"/>
              </a:rPr>
              <a:t>•  동기화 방식: 미디어 복구(Redo Apply) — 리두를 그대로 적용</a:t>
            </a:r>
          </a:p>
          <a:p>
            <a:pPr algn="l">
              <a:spcAft>
                <a:spcPts val="1000"/>
              </a:spcAft>
            </a:pPr>
            <a:r>
              <a:rPr sz="1700" b="0">
                <a:solidFill>
                  <a:srgbClr val="222222"/>
                </a:solidFill>
                <a:latin typeface="맑은 고딕"/>
              </a:rPr>
              <a:t>•  해석 과정이 없으므로 가장 빠르고, 지원하지 않는 데이터 타입이 없다</a:t>
            </a:r>
          </a:p>
          <a:p>
            <a:pPr algn="l">
              <a:spcAft>
                <a:spcPts val="1000"/>
              </a:spcAft>
            </a:pPr>
            <a:r>
              <a:rPr sz="1700" b="0">
                <a:solidFill>
                  <a:srgbClr val="222222"/>
                </a:solidFill>
                <a:latin typeface="맑은 고딕"/>
              </a:rPr>
              <a:t>•  12c 이후 읽기 전용으로 열린 상태에서도 적용 가능 → Real-Time Query (ADG 옵션)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Logical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Apply와 롤링 업그레이드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논리 정보를 담되 물리 구조는 다를 수 있다</a:t>
            </a:r>
          </a:p>
          <a:p>
            <a:pPr algn="l">
              <a:spcAft>
                <a:spcPts val="1000"/>
              </a:spcAft>
            </a:pPr>
            <a:r>
              <a:rPr sz="1700" b="0">
                <a:solidFill>
                  <a:srgbClr val="222222"/>
                </a:solidFill>
                <a:latin typeface="맑은 고딕"/>
              </a:rPr>
              <a:t>•  LogMiner로 리두를 읽어 동등한 SQL로 변환한 뒤 실행</a:t>
            </a:r>
          </a:p>
          <a:p>
            <a:pPr algn="l">
              <a:spcAft>
                <a:spcPts val="1000"/>
              </a:spcAft>
            </a:pPr>
            <a:r>
              <a:rPr sz="1700" b="0">
                <a:solidFill>
                  <a:srgbClr val="222222"/>
                </a:solidFill>
                <a:latin typeface="맑은 고딕"/>
              </a:rPr>
              <a:t>•  읽기/쓰기로 열려 있어 Primary에 없는 인덱스·구체화 뷰 추가 가능</a:t>
            </a:r>
          </a:p>
          <a:p>
            <a:pPr algn="l">
              <a:spcAft>
                <a:spcPts val="1000"/>
              </a:spcAft>
            </a:pPr>
            <a:r>
              <a:rPr sz="1700" b="0">
                <a:solidFill>
                  <a:srgbClr val="222222"/>
                </a:solidFill>
                <a:latin typeface="맑은 고딕"/>
              </a:rPr>
              <a:t>•  대가: 지원하지 않는 데이터 타입·구문이 있고 적용이 느리다</a:t>
            </a:r>
          </a:p>
          <a:p>
            <a:pPr algn="l">
              <a:spcAft>
                <a:spcPts val="1000"/>
              </a:spcAft>
            </a:pPr>
            <a:r>
              <a:rPr sz="1700" b="0">
                <a:solidFill>
                  <a:srgbClr val="222222"/>
                </a:solidFill>
                <a:latin typeface="맑은 고딕"/>
              </a:rPr>
              <a:t>•  대표 용도: 롤링 업그레이드 (12장)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Snapshot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임시로 갱신 가능한 Standby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physical standby를 변환해 만든다. 리두는 계속 받되 적용하지 않고 쌓아 둔다</a:t>
            </a:r>
          </a:p>
          <a:p>
            <a:pPr algn="l">
              <a:spcAft>
                <a:spcPts val="1000"/>
              </a:spcAft>
            </a:pPr>
            <a:r>
              <a:rPr sz="1700" b="0">
                <a:solidFill>
                  <a:srgbClr val="222222"/>
                </a:solidFill>
                <a:latin typeface="맑은 고딕"/>
              </a:rPr>
              <a:t>•  그동안 읽기/쓰기로 열려 자유롭게 변경 가능</a:t>
            </a:r>
          </a:p>
          <a:p>
            <a:pPr algn="l">
              <a:spcAft>
                <a:spcPts val="1000"/>
              </a:spcAft>
            </a:pPr>
            <a:r>
              <a:rPr sz="1700" b="0">
                <a:solidFill>
                  <a:srgbClr val="222222"/>
                </a:solidFill>
                <a:latin typeface="맑은 고딕"/>
              </a:rPr>
              <a:t>•  되돌리면 변경은 전부 폐기되고, 쌓인 리두가 한꺼번에 적용된다</a:t>
            </a:r>
          </a:p>
          <a:p>
            <a:pPr algn="l">
              <a:spcAft>
                <a:spcPts val="1000"/>
              </a:spcAft>
            </a:pPr>
            <a:r>
              <a:rPr sz="1700" b="0">
                <a:solidFill>
                  <a:srgbClr val="222222"/>
                </a:solidFill>
                <a:latin typeface="맑은 고딕"/>
              </a:rPr>
              <a:t>•  바탕은 Flashback Database — 변환 시 보장 복원 지점 자동 생성</a:t>
            </a:r>
          </a:p>
          <a:p>
            <a:pPr algn="l">
              <a:spcAft>
                <a:spcPts val="1000"/>
              </a:spcAft>
            </a:pPr>
            <a:r>
              <a:rPr sz="1700" b="0">
                <a:solidFill>
                  <a:srgbClr val="222222"/>
                </a:solidFill>
                <a:latin typeface="맑은 고딕"/>
              </a:rPr>
              <a:t>•  대표 용도: 운영 데이터로 하는 테스트 (11장)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유형의 ROLE / OPEN_MODE 조합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열만 보면 판별된다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 READ WRITE / CURRENT</a:t>
            </a:r>
          </a:p>
          <a:p>
            <a:pPr algn="l">
              <a:spcAft>
                <a:spcPts val="1000"/>
              </a:spcAft>
            </a:pPr>
            <a:r>
              <a:rPr sz="1700" b="0">
                <a:solidFill>
                  <a:srgbClr val="222222"/>
                </a:solidFill>
                <a:latin typeface="맑은 고딕"/>
              </a:rPr>
              <a:t>•  PHYSICAL STANDBY / MOUNTED / STANDBY  (ADG 옵션 없음)</a:t>
            </a:r>
          </a:p>
          <a:p>
            <a:pPr algn="l">
              <a:spcAft>
                <a:spcPts val="1000"/>
              </a:spcAft>
            </a:pPr>
            <a:r>
              <a:rPr sz="1700" b="0">
                <a:solidFill>
                  <a:srgbClr val="222222"/>
                </a:solidFill>
                <a:latin typeface="맑은 고딕"/>
              </a:rPr>
              <a:t>•  PHYSICAL STANDBY / READ ONLY WITH APPLY / STANDBY  (ADG 옵션 있음)</a:t>
            </a:r>
          </a:p>
          <a:p>
            <a:pPr algn="l">
              <a:spcAft>
                <a:spcPts val="1000"/>
              </a:spcAft>
            </a:pPr>
            <a:r>
              <a:rPr sz="1700" b="0">
                <a:solidFill>
                  <a:srgbClr val="222222"/>
                </a:solidFill>
                <a:latin typeface="맑은 고딕"/>
              </a:rPr>
              <a:t>•  SNAPSHOT STANDBY / READ WRITE / CURRENT</a:t>
            </a:r>
          </a:p>
          <a:p>
            <a:pPr algn="l">
              <a:spcAft>
                <a:spcPts val="1000"/>
              </a:spcAft>
            </a:pPr>
            <a:r>
              <a:rPr sz="1700" b="0">
                <a:solidFill>
                  <a:srgbClr val="222222"/>
                </a:solidFill>
                <a:latin typeface="맑은 고딕"/>
              </a:rPr>
              <a:t>•  LOGICAL STANDBY / READ WRITE / CURRENT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snapshot 변환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값이 실제로 어떻게 바뀌는가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CONVERT TO SNAPSHOT STANDBY 후: SNAPSHOT STANDBY / READ WRITE / CURRENT</a:t>
            </a:r>
          </a:p>
          <a:p>
            <a:pPr algn="l">
              <a:spcAft>
                <a:spcPts val="1000"/>
              </a:spcAft>
            </a:pPr>
            <a:r>
              <a:rPr sz="1700" b="0">
                <a:solidFill>
                  <a:srgbClr val="222222"/>
                </a:solidFill>
                <a:latin typeface="맑은 고딕"/>
              </a:rPr>
              <a:t>•  자동 생성된 복원 지점: SNAPSHOT_STANDBY_REQUIRED_08/26/2026 18:22:01, SCN 2173646, GUARANTEE=YES</a:t>
            </a:r>
          </a:p>
          <a:p>
            <a:pPr algn="l">
              <a:spcAft>
                <a:spcPts val="1000"/>
              </a:spcAft>
            </a:pPr>
            <a:r>
              <a:rPr sz="1700" b="0">
                <a:solidFill>
                  <a:srgbClr val="222222"/>
                </a:solidFill>
                <a:latin typeface="맑은 고딕"/>
              </a:rPr>
              <a:t>•  이 상태에서 CREATE TABLE / INSERT / COMMIT 모두 성공</a:t>
            </a:r>
          </a:p>
          <a:p>
            <a:pPr algn="l">
              <a:spcAft>
                <a:spcPts val="1000"/>
              </a:spcAft>
            </a:pPr>
            <a:r>
              <a:rPr sz="1700" b="0">
                <a:solidFill>
                  <a:srgbClr val="222222"/>
                </a:solidFill>
                <a:latin typeface="맑은 고딕"/>
              </a:rPr>
              <a:t>•  복귀 후 같은 테이블 조회 → ORA-00942 : 변경이 폐기됐다</a:t>
            </a:r>
          </a:p>
          <a:p>
            <a:pPr algn="l">
              <a:spcAft>
                <a:spcPts val="1000"/>
              </a:spcAft>
            </a:pPr>
            <a:r>
              <a:rPr sz="1700" b="0">
                <a:solidFill>
                  <a:srgbClr val="222222"/>
                </a:solidFill>
                <a:latin typeface="맑은 고딕"/>
              </a:rPr>
              <a:t>•  복원 지점도 함께 제거되어 V$RESTORE_POINT는 0행</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 Guard가 제공하는 세 가지 서비스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리두 전송 서비스</a:t>
            </a:r>
          </a:p>
          <a:p>
            <a:pPr algn="l">
              <a:spcAft>
                <a:spcPts val="800"/>
              </a:spcAft>
            </a:pPr>
            <a:r>
              <a:rPr sz="1600" b="0">
                <a:solidFill>
                  <a:srgbClr val="FFFFFF"/>
                </a:solidFill>
                <a:latin typeface="맑은 고딕"/>
              </a:rPr>
              <a:t>•  적용 서비스 (Redo Apply / SQL Apply)</a:t>
            </a:r>
          </a:p>
          <a:p>
            <a:pPr algn="l">
              <a:spcAft>
                <a:spcPts val="800"/>
              </a:spcAft>
            </a:pPr>
            <a:r>
              <a:rPr sz="1600" b="0">
                <a:solidFill>
                  <a:srgbClr val="FFFFFF"/>
                </a:solidFill>
                <a:latin typeface="맑은 고딕"/>
              </a:rPr>
              <a:t>•  역할 관리 서비스 (Switchover / Failover)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전송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보낼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Primary의 리두를 하나 이상의 Standby 또는 아카이브 목적지로 자동 전달</a:t>
            </a:r>
          </a:p>
          <a:p>
            <a:pPr algn="l">
              <a:spcAft>
                <a:spcPts val="1000"/>
              </a:spcAft>
            </a:pPr>
            <a:r>
              <a:rPr sz="1700" b="0">
                <a:solidFill>
                  <a:srgbClr val="222222"/>
                </a:solidFill>
                <a:latin typeface="맑은 고딕"/>
              </a:rPr>
              <a:t>•  동기(SYNC)와 비동기(ASYNC) — 이 선택이 보호 수준과 Primary 성능의 균형점</a:t>
            </a:r>
          </a:p>
          <a:p>
            <a:pPr algn="l">
              <a:spcAft>
                <a:spcPts val="1000"/>
              </a:spcAft>
            </a:pPr>
            <a:r>
              <a:rPr sz="1700" b="0">
                <a:solidFill>
                  <a:srgbClr val="222222"/>
                </a:solidFill>
                <a:latin typeface="맑은 고딕"/>
              </a:rPr>
              <a:t>•  목적지와 방식은 LOG_ARCHIVE_DEST_n에 속성으로 기술</a:t>
            </a:r>
          </a:p>
          <a:p>
            <a:pPr algn="l">
              <a:spcAft>
                <a:spcPts val="1000"/>
              </a:spcAft>
            </a:pPr>
            <a:r>
              <a:rPr sz="1700" b="0">
                <a:solidFill>
                  <a:srgbClr val="222222"/>
                </a:solidFill>
                <a:latin typeface="맑은 고딕"/>
              </a:rPr>
              <a:t>•  2장(보호 모드)과 3장(Oracle Net)에서 다룬다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어떻게 반영할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Physical standby → Redo Apply : 미디어 복구 기능으로 블록 단위 적용</a:t>
            </a:r>
          </a:p>
          <a:p>
            <a:pPr algn="l">
              <a:spcAft>
                <a:spcPts val="1000"/>
              </a:spcAft>
            </a:pPr>
            <a:r>
              <a:rPr sz="1700" b="0">
                <a:solidFill>
                  <a:srgbClr val="222222"/>
                </a:solidFill>
                <a:latin typeface="맑은 고딕"/>
              </a:rPr>
              <a:t>•  Logical standby → SQL Apply : 리두를 SQL로 변환해 실행</a:t>
            </a:r>
          </a:p>
          <a:p>
            <a:pPr algn="l">
              <a:spcAft>
                <a:spcPts val="1000"/>
              </a:spcAft>
            </a:pPr>
            <a:r>
              <a:rPr sz="1700" b="0">
                <a:solidFill>
                  <a:srgbClr val="222222"/>
                </a:solidFill>
                <a:latin typeface="맑은 고딕"/>
              </a:rPr>
              <a:t>•  실시간 적용(real-time apply)은 standby 리두 로그에서 바로 읽어 적용</a:t>
            </a:r>
          </a:p>
          <a:p>
            <a:pPr algn="l">
              <a:spcAft>
                <a:spcPts val="1000"/>
              </a:spcAft>
            </a:pPr>
            <a:r>
              <a:rPr sz="1700" b="0">
                <a:solidFill>
                  <a:srgbClr val="222222"/>
                </a:solidFill>
                <a:latin typeface="맑은 고딕"/>
              </a:rPr>
              <a:t>•  7장(Redo Apply)과 12장(SQL Apply)에서 각각 다룬다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관리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Switchover와 Failover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데이터베이스는 Primary 또는 Standby 두 역할 중 하나로만 동작한다</a:t>
            </a:r>
          </a:p>
          <a:p>
            <a:pPr algn="l">
              <a:spcAft>
                <a:spcPts val="1000"/>
              </a:spcAft>
            </a:pPr>
            <a:r>
              <a:rPr sz="1700" b="0">
                <a:solidFill>
                  <a:srgbClr val="222222"/>
                </a:solidFill>
                <a:latin typeface="맑은 고딕"/>
              </a:rPr>
              <a:t>•  Switchover: 계획된 역할 교대. 유지보수·업그레이드용. 데이터 손실 없음</a:t>
            </a:r>
          </a:p>
          <a:p>
            <a:pPr algn="l">
              <a:spcAft>
                <a:spcPts val="1000"/>
              </a:spcAft>
            </a:pPr>
            <a:r>
              <a:rPr sz="1700" b="0">
                <a:solidFill>
                  <a:srgbClr val="222222"/>
                </a:solidFill>
                <a:latin typeface="맑은 고딕"/>
              </a:rPr>
              <a:t>•  Failover: 장애로 인한 전환. 손실 여부는 보호 모드에 달려 있다</a:t>
            </a:r>
          </a:p>
          <a:p>
            <a:pPr algn="l">
              <a:spcAft>
                <a:spcPts val="1000"/>
              </a:spcAft>
            </a:pPr>
            <a:r>
              <a:rPr sz="1700" b="0">
                <a:solidFill>
                  <a:srgbClr val="222222"/>
                </a:solidFill>
                <a:latin typeface="맑은 고딕"/>
              </a:rPr>
              <a:t>•  Fast-Start Failover: Broker가 판단과 실행을 자동 수행 (16장)</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아키텍처 — 프로세스 지도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기존 리두 생성 구조를 그대로 활용한다</a:t>
            </a:r>
          </a:p>
          <a:p>
            <a:pPr algn="l">
              <a:spcAft>
                <a:spcPts val="800"/>
              </a:spcAft>
            </a:pPr>
            <a:r>
              <a:rPr sz="1600" b="0">
                <a:solidFill>
                  <a:srgbClr val="FFFFFF"/>
                </a:solidFill>
                <a:latin typeface="맑은 고딕"/>
              </a:rPr>
              <a:t>•  Primary: LGWR · NSSn · TTnn · ARCn</a:t>
            </a:r>
          </a:p>
          <a:p>
            <a:pPr algn="l">
              <a:spcAft>
                <a:spcPts val="800"/>
              </a:spcAft>
            </a:pPr>
            <a:r>
              <a:rPr sz="1600" b="0">
                <a:solidFill>
                  <a:srgbClr val="FFFFFF"/>
                </a:solidFill>
                <a:latin typeface="맑은 고딕"/>
              </a:rPr>
              <a:t>•  Standby: RFS · ARCn · MRP · PRnn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측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리두를 내보내는가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LGWR: 리두를 온라인 리두 로그에 기록. SYNC면 NSSn에 넘기고 확인을 기다린 뒤 커밋</a:t>
            </a:r>
          </a:p>
          <a:p>
            <a:pPr algn="l">
              <a:spcAft>
                <a:spcPts val="1000"/>
              </a:spcAft>
            </a:pPr>
            <a:r>
              <a:rPr sz="1700" b="0">
                <a:solidFill>
                  <a:srgbClr val="222222"/>
                </a:solidFill>
                <a:latin typeface="맑은 고딕"/>
              </a:rPr>
              <a:t>•  NSSn (Network Server SYNC): 동기 전송 전용. Standby의 RFS로 직접 전송</a:t>
            </a:r>
          </a:p>
          <a:p>
            <a:pPr algn="l">
              <a:spcAft>
                <a:spcPts val="1000"/>
              </a:spcAft>
            </a:pPr>
            <a:r>
              <a:rPr sz="1700" b="0">
                <a:solidFill>
                  <a:srgbClr val="222222"/>
                </a:solidFill>
                <a:latin typeface="맑은 고딕"/>
              </a:rPr>
              <a:t>•  TTnn: 비동기 전송 슬레이브. 리두 버퍼나 ORL에서 읽어 전송</a:t>
            </a:r>
          </a:p>
          <a:p>
            <a:pPr algn="l">
              <a:spcAft>
                <a:spcPts val="1000"/>
              </a:spcAft>
            </a:pPr>
            <a:r>
              <a:rPr sz="1700" b="0">
                <a:solidFill>
                  <a:srgbClr val="222222"/>
                </a:solidFill>
                <a:latin typeface="맑은 고딕"/>
              </a:rPr>
              <a:t>•  ARCn: 로컬 아카이브 + 원격 전송 + 갭 탐지·해소. 최대 30개, 기본값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실측 — V$DATAGUARD_PROCESS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ROLE 열이 임무를 알려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ARC0 'archive local' / ARC1~ARC3 'archive redo' — 기본 4개</a:t>
            </a:r>
          </a:p>
          <a:p>
            <a:pPr algn="l">
              <a:spcAft>
                <a:spcPts val="1000"/>
              </a:spcAft>
            </a:pPr>
            <a:r>
              <a:rPr sz="1700" b="0">
                <a:solidFill>
                  <a:srgbClr val="222222"/>
                </a:solidFill>
                <a:latin typeface="맑은 고딕"/>
              </a:rPr>
              <a:t>•  TT04 'async ORL single' ACTION=WRITING SEQUENCE#=19 ← 리두 본류를 나르는 프로세스</a:t>
            </a:r>
          </a:p>
          <a:p>
            <a:pPr algn="l">
              <a:spcAft>
                <a:spcPts val="1000"/>
              </a:spcAft>
            </a:pPr>
            <a:r>
              <a:rPr sz="1700" b="0">
                <a:solidFill>
                  <a:srgbClr val="222222"/>
                </a:solidFill>
                <a:latin typeface="맑은 고딕"/>
              </a:rPr>
              <a:t>•  TT00 'gap manager' — 갭 탐지 / TT03 'heartbeat redo informer' — 연결 생존 확인</a:t>
            </a:r>
          </a:p>
          <a:p>
            <a:pPr algn="l">
              <a:spcAft>
                <a:spcPts val="1000"/>
              </a:spcAft>
            </a:pPr>
            <a:r>
              <a:rPr sz="1700" b="0">
                <a:solidFill>
                  <a:srgbClr val="222222"/>
                </a:solidFill>
                <a:latin typeface="맑은 고딕"/>
              </a:rPr>
              <a:t>•  TMON 'redo transport monitor' — 전송 전반 감시</a:t>
            </a:r>
          </a:p>
          <a:p>
            <a:pPr algn="l">
              <a:spcAft>
                <a:spcPts val="1000"/>
              </a:spcAft>
            </a:pPr>
            <a:r>
              <a:rPr sz="1700" b="0">
                <a:solidFill>
                  <a:srgbClr val="222222"/>
                </a:solidFill>
                <a:latin typeface="맑은 고딕"/>
              </a:rPr>
              <a:t>•  ASYNC 구성이라 NSSn은 보이지 않는다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측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받아 적용하는가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 (Remote File Server): 리두를 받아 standby 리두 로그 또는 아카이브에 기록</a:t>
            </a:r>
          </a:p>
          <a:p>
            <a:pPr algn="l">
              <a:spcAft>
                <a:spcPts val="1000"/>
              </a:spcAft>
            </a:pPr>
            <a:r>
              <a:rPr sz="1700" b="0">
                <a:solidFill>
                  <a:srgbClr val="222222"/>
                </a:solidFill>
                <a:latin typeface="맑은 고딕"/>
              </a:rPr>
              <a:t>•  ARCn: standby 리두 로그를 아카이브</a:t>
            </a:r>
          </a:p>
          <a:p>
            <a:pPr algn="l">
              <a:spcAft>
                <a:spcPts val="1000"/>
              </a:spcAft>
            </a:pPr>
            <a:r>
              <a:rPr sz="1700" b="0">
                <a:solidFill>
                  <a:srgbClr val="222222"/>
                </a:solidFill>
                <a:latin typeface="맑은 고딕"/>
              </a:rPr>
              <a:t>•  MRP (Managed Recovery Process): physical standby 전용. 적용을 조율</a:t>
            </a:r>
          </a:p>
          <a:p>
            <a:pPr algn="l">
              <a:spcAft>
                <a:spcPts val="1000"/>
              </a:spcAft>
            </a:pPr>
            <a:r>
              <a:rPr sz="1700" b="0">
                <a:solidFill>
                  <a:srgbClr val="222222"/>
                </a:solidFill>
                <a:latin typeface="맑은 고딕"/>
              </a:rPr>
              <a:t>•  PRnn: MRP가 부리는 적용 슬레이브. 병렬로 리두를 적용</a:t>
            </a:r>
          </a:p>
          <a:p>
            <a:pPr algn="l">
              <a:spcAft>
                <a:spcPts val="1000"/>
              </a:spcAft>
            </a:pPr>
            <a:r>
              <a:rPr sz="1700" b="0">
                <a:solidFill>
                  <a:srgbClr val="222222"/>
                </a:solidFill>
                <a:latin typeface="맑은 고딕"/>
              </a:rPr>
              <a:t>•  LSP: logical standby에서 SQL Apply를 제어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실측 — MRP와 RFS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숫자를 나란히 놓고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  : SEQUENCE#=19, BLOCK#=3866  ← 지금 받고 있는 위치</a:t>
            </a:r>
          </a:p>
          <a:p>
            <a:pPr algn="l">
              <a:spcAft>
                <a:spcPts val="1000"/>
              </a:spcAft>
            </a:pPr>
            <a:r>
              <a:rPr sz="1700" b="0">
                <a:solidFill>
                  <a:srgbClr val="222222"/>
                </a:solidFill>
                <a:latin typeface="맑은 고딕"/>
              </a:rPr>
              <a:t>•  MRP0 : SEQUENCE#=19, BLOCK#=3881  ← 지금 적용한 위치</a:t>
            </a:r>
          </a:p>
          <a:p>
            <a:pPr algn="l">
              <a:spcAft>
                <a:spcPts val="1000"/>
              </a:spcAft>
            </a:pPr>
            <a:r>
              <a:rPr sz="1700" b="0">
                <a:solidFill>
                  <a:srgbClr val="222222"/>
                </a:solidFill>
                <a:latin typeface="맑은 고딕"/>
              </a:rPr>
              <a:t>•  같은 시퀀스 안에서 근접 → 실시간 적용이 동작 중이라는 증거</a:t>
            </a:r>
          </a:p>
          <a:p>
            <a:pPr algn="l">
              <a:spcAft>
                <a:spcPts val="1000"/>
              </a:spcAft>
            </a:pPr>
            <a:r>
              <a:rPr sz="1700" b="0">
                <a:solidFill>
                  <a:srgbClr val="222222"/>
                </a:solidFill>
                <a:latin typeface="맑은 고딕"/>
              </a:rPr>
              <a:t>•  적용이 밀리면 MRP0의 시퀀스 자체가 RFS보다 뒤처진다</a:t>
            </a:r>
          </a:p>
          <a:p>
            <a:pPr algn="l">
              <a:spcAft>
                <a:spcPts val="1000"/>
              </a:spcAft>
            </a:pPr>
            <a:r>
              <a:rPr sz="1700" b="0">
                <a:solidFill>
                  <a:srgbClr val="222222"/>
                </a:solidFill>
                <a:latin typeface="맑은 고딕"/>
              </a:rPr>
              <a:t>•  OS에서도 확인: ora_mrp0_boston, ora_pr00~pr04_boston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CLIENT_ROLE로 짝 맞추기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 흐름 경로를 그린다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TT04 'async ORL single'  ↔  Standby rfs 'RFS async' (CLIENT_ROLE=async ORL single)</a:t>
            </a:r>
          </a:p>
          <a:p>
            <a:pPr algn="l">
              <a:spcAft>
                <a:spcPts val="1000"/>
              </a:spcAft>
            </a:pPr>
            <a:r>
              <a:rPr sz="1700" b="0">
                <a:solidFill>
                  <a:srgbClr val="222222"/>
                </a:solidFill>
                <a:latin typeface="맑은 고딕"/>
              </a:rPr>
              <a:t>•  Primary TT00 'gap manager'       ↔  Standby rfs 'RFS ping' (CLIENT_ROLE=gap manager)</a:t>
            </a:r>
          </a:p>
          <a:p>
            <a:pPr algn="l">
              <a:spcAft>
                <a:spcPts val="1000"/>
              </a:spcAft>
            </a:pPr>
            <a:r>
              <a:rPr sz="1700" b="0">
                <a:solidFill>
                  <a:srgbClr val="222222"/>
                </a:solidFill>
                <a:latin typeface="맑은 고딕"/>
              </a:rPr>
              <a:t>•  Standby rfs 'RFS archive' (CLIENT_ROLE=archive gap) — 갭 발생 시 아카이브 수신 경로</a:t>
            </a:r>
          </a:p>
          <a:p>
            <a:pPr algn="l">
              <a:spcAft>
                <a:spcPts val="1000"/>
              </a:spcAft>
            </a:pPr>
            <a:r>
              <a:rPr sz="1700" b="0">
                <a:solidFill>
                  <a:srgbClr val="222222"/>
                </a:solidFill>
                <a:latin typeface="맑은 고딕"/>
              </a:rPr>
              <a:t>•  적용 측: MRP0(조율) → PR00 'recovery logmerger' → PR01~PR04 'recovery apply slave'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갭 탐지와 해소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 개입 없이 회복된다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연결이 끊긴 동안 전달되지 못한 아카이브 리두 로그의 빠진 구간 = 갭(gap)</a:t>
            </a:r>
          </a:p>
          <a:p>
            <a:pPr algn="l">
              <a:spcAft>
                <a:spcPts val="1000"/>
              </a:spcAft>
            </a:pPr>
            <a:r>
              <a:rPr sz="1700" b="0">
                <a:solidFill>
                  <a:srgbClr val="222222"/>
                </a:solidFill>
                <a:latin typeface="맑은 고딕"/>
              </a:rPr>
              <a:t>•  연결 회복 시 Primary의 ARCn 또는 gap manager가 빠진 로그를 확인해 재전송</a:t>
            </a:r>
          </a:p>
          <a:p>
            <a:pPr algn="l">
              <a:spcAft>
                <a:spcPts val="1000"/>
              </a:spcAft>
            </a:pPr>
            <a:r>
              <a:rPr sz="1700" b="0">
                <a:solidFill>
                  <a:srgbClr val="222222"/>
                </a:solidFill>
                <a:latin typeface="맑은 고딕"/>
              </a:rPr>
              <a:t>•  Standby의 RFS ping / RFS archive가 이 흐름을 처리</a:t>
            </a:r>
          </a:p>
          <a:p>
            <a:pPr algn="l">
              <a:spcAft>
                <a:spcPts val="1000"/>
              </a:spcAft>
            </a:pPr>
            <a:r>
              <a:rPr sz="1700" b="0">
                <a:solidFill>
                  <a:srgbClr val="222222"/>
                </a:solidFill>
                <a:latin typeface="맑은 고딕"/>
              </a:rPr>
              <a:t>•  한계: 필요한 아카이브 로그가 Primary에서 이미 삭제됐다면 수동 조치 필요 (7장)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 보호 모드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Maximum Protection · Availability · Performance</a:t>
            </a:r>
          </a:p>
          <a:p>
            <a:pPr algn="l">
              <a:spcAft>
                <a:spcPts val="800"/>
              </a:spcAft>
            </a:pPr>
            <a:r>
              <a:rPr sz="1600" b="0">
                <a:solidFill>
                  <a:srgbClr val="FFFFFF"/>
                </a:solidFill>
                <a:latin typeface="맑은 고딕"/>
              </a:rPr>
              <a:t>•  비용 · 가용성 · 성능 · 보호 수준의 균형</a:t>
            </a:r>
          </a:p>
          <a:p>
            <a:pPr algn="l">
              <a:spcAft>
                <a:spcPts val="800"/>
              </a:spcAft>
            </a:pPr>
            <a:r>
              <a:rPr sz="1600" b="0">
                <a:solidFill>
                  <a:srgbClr val="FFFFFF"/>
                </a:solidFill>
                <a:latin typeface="맑은 고딕"/>
              </a:rPr>
              <a:t>•  상세는 2장에서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보호 모드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커밋 조건과 장애 시 행동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Maximum Protection: 로컬 + 최소 1대 standby 리두 로그 기록 후 커밋 / 전송 불가 시 Primary 종료</a:t>
            </a:r>
          </a:p>
          <a:p>
            <a:pPr algn="l">
              <a:spcAft>
                <a:spcPts val="1000"/>
              </a:spcAft>
            </a:pPr>
            <a:r>
              <a:rPr sz="1700" b="0">
                <a:solidFill>
                  <a:srgbClr val="222222"/>
                </a:solidFill>
                <a:latin typeface="맑은 고딕"/>
              </a:rPr>
              <a:t>•  Maximum Availability: 커밋 조건 동일 / 장애 시 비동기화 모드로 계속 운영 후 자동 복귀</a:t>
            </a:r>
          </a:p>
          <a:p>
            <a:pPr algn="l">
              <a:spcAft>
                <a:spcPts val="1000"/>
              </a:spcAft>
            </a:pPr>
            <a:r>
              <a:rPr sz="1700" b="0">
                <a:solidFill>
                  <a:srgbClr val="222222"/>
                </a:solidFill>
                <a:latin typeface="맑은 고딕"/>
              </a:rPr>
              <a:t>•  Maximum Performance: 로컬 기록만으로 즉시 커밋 / Standby 장애가 Primary에 무영향 (기본값)</a:t>
            </a:r>
          </a:p>
          <a:p>
            <a:pPr algn="l">
              <a:spcAft>
                <a:spcPts val="1000"/>
              </a:spcAft>
            </a:pPr>
            <a:r>
              <a:rPr sz="1700" b="0">
                <a:solidFill>
                  <a:srgbClr val="222222"/>
                </a:solidFill>
                <a:latin typeface="맑은 고딕"/>
              </a:rPr>
              <a:t>•  실습 환경은 Maximum Performance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PROTECTION_MODE와 PROTECTION_LEVEL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열이 따로 있는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PROTECTION_MODE: 설정한 모드</a:t>
            </a:r>
          </a:p>
          <a:p>
            <a:pPr algn="l">
              <a:spcAft>
                <a:spcPts val="1000"/>
              </a:spcAft>
            </a:pPr>
            <a:r>
              <a:rPr sz="1700" b="0">
                <a:solidFill>
                  <a:srgbClr val="222222"/>
                </a:solidFill>
                <a:latin typeface="맑은 고딕"/>
              </a:rPr>
              <a:t>•  PROTECTION_LEVEL: 지금 실제로 달성 중인 수준</a:t>
            </a:r>
          </a:p>
          <a:p>
            <a:pPr algn="l">
              <a:spcAft>
                <a:spcPts val="1000"/>
              </a:spcAft>
            </a:pPr>
            <a:r>
              <a:rPr sz="1700" b="0">
                <a:solidFill>
                  <a:srgbClr val="222222"/>
                </a:solidFill>
                <a:latin typeface="맑은 고딕"/>
              </a:rPr>
              <a:t>•  실측에서는 둘 다 MAXIMUM PERFORMANCE로 일치 = 정상</a:t>
            </a:r>
          </a:p>
          <a:p>
            <a:pPr algn="l">
              <a:spcAft>
                <a:spcPts val="1000"/>
              </a:spcAft>
            </a:pPr>
            <a:r>
              <a:rPr sz="1700" b="0">
                <a:solidFill>
                  <a:srgbClr val="222222"/>
                </a:solidFill>
                <a:latin typeface="맑은 고딕"/>
              </a:rPr>
              <a:t>•  전송이 끊기면 LEVEL만 떨어져 두 값이 어긋난다 → 이상 신호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도입 효과와 운영 요건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다섯 가지 효과</a:t>
            </a:r>
          </a:p>
          <a:p>
            <a:pPr algn="l">
              <a:spcAft>
                <a:spcPts val="800"/>
              </a:spcAft>
            </a:pPr>
            <a:r>
              <a:rPr sz="1600" b="0">
                <a:solidFill>
                  <a:srgbClr val="FFFFFF"/>
                </a:solidFill>
                <a:latin typeface="맑은 고딕"/>
              </a:rPr>
              <a:t>•  하드웨어·OS는 달라도 되지만 제약이 많다</a:t>
            </a:r>
          </a:p>
          <a:p>
            <a:pPr algn="l">
              <a:spcAft>
                <a:spcPts val="800"/>
              </a:spcAft>
            </a:pPr>
            <a:r>
              <a:rPr sz="1600" b="0">
                <a:solidFill>
                  <a:srgbClr val="FFFFFF"/>
                </a:solidFill>
                <a:latin typeface="맑은 고딕"/>
              </a:rPr>
              <a:t>•  소프트웨어 요건은 엄격하다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도입 효과 다섯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얻는가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지속적인 서비스: Switchover·Failover로 재해가 업무 중단으로 이어지지 않는다</a:t>
            </a:r>
          </a:p>
          <a:p>
            <a:pPr algn="l">
              <a:spcAft>
                <a:spcPts val="1000"/>
              </a:spcAft>
            </a:pPr>
            <a:r>
              <a:rPr sz="1700" b="0">
                <a:solidFill>
                  <a:srgbClr val="222222"/>
                </a:solidFill>
                <a:latin typeface="맑은 고딕"/>
              </a:rPr>
              <a:t>•  완전한 데이터 보호: 보호 모드에 따라 무손실 보장, 적용 시 리두 검증</a:t>
            </a:r>
          </a:p>
          <a:p>
            <a:pPr algn="l">
              <a:spcAft>
                <a:spcPts val="1000"/>
              </a:spcAft>
            </a:pPr>
            <a:r>
              <a:rPr sz="1700" b="0">
                <a:solidFill>
                  <a:srgbClr val="222222"/>
                </a:solidFill>
                <a:latin typeface="맑은 고딕"/>
              </a:rPr>
              <a:t>•  유휴 장비의 제거: Standby를 조회·리포팅·백업 소스로 활용</a:t>
            </a:r>
          </a:p>
          <a:p>
            <a:pPr algn="l">
              <a:spcAft>
                <a:spcPts val="1000"/>
              </a:spcAft>
            </a:pPr>
            <a:r>
              <a:rPr sz="1700" b="0">
                <a:solidFill>
                  <a:srgbClr val="222222"/>
                </a:solidFill>
                <a:latin typeface="맑은 고딕"/>
              </a:rPr>
              <a:t>•  유연한 구성: 보호 모드와 파라미터로 요구 사항에 맞게 조절</a:t>
            </a:r>
          </a:p>
          <a:p>
            <a:pPr algn="l">
              <a:spcAft>
                <a:spcPts val="1000"/>
              </a:spcAft>
            </a:pPr>
            <a:r>
              <a:rPr sz="1700" b="0">
                <a:solidFill>
                  <a:srgbClr val="222222"/>
                </a:solidFill>
                <a:latin typeface="맑은 고딕"/>
              </a:rPr>
              <a:t>•  중앙 집중 관리: Broker와 Enterprise Manager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하드웨어·OS 요건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달라도 되지만 제약이 많다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CPU 개수·메모리·저장 장치 구성이 달라도 된다</a:t>
            </a:r>
          </a:p>
          <a:p>
            <a:pPr algn="l">
              <a:spcAft>
                <a:spcPts val="1000"/>
              </a:spcAft>
            </a:pPr>
            <a:r>
              <a:rPr sz="1700" b="0">
                <a:solidFill>
                  <a:srgbClr val="222222"/>
                </a:solidFill>
                <a:latin typeface="맑은 고딕"/>
              </a:rPr>
              <a:t>•  운영체제와 바이너리(32/64비트)도 다를 수 있다</a:t>
            </a:r>
          </a:p>
          <a:p>
            <a:pPr algn="l">
              <a:spcAft>
                <a:spcPts val="1000"/>
              </a:spcAft>
            </a:pPr>
            <a:r>
              <a:rPr sz="1700" b="0">
                <a:solidFill>
                  <a:srgbClr val="222222"/>
                </a:solidFill>
                <a:latin typeface="맑은 고딕"/>
              </a:rPr>
              <a:t>•  그러나 혼합 플랫폼 지원에는 제약이 많다</a:t>
            </a:r>
          </a:p>
          <a:p>
            <a:pPr algn="l">
              <a:spcAft>
                <a:spcPts val="1000"/>
              </a:spcAft>
            </a:pPr>
            <a:r>
              <a:rPr sz="1700" b="0">
                <a:solidFill>
                  <a:srgbClr val="222222"/>
                </a:solidFill>
                <a:latin typeface="맑은 고딕"/>
              </a:rPr>
              <a:t>•  반드시 확인: My Oracle Support 413484.1(physical) / 1085687.1(logical)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소프트웨어 요건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여기는 엄격하다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구성의 모든 DB에 같은 릴리스의 Enterprise Edition (예외: logical standby 롤링 업그레이드)</a:t>
            </a:r>
          </a:p>
          <a:p>
            <a:pPr algn="l">
              <a:spcAft>
                <a:spcPts val="1000"/>
              </a:spcAft>
            </a:pPr>
            <a:r>
              <a:rPr sz="1700" b="0">
                <a:solidFill>
                  <a:srgbClr val="222222"/>
                </a:solidFill>
                <a:latin typeface="맑은 고딕"/>
              </a:rPr>
              <a:t>•  Data Guard는 Enterprise Edition 전용. Standard Edition 불가</a:t>
            </a:r>
          </a:p>
          <a:p>
            <a:pPr algn="l">
              <a:spcAft>
                <a:spcPts val="1000"/>
              </a:spcAft>
            </a:pPr>
            <a:r>
              <a:rPr sz="1700" b="0">
                <a:solidFill>
                  <a:srgbClr val="222222"/>
                </a:solidFill>
                <a:latin typeface="맑은 고딕"/>
              </a:rPr>
              <a:t>•  ASM·OMF를 쓴다면 구성 전체에서 대칭적으로 사용</a:t>
            </a:r>
          </a:p>
          <a:p>
            <a:pPr algn="l">
              <a:spcAft>
                <a:spcPts val="1000"/>
              </a:spcAft>
            </a:pPr>
            <a:r>
              <a:rPr sz="1700" b="0">
                <a:solidFill>
                  <a:srgbClr val="222222"/>
                </a:solidFill>
                <a:latin typeface="맑은 고딕"/>
              </a:rPr>
              <a:t>•  예외: Data Guard를 ASM/OMF 이행 수단으로 쓰는 경우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전 점검표 —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같아야 하고 무엇은 달라도 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같아야 함: 릴리스 19.3.0.0.0 EE / 플랫폼 ID 13 Linux x86 64-bit Little / AL32UTF8 / DBTIMEZONE +00:00</a:t>
            </a:r>
          </a:p>
          <a:p>
            <a:pPr algn="l">
              <a:spcAft>
                <a:spcPts val="1000"/>
              </a:spcAft>
            </a:pPr>
            <a:r>
              <a:rPr sz="1700" b="0">
                <a:solidFill>
                  <a:srgbClr val="222222"/>
                </a:solidFill>
                <a:latin typeface="맑은 고딕"/>
              </a:rPr>
              <a:t>•  같아야 함: db_name chicago, db_block_size 8192, compatible 19.0.0, db_files 200</a:t>
            </a:r>
          </a:p>
          <a:p>
            <a:pPr algn="l">
              <a:spcAft>
                <a:spcPts val="1000"/>
              </a:spcAft>
            </a:pPr>
            <a:r>
              <a:rPr sz="1700" b="0">
                <a:solidFill>
                  <a:srgbClr val="222222"/>
                </a:solidFill>
                <a:latin typeface="맑은 고딕"/>
              </a:rPr>
              <a:t>•  같아야 함: remote_login_passwordfile = EXCLUSIVE</a:t>
            </a:r>
          </a:p>
          <a:p>
            <a:pPr algn="l">
              <a:spcAft>
                <a:spcPts val="1000"/>
              </a:spcAft>
            </a:pPr>
            <a:r>
              <a:rPr sz="1700" b="0">
                <a:solidFill>
                  <a:srgbClr val="222222"/>
                </a:solidFill>
                <a:latin typeface="맑은 고딕"/>
              </a:rPr>
              <a:t>•  달라야 함: db_unique_name (chicago / boston)</a:t>
            </a:r>
          </a:p>
          <a:p>
            <a:pPr algn="l">
              <a:spcAft>
                <a:spcPts val="1000"/>
              </a:spcAft>
            </a:pPr>
            <a:r>
              <a:rPr sz="1700" b="0">
                <a:solidFill>
                  <a:srgbClr val="222222"/>
                </a:solidFill>
                <a:latin typeface="맑은 고딕"/>
              </a:rPr>
              <a:t>•  무관: SESSIONTIMEZONE(+09:00은 클라이언트 설정), 하드웨어 사양</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라이선스 경계 — EE 기본과 ADG 옵션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이름에 ADG가 들어가지만 대부분은 EE 기본으로 실습 가능</a:t>
            </a:r>
          </a:p>
          <a:p>
            <a:pPr algn="l">
              <a:spcAft>
                <a:spcPts val="800"/>
              </a:spcAft>
            </a:pPr>
            <a:r>
              <a:rPr sz="1600" b="0">
                <a:solidFill>
                  <a:srgbClr val="FFFFFF"/>
                </a:solidFill>
                <a:latin typeface="맑은 고딕"/>
              </a:rPr>
              <a:t>•  옵션이 필요한 것은 9장과 10장뿐</a:t>
            </a:r>
          </a:p>
          <a:p>
            <a:pPr algn="l">
              <a:spcAft>
                <a:spcPts val="800"/>
              </a:spcAft>
            </a:pPr>
            <a:r>
              <a:rPr sz="1600" b="0">
                <a:solidFill>
                  <a:srgbClr val="FFFFFF"/>
                </a:solidFill>
                <a:latin typeface="맑은 고딕"/>
              </a:rPr>
              <a:t>•  사용 이력 조회에는 함정이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무엇이 Active Data Guard 옵션인가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경계를 분명히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EE 기본: physical standby 생성·Redo Apply(4~8장), 역할 전환(16장)</a:t>
            </a:r>
          </a:p>
          <a:p>
            <a:pPr algn="l">
              <a:spcAft>
                <a:spcPts val="1000"/>
              </a:spcAft>
            </a:pPr>
            <a:r>
              <a:rPr sz="1700" b="0">
                <a:solidFill>
                  <a:srgbClr val="222222"/>
                </a:solidFill>
                <a:latin typeface="맑은 고딕"/>
              </a:rPr>
              <a:t>•  EE 기본: logical standby(12장), snapshot standby(11장), Broker·DGMGRL(13~15장)</a:t>
            </a:r>
          </a:p>
          <a:p>
            <a:pPr algn="l">
              <a:spcAft>
                <a:spcPts val="1000"/>
              </a:spcAft>
            </a:pPr>
            <a:r>
              <a:rPr sz="1700" b="0">
                <a:solidFill>
                  <a:srgbClr val="222222"/>
                </a:solidFill>
                <a:latin typeface="맑은 고딕"/>
              </a:rPr>
              <a:t>•  ADG 옵션: Real-Time Query — standby를 열고 조회 (9장)</a:t>
            </a:r>
          </a:p>
          <a:p>
            <a:pPr algn="l">
              <a:spcAft>
                <a:spcPts val="1000"/>
              </a:spcAft>
            </a:pPr>
            <a:r>
              <a:rPr sz="1700" b="0">
                <a:solidFill>
                  <a:srgbClr val="222222"/>
                </a:solidFill>
                <a:latin typeface="맑은 고딕"/>
              </a:rPr>
              <a:t>•  ADG 옵션: DML 리다이렉션(9장), Far Sync(10장), Standby In-Memory(9장)</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 이력 확인의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실측에서 만난 두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DBA_FEATURE_USAGE_STATISTICS 조회 → 0행. 조건을 빼도 COUNT(*)=0</a:t>
            </a:r>
          </a:p>
          <a:p>
            <a:pPr algn="l">
              <a:spcAft>
                <a:spcPts val="1000"/>
              </a:spcAft>
            </a:pPr>
            <a:r>
              <a:rPr sz="1700" b="0">
                <a:solidFill>
                  <a:srgbClr val="222222"/>
                </a:solidFill>
                <a:latin typeface="맑은 고딕"/>
              </a:rPr>
              <a:t>•  원인: CDB 환경에서 수집 결과가 PDB 컨테이너에 있었다</a:t>
            </a:r>
          </a:p>
          <a:p>
            <a:pPr algn="l">
              <a:spcAft>
                <a:spcPts val="1000"/>
              </a:spcAft>
            </a:pPr>
            <a:r>
              <a:rPr sz="1700" b="0">
                <a:solidFill>
                  <a:srgbClr val="222222"/>
                </a:solidFill>
                <a:latin typeface="맑은 고딕"/>
              </a:rPr>
              <a:t>•  조치: CDB_FEATURE_USAGE_STATISTICS → 243행, 전부 CON_ID=3 (chicago_pdb1)</a:t>
            </a:r>
          </a:p>
          <a:p>
            <a:pPr algn="l">
              <a:spcAft>
                <a:spcPts val="1000"/>
              </a:spcAft>
            </a:pPr>
            <a:r>
              <a:rPr sz="1700" b="0">
                <a:solidFill>
                  <a:srgbClr val="222222"/>
                </a:solidFill>
                <a:latin typeface="맑은 고딕"/>
              </a:rPr>
              <a:t>•  기능명: 'Data Guard' / 'Active Data Guard - Real-Time Query on Physical Standby'</a:t>
            </a:r>
          </a:p>
          <a:p>
            <a:pPr algn="l">
              <a:spcAft>
                <a:spcPts val="1000"/>
              </a:spcAft>
            </a:pPr>
            <a:r>
              <a:rPr sz="1700" b="0">
                <a:solidFill>
                  <a:srgbClr val="222222"/>
                </a:solidFill>
                <a:latin typeface="맑은 고딕"/>
              </a:rPr>
              <a:t>•  그런데 DETECTED_USAGES는 양쪽 모두 0 — ADG를 실제로 쓰고 있는데도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그렇다면 무엇으로 판정하는가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확실한 근거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1차 근거: Standby의 V$DATABASE.OPEN_MODE</a:t>
            </a:r>
          </a:p>
          <a:p>
            <a:pPr algn="l">
              <a:spcAft>
                <a:spcPts val="1000"/>
              </a:spcAft>
            </a:pPr>
            <a:r>
              <a:rPr sz="1700" b="0">
                <a:solidFill>
                  <a:srgbClr val="222222"/>
                </a:solidFill>
                <a:latin typeface="맑은 고딕"/>
              </a:rPr>
              <a:t>•  READ ONLY WITH APPLY → Active Data Guard 사용 중</a:t>
            </a:r>
          </a:p>
          <a:p>
            <a:pPr algn="l">
              <a:spcAft>
                <a:spcPts val="1000"/>
              </a:spcAft>
            </a:pPr>
            <a:r>
              <a:rPr sz="1700" b="0">
                <a:solidFill>
                  <a:srgbClr val="222222"/>
                </a:solidFill>
                <a:latin typeface="맑은 고딕"/>
              </a:rPr>
              <a:t>•  MOUNTED → 옵션 미사용</a:t>
            </a:r>
          </a:p>
          <a:p>
            <a:pPr algn="l">
              <a:spcAft>
                <a:spcPts val="1000"/>
              </a:spcAft>
            </a:pPr>
            <a:r>
              <a:rPr sz="1700" b="0">
                <a:solidFill>
                  <a:srgbClr val="222222"/>
                </a:solidFill>
                <a:latin typeface="맑은 고딕"/>
              </a:rPr>
              <a:t>•  2차 근거: V$VERSION 배너의 Enterprise Edition 여부</a:t>
            </a:r>
          </a:p>
          <a:p>
            <a:pPr algn="l">
              <a:spcAft>
                <a:spcPts val="1000"/>
              </a:spcAft>
            </a:pPr>
            <a:r>
              <a:rPr sz="1700" b="0">
                <a:solidFill>
                  <a:srgbClr val="222222"/>
                </a:solidFill>
                <a:latin typeface="맑은 고딕"/>
              </a:rPr>
              <a:t>•  주의: V$OPTION의 TRUE는 "바이너리에 링크됨"일 뿐 라이선스 보유를 뜻하지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구성을 관리하는 두 가지 방법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SQL 명령으로 직접 (4~12장)</a:t>
            </a:r>
          </a:p>
          <a:p>
            <a:pPr algn="l">
              <a:spcAft>
                <a:spcPts val="800"/>
              </a:spcAft>
            </a:pPr>
            <a:r>
              <a:rPr sz="1600" b="0">
                <a:solidFill>
                  <a:srgbClr val="FFFFFF"/>
                </a:solidFill>
                <a:latin typeface="맑은 고딕"/>
              </a:rPr>
              <a:t>•  Data Guard Broker와 DGMGRL (13~16장)</a:t>
            </a:r>
          </a:p>
          <a:p>
            <a:pPr algn="l">
              <a:spcAft>
                <a:spcPts val="800"/>
              </a:spcAft>
            </a:pPr>
            <a:r>
              <a:rPr sz="1600" b="0">
                <a:solidFill>
                  <a:srgbClr val="FFFFFF"/>
                </a:solidFill>
                <a:latin typeface="맑은 고딕"/>
              </a:rPr>
              <a:t>•  Enterprise Manager는 개념만 다룬다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SQL과 DGMGRL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먼저 손으로, 나중에 자동화</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Broker 없이: 파라미터 직접 설정, MRP 직접 기동·중지, ALTER DATABASE로 역할 전환 → 4~12장</a:t>
            </a:r>
          </a:p>
          <a:p>
            <a:pPr algn="l">
              <a:spcAft>
                <a:spcPts val="1000"/>
              </a:spcAft>
            </a:pPr>
            <a:r>
              <a:rPr sz="1700" b="0">
                <a:solidFill>
                  <a:srgbClr val="222222"/>
                </a:solidFill>
                <a:latin typeface="맑은 고딕"/>
              </a:rPr>
              <a:t>•  Broker와 함께: SHOW CONFIGURATION 한 줄로 전체 상태, SWITCHOVER TO boston 한 줄로 전환 → 13~16장</a:t>
            </a:r>
          </a:p>
          <a:p>
            <a:pPr algn="l">
              <a:spcAft>
                <a:spcPts val="1000"/>
              </a:spcAft>
            </a:pPr>
            <a:r>
              <a:rPr sz="1700" b="0">
                <a:solidFill>
                  <a:srgbClr val="222222"/>
                </a:solidFill>
                <a:latin typeface="맑은 고딕"/>
              </a:rPr>
              <a:t>•  두 방식을 모두 다루는 이유: 운영은 Broker가 낫지만 문제 해결에는 내부 이해가 필요하다</a:t>
            </a:r>
          </a:p>
          <a:p>
            <a:pPr algn="l">
              <a:spcAft>
                <a:spcPts val="1000"/>
              </a:spcAft>
            </a:pPr>
            <a:r>
              <a:rPr sz="1700" b="0">
                <a:solidFill>
                  <a:srgbClr val="222222"/>
                </a:solidFill>
                <a:latin typeface="맑은 고딕"/>
              </a:rPr>
              <a:t>•  Enterprise Manager Cloud Control은 개념만 언급하고 실습에서 제외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V$DATABASE에서 양쪽이 같아야 하는 열과 달라야 하는 열을 각각 두 개씩 들고 이유를 설명하라.</a:t>
            </a:r>
          </a:p>
          <a:p>
            <a:pPr algn="l">
              <a:spcAft>
                <a:spcPts val="1000"/>
              </a:spcAft>
            </a:pPr>
            <a:r>
              <a:rPr sz="1600" b="0">
                <a:solidFill>
                  <a:srgbClr val="222222"/>
                </a:solidFill>
                <a:latin typeface="맑은 고딕"/>
              </a:rPr>
              <a:t>•  Q2. Standby의 OPEN_MODE가 MOUNTED인 경우와 READ ONLY WITH APPLY인 경우의 차이는? 후자에 필요한 것은?</a:t>
            </a:r>
          </a:p>
          <a:p>
            <a:pPr algn="l">
              <a:spcAft>
                <a:spcPts val="1000"/>
              </a:spcAft>
            </a:pPr>
            <a:r>
              <a:rPr sz="1600" b="0">
                <a:solidFill>
                  <a:srgbClr val="222222"/>
                </a:solidFill>
                <a:latin typeface="맑은 고딕"/>
              </a:rPr>
              <a:t>•  Q3. Snapshot standby에서 만든 테이블은 복귀 후 어떻게 되는가? 그 동작의 바탕이 되는 기능은?</a:t>
            </a:r>
          </a:p>
          <a:p>
            <a:pPr algn="l">
              <a:spcAft>
                <a:spcPts val="1000"/>
              </a:spcAft>
            </a:pPr>
            <a:r>
              <a:rPr sz="1600" b="0">
                <a:solidFill>
                  <a:srgbClr val="222222"/>
                </a:solidFill>
                <a:latin typeface="맑은 고딕"/>
              </a:rPr>
              <a:t>•  Q4. Primary에서 MRP0 조회가 no rows selected였다. 장애인가? 이유를 설명하라.</a:t>
            </a:r>
          </a:p>
          <a:p>
            <a:pPr algn="l">
              <a:spcAft>
                <a:spcPts val="1000"/>
              </a:spcAft>
            </a:pPr>
            <a:r>
              <a:rPr sz="1600" b="0">
                <a:solidFill>
                  <a:srgbClr val="222222"/>
                </a:solidFill>
                <a:latin typeface="맑은 고딕"/>
              </a:rPr>
              <a:t>•  Q5. V$DATAGUARD_PROCESS의 CLIENT_ROLE 열은 Standby에서 무엇을 알려 주는가?</a:t>
            </a:r>
          </a:p>
          <a:p>
            <a:pPr algn="l">
              <a:spcAft>
                <a:spcPts val="1000"/>
              </a:spcAft>
            </a:pPr>
            <a:r>
              <a:rPr sz="1600" b="0">
                <a:solidFill>
                  <a:srgbClr val="222222"/>
                </a:solidFill>
                <a:latin typeface="맑은 고딕"/>
              </a:rPr>
              <a:t>•  Q6. 구성 전 두 노드에서 일치를 확인해야 하는 항목 네 가지와 각각의 조회를 쓰라.</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Data Guard는 Primary 1대와 최대 30대 Standby를 유지·관리한다. 축은 리두이며 전송·적용·역할 관리 세 서비스로 이루어진다.</a:t>
            </a:r>
          </a:p>
          <a:p>
            <a:pPr algn="l">
              <a:spcAft>
                <a:spcPts val="1000"/>
              </a:spcAft>
            </a:pPr>
            <a:r>
              <a:rPr sz="1600" b="0">
                <a:solidFill>
                  <a:srgbClr val="222222"/>
                </a:solidFill>
                <a:latin typeface="맑은 고딕"/>
              </a:rPr>
              <a:t>•  Standby는 physical(Redo Apply)·logical(SQL Apply)·snapshot(적용 보류) 세 유형. ROLE과 OPEN_MODE 조합으로 판별한다.</a:t>
            </a:r>
          </a:p>
          <a:p>
            <a:pPr algn="l">
              <a:spcAft>
                <a:spcPts val="1000"/>
              </a:spcAft>
            </a:pPr>
            <a:r>
              <a:rPr sz="1600" b="0">
                <a:solidFill>
                  <a:srgbClr val="222222"/>
                </a:solidFill>
                <a:latin typeface="맑은 고딕"/>
              </a:rPr>
              <a:t>•  Primary와 Standby는 DB_NAME·DBID가 같고 DB_UNIQUE_NAME·CONTROLFILE_TYPE이 다르다. 실측 DBID 1852041610.</a:t>
            </a:r>
          </a:p>
          <a:p>
            <a:pPr algn="l">
              <a:spcAft>
                <a:spcPts val="1000"/>
              </a:spcAft>
            </a:pPr>
            <a:r>
              <a:rPr sz="1600" b="0">
                <a:solidFill>
                  <a:srgbClr val="222222"/>
                </a:solidFill>
                <a:latin typeface="맑은 고딕"/>
              </a:rPr>
              <a:t>•  Primary는 LGWR·NSSn·TTnn·ARCn, Standby는 RFS·ARCn·MRP·PRnn. V$DATAGUARD_PROCESS의 ROLE·CLIENT_ROLE로 짝을 맞춘다.</a:t>
            </a:r>
          </a:p>
          <a:p>
            <a:pPr algn="l">
              <a:spcAft>
                <a:spcPts val="1000"/>
              </a:spcAft>
            </a:pPr>
            <a:r>
              <a:rPr sz="1600" b="0">
                <a:solidFill>
                  <a:srgbClr val="222222"/>
                </a:solidFill>
                <a:latin typeface="맑은 고딕"/>
              </a:rPr>
              <a:t>•  MRP는 Standby에만 있다. 진단의 첫 질문은 "지금 어느 노드인가"다.</a:t>
            </a:r>
          </a:p>
          <a:p>
            <a:pPr algn="l">
              <a:spcAft>
                <a:spcPts val="1000"/>
              </a:spcAft>
            </a:pPr>
            <a:r>
              <a:rPr sz="1600" b="0">
                <a:solidFill>
                  <a:srgbClr val="222222"/>
                </a:solidFill>
                <a:latin typeface="맑은 고딕"/>
              </a:rPr>
              <a:t>•  보호 모드 기본값은 Maximum Performance. PROTECTION_MODE와 LEVEL이 어긋나면 이상 신호다.</a:t>
            </a:r>
          </a:p>
          <a:p>
            <a:pPr algn="l">
              <a:spcAft>
                <a:spcPts val="1000"/>
              </a:spcAft>
            </a:pPr>
            <a:r>
              <a:rPr sz="1600" b="0">
                <a:solidFill>
                  <a:srgbClr val="222222"/>
                </a:solidFill>
                <a:latin typeface="맑은 고딕"/>
              </a:rPr>
              <a:t>•  구성 전 릴리스·엔디안·문자셋·에디션 일치를 확인한다. 실측 19.3.0.0.0 / 플랫폼 13 Little / AL32UTF8.</a:t>
            </a:r>
          </a:p>
          <a:p>
            <a:pPr algn="l">
              <a:spcAft>
                <a:spcPts val="1000"/>
              </a:spcAft>
            </a:pPr>
            <a:r>
              <a:rPr sz="1600" b="0">
                <a:solidFill>
                  <a:srgbClr val="222222"/>
                </a:solidFill>
                <a:latin typeface="맑은 고딕"/>
              </a:rPr>
              <a:t>•  Real-Time Query·DML 리다이렉션·Far Sync는 ADG 옵션. 사용 이력 뷰가 아니라 Standby의 OPEN_MODE로 판정한다.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현재 구성 파악: V$DATABASE로 양쪽 역할·모드·DBID 확인. Standby DDL로 ORA-16000 재현.</a:t>
            </a:r>
          </a:p>
          <a:p>
            <a:pPr algn="l">
              <a:spcAft>
                <a:spcPts val="1000"/>
              </a:spcAft>
            </a:pPr>
            <a:r>
              <a:rPr sz="1600" b="0">
                <a:solidFill>
                  <a:srgbClr val="222222"/>
                </a:solidFill>
                <a:latin typeface="맑은 고딕"/>
              </a:rPr>
              <a:t>•  실습 02 — Data Guard 프로세스 식별: V$MANAGED_STANDBY·V$DATAGUARD_PROCESS로 양쪽 확인, CLIENT_ROLE로 짝 맞추기. Primary에서 MRP를 찾아 ORA-01665 재현.</a:t>
            </a:r>
          </a:p>
          <a:p>
            <a:pPr algn="l">
              <a:spcAft>
                <a:spcPts val="1000"/>
              </a:spcAft>
            </a:pPr>
            <a:r>
              <a:rPr sz="1600" b="0">
                <a:solidFill>
                  <a:srgbClr val="222222"/>
                </a:solidFill>
                <a:latin typeface="맑은 고딕"/>
              </a:rPr>
              <a:t>•  실습 03 — 라이선스 확인: DBA_ 뷰가 비어 있는 원인 규명 → CDB_ 뷰로 조치 → 사용 이력만으로 판정할 수 없는 이유 확인.</a:t>
            </a:r>
          </a:p>
          <a:p>
            <a:pPr algn="l">
              <a:spcAft>
                <a:spcPts val="1000"/>
              </a:spcAft>
            </a:pPr>
            <a:r>
              <a:rPr sz="1600" b="0">
                <a:solidFill>
                  <a:srgbClr val="222222"/>
                </a:solidFill>
                <a:latin typeface="맑은 고딕"/>
              </a:rPr>
              <a:t>•  실습 04 — Standby 유형별 상태 확인: snapshot standby 변환·복귀. ORA-01109(안내)와 ORA-00942(폐기 확인) 관찰.</a:t>
            </a:r>
          </a:p>
          <a:p>
            <a:pPr algn="l">
              <a:spcAft>
                <a:spcPts val="1000"/>
              </a:spcAft>
            </a:pPr>
            <a:r>
              <a:rPr sz="1600" b="0">
                <a:solidFill>
                  <a:srgbClr val="222222"/>
                </a:solidFill>
                <a:latin typeface="맑은 고딕"/>
              </a:rPr>
              <a:t>•  실습 05 — 구성 전 점검표: 두 노드의 버전·엔디안·문자셋·시간대·파라미터 대조. ORACLE_SID 오설정으로 ORA-01034 재현.</a:t>
            </a:r>
          </a:p>
          <a:p>
            <a:pPr algn="l">
              <a:spcAft>
                <a:spcPts val="1000"/>
              </a:spcAft>
            </a:pPr>
            <a:r>
              <a:rPr sz="1600" b="0">
                <a:solidFill>
                  <a:srgbClr val="222222"/>
                </a:solidFill>
                <a:latin typeface="맑은 고딕"/>
              </a:rPr>
              <a:t>•  모든 실습은 2노드 환경(chicago-srv 172.16.225.60 / boston-srv 172.16.225.61)에서 수행한다.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
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다운타임이라고 하면 장애부터 떠올리지만, 실제 운영에서 서비스를 가장 자주 멈추게 하는 것은 분기마다 돌아오는 패치나 장비 교체 같은 계획 정지입니다. Data Guard는 Standby를 먼저 작업하고 역할을 넘기는 방식으로 이 중단 시간을 몇 분 수준으로 줄입니다. 표의 마지막 줄은 일부러 넣었습니다. 잘못된 DELETE는 Primary에서 정상 커밋된 변경이라 Standby에도 몇 초 안에 그대로 적용됩니다. Standby가 있으니 실수도 되돌릴 수 있다고 생각하는 분이 의외로 많습니다.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백업에서 복원하는 방식도 아카이브 로그만 잘 남아 있으면 데이터는 거의 잃지 않습니다. 문제는 시간입니다. 수 테라바이트 데이터베이스를 복원하고 복구하는 데는 몇 시간이 걸리고, 그동안 업무는 멈춰 있습니다. Data Guard는 복원과 적용이 이미 끝난 사본을 늘 들고 있어 그 시간을 없애 줍니다. 대신 데이터 손실은 리두를 동기로 보내느냐 비동기로 보내느냐에 달려 있습니다. 실무에서는 업무 부서와 RPO, RTO 숫자부터 정해야 보호 모드와 자동 Failover 여부를 결정할 근거가 생깁니다.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다른 복제 제품과 비교할 때 가장 먼저 꼽을 특징은 데이터베이스가 원래 만들던 리두를 그대로 쓴다는 것입니다. 트리거나 별도 캡처 프로세스가 없으니 Primary에 더해지는 부담이 작고, 리두에 기록되는 변경이라면 무엇이든 Standby에 반영됩니다. 대기 서버 활용 항목은 조금 조심해서 말해야 합니다. 백업을 Standby에서 받는 것은 기본 기능이지만, 적용 중인 Standby에서 조회를 받는 것은 Active Data Guard 옵션이 필요합니다. 이 차이는 1.7절에서 따로 정리합니다.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처음 도입하는 사이트는 대부분 Physical Standby 하나로 시작합니다. 그 하나를 어디에 두느냐가 첫 고민인데, 같은 데이터센터에 두면 동기 전송이 쉬워 데이터 손실 없는 전환을 얻지만 건물 전체가 멈추는 재해에는 소용이 없습니다. 멀리 두면 재해에는 강해지지만 왕복 지연 때문에 동기 전송이 커밋 응답 시간을 늘립니다. 두 마리 토끼를 잡으려고 로컬과 원격을 함께 두거나, 로컬 Standby 대신 데이터 파일 없는 Far Sync를 두는 구성이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Guard 도입을 검토하는 자리에서 백업을 줄여도 되느냐는 질문이 꼭 나옵니다. 답은 줄이면 안 된다입니다. Data Guard는 Primary에서 일어난 일을 충실히 옮기는 장치라서, 사람이 저지른 실수도 똑같이 충실하게 옮깁니다. 이를 보완하려고 Standby 하나에 몇 시간 지연 적용을 걸어 두거나 Flashback Database를 켜 두는 방법을 함께 씁니다. 지연 적용 Standby는 실수 직후 적용을 멈추고 그 시점의 데이터를 꺼내는 용도로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과정 내내 Primary는 chicago, Standby는 boston이라고 부르지만 두 데이터베이스의 DB_NAME은 똑같이 chicago입니다. Physical Standby는 Primary 백업을 복원해 만든 것이라 DBID도 같습니다. 따라서 V$DATABASE의 NAME만 보면 어느 쪽에 접속했는지 알 수 없고, DB_UNIQUE_NAME과 DATABASE_ROLE을 함께 봐야 합니다. 또 Switchover를 한 번 하고 나면 boston이 Primary가 되므로, 운영 문서에서는 서버 이름보다 현재 역할로 대상을 지칭하는 습관을 들이는 편이 사고를 줄입니다.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재해 복구용 Standby라고 하면 거의 항상 Physical Standby를 말합니다. 블록 변경을 그대로 재현하기 때문에 Primary에서 가능한 일은 무엇이든 Standby에 반영되고, 지원되지 않는 데이터 유형 같은 고민이 없습니다. 블록이 같다는 성질 덕분에 Standby에서 받은 RMAN 백업으로 Primary를 복원할 수도 있어, 백업 부하를 Standby로 넘기는 사이트가 많습니다. 반대로 Standby에서는 테이블 하나 만들 수 없습니다. 내용은 Primary의 리두로만 바뀌어야 하기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Logical Standby는 열린 채로 동기화된다는 점 때문에 매력적으로 보이지만, 리두를 SQL로 다시 만드는 방식이라 따라오는 제약이 있습니다. 지원하지 않는 데이터 유형이 들어 있는 테이블은 동기화에서 빠지고, 대량 변경이 많으면 적용이 밀리기도 합니다. 이런 이유로 재해 복구 주력으로는 잘 쓰지 않고, Primary에 없는 보고용 구조가 필요하거나 버전이 다른 데이터베이스 사이에서 롤링 업그레이드를 할 때 고릅니다. 생성 절차와 필터 설정은 12장에서 실습합니다.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운영 데이터 그대로 애플리케이션 패치나 부하 시험을 해 보고 싶을 때 쓰는 유형입니다. 전환하면 보장 복원 지점이 만들어지고, 되돌릴 때 그 지점으로 데이터베이스를 되감은 뒤 그동안 쌓아 둔 리두를 적용해 Primary를 따라잡습니다. 리두를 계속 받아 두니 데이터는 잃지 않지만, Snapshot 상태가 길어질수록 Failover 대상으로서의 가치는 떨어집니다. 밀린 리두를 다 적용해야 Primary가 될 수 있기 때문입니다. 시험 기간을 정해 두고 쓰는 것이 원칙입니다.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동기 전송은 Standby까지의 왕복 시간만큼 커밋이 늦어집니다. 수백 킬로미터 떨어진 재해 복구 센터로 동기 전송을 하면 업무 응답 시간이 눈에 띄게 늘어나죠. Far Sync는 Primary 옆에 데이터 파일 없는 작은 인스턴스를 두고 거기까지만 동기로 보내, 커밋 대기는 짧게 끝내고 먼 곳으로는 비동기로 넘기는 구조입니다. 캐스케이딩도 기본 기능이지만, 받는 즉시 넘기는 실시간 캐스케이딩은 옵션이 필요합니다. 옵션 없이 캐스케이딩을 구성하면 로그 파일이 아카이브된 뒤에야 다음 Standby로 넘어갑니다.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유형을 한 표로 놓고 보면 선택 기준이 분명해집니다. 장애 대비가 목적이면 Physical, Primary와 다른 구조가 필요하면 Logical, 잠깐 쓰고 버릴 사본이 필요하면 Snapshot입니다. 실무에서는 이 셋을 한 구성에 섞기도 합니다. 재해 복구용 Physical Standby를 두고, 보고용으로 Logical Standby를 하나 더 두는 식입니다. 실습에서는 같은 Standby를 Snapshot으로 바꿨다 되돌리면서 DATABASE_ROLE과 OPEN_MODE가 어떻게 달라지는지 직접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서비스 가운데 처음 배우는 분들이 가장 자주 섞는 것이 전송과 적용입니다. 적용을 멈춰 둔 Standby도 전송은 정상이어서, 그 순간 Primary가 사라져도 데이터는 잃지 않습니다. 다만 그 Standby를 Primary로 올리려면 밀린 리두를 전부 적용해야 하니 시간이 오래 걸립니다. 거꾸로 네트워크가 끊겨도 이미 받은 리두는 계속 적용됩니다. 역할 관리 서비스는 이 둘을 이용해 남은 리두를 마저 보내고 적용한 다음 역할을 바꿉니다.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SYNC와 ASYNC의 차이는 프로세스 구조에서 드러납니다. SYNC 목적지가 있으면 LGWR가 NSS에 리두를 넘기고 Standby의 확인이 올 때까지 커밋 응답을 미룹니다. 네트워크 지연이 커밋 시간에 그대로 더해집니다. ASYNC는 TT 프로세스가 로그 버퍼나 온라인 리두 로그에서 알아서 읽어 가고, LGWR는 기다리지 않습니다. 인터넷에서 찾은 자료나 오래된 그림에는 LNS라는 이름이 자주 보이는데, 지금 버전에서는 NSS나 TT로 바꿔 읽으면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Standby에서 RFS 프로세스가 보인다고 적용이 돌고 있다고 판단하면 안 됩니다. RFS는 받기만 하고, 적용은 MRP0가 지휘하고 PR로 시작하는 복구 슬레이브가 실제 블록 작업을 나눠 맡습니다. Physical Standby에는 LSP가 없고 Logical Standby에는 MRP0가 없으니, 프로세스 이름만으로도 Standby 유형을 짐작할 수 있습니다. 실시간 적용은 RFS가 SRL에 쓰는 리두를 MRP0가 로그 전환을 기다리지 않고 바로 읽어 가는 방식이며, 적용 동작은 7장에서 자세히 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SRL은 Standby가 Primary의 온라인 리두 로그에 대응해 갖는 수신용 로그입니다. 예전에는 선택 사항처럼 소개됐지만, 지금은 동기 전송도, 실시간 적용도, Far Sync도 SRL 없이는 동작하지 않으니 사실상 필수입니다. Primary에도 SRL을 만들어 두는 이유는 Switchover로 Standby가 되는 순간부터 리두를 받아야 하기 때문입니다. 개수는 스레드마다 온라인 리두 그룹 수보다 하나 많게 잡는 것이 일반 권장이고, 구체적인 산정과 생성은 4장에서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설치 가이드나 블로그 글 상당수가 아직 V$MANAGED_STANDBY를 씁니다. 19c에서도 조회는 되지만 디프리케이트 상태라 언제 빠질지 모릅니다. 새 뷰는 프로세스 이름 옆에 역할 이름을 보여 주어 TT02가 무엇을 하는 프로세스인지 알아볼 수 있고, 같은 뷰를 Primary와 Standby 양쪽에서 조회할 수 있습니다. 실습 02에서 이 뷰로 Primary의 전송 프로세스와 Standby의 RFS를 짝지어 보는데, 두 노드의 출력을 나란히 놓고 보면 리두가 흘러가는 길이 그대로 보입니다.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네트워크가 잠깐 끊겼다 돌아오는 일은 생각보다 흔합니다. 그때마다 관리자가 빠진 로그를 찾아 복사해야 한다면 운영이 불가능하겠죠. Data Guard는 Primary와 Standby 양쪽에서 빈 구간을 찾아 자동으로 채웁니다. 단 하나의 조건은 원본 아카이브 로그가 Primary에 남아 있어야 한다는 것입니다. 백업 스크립트가 아카이브 로그를 백업하고 바로 지우도록 짜여 있으면 갭을 메울 원본이 사라집니다. RMAN 삭제 정책을 Standby 적용 이후로 맞춰 둡니다.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모드는 Standby에 리두를 쓰지 못할 때 Primary가 어떻게 행동하느냐로 갈립니다. Protection은 데이터 손실 가능성을 만들지 않으려고 Primary를 멈추고, Availability는 업무를 계속하면서 연결이 돌아오면 다시 동기화합니다. Performance는 처음부터 기다리지 않습니다. 기본값은 Performance입니다. 아무 설정 없이 구성하면 장애 순간의 마지막 몇 초는 잃을 수 있는 상태로 운영하게 됩니다. 업무와 합의한 RPO가 0이라면 이 기본값을 바꿔야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Switchover는 Primary가 살아 있어야 할 수 있습니다. 남은 리두를 끝까지 보내고 적용한 뒤 역할을 맞바꾸기 때문입니다. 패치나 장비 교체처럼 미리 계획한 작업에 쓰고, 끝나면 같은 방법으로 되돌립니다. Failover는 Primary를 포기하는 결정입니다. 명령은 승격할 Standby에서 내고, 버려진 원래 Primary는 Flashback Database가 켜져 있었다면 reinstate로 Standby로 되살릴 수 있습니다. 꺼져 있었다면 백업으로 Standby를 다시 만들어야 하니, Flashback은 Data Guard 구성 초기에 켜 두는 편이 좋습니다.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새벽 세 시에 장애가 나면 담당자가 일어나 상황을 파악하고 Failover를 결정하기까지 수십 분이 걸립니다. Fast-Start Failover는 이 판단을 옵저버라는 감시 프로세스에 맡깁니다. 옵저버를 Primary나 Standby와 같은 서버에 두면 의미가 없습니다. 네트워크 일부만 끊긴 상황에서 두 데이터베이스가 동시에 Primary가 되는 일을 막으려면, 옵저버와 Standby가 함께 Primary를 잃었다고 판단할 때만 Failover하도록 제3자 위치에 있어야 합니다. 설정은 16장에서 실습합니다.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데이터베이스 쪽 전환은 몇 분 만에 끝났는데 애플리케이션이 한 시간 넘게 접속하지 못하는 일이 실제로 자주 일어납니다. 접속 문자열에 Primary 서버 주소만 적혀 있었기 때문입니다. 역할 기반 서비스를 만들어 두면 전환 뒤 새 Primary에서 같은 이름의 서비스가 올라오고, 접속 기술자에 두 주소를 모두 적어 두면 클라이언트가 알아서 살아 있는 쪽을 찾습니다. 이 준비는 Data Guard 구성과 별도로 애플리케이션 담당자와 함께 해야 하므로 일정에 미리 넣어 둡니다.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사례에서 판단의 축은 부품 교체 네 시간을 업무가 견딜 수 있느냐입니다. 견딜 수 없다면 Failover 외에는 길이 없습니다. 결정하기 전에 확인할 숫자는 두 개입니다. transport lag는 지금 넘어가면 얼마만큼의 데이터를 잃는지, apply lag는 Failover가 끝나기까지 얼마나 걸리는지를 알려 줍니다. 평소에 이 두 값을 감시하고 기록해 두었다면 그 자리에서 판단할 수 있습니다. 수리가 끝난 원래 Primary를 어떻게 되살리느냐는 Flashback Database 설정 여부가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Broker는 SQL과 파라미터로 하던 일을 대신 해 주는 관리 계층입니다. 각 인스턴스에서 DMON 프로세스가 돌며 서로 통신하고, 구성 정보는 데이터베이스마다 두 개씩 있는 구성 파일에 저장됩니다. 두 개를 두는 이유는 한쪽을 쓰는 동안 다른 쪽이 직전 상태를 보관하기 위해서입니다. Broker를 쓰면 전송 목적지나 보호 모드를 속성으로 지정하고, Broker가 그에 맞춰 LOG_ARCHIVE_DEST_n 같은 파라미터를 직접 설정합니다. 이 관계를 알아야 13장 이후 내용이 자연스럽게 연결됩니다.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DGMGRL에서 SWITCHOVER TO boston 한 줄이면 끝나는 작업을 SQL로만 하려면 양쪽 데이터베이스를 오가며 명령 여러 개와 재기동을 순서대로 실행해야 합니다. 그런데도 이 과정이 SQL부터 시작하는 이유는 Broker가 내놓는 경고를 해석하려면 그 밑에서 어떤 파라미터와 프로세스가 움직이는지 알아야 하기 때문입니다. Enterprise Manager는 화면으로 보기 편하지만 Cloud Control 설치가 전제여서 이 과정에서는 개념만 소개하고, 실습은 모두 DGMGRL과 SQL로 진행합니다.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Broker를 도입한 뒤에도 습관처럼 ALTER SYSTEM으로 전송 파라미터를 고치는 경우가 있습니다. 그러면 Broker 구성 파일에 저장된 속성과 실제 파라미터가 어긋나고, Broker는 다음 점검이나 재기동 때 자기 값으로 덮어쓰거나 불일치 경고를 냅니다. 고친 줄 알았던 설정이 재기동 후 원래대로 돌아가 있는 일이 이렇게 생깁니다. Broker 구성에서는 설정 변경은 DGMGRL의 EDIT 명령으로, SQL은 조회에만 쓰도록 팀 규칙으로 정해 두는 것이 안전합니다.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Guard와 Active Data Guard는 이름이 비슷해 같은 것처럼 쓰이지만, 하나는 Enterprise Edition에 들어 있는 기능이고 다른 하나는 따로 사는 옵션입니다. 판단 기준은 적용을 계속하면서 Standby를 열어 두느냐 하나입니다. 적용을 멈추고 READ ONLY로 여는 것은 기본 기능이지만, 적용 중인 Standby를 열면 옵션 사용입니다. DBMS_ROLLING을 쓴 롤링 업그레이드도 옵션 쪽입니다. 클라우드 상품 일부에는 옵션이 포함돼 있지만 온프레미스 19c는 별도 계약이 필요합니다.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옵션 구매를 검토하는 자리에서는 어떤 업무 문제를 해결하려는지부터 물어야 합니다. 가장 흔한 동기는 보고서 조회를 Primary에서 떼어 내는 것이고, 그다음이 원거리 무손실 보호를 위한 Far Sync입니다. DML 리다이렉션은 19c에서 추가된 기능으로, Standby에 붙은 세션이 가끔 쓰기를 하면 그 DML을 Primary로 넘겨 실행해 줍니다. 쓰기가 잦은 애플리케이션을 Standby로 옮기는 용도는 아닙니다. 각 기능은 9장과 10장에서 직접 사용해 봅니다.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오라클은 옵션 기능을 라이선스 키로 막아 두지 않습니다. 적용을 멈추고 Standby를 연 다음 적용을 다시 켜는 평범한 순서만으로 Real-Time Query가 됩니다. 장애 대응 중에 Standby 데이터를 확인하려고 이렇게 했다가 그대로 두는 경우가 대표적입니다. 옵션이 없는 사이트라면 Standby 기동 스크립트를 STARTUP MOUNT와 적용 기동으로 고정해 두고, 담당자가 바뀌어도 알 수 있게 운영 문서 첫 장에 보유 여부를 적어 둡니다. 조회 요구가 들어오면 Snapshot Standby나 적용 중지 상태의 조회로 대신합니다.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기능 사용 이력 뷰는 MMON이 주기적으로 샘플링해 기록합니다. 그런데 읽기 전용으로 열린 Standby는 자기 딕셔너리에 아무것도 쓸 수 없으니, 실제로 Real-Time Query를 쓰고 있어도 값이 올라가지 않는 경우가 있습니다. 멀티테넌트 환경에서는 CDB$ROOT의 DBA_ 뷰가 비어 보이기도 합니다. 실사 대비 기록은 양쪽의 버전 배너, Standby의 OPEN_MODE, 사용 이력 뷰를 함께 남기는 방식이 무난합니다. 실습 03에서 이 한계를 직접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Edition 고객이 Data Guard를 쓰고 싶다고 하면 답은 에디션 업그레이드뿐입니다. 아카이브 로그를 스크립트로 복사해 적용하는 수동 Standby를 만들 수는 있지만 Data Guard의 자동 전송, 갭 해소, Broker는 쓸 수 없습니다. 릴리스는 같아야 하고, 실무에서는 Release Update 수준까지 맞춥니다. 패치할 때는 Standby를 먼저 패치하고 Switchover한 뒤 원래 Primary를 패치하는 순서를 많이 쓰는데, 이 방식이 Data Guard로 계획 정지를 줄이는 대표적인 예입니다.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비용을 아끼려고 Standby 서버를 Primary보다 훨씬 작게 잡는 경우가 있습니다. 평소에는 적용만 하니 괜찮아 보이지만, 야간 배치처럼 리두가 몰리는 시간에는 적용이 밀리고, Failover 뒤에는 그 작은 서버가 모든 업무를 받아야 합니다. 운영체제나 CPU 아키텍처가 다른 혼합 구성은 몇 가지 조합만 허용되므로 반드시 My Oracle Support 문서로 확인합니다. 같은 서버에 Primary와 Standby를 함께 두는 구성은 서버 장애에 아무 도움이 되지 않으니 학습용으로만 씁니다.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점검표를 같아야 하는 것, 달라야 하는 것, Primary에서 켜야 하는 것으로 나눠 보면 정리가 쉽습니다. FORCE LOGGING이 꺼져 있으면 NOLOGGING으로 적재한 데이터가 리두에 남지 않아 Standby에는 해당 블록이 비정상으로 남습니다. 평소에는 아무 일 없다가 Failover 뒤 그 테이블을 읽는 순간 오류가 납니다. 실습 05에서 이 항목들을 두 노드에서 차례로 조회해 비교하고, 세부 준비 작업은 3장의 Net 구성과 4장의 Primary 준비에서 이어집니다.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RAC를 쓰고 있으니 Data Guard는 필요 없다는 말을 종종 듣습니다. RAC는 노드 하나가 죽어도 다른 노드가 서비스를 이어 가지만, 모든 노드가 같은 스토리지의 같은 데이터 파일을 봅니다. 스토리지가 손상되거나 데이터센터 전체가 멈추면 RAC 노드가 몇 개든 소용이 없습니다. 반대로 Data Guard의 Failover는 RAC의 인스턴스 복구보다 시간이 더 걸립니다. 두 기술은 맡는 장애가 달라서, 중요한 시스템에서는 RAC 두 벌을 Data Guard로 묶는 구성이 일반적입니다.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GoldenGate와 Data Guard는 둘 다 리두를 읽지만 목적이 다릅니다. GoldenGate는 대상이 열려 있고 쓰기도 가능하며, 다른 버전이나 다른 회사 데이터베이스로도 복제할 수 있어 무중단 이전이나 양쪽 사이트에서 동시에 쓰는 구성에 강합니다. 대신 복제가 비동기이고 데이터 유형 제약이 있어, 장애 순간 데이터 손실 없는 전환이 목표라면 Physical Standby가 더 단순하고 확실합니다. Logical Standby와 쓰임새가 일부 겹치는데, Logical Standby는 EE 기본 기능이지만 오라클끼리 한 방향으로만 동작합니다.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스토리지 원격 미러링은 디스크에 쓰인 모든 블록을 상대편에 복제합니다. 펌웨어 결함으로 깨진 블록이 쓰이면 그 깨진 블록도 그대로 복제됩니다. Data Guard는 블록이 아니라 리두를 보내고, 적용하면서 정합성을 검사하므로 Primary 디스크의 물리 손상이 Standby로 옮겨 가지 않습니다. 이 차이가 스토리지 복제를 이미 쓰는 사이트에서 Data Guard를 추가로 검토하는 이유가 됩니다. 반면 백업과 Flashback은 Data Guard가 대신할 수 없는 영역이라 그대로 유지합니다.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오라클은 이런 기술 조합을 MAA, Maximum Availability Architecture라는 이름으로 정리해 권장합니다. 표는 단순화한 것이고 실제 MAA 문서에는 등급 이름과 세부 구성이 따로 있습니다. 여기서 볼 것은 위 계층이 아래 계층을 대체하지 않는다는 구조입니다. Data Guard를 넣어도 백업은 계속 받아야 하고, GoldenGate를 넣어도 Data Guard가 하던 무손실 보호는 그대로 필요합니다. 모든 시스템을 최상위 계층으로 맞추면 비용이 감당되지 않으니, 시스템마다 합의한 RPO와 RTO로 계층을 고릅니다.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요구 사항을 하나씩 대조해 보면 답이 나옵니다. 30분 안에 복구하려면 복원 기반의 백업 전략으로는 어렵고, 데이터 손실이 없어야 하니 동기 전송이 필요합니다. RAC는 서버 고장에는 빠르지만 스토리지가 한 벌이라 손실 위험이 남습니다. 별도 서버와 스토리지에 Physical Standby를 두고 Maximum Availability로 운영하면 세 요구가 모두 충족됩니다. 기본 Data Guard로 시작해 조회 분산 같은 새 요구가 생길 때 옵션을 더하는 순서가 비용 면에서도 무리가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데이터베이스의 DB_NAME이 같아서 Standby에서 실행해야 할 명령을 Primary에서 실행하는 실수가 가장 흔합니다. 명령 전에 DB_UNIQUE_NAME과 역할을 확인하는 습관 하나로 상당수 사고를 막을 수 있습니다. 한 번도 전환해 보지 않은 Standby는 장애 때 제대로 동작한다는 보장이 없으므로 정기 훈련 일정을 잡아 둡니다. 감시도 Standby 프로세스가 떠 있는지보다 transport lag와 apply lag가 기준 안에 있는지를 봐야 하고, 기준값은 업무와 합의한 RPO와 RTO에서 거꾸로 정합니다.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57200"/>
            <a:ext cx="10698480" cy="548640"/>
          </a:xfrm>
          <a:prstGeom prst="rect">
            <a:avLst/>
          </a:prstGeom>
          <a:noFill/>
        </p:spPr>
        <p:txBody>
          <a:bodyPr wrap="square">
            <a:spAutoFit/>
          </a:bodyPr>
          <a:lstStyle/>
          <a:p>
            <a:pPr algn="l">
              <a:spcAft>
                <a:spcPts val="600"/>
              </a:spcAft>
            </a:pPr>
            <a:r>
              <a:rPr sz="1600" b="1">
                <a:solidFill>
                  <a:srgbClr val="FFFFFF"/>
                </a:solidFill>
                <a:latin typeface="맑은 고딕"/>
              </a:rPr>
              <a:t>Oracle Database 19c Active Data Guard 과정</a:t>
            </a:r>
          </a:p>
        </p:txBody>
      </p:sp>
      <p:sp>
        <p:nvSpPr>
          <p:cNvPr id="6" name="TextBox 5"/>
          <p:cNvSpPr txBox="1"/>
          <p:nvPr/>
        </p:nvSpPr>
        <p:spPr>
          <a:xfrm>
            <a:off x="731520" y="2377440"/>
            <a:ext cx="10698480" cy="1554480"/>
          </a:xfrm>
          <a:prstGeom prst="rect">
            <a:avLst/>
          </a:prstGeom>
          <a:noFill/>
        </p:spPr>
        <p:txBody>
          <a:bodyPr wrap="square">
            <a:spAutoFit/>
          </a:bodyPr>
          <a:lstStyle/>
          <a:p>
            <a:pPr algn="l">
              <a:spcAft>
                <a:spcPts val="600"/>
              </a:spcAft>
            </a:pPr>
            <a:r>
              <a:rPr sz="3400" b="1">
                <a:solidFill>
                  <a:srgbClr val="C0392B"/>
                </a:solidFill>
                <a:latin typeface="맑은 고딕"/>
              </a:rPr>
              <a:t>Data Guard 개요와 아키텍처</a:t>
            </a:r>
          </a:p>
        </p:txBody>
      </p:sp>
      <p:sp>
        <p:nvSpPr>
          <p:cNvPr id="7" name="TextBox 6"/>
          <p:cNvSpPr txBox="1"/>
          <p:nvPr/>
        </p:nvSpPr>
        <p:spPr>
          <a:xfrm>
            <a:off x="731520" y="4114800"/>
            <a:ext cx="10698480" cy="1097280"/>
          </a:xfrm>
          <a:prstGeom prst="rect">
            <a:avLst/>
          </a:prstGeom>
          <a:noFill/>
        </p:spPr>
        <p:txBody>
          <a:bodyPr wrap="square">
            <a:spAutoFit/>
          </a:bodyPr>
          <a:lstStyle/>
          <a:p>
            <a:pPr algn="l">
              <a:spcAft>
                <a:spcPts val="600"/>
              </a:spcAft>
            </a:pPr>
            <a:r>
              <a:rPr sz="1500" b="0">
                <a:solidFill>
                  <a:srgbClr val="5A6672"/>
                </a:solidFill>
                <a:latin typeface="맑은 고딕"/>
              </a:rPr>
              <a:t>무엇을 지키고, 무엇으로 이루어지며, 어디까지가 기본 기능인가</a:t>
            </a:r>
          </a:p>
        </p:txBody>
      </p:sp>
      <p:sp>
        <p:nvSpPr>
          <p:cNvPr id="8" name="TextBox 7"/>
          <p:cNvSpPr txBox="1"/>
          <p:nvPr/>
        </p:nvSpPr>
        <p:spPr>
          <a:xfrm>
            <a:off x="731520" y="5577840"/>
            <a:ext cx="10698480" cy="914400"/>
          </a:xfrm>
          <a:prstGeom prst="rect">
            <a:avLst/>
          </a:prstGeom>
          <a:noFill/>
        </p:spPr>
        <p:txBody>
          <a:bodyPr wrap="square">
            <a:spAutoFit/>
          </a:bodyPr>
          <a:lstStyle/>
          <a:p>
            <a:pPr algn="l">
              <a:spcAft>
                <a:spcPts val="600"/>
              </a:spcAft>
            </a:pPr>
            <a:r>
              <a:rPr sz="2000" b="1">
                <a:solidFill>
                  <a:srgbClr val="C0392B"/>
                </a:solidFill>
                <a:latin typeface="맑은 고딕"/>
              </a:rPr>
              <a:t>제1장</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학습 목표</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Data Guard가 대응하는 다운타임의 종류를 구분한다</a:t>
            </a:r>
          </a:p>
          <a:p>
            <a:pPr algn="l">
              <a:spcAft>
                <a:spcPts val="1000"/>
              </a:spcAft>
            </a:pPr>
            <a:r>
              <a:rPr sz="1600" b="0">
                <a:solidFill>
                  <a:srgbClr val="222222"/>
                </a:solidFill>
                <a:latin typeface="맑은 고딕"/>
              </a:rPr>
              <a:t>•  Physical, Logical, Snapshot Standby와 Far Sync를 구분한다</a:t>
            </a:r>
          </a:p>
          <a:p>
            <a:pPr algn="l">
              <a:spcAft>
                <a:spcPts val="1000"/>
              </a:spcAft>
            </a:pPr>
            <a:r>
              <a:rPr sz="1600" b="0">
                <a:solidFill>
                  <a:srgbClr val="222222"/>
                </a:solidFill>
                <a:latin typeface="맑은 고딕"/>
              </a:rPr>
              <a:t>•  전송·적용·역할 관리 서비스와 주요 프로세스를 짝짓는다</a:t>
            </a:r>
          </a:p>
          <a:p>
            <a:pPr algn="l">
              <a:spcAft>
                <a:spcPts val="1000"/>
              </a:spcAft>
            </a:pPr>
            <a:r>
              <a:rPr sz="1600" b="0">
                <a:solidFill>
                  <a:srgbClr val="222222"/>
                </a:solidFill>
                <a:latin typeface="맑은 고딕"/>
              </a:rPr>
              <a:t>•  Switchover, Failover, Fast-Start Failover를 구분한다</a:t>
            </a:r>
          </a:p>
          <a:p>
            <a:pPr algn="l">
              <a:spcAft>
                <a:spcPts val="1000"/>
              </a:spcAft>
            </a:pPr>
            <a:r>
              <a:rPr sz="1600" b="0">
                <a:solidFill>
                  <a:srgbClr val="222222"/>
                </a:solidFill>
                <a:latin typeface="맑은 고딕"/>
              </a:rPr>
              <a:t>•  Broker와 관리 도구, ADG 옵션의 라이선스 경계를 판단한다</a:t>
            </a:r>
          </a:p>
          <a:p>
            <a:pPr algn="l">
              <a:spcAft>
                <a:spcPts val="1000"/>
              </a:spcAft>
            </a:pPr>
            <a:r>
              <a:rPr sz="1600" b="0">
                <a:solidFill>
                  <a:srgbClr val="222222"/>
                </a:solidFill>
                <a:latin typeface="맑은 고딕"/>
              </a:rPr>
              <a:t>•  RAC, GoldenGate, 백업과 비교해 보호 범위를 설명한다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Agenda</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1.2  Data Guard가 해결하는 문제  /  1.3  구성 요소</a:t>
            </a:r>
          </a:p>
          <a:p>
            <a:pPr algn="l">
              <a:spcAft>
                <a:spcPts val="1000"/>
              </a:spcAft>
            </a:pPr>
            <a:r>
              <a:rPr sz="1600" b="0">
                <a:solidFill>
                  <a:srgbClr val="222222"/>
                </a:solidFill>
                <a:latin typeface="맑은 고딕"/>
              </a:rPr>
              <a:t>•  1.4  리두 전송 서비스와 적용 서비스</a:t>
            </a:r>
          </a:p>
          <a:p>
            <a:pPr algn="l">
              <a:spcAft>
                <a:spcPts val="1000"/>
              </a:spcAft>
            </a:pPr>
            <a:r>
              <a:rPr sz="1600" b="0">
                <a:solidFill>
                  <a:srgbClr val="222222"/>
                </a:solidFill>
                <a:latin typeface="맑은 고딕"/>
              </a:rPr>
              <a:t>•  1.5  역할 전환  /  1.6  Broker와 관리 도구</a:t>
            </a:r>
          </a:p>
          <a:p>
            <a:pPr algn="l">
              <a:spcAft>
                <a:spcPts val="1000"/>
              </a:spcAft>
            </a:pPr>
            <a:r>
              <a:rPr sz="1600" b="0">
                <a:solidFill>
                  <a:srgbClr val="222222"/>
                </a:solidFill>
                <a:latin typeface="맑은 고딕"/>
              </a:rPr>
              <a:t>•  1.7  Active Data Guard 옵션과 라이선스 경계</a:t>
            </a:r>
          </a:p>
          <a:p>
            <a:pPr algn="l">
              <a:spcAft>
                <a:spcPts val="1000"/>
              </a:spcAft>
            </a:pPr>
            <a:r>
              <a:rPr sz="1600" b="0">
                <a:solidFill>
                  <a:srgbClr val="222222"/>
                </a:solidFill>
                <a:latin typeface="맑은 고딕"/>
              </a:rPr>
              <a:t>•  1.8  구성 요건과 사전 점검</a:t>
            </a:r>
          </a:p>
          <a:p>
            <a:pPr algn="l">
              <a:spcAft>
                <a:spcPts val="1000"/>
              </a:spcAft>
            </a:pPr>
            <a:r>
              <a:rPr sz="1600" b="0">
                <a:solidFill>
                  <a:srgbClr val="222222"/>
                </a:solidFill>
                <a:latin typeface="맑은 고딕"/>
              </a:rPr>
              <a:t>•  1.9  다른 고가용성 기술과의 비교  /  1.10  운영 시 주의점</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1.2</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Data Guard가 해결하는 문제</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다운타임의 종류와 대응</a:t>
            </a:r>
          </a:p>
          <a:p>
            <a:pPr algn="l">
              <a:spcAft>
                <a:spcPts val="800"/>
              </a:spcAft>
            </a:pPr>
            <a:r>
              <a:rPr sz="1600" b="0">
                <a:solidFill>
                  <a:srgbClr val="FFFFFF"/>
                </a:solidFill>
                <a:latin typeface="맑은 고딕"/>
              </a:rPr>
              <a:t>•  RPO와 RTO로 보는 보호 수준</a:t>
            </a:r>
          </a:p>
          <a:p>
            <a:pPr algn="l">
              <a:spcAft>
                <a:spcPts val="800"/>
              </a:spcAft>
            </a:pPr>
            <a:r>
              <a:rPr sz="1600" b="0">
                <a:solidFill>
                  <a:srgbClr val="FFFFFF"/>
                </a:solidFill>
                <a:latin typeface="맑은 고딕"/>
              </a:rPr>
              <a:t>•  전형적인 배치 형태</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다운타임의 종류</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원인마다 대책이 다르다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계획 정지: 패치, 하드웨어 교체 → Switchover</a:t>
            </a:r>
          </a:p>
          <a:p>
            <a:pPr algn="l">
              <a:spcAft>
                <a:spcPts val="1000"/>
              </a:spcAft>
            </a:pPr>
            <a:r>
              <a:rPr sz="1700" b="0">
                <a:solidFill>
                  <a:srgbClr val="222222"/>
                </a:solidFill>
                <a:latin typeface="맑은 고딕"/>
              </a:rPr>
              <a:t>•  서버·인스턴스 장애 → Failover</a:t>
            </a:r>
          </a:p>
          <a:p>
            <a:pPr algn="l">
              <a:spcAft>
                <a:spcPts val="1000"/>
              </a:spcAft>
            </a:pPr>
            <a:r>
              <a:rPr sz="1700" b="0">
                <a:solidFill>
                  <a:srgbClr val="222222"/>
                </a:solidFill>
                <a:latin typeface="맑은 고딕"/>
              </a:rPr>
              <a:t>•  사이트 재해: 화재, 정전, 네트워크 단절 → 원격 Standby</a:t>
            </a:r>
          </a:p>
          <a:p>
            <a:pPr algn="l">
              <a:spcAft>
                <a:spcPts val="1000"/>
              </a:spcAft>
            </a:pPr>
            <a:r>
              <a:rPr sz="1700" b="0">
                <a:solidFill>
                  <a:srgbClr val="222222"/>
                </a:solidFill>
                <a:latin typeface="맑은 고딕"/>
              </a:rPr>
              <a:t>•  데이터 손상: lost write, 블록 손상 → 리두 검증</a:t>
            </a:r>
          </a:p>
          <a:p>
            <a:pPr algn="l">
              <a:spcAft>
                <a:spcPts val="1000"/>
              </a:spcAft>
            </a:pPr>
            <a:r>
              <a:rPr sz="1700" b="0">
                <a:solidFill>
                  <a:srgbClr val="222222"/>
                </a:solidFill>
                <a:latin typeface="맑은 고딕"/>
              </a:rPr>
              <a:t>•  사용자 오류는 그대로 전달됨 → 지연 적용, Flashback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RPO와 RTO</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얼마나 잃어도 되고, 얼마나 멈춰도 되는가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RPO: 잃어도 되는 데이터의 양(시간)</a:t>
            </a:r>
          </a:p>
          <a:p>
            <a:pPr algn="l">
              <a:spcAft>
                <a:spcPts val="1000"/>
              </a:spcAft>
            </a:pPr>
            <a:r>
              <a:rPr sz="1700" b="0">
                <a:solidFill>
                  <a:srgbClr val="222222"/>
                </a:solidFill>
                <a:latin typeface="맑은 고딕"/>
              </a:rPr>
              <a:t>•  RTO: 서비스가 돌아오기까지 허용 시간</a:t>
            </a:r>
          </a:p>
          <a:p>
            <a:pPr algn="l">
              <a:spcAft>
                <a:spcPts val="1000"/>
              </a:spcAft>
            </a:pPr>
            <a:r>
              <a:rPr sz="1700" b="0">
                <a:solidFill>
                  <a:srgbClr val="222222"/>
                </a:solidFill>
                <a:latin typeface="맑은 고딕"/>
              </a:rPr>
              <a:t>•  백업 복원: RPO는 작게, RTO는 수 시간</a:t>
            </a:r>
          </a:p>
          <a:p>
            <a:pPr algn="l">
              <a:spcAft>
                <a:spcPts val="1000"/>
              </a:spcAft>
            </a:pPr>
            <a:r>
              <a:rPr sz="1700" b="0">
                <a:solidFill>
                  <a:srgbClr val="222222"/>
                </a:solidFill>
                <a:latin typeface="맑은 고딕"/>
              </a:rPr>
              <a:t>•  Data Guard: RTO 분 단위, RPO는 보호 모드가 결정</a:t>
            </a:r>
          </a:p>
          <a:p>
            <a:pPr algn="l">
              <a:spcAft>
                <a:spcPts val="1000"/>
              </a:spcAft>
            </a:pPr>
            <a:r>
              <a:rPr sz="1700" b="0">
                <a:solidFill>
                  <a:srgbClr val="222222"/>
                </a:solidFill>
                <a:latin typeface="맑은 고딕"/>
              </a:rPr>
              <a:t>•  숫자를 먼저 합의해야 구성을 고를 수 있다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Data Guard의 정의와 도입 효과</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이미 있는 리두로 사본을 유지한다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Primary와 Standby 구성을 생성·관리·감시하는 기반</a:t>
            </a:r>
          </a:p>
          <a:p>
            <a:pPr algn="l">
              <a:spcAft>
                <a:spcPts val="1000"/>
              </a:spcAft>
            </a:pPr>
            <a:r>
              <a:rPr sz="1700" b="0">
                <a:solidFill>
                  <a:srgbClr val="222222"/>
                </a:solidFill>
                <a:latin typeface="맑은 고딕"/>
              </a:rPr>
              <a:t>•  별도 복제 엔진 없이 Primary의 리두를 그대로 사용</a:t>
            </a:r>
          </a:p>
          <a:p>
            <a:pPr algn="l">
              <a:spcAft>
                <a:spcPts val="1000"/>
              </a:spcAft>
            </a:pPr>
            <a:r>
              <a:rPr sz="1700" b="0">
                <a:solidFill>
                  <a:srgbClr val="222222"/>
                </a:solidFill>
                <a:latin typeface="맑은 고딕"/>
              </a:rPr>
              <a:t>•  서비스 연속성과 손실 없는 데이터 보호</a:t>
            </a:r>
          </a:p>
          <a:p>
            <a:pPr algn="l">
              <a:spcAft>
                <a:spcPts val="1000"/>
              </a:spcAft>
            </a:pPr>
            <a:r>
              <a:rPr sz="1700" b="0">
                <a:solidFill>
                  <a:srgbClr val="222222"/>
                </a:solidFill>
                <a:latin typeface="맑은 고딕"/>
              </a:rPr>
              <a:t>•  대기 서버를 조회·백업에 활용</a:t>
            </a:r>
          </a:p>
          <a:p>
            <a:pPr algn="l">
              <a:spcAft>
                <a:spcPts val="1000"/>
              </a:spcAft>
            </a:pPr>
            <a:r>
              <a:rPr sz="1700" b="0">
                <a:solidFill>
                  <a:srgbClr val="222222"/>
                </a:solidFill>
                <a:latin typeface="맑은 고딕"/>
              </a:rPr>
              <a:t>•  속성별 유연한 구성, Broker·EM으로 중앙 관리</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전형적인 배치 형태</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어떤 장애에 대비하느냐에 따라 위치가 달라진다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로컬 Standby: 서버·스토리지 장애, SYNC 전송이 쉬움</a:t>
            </a:r>
          </a:p>
          <a:p>
            <a:pPr algn="l">
              <a:spcAft>
                <a:spcPts val="1000"/>
              </a:spcAft>
            </a:pPr>
            <a:r>
              <a:rPr sz="1700" b="0">
                <a:solidFill>
                  <a:srgbClr val="222222"/>
                </a:solidFill>
                <a:latin typeface="맑은 고딕"/>
              </a:rPr>
              <a:t>•  원격 Standby: 사이트 재해, 대개 ASYNC</a:t>
            </a:r>
          </a:p>
          <a:p>
            <a:pPr algn="l">
              <a:spcAft>
                <a:spcPts val="1000"/>
              </a:spcAft>
            </a:pPr>
            <a:r>
              <a:rPr sz="1700" b="0">
                <a:solidFill>
                  <a:srgbClr val="222222"/>
                </a:solidFill>
                <a:latin typeface="맑은 고딕"/>
              </a:rPr>
              <a:t>•  로컬 + 원격: 두 종류 장애를 모두 대비</a:t>
            </a:r>
          </a:p>
          <a:p>
            <a:pPr algn="l">
              <a:spcAft>
                <a:spcPts val="1000"/>
              </a:spcAft>
            </a:pPr>
            <a:r>
              <a:rPr sz="1700" b="0">
                <a:solidFill>
                  <a:srgbClr val="222222"/>
                </a:solidFill>
                <a:latin typeface="맑은 고딕"/>
              </a:rPr>
              <a:t>•  Far Sync + 원격: 원거리에서도 손실 없는 전환</a:t>
            </a:r>
          </a:p>
          <a:p>
            <a:pPr algn="l">
              <a:spcAft>
                <a:spcPts val="1000"/>
              </a:spcAft>
            </a:pPr>
            <a:r>
              <a:rPr sz="1700" b="0">
                <a:solidFill>
                  <a:srgbClr val="222222"/>
                </a:solidFill>
                <a:latin typeface="맑은 고딕"/>
              </a:rPr>
              <a:t>•  위치는 RPO, RTO, 왕복 지연을 함께 놓고 결정</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Data Guard가 막지 못하는 것</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정상 커밋된 실수는 그대로 복제된다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잘못된 UPDATE, TRUNCATE도 정상 리두</a:t>
            </a:r>
          </a:p>
          <a:p>
            <a:pPr algn="l">
              <a:spcAft>
                <a:spcPts val="1000"/>
              </a:spcAft>
            </a:pPr>
            <a:r>
              <a:rPr sz="1700" b="0">
                <a:solidFill>
                  <a:srgbClr val="222222"/>
                </a:solidFill>
                <a:latin typeface="맑은 고딕"/>
              </a:rPr>
              <a:t>•  Standby에 수 초 안에 그대로 적용</a:t>
            </a:r>
          </a:p>
          <a:p>
            <a:pPr algn="l">
              <a:spcAft>
                <a:spcPts val="1000"/>
              </a:spcAft>
            </a:pPr>
            <a:r>
              <a:rPr sz="1700" b="0">
                <a:solidFill>
                  <a:srgbClr val="222222"/>
                </a:solidFill>
                <a:latin typeface="맑은 고딕"/>
              </a:rPr>
              <a:t>•  대비책 ①: Standby 하나에 지연 적용(DELAY)</a:t>
            </a:r>
          </a:p>
          <a:p>
            <a:pPr algn="l">
              <a:spcAft>
                <a:spcPts val="1000"/>
              </a:spcAft>
            </a:pPr>
            <a:r>
              <a:rPr sz="1700" b="0">
                <a:solidFill>
                  <a:srgbClr val="222222"/>
                </a:solidFill>
                <a:latin typeface="맑은 고딕"/>
              </a:rPr>
              <a:t>•  대비책 ②: 양쪽에 Flashback Database</a:t>
            </a:r>
          </a:p>
          <a:p>
            <a:pPr algn="l">
              <a:spcAft>
                <a:spcPts val="1000"/>
              </a:spcAft>
            </a:pPr>
            <a:r>
              <a:rPr sz="1700" b="0">
                <a:solidFill>
                  <a:srgbClr val="222222"/>
                </a:solidFill>
                <a:latin typeface="맑은 고딕"/>
              </a:rPr>
              <a:t>•  백업 정책은 Data Guard 도입 뒤에도 유지</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1.3</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Data Guard 구성 요소</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Primary, Standby, 구성</a:t>
            </a:r>
          </a:p>
          <a:p>
            <a:pPr algn="l">
              <a:spcAft>
                <a:spcPts val="800"/>
              </a:spcAft>
            </a:pPr>
            <a:r>
              <a:rPr sz="1600" b="0">
                <a:solidFill>
                  <a:srgbClr val="FFFFFF"/>
                </a:solidFill>
                <a:latin typeface="맑은 고딕"/>
              </a:rPr>
              <a:t>•  Physical, Logical, Snapshot Standby</a:t>
            </a:r>
          </a:p>
          <a:p>
            <a:pPr algn="l">
              <a:spcAft>
                <a:spcPts val="800"/>
              </a:spcAft>
            </a:pPr>
            <a:r>
              <a:rPr sz="1600" b="0">
                <a:solidFill>
                  <a:srgbClr val="FFFFFF"/>
                </a:solidFill>
                <a:latin typeface="맑은 고딕"/>
              </a:rPr>
              <a:t>•  Far Sync와 캐스케이딩</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Primary와 Standby, 그리고 구성</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역할은 바뀌고 이름은 남는다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Primary는 구성 안에 하나, Standby는 최대 30개</a:t>
            </a:r>
          </a:p>
          <a:p>
            <a:pPr algn="l">
              <a:spcAft>
                <a:spcPts val="1000"/>
              </a:spcAft>
            </a:pPr>
            <a:r>
              <a:rPr sz="1700" b="0">
                <a:solidFill>
                  <a:srgbClr val="222222"/>
                </a:solidFill>
                <a:latin typeface="맑은 고딕"/>
              </a:rPr>
              <a:t>•  30 = LOG_ARCHIVE_DEST_n 31개 중 로컬 1개 제외</a:t>
            </a:r>
          </a:p>
          <a:p>
            <a:pPr algn="l">
              <a:spcAft>
                <a:spcPts val="1000"/>
              </a:spcAft>
            </a:pPr>
            <a:r>
              <a:rPr sz="1700" b="0">
                <a:solidFill>
                  <a:srgbClr val="222222"/>
                </a:solidFill>
                <a:latin typeface="맑은 고딕"/>
              </a:rPr>
              <a:t>•  같은 DB_NAME과 DBID, 다른 DB_UNIQUE_NAME</a:t>
            </a:r>
          </a:p>
          <a:p>
            <a:pPr algn="l">
              <a:spcAft>
                <a:spcPts val="1000"/>
              </a:spcAft>
            </a:pPr>
            <a:r>
              <a:rPr sz="1700" b="0">
                <a:solidFill>
                  <a:srgbClr val="222222"/>
                </a:solidFill>
                <a:latin typeface="맑은 고딕"/>
              </a:rPr>
              <a:t>•  목적지·Broker·서비스 이름은 DB_UNIQUE_NAME 기준</a:t>
            </a:r>
          </a:p>
          <a:p>
            <a:pPr algn="l">
              <a:spcAft>
                <a:spcPts val="1000"/>
              </a:spcAft>
            </a:pPr>
            <a:r>
              <a:rPr sz="1700" b="0">
                <a:solidFill>
                  <a:srgbClr val="222222"/>
                </a:solidFill>
                <a:latin typeface="맑은 고딕"/>
              </a:rPr>
              <a:t>•  대상은 이름보다 현재 역할로 부른다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Physical Standby</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블록 단위로 같은 사본</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Redo Apply: 미디어 복구로 리두 적용</a:t>
            </a:r>
          </a:p>
          <a:p>
            <a:pPr algn="l">
              <a:spcAft>
                <a:spcPts val="1000"/>
              </a:spcAft>
            </a:pPr>
            <a:r>
              <a:rPr sz="1700" b="0">
                <a:solidFill>
                  <a:srgbClr val="222222"/>
                </a:solidFill>
                <a:latin typeface="맑은 고딕"/>
              </a:rPr>
              <a:t>•  데이터 유형·DDL 제약 없음</a:t>
            </a:r>
          </a:p>
          <a:p>
            <a:pPr algn="l">
              <a:spcAft>
                <a:spcPts val="1000"/>
              </a:spcAft>
            </a:pPr>
            <a:r>
              <a:rPr sz="1700" b="0">
                <a:solidFill>
                  <a:srgbClr val="222222"/>
                </a:solidFill>
                <a:latin typeface="맑은 고딕"/>
              </a:rPr>
              <a:t>•  MOUNT 또는 READ ONLY, 적용 중 조회는 옵션</a:t>
            </a:r>
          </a:p>
          <a:p>
            <a:pPr algn="l">
              <a:spcAft>
                <a:spcPts val="1000"/>
              </a:spcAft>
            </a:pPr>
            <a:r>
              <a:rPr sz="1700" b="0">
                <a:solidFill>
                  <a:srgbClr val="222222"/>
                </a:solidFill>
                <a:latin typeface="맑은 고딕"/>
              </a:rPr>
              <a:t>•  컨트롤 파일 유형 STANDBY, DDL은 거부</a:t>
            </a:r>
          </a:p>
          <a:p>
            <a:pPr algn="l">
              <a:spcAft>
                <a:spcPts val="1000"/>
              </a:spcAft>
            </a:pPr>
            <a:r>
              <a:rPr sz="1700" b="0">
                <a:solidFill>
                  <a:srgbClr val="222222"/>
                </a:solidFill>
                <a:latin typeface="맑은 고딕"/>
              </a:rPr>
              <a:t>•  Physical Standby의 백업으로 Primary 복원 가능</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Logical Standby</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논리적으로 같고, 물리 구조는 달라도 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SQL Apply: LogMiner로 리두를 SQL로 바꿔 실행</a:t>
            </a:r>
          </a:p>
          <a:p>
            <a:pPr algn="l">
              <a:spcAft>
                <a:spcPts val="1000"/>
              </a:spcAft>
            </a:pPr>
            <a:r>
              <a:rPr sz="1700" b="0">
                <a:solidFill>
                  <a:srgbClr val="222222"/>
                </a:solidFill>
                <a:latin typeface="맑은 고딕"/>
              </a:rPr>
              <a:t>•  READ WRITE로 열려 보고용 인덱스·뷰 추가 가능</a:t>
            </a:r>
          </a:p>
          <a:p>
            <a:pPr algn="l">
              <a:spcAft>
                <a:spcPts val="1000"/>
              </a:spcAft>
            </a:pPr>
            <a:r>
              <a:rPr sz="1700" b="0">
                <a:solidFill>
                  <a:srgbClr val="222222"/>
                </a:solidFill>
                <a:latin typeface="맑은 고딕"/>
              </a:rPr>
              <a:t>•  DATABASE GUARD로 관리 대상 테이블 변경 차단</a:t>
            </a:r>
          </a:p>
          <a:p>
            <a:pPr algn="l">
              <a:spcAft>
                <a:spcPts val="1000"/>
              </a:spcAft>
            </a:pPr>
            <a:r>
              <a:rPr sz="1700" b="0">
                <a:solidFill>
                  <a:srgbClr val="222222"/>
                </a:solidFill>
                <a:latin typeface="맑은 고딕"/>
              </a:rPr>
              <a:t>•  지원하지 않는 데이터 유형이 있음</a:t>
            </a:r>
          </a:p>
          <a:p>
            <a:pPr algn="l">
              <a:spcAft>
                <a:spcPts val="1000"/>
              </a:spcAft>
            </a:pPr>
            <a:r>
              <a:rPr sz="1700" b="0">
                <a:solidFill>
                  <a:srgbClr val="222222"/>
                </a:solidFill>
                <a:latin typeface="맑은 고딕"/>
              </a:rPr>
              <a:t>•  롤링 업그레이드, 스키마 단위 skip 필터</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Snapshot Standby</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잠시 쓰고, 버리고, 다시 따라잡는다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Physical Standby를 명령 하나로 전환</a:t>
            </a:r>
          </a:p>
          <a:p>
            <a:pPr algn="l">
              <a:spcAft>
                <a:spcPts val="1000"/>
              </a:spcAft>
            </a:pPr>
            <a:r>
              <a:rPr sz="1700" b="0">
                <a:solidFill>
                  <a:srgbClr val="222222"/>
                </a:solidFill>
                <a:latin typeface="맑은 고딕"/>
              </a:rPr>
              <a:t>•  보장 복원 지점 생성, FRA 필요</a:t>
            </a:r>
          </a:p>
          <a:p>
            <a:pPr algn="l">
              <a:spcAft>
                <a:spcPts val="1000"/>
              </a:spcAft>
            </a:pPr>
            <a:r>
              <a:rPr sz="1700" b="0">
                <a:solidFill>
                  <a:srgbClr val="222222"/>
                </a:solidFill>
                <a:latin typeface="맑은 고딕"/>
              </a:rPr>
              <a:t>•  전환 중에도 리두는 받아서 보관</a:t>
            </a:r>
          </a:p>
          <a:p>
            <a:pPr algn="l">
              <a:spcAft>
                <a:spcPts val="1000"/>
              </a:spcAft>
            </a:pPr>
            <a:r>
              <a:rPr sz="1700" b="0">
                <a:solidFill>
                  <a:srgbClr val="222222"/>
                </a:solidFill>
                <a:latin typeface="맑은 고딕"/>
              </a:rPr>
              <a:t>•  되돌리면 변경은 버리고 밀린 리두 적용</a:t>
            </a:r>
          </a:p>
          <a:p>
            <a:pPr algn="l">
              <a:spcAft>
                <a:spcPts val="1000"/>
              </a:spcAft>
            </a:pPr>
            <a:r>
              <a:rPr sz="1700" b="0">
                <a:solidFill>
                  <a:srgbClr val="222222"/>
                </a:solidFill>
                <a:latin typeface="맑은 고딕"/>
              </a:rPr>
              <a:t>•  ADG 옵션 없이 쓰는 기본 기능</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Far Sync와 캐스케이딩</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데이터 없이 리두만 중계한다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Far Sync: 컨트롤 파일, SRL, 아카이브 로그만 보유</a:t>
            </a:r>
          </a:p>
          <a:p>
            <a:pPr algn="l">
              <a:spcAft>
                <a:spcPts val="1000"/>
              </a:spcAft>
            </a:pPr>
            <a:r>
              <a:rPr sz="1700" b="0">
                <a:solidFill>
                  <a:srgbClr val="222222"/>
                </a:solidFill>
                <a:latin typeface="맑은 고딕"/>
              </a:rPr>
              <a:t>•  Primary → Far Sync는 SYNC, Far Sync → 원격은 ASYNC</a:t>
            </a:r>
          </a:p>
          <a:p>
            <a:pPr algn="l">
              <a:spcAft>
                <a:spcPts val="1000"/>
              </a:spcAft>
            </a:pPr>
            <a:r>
              <a:rPr sz="1700" b="0">
                <a:solidFill>
                  <a:srgbClr val="222222"/>
                </a:solidFill>
                <a:latin typeface="맑은 고딕"/>
              </a:rPr>
              <a:t>•  Primary 역할을 넘겨받을 수 없음</a:t>
            </a:r>
          </a:p>
          <a:p>
            <a:pPr algn="l">
              <a:spcAft>
                <a:spcPts val="1000"/>
              </a:spcAft>
            </a:pPr>
            <a:r>
              <a:rPr sz="1700" b="0">
                <a:solidFill>
                  <a:srgbClr val="222222"/>
                </a:solidFill>
                <a:latin typeface="맑은 고딕"/>
              </a:rPr>
              <a:t>•  Far Sync와 실시간 캐스케이딩은 ADG 옵션</a:t>
            </a:r>
          </a:p>
          <a:p>
            <a:pPr algn="l">
              <a:spcAft>
                <a:spcPts val="1000"/>
              </a:spcAft>
            </a:pPr>
            <a:r>
              <a:rPr sz="1700" b="0">
                <a:solidFill>
                  <a:srgbClr val="222222"/>
                </a:solidFill>
                <a:latin typeface="맑은 고딕"/>
              </a:rPr>
              <a:t>•  단일 장애점 대비: 2개 배치 또는 ALTERNATE 경로</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Standby 유형 비교</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재해 복구의 기본 선택지는 Physical</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Physical: 블록 동일, 제약 없음, Failover에 가장 적합</a:t>
            </a:r>
          </a:p>
          <a:p>
            <a:pPr algn="l">
              <a:spcAft>
                <a:spcPts val="1000"/>
              </a:spcAft>
            </a:pPr>
            <a:r>
              <a:rPr sz="1700" b="0">
                <a:solidFill>
                  <a:srgbClr val="222222"/>
                </a:solidFill>
                <a:latin typeface="맑은 고딕"/>
              </a:rPr>
              <a:t>•  Logical: 논리 동일, READ WRITE, 데이터 유형 제약</a:t>
            </a:r>
          </a:p>
          <a:p>
            <a:pPr algn="l">
              <a:spcAft>
                <a:spcPts val="1000"/>
              </a:spcAft>
            </a:pPr>
            <a:r>
              <a:rPr sz="1700" b="0">
                <a:solidFill>
                  <a:srgbClr val="222222"/>
                </a:solidFill>
                <a:latin typeface="맑은 고딕"/>
              </a:rPr>
              <a:t>•  Snapshot: 일시적 READ WRITE, 리두는 보관만</a:t>
            </a:r>
          </a:p>
          <a:p>
            <a:pPr algn="l">
              <a:spcAft>
                <a:spcPts val="1000"/>
              </a:spcAft>
            </a:pPr>
            <a:r>
              <a:rPr sz="1700" b="0">
                <a:solidFill>
                  <a:srgbClr val="222222"/>
                </a:solidFill>
                <a:latin typeface="맑은 고딕"/>
              </a:rPr>
              <a:t>•  DATABASE_ROLE로 유형, OPEN_MODE로 열린 모드 확인</a:t>
            </a:r>
          </a:p>
          <a:p>
            <a:pPr algn="l">
              <a:spcAft>
                <a:spcPts val="1000"/>
              </a:spcAft>
            </a:pPr>
            <a:r>
              <a:rPr sz="1700" b="0">
                <a:solidFill>
                  <a:srgbClr val="222222"/>
                </a:solidFill>
                <a:latin typeface="맑은 고딕"/>
              </a:rPr>
              <a:t>•  한 구성 안에 유형을 섞어 쓸 수 있다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1.4</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리두 전송 서비스와 적용 서비스</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세 가지 서비스</a:t>
            </a:r>
          </a:p>
          <a:p>
            <a:pPr algn="l">
              <a:spcAft>
                <a:spcPts val="800"/>
              </a:spcAft>
            </a:pPr>
            <a:r>
              <a:rPr sz="1600" b="0">
                <a:solidFill>
                  <a:srgbClr val="FFFFFF"/>
                </a:solidFill>
                <a:latin typeface="맑은 고딕"/>
              </a:rPr>
              <a:t>•  Primary·Standby 프로세스와 SRL</a:t>
            </a:r>
          </a:p>
          <a:p>
            <a:pPr algn="l">
              <a:spcAft>
                <a:spcPts val="800"/>
              </a:spcAft>
            </a:pPr>
            <a:r>
              <a:rPr sz="1600" b="0">
                <a:solidFill>
                  <a:srgbClr val="FFFFFF"/>
                </a:solidFill>
                <a:latin typeface="맑은 고딕"/>
              </a:rPr>
              <a:t>•  갭 해소와 보호 모드 미리 보기</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세 가지 서비스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전송, 적용, 역할 관리</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리두 전송 서비스: Primary의 리두를 목적지로 (2·3장)</a:t>
            </a:r>
          </a:p>
          <a:p>
            <a:pPr algn="l">
              <a:spcAft>
                <a:spcPts val="1000"/>
              </a:spcAft>
            </a:pPr>
            <a:r>
              <a:rPr sz="1700" b="0">
                <a:solidFill>
                  <a:srgbClr val="222222"/>
                </a:solidFill>
                <a:latin typeface="맑은 고딕"/>
              </a:rPr>
              <a:t>•  적용 서비스: Redo Apply 또는 SQL Apply (7·12장)</a:t>
            </a:r>
          </a:p>
          <a:p>
            <a:pPr algn="l">
              <a:spcAft>
                <a:spcPts val="1000"/>
              </a:spcAft>
            </a:pPr>
            <a:r>
              <a:rPr sz="1700" b="0">
                <a:solidFill>
                  <a:srgbClr val="222222"/>
                </a:solidFill>
                <a:latin typeface="맑은 고딕"/>
              </a:rPr>
              <a:t>•  역할 관리 서비스: Switchover, Failover (16장)</a:t>
            </a:r>
          </a:p>
          <a:p>
            <a:pPr algn="l">
              <a:spcAft>
                <a:spcPts val="1000"/>
              </a:spcAft>
            </a:pPr>
            <a:r>
              <a:rPr sz="1700" b="0">
                <a:solidFill>
                  <a:srgbClr val="222222"/>
                </a:solidFill>
                <a:latin typeface="맑은 고딕"/>
              </a:rPr>
              <a:t>•  전송과 적용은 서로 기다리지 않는다</a:t>
            </a:r>
          </a:p>
          <a:p>
            <a:pPr algn="l">
              <a:spcAft>
                <a:spcPts val="1000"/>
              </a:spcAft>
            </a:pPr>
            <a:r>
              <a:rPr sz="1700" b="0">
                <a:solidFill>
                  <a:srgbClr val="222222"/>
                </a:solidFill>
                <a:latin typeface="맑은 고딕"/>
              </a:rPr>
              <a:t>•  손실은 전송이, 전환 속도는 적용이 결정</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Primary 쪽 프로세스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LGWR는 그대로, 전송은 NSS와 TTnn</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LGWR: 온라인 리두 로그 기록</a:t>
            </a:r>
          </a:p>
          <a:p>
            <a:pPr algn="l">
              <a:spcAft>
                <a:spcPts val="1000"/>
              </a:spcAft>
            </a:pPr>
            <a:r>
              <a:rPr sz="1700" b="0">
                <a:solidFill>
                  <a:srgbClr val="222222"/>
                </a:solidFill>
                <a:latin typeface="맑은 고딕"/>
              </a:rPr>
              <a:t>•  NSSn: SYNC 목적지 전송, LGWR가 확인을 기다림</a:t>
            </a:r>
          </a:p>
          <a:p>
            <a:pPr algn="l">
              <a:spcAft>
                <a:spcPts val="1000"/>
              </a:spcAft>
            </a:pPr>
            <a:r>
              <a:rPr sz="1700" b="0">
                <a:solidFill>
                  <a:srgbClr val="222222"/>
                </a:solidFill>
                <a:latin typeface="맑은 고딕"/>
              </a:rPr>
              <a:t>•  TTnn: ASYNC 목적지 전송, LGWR는 관여 안 함</a:t>
            </a:r>
          </a:p>
          <a:p>
            <a:pPr algn="l">
              <a:spcAft>
                <a:spcPts val="1000"/>
              </a:spcAft>
            </a:pPr>
            <a:r>
              <a:rPr sz="1700" b="0">
                <a:solidFill>
                  <a:srgbClr val="222222"/>
                </a:solidFill>
                <a:latin typeface="맑은 고딕"/>
              </a:rPr>
              <a:t>•  ARCn: 로컬 아카이브와 갭 해소, 기본 4개</a:t>
            </a:r>
          </a:p>
          <a:p>
            <a:pPr algn="l">
              <a:spcAft>
                <a:spcPts val="1000"/>
              </a:spcAft>
            </a:pPr>
            <a:r>
              <a:rPr sz="1700" b="0">
                <a:solidFill>
                  <a:srgbClr val="222222"/>
                </a:solidFill>
                <a:latin typeface="맑은 고딕"/>
              </a:rPr>
              <a:t>•  11g까지의 LNS는 19c의 NSS 또는 TTnn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Standby 쪽 프로세스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받는 RFS, 적용하는 MRP0</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RFSn: Primary 연결마다 하나, SRL에 기록</a:t>
            </a:r>
          </a:p>
          <a:p>
            <a:pPr algn="l">
              <a:spcAft>
                <a:spcPts val="1000"/>
              </a:spcAft>
            </a:pPr>
            <a:r>
              <a:rPr sz="1700" b="0">
                <a:solidFill>
                  <a:srgbClr val="222222"/>
                </a:solidFill>
                <a:latin typeface="맑은 고딕"/>
              </a:rPr>
              <a:t>•  ARCn: 다 찬 SRL을 아카이브</a:t>
            </a:r>
          </a:p>
          <a:p>
            <a:pPr algn="l">
              <a:spcAft>
                <a:spcPts val="1000"/>
              </a:spcAft>
            </a:pPr>
            <a:r>
              <a:rPr sz="1700" b="0">
                <a:solidFill>
                  <a:srgbClr val="222222"/>
                </a:solidFill>
                <a:latin typeface="맑은 고딕"/>
              </a:rPr>
              <a:t>•  MRP0와 PRnn: Physical Standby의 Redo Apply</a:t>
            </a:r>
          </a:p>
          <a:p>
            <a:pPr algn="l">
              <a:spcAft>
                <a:spcPts val="1000"/>
              </a:spcAft>
            </a:pPr>
            <a:r>
              <a:rPr sz="1700" b="0">
                <a:solidFill>
                  <a:srgbClr val="222222"/>
                </a:solidFill>
                <a:latin typeface="맑은 고딕"/>
              </a:rPr>
              <a:t>•  LSP: Logical Standby의 SQL Apply</a:t>
            </a:r>
          </a:p>
          <a:p>
            <a:pPr algn="l">
              <a:spcAft>
                <a:spcPts val="1000"/>
              </a:spcAft>
            </a:pPr>
            <a:r>
              <a:rPr sz="1700" b="0">
                <a:solidFill>
                  <a:srgbClr val="222222"/>
                </a:solidFill>
                <a:latin typeface="맑은 고딕"/>
              </a:rPr>
              <a:t>•  12.1부터 SRL이 있으면 실시간 적용이 기본</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Standby Redo Log</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받은 리두를 담는 Standby 전용 로그</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RFS가 받은 리두를 즉시 기록하는 곳</a:t>
            </a:r>
          </a:p>
          <a:p>
            <a:pPr algn="l">
              <a:spcAft>
                <a:spcPts val="1000"/>
              </a:spcAft>
            </a:pPr>
            <a:r>
              <a:rPr sz="1700" b="0">
                <a:solidFill>
                  <a:srgbClr val="222222"/>
                </a:solidFill>
                <a:latin typeface="맑은 고딕"/>
              </a:rPr>
              <a:t>•  없으면 아카이브 로그로만 기록, 전환을 기다림</a:t>
            </a:r>
          </a:p>
          <a:p>
            <a:pPr algn="l">
              <a:spcAft>
                <a:spcPts val="1000"/>
              </a:spcAft>
            </a:pPr>
            <a:r>
              <a:rPr sz="1700" b="0">
                <a:solidFill>
                  <a:srgbClr val="222222"/>
                </a:solidFill>
                <a:latin typeface="맑은 고딕"/>
              </a:rPr>
              <a:t>•  SYNC, 실시간 적용, Far Sync의 전제</a:t>
            </a:r>
          </a:p>
          <a:p>
            <a:pPr algn="l">
              <a:spcAft>
                <a:spcPts val="1000"/>
              </a:spcAft>
            </a:pPr>
            <a:r>
              <a:rPr sz="1700" b="0">
                <a:solidFill>
                  <a:srgbClr val="222222"/>
                </a:solidFill>
                <a:latin typeface="맑은 고딕"/>
              </a:rPr>
              <a:t>•  역할 전환 대비로 Primary에도 생성</a:t>
            </a:r>
          </a:p>
          <a:p>
            <a:pPr algn="l">
              <a:spcAft>
                <a:spcPts val="1000"/>
              </a:spcAft>
            </a:pPr>
            <a:r>
              <a:rPr sz="1700" b="0">
                <a:solidFill>
                  <a:srgbClr val="222222"/>
                </a:solidFill>
                <a:latin typeface="맑은 고딕"/>
              </a:rPr>
              <a:t>•  크기는 온라인 로그와 같게, 개수는 그룹 수 + 1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V$DATAGUARD_PROCESS</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프로세스를 역할 이름으로 보는 뷰</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12.2부터 제공, Primary·Standby 양쪽에서 조회</a:t>
            </a:r>
          </a:p>
          <a:p>
            <a:pPr algn="l">
              <a:spcAft>
                <a:spcPts val="1000"/>
              </a:spcAft>
            </a:pPr>
            <a:r>
              <a:rPr sz="1700" b="0">
                <a:solidFill>
                  <a:srgbClr val="222222"/>
                </a:solidFill>
                <a:latin typeface="맑은 고딕"/>
              </a:rPr>
              <a:t>•  ROLE: log writer, async ORL single, managed recovery 등</a:t>
            </a:r>
          </a:p>
          <a:p>
            <a:pPr algn="l">
              <a:spcAft>
                <a:spcPts val="1000"/>
              </a:spcAft>
            </a:pPr>
            <a:r>
              <a:rPr sz="1700" b="0">
                <a:solidFill>
                  <a:srgbClr val="222222"/>
                </a:solidFill>
                <a:latin typeface="맑은 고딕"/>
              </a:rPr>
              <a:t>•  ACTION: 지금 하고 있는 일</a:t>
            </a:r>
          </a:p>
          <a:p>
            <a:pPr algn="l">
              <a:spcAft>
                <a:spcPts val="1000"/>
              </a:spcAft>
            </a:pPr>
            <a:r>
              <a:rPr sz="1700" b="0">
                <a:solidFill>
                  <a:srgbClr val="222222"/>
                </a:solidFill>
                <a:latin typeface="맑은 고딕"/>
              </a:rPr>
              <a:t>•  V$MANAGED_STANDBY는 19c에서 디프리케이트</a:t>
            </a:r>
          </a:p>
          <a:p>
            <a:pPr algn="l">
              <a:spcAft>
                <a:spcPts val="1000"/>
              </a:spcAft>
            </a:pPr>
            <a:r>
              <a:rPr sz="1700" b="0">
                <a:solidFill>
                  <a:srgbClr val="222222"/>
                </a:solidFill>
                <a:latin typeface="맑은 고딕"/>
              </a:rPr>
              <a:t>•  새 점검 스크립트는 V$DATAGUARD_PROCESS 기준</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아카이브 갭의 자동 해소</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끊긴 동안의 리두는 나중에 채운다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연결이 끊긴 동안 생긴 로그 = 아카이브 갭</a:t>
            </a:r>
          </a:p>
          <a:p>
            <a:pPr algn="l">
              <a:spcAft>
                <a:spcPts val="1000"/>
              </a:spcAft>
            </a:pPr>
            <a:r>
              <a:rPr sz="1700" b="0">
                <a:solidFill>
                  <a:srgbClr val="222222"/>
                </a:solidFill>
                <a:latin typeface="맑은 고딕"/>
              </a:rPr>
              <a:t>•  Primary ARCn이 확인(ping) 후 빠진 로그 전송</a:t>
            </a:r>
          </a:p>
          <a:p>
            <a:pPr algn="l">
              <a:spcAft>
                <a:spcPts val="1000"/>
              </a:spcAft>
            </a:pPr>
            <a:r>
              <a:rPr sz="1700" b="0">
                <a:solidFill>
                  <a:srgbClr val="222222"/>
                </a:solidFill>
                <a:latin typeface="맑은 고딕"/>
              </a:rPr>
              <a:t>•  Standby는 FAL_SERVER에 요청해 받아 옴</a:t>
            </a:r>
          </a:p>
          <a:p>
            <a:pPr algn="l">
              <a:spcAft>
                <a:spcPts val="1000"/>
              </a:spcAft>
            </a:pPr>
            <a:r>
              <a:rPr sz="1700" b="0">
                <a:solidFill>
                  <a:srgbClr val="222222"/>
                </a:solidFill>
                <a:latin typeface="맑은 고딕"/>
              </a:rPr>
              <a:t>•  Primary에 로그가 남아 있어야 자동 해소</a:t>
            </a:r>
          </a:p>
          <a:p>
            <a:pPr algn="l">
              <a:spcAft>
                <a:spcPts val="1000"/>
              </a:spcAft>
            </a:pPr>
            <a:r>
              <a:rPr sz="1700" b="0">
                <a:solidFill>
                  <a:srgbClr val="222222"/>
                </a:solidFill>
                <a:latin typeface="맑은 고딕"/>
              </a:rPr>
              <a:t>•  삭제 정책은 Standby 적용 이후로</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보호 모드 미리 보기</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커밋 조건과 장애 시 동작</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Maximum Protection: 쓰지 못하면 Primary 종료</a:t>
            </a:r>
          </a:p>
          <a:p>
            <a:pPr algn="l">
              <a:spcAft>
                <a:spcPts val="1000"/>
              </a:spcAft>
            </a:pPr>
            <a:r>
              <a:rPr sz="1700" b="0">
                <a:solidFill>
                  <a:srgbClr val="222222"/>
                </a:solidFill>
                <a:latin typeface="맑은 고딕"/>
              </a:rPr>
              <a:t>•  Maximum Availability: 쓰지 못하면 잠시 비동기로</a:t>
            </a:r>
          </a:p>
          <a:p>
            <a:pPr algn="l">
              <a:spcAft>
                <a:spcPts val="1000"/>
              </a:spcAft>
            </a:pPr>
            <a:r>
              <a:rPr sz="1700" b="0">
                <a:solidFill>
                  <a:srgbClr val="222222"/>
                </a:solidFill>
                <a:latin typeface="맑은 고딕"/>
              </a:rPr>
              <a:t>•  Maximum Performance: 로컬 기록만으로 커밋 (기본)</a:t>
            </a:r>
          </a:p>
          <a:p>
            <a:pPr algn="l">
              <a:spcAft>
                <a:spcPts val="1000"/>
              </a:spcAft>
            </a:pPr>
            <a:r>
              <a:rPr sz="1700" b="0">
                <a:solidFill>
                  <a:srgbClr val="222222"/>
                </a:solidFill>
                <a:latin typeface="맑은 고딕"/>
              </a:rPr>
              <a:t>•  Availability는 두 번째 장애가 겹치지 않는 한 무손실</a:t>
            </a:r>
          </a:p>
          <a:p>
            <a:pPr algn="l">
              <a:spcAft>
                <a:spcPts val="1000"/>
              </a:spcAft>
            </a:pPr>
            <a:r>
              <a:rPr sz="1700" b="0">
                <a:solidFill>
                  <a:srgbClr val="222222"/>
                </a:solidFill>
                <a:latin typeface="맑은 고딕"/>
              </a:rPr>
              <a:t>•  상세와 전환 방법은 2장</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1.5</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역할 전환</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Switchover와 Failover</a:t>
            </a:r>
          </a:p>
          <a:p>
            <a:pPr algn="l">
              <a:spcAft>
                <a:spcPts val="800"/>
              </a:spcAft>
            </a:pPr>
            <a:r>
              <a:rPr sz="1600" b="0">
                <a:solidFill>
                  <a:srgbClr val="FFFFFF"/>
                </a:solidFill>
                <a:latin typeface="맑은 고딕"/>
              </a:rPr>
              <a:t>•  Fast-Start Failover</a:t>
            </a:r>
          </a:p>
          <a:p>
            <a:pPr algn="l">
              <a:spcAft>
                <a:spcPts val="800"/>
              </a:spcAft>
            </a:pPr>
            <a:r>
              <a:rPr sz="1600" b="0">
                <a:solidFill>
                  <a:srgbClr val="FFFFFF"/>
                </a:solidFill>
                <a:latin typeface="맑은 고딕"/>
              </a:rPr>
              <a:t>•  전환과 클라이언트 연결</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Switchover와 Failover</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계획된 교대와 비상 전환</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Switchover: Primary 정상, 데이터 손실 없음</a:t>
            </a:r>
          </a:p>
          <a:p>
            <a:pPr algn="l">
              <a:spcAft>
                <a:spcPts val="1000"/>
              </a:spcAft>
            </a:pPr>
            <a:r>
              <a:rPr sz="1700" b="0">
                <a:solidFill>
                  <a:srgbClr val="222222"/>
                </a:solidFill>
                <a:latin typeface="맑은 고딕"/>
              </a:rPr>
              <a:t>•  원래 Primary는 자동으로 Standby가 됨</a:t>
            </a:r>
          </a:p>
          <a:p>
            <a:pPr algn="l">
              <a:spcAft>
                <a:spcPts val="1000"/>
              </a:spcAft>
            </a:pPr>
            <a:r>
              <a:rPr sz="1700" b="0">
                <a:solidFill>
                  <a:srgbClr val="222222"/>
                </a:solidFill>
                <a:latin typeface="맑은 고딕"/>
              </a:rPr>
              <a:t>•  Failover: Primary 장애, 손실은 보호 모드에 따름</a:t>
            </a:r>
          </a:p>
          <a:p>
            <a:pPr algn="l">
              <a:spcAft>
                <a:spcPts val="1000"/>
              </a:spcAft>
            </a:pPr>
            <a:r>
              <a:rPr sz="1700" b="0">
                <a:solidFill>
                  <a:srgbClr val="222222"/>
                </a:solidFill>
                <a:latin typeface="맑은 고딕"/>
              </a:rPr>
              <a:t>•  원래 Primary는 구성에서 빠짐 → reinstate 또는 재생성</a:t>
            </a:r>
          </a:p>
          <a:p>
            <a:pPr algn="l">
              <a:spcAft>
                <a:spcPts val="1000"/>
              </a:spcAft>
            </a:pPr>
            <a:r>
              <a:rPr sz="1700" b="0">
                <a:solidFill>
                  <a:srgbClr val="222222"/>
                </a:solidFill>
                <a:latin typeface="맑은 고딕"/>
              </a:rPr>
              <a:t>•  reinstate는 Flashback Database가 전제</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Fast-Start Failover</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사람 대신 옵저버가 판단한다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Primary 장애 시 지정 Standby로 자동 Failover</a:t>
            </a:r>
          </a:p>
          <a:p>
            <a:pPr algn="l">
              <a:spcAft>
                <a:spcPts val="1000"/>
              </a:spcAft>
            </a:pPr>
            <a:r>
              <a:rPr sz="1700" b="0">
                <a:solidFill>
                  <a:srgbClr val="222222"/>
                </a:solidFill>
                <a:latin typeface="맑은 고딕"/>
              </a:rPr>
              <a:t>•  Broker 구성에서만 사용</a:t>
            </a:r>
          </a:p>
          <a:p>
            <a:pPr algn="l">
              <a:spcAft>
                <a:spcPts val="1000"/>
              </a:spcAft>
            </a:pPr>
            <a:r>
              <a:rPr sz="1700" b="0">
                <a:solidFill>
                  <a:srgbClr val="222222"/>
                </a:solidFill>
                <a:latin typeface="맑은 고딕"/>
              </a:rPr>
              <a:t>•  옵저버는 제3의 서버에 두는 것이 원칙</a:t>
            </a:r>
          </a:p>
          <a:p>
            <a:pPr algn="l">
              <a:spcAft>
                <a:spcPts val="1000"/>
              </a:spcAft>
            </a:pPr>
            <a:r>
              <a:rPr sz="1700" b="0">
                <a:solidFill>
                  <a:srgbClr val="222222"/>
                </a:solidFill>
                <a:latin typeface="맑은 고딕"/>
              </a:rPr>
              <a:t>•  옵저버와 Standby가 함께 연결을 잃어야 실행</a:t>
            </a:r>
          </a:p>
          <a:p>
            <a:pPr algn="l">
              <a:spcAft>
                <a:spcPts val="1000"/>
              </a:spcAft>
            </a:pPr>
            <a:r>
              <a:rPr sz="1700" b="0">
                <a:solidFill>
                  <a:srgbClr val="222222"/>
                </a:solidFill>
                <a:latin typeface="맑은 고딕"/>
              </a:rPr>
              <a:t>•  ADG 옵션 불필요, 원래 Primary는 자동 reinstate 시도</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역할 전환과 클라이언트 연결</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애플리케이션은 새 Primary를 어떻게 찾는가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Primary 주소만 적은 접속 문자열은 전환 뒤 실패</a:t>
            </a:r>
          </a:p>
          <a:p>
            <a:pPr algn="l">
              <a:spcAft>
                <a:spcPts val="1000"/>
              </a:spcAft>
            </a:pPr>
            <a:r>
              <a:rPr sz="1700" b="0">
                <a:solidFill>
                  <a:srgbClr val="222222"/>
                </a:solidFill>
                <a:latin typeface="맑은 고딕"/>
              </a:rPr>
              <a:t>•  역할 기반 서비스: Primary 역할일 때만 시작</a:t>
            </a:r>
          </a:p>
          <a:p>
            <a:pPr algn="l">
              <a:spcAft>
                <a:spcPts val="1000"/>
              </a:spcAft>
            </a:pPr>
            <a:r>
              <a:rPr sz="1700" b="0">
                <a:solidFill>
                  <a:srgbClr val="222222"/>
                </a:solidFill>
                <a:latin typeface="맑은 고딕"/>
              </a:rPr>
              <a:t>•  접속 기술자에 두 서버 주소를 모두 기재</a:t>
            </a:r>
          </a:p>
          <a:p>
            <a:pPr algn="l">
              <a:spcAft>
                <a:spcPts val="1000"/>
              </a:spcAft>
            </a:pPr>
            <a:r>
              <a:rPr sz="1700" b="0">
                <a:solidFill>
                  <a:srgbClr val="222222"/>
                </a:solidFill>
                <a:latin typeface="맑은 고딕"/>
              </a:rPr>
              <a:t>•  FAN 이벤트로 끊긴 세션을 빨리 정리</a:t>
            </a:r>
          </a:p>
          <a:p>
            <a:pPr algn="l">
              <a:spcAft>
                <a:spcPts val="1000"/>
              </a:spcAft>
            </a:pPr>
            <a:r>
              <a:rPr sz="1700" b="0">
                <a:solidFill>
                  <a:srgbClr val="222222"/>
                </a:solidFill>
                <a:latin typeface="맑은 고딕"/>
              </a:rPr>
              <a:t>•  연결 설계는 구성과 별개로 미리 준비</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사례: 스토리지 장애 앞에서의 선택</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복구 네 시간을 기다릴 것인가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새벽, Primary 스토리지 컨트롤러 고장</a:t>
            </a:r>
          </a:p>
          <a:p>
            <a:pPr algn="l">
              <a:spcAft>
                <a:spcPts val="1000"/>
              </a:spcAft>
            </a:pPr>
            <a:r>
              <a:rPr sz="1700" b="0">
                <a:solidFill>
                  <a:srgbClr val="222222"/>
                </a:solidFill>
                <a:latin typeface="맑은 고딕"/>
              </a:rPr>
              <a:t>•  Switchover는 불가: Primary가 정상이 아님</a:t>
            </a:r>
          </a:p>
          <a:p>
            <a:pPr algn="l">
              <a:spcAft>
                <a:spcPts val="1000"/>
              </a:spcAft>
            </a:pPr>
            <a:r>
              <a:rPr sz="1700" b="0">
                <a:solidFill>
                  <a:srgbClr val="222222"/>
                </a:solidFill>
                <a:latin typeface="맑은 고딕"/>
              </a:rPr>
              <a:t>•  transport lag로 잃을 양, apply lag로 걸릴 시간 판단</a:t>
            </a:r>
          </a:p>
          <a:p>
            <a:pPr algn="l">
              <a:spcAft>
                <a:spcPts val="1000"/>
              </a:spcAft>
            </a:pPr>
            <a:r>
              <a:rPr sz="1700" b="0">
                <a:solidFill>
                  <a:srgbClr val="222222"/>
                </a:solidFill>
                <a:latin typeface="맑은 고딕"/>
              </a:rPr>
              <a:t>•  Maximum Availability였다면 무손실 Failover</a:t>
            </a:r>
          </a:p>
          <a:p>
            <a:pPr algn="l">
              <a:spcAft>
                <a:spcPts val="1000"/>
              </a:spcAft>
            </a:pPr>
            <a:r>
              <a:rPr sz="1700" b="0">
                <a:solidFill>
                  <a:srgbClr val="222222"/>
                </a:solidFill>
                <a:latin typeface="맑은 고딕"/>
              </a:rPr>
              <a:t>•  수리 후 reinstate 또는 Standby 재생성</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1.6</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Data Guard Broker와 관리 도구</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Broker의 구조</a:t>
            </a:r>
          </a:p>
          <a:p>
            <a:pPr algn="l">
              <a:spcAft>
                <a:spcPts val="800"/>
              </a:spcAft>
            </a:pPr>
            <a:r>
              <a:rPr sz="1600" b="0">
                <a:solidFill>
                  <a:srgbClr val="FFFFFF"/>
                </a:solidFill>
                <a:latin typeface="맑은 고딕"/>
              </a:rPr>
              <a:t>•  관리 인터페이스 선택</a:t>
            </a:r>
          </a:p>
          <a:p>
            <a:pPr algn="l">
              <a:spcAft>
                <a:spcPts val="800"/>
              </a:spcAft>
            </a:pPr>
            <a:r>
              <a:rPr sz="1600" b="0">
                <a:solidFill>
                  <a:srgbClr val="FFFFFF"/>
                </a:solidFill>
                <a:latin typeface="맑은 고딕"/>
              </a:rPr>
              <a:t>•  Broker 구성에서의 운영 규칙</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Broker의 구조</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DMON과 구성 파일</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생성·유지·감시를 자동화하는 분산 관리 프레임워크</a:t>
            </a:r>
          </a:p>
          <a:p>
            <a:pPr algn="l">
              <a:spcAft>
                <a:spcPts val="1000"/>
              </a:spcAft>
            </a:pPr>
            <a:r>
              <a:rPr sz="1700" b="0">
                <a:solidFill>
                  <a:srgbClr val="222222"/>
                </a:solidFill>
                <a:latin typeface="맑은 고딕"/>
              </a:rPr>
              <a:t>•  EE에 포함, 별도 라이선스 없음</a:t>
            </a:r>
          </a:p>
          <a:p>
            <a:pPr algn="l">
              <a:spcAft>
                <a:spcPts val="1000"/>
              </a:spcAft>
            </a:pPr>
            <a:r>
              <a:rPr sz="1700" b="0">
                <a:solidFill>
                  <a:srgbClr val="222222"/>
                </a:solidFill>
                <a:latin typeface="맑은 고딕"/>
              </a:rPr>
              <a:t>•  인스턴스마다 DMON 프로세스가 상태 교환</a:t>
            </a:r>
          </a:p>
          <a:p>
            <a:pPr algn="l">
              <a:spcAft>
                <a:spcPts val="1000"/>
              </a:spcAft>
            </a:pPr>
            <a:r>
              <a:rPr sz="1700" b="0">
                <a:solidFill>
                  <a:srgbClr val="222222"/>
                </a:solidFill>
                <a:latin typeface="맑은 고딕"/>
              </a:rPr>
              <a:t>•  구성 정보는 DG_BROKER_CONFIG_FILE1·2에 저장</a:t>
            </a:r>
          </a:p>
          <a:p>
            <a:pPr algn="l">
              <a:spcAft>
                <a:spcPts val="1000"/>
              </a:spcAft>
            </a:pPr>
            <a:r>
              <a:rPr sz="1700" b="0">
                <a:solidFill>
                  <a:srgbClr val="222222"/>
                </a:solidFill>
                <a:latin typeface="맑은 고딕"/>
              </a:rPr>
              <a:t>•  DG_BROKER_START=TRUE로 기동, FSFO·FAN의 기반</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관리 인터페이스 선택</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DGMGRL, EM, SQL</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Broker 구성: DGMGRL 명령줄</a:t>
            </a:r>
          </a:p>
          <a:p>
            <a:pPr algn="l">
              <a:spcAft>
                <a:spcPts val="1000"/>
              </a:spcAft>
            </a:pPr>
            <a:r>
              <a:rPr sz="1700" b="0">
                <a:solidFill>
                  <a:srgbClr val="222222"/>
                </a:solidFill>
                <a:latin typeface="맑은 고딕"/>
              </a:rPr>
              <a:t>•  Broker 구성: Enterprise Manager Cloud Control</a:t>
            </a:r>
          </a:p>
          <a:p>
            <a:pPr algn="l">
              <a:spcAft>
                <a:spcPts val="1000"/>
              </a:spcAft>
            </a:pPr>
            <a:r>
              <a:rPr sz="1700" b="0">
                <a:solidFill>
                  <a:srgbClr val="222222"/>
                </a:solidFill>
                <a:latin typeface="맑은 고딕"/>
              </a:rPr>
              <a:t>•  Broker 구성에서도 조회는 SQL로 가능</a:t>
            </a:r>
          </a:p>
          <a:p>
            <a:pPr algn="l">
              <a:spcAft>
                <a:spcPts val="1000"/>
              </a:spcAft>
            </a:pPr>
            <a:r>
              <a:rPr sz="1700" b="0">
                <a:solidFill>
                  <a:srgbClr val="222222"/>
                </a:solidFill>
                <a:latin typeface="맑은 고딕"/>
              </a:rPr>
              <a:t>•  Broker 미사용: SQL 명령과 파라미터만 사용</a:t>
            </a:r>
          </a:p>
          <a:p>
            <a:pPr algn="l">
              <a:spcAft>
                <a:spcPts val="1000"/>
              </a:spcAft>
            </a:pPr>
            <a:r>
              <a:rPr sz="1700" b="0">
                <a:solidFill>
                  <a:srgbClr val="222222"/>
                </a:solidFill>
                <a:latin typeface="맑은 고딕"/>
              </a:rPr>
              <a:t>•  이 과정: SQL로 원리 → 13장부터 Broker</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Broker가 맡는 일과 SQL로 하는 일</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같은 작업, 다른 경로</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전송 목적지: 속성 지정 vs LOG_ARCHIVE_DEST_n</a:t>
            </a:r>
          </a:p>
          <a:p>
            <a:pPr algn="l">
              <a:spcAft>
                <a:spcPts val="1000"/>
              </a:spcAft>
            </a:pPr>
            <a:r>
              <a:rPr sz="1700" b="0">
                <a:solidFill>
                  <a:srgbClr val="222222"/>
                </a:solidFill>
                <a:latin typeface="맑은 고딕"/>
              </a:rPr>
              <a:t>•  적용 기동: SET STATE vs RECOVER MANAGED STANDBY</a:t>
            </a:r>
          </a:p>
          <a:p>
            <a:pPr algn="l">
              <a:spcAft>
                <a:spcPts val="1000"/>
              </a:spcAft>
            </a:pPr>
            <a:r>
              <a:rPr sz="1700" b="0">
                <a:solidFill>
                  <a:srgbClr val="222222"/>
                </a:solidFill>
                <a:latin typeface="맑은 고딕"/>
              </a:rPr>
              <a:t>•  점검: VALIDATE DATABASE vs 여러 V$ 뷰</a:t>
            </a:r>
          </a:p>
          <a:p>
            <a:pPr algn="l">
              <a:spcAft>
                <a:spcPts val="1000"/>
              </a:spcAft>
            </a:pPr>
            <a:r>
              <a:rPr sz="1700" b="0">
                <a:solidFill>
                  <a:srgbClr val="222222"/>
                </a:solidFill>
                <a:latin typeface="맑은 고딕"/>
              </a:rPr>
              <a:t>•  Standby 생성 자체는 Broker 밖에서</a:t>
            </a:r>
          </a:p>
          <a:p>
            <a:pPr algn="l">
              <a:spcAft>
                <a:spcPts val="1000"/>
              </a:spcAft>
            </a:pPr>
            <a:r>
              <a:rPr sz="1700" b="0">
                <a:solidFill>
                  <a:srgbClr val="222222"/>
                </a:solidFill>
                <a:latin typeface="맑은 고딕"/>
              </a:rPr>
              <a:t>•  Broker 구성에서는 SQL로 설정을 바꾸지 않는다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1.7</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Active Data Guard 옵션과 라이선스 경계</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EE 기본 기능과 옵션 기능</a:t>
            </a:r>
          </a:p>
          <a:p>
            <a:pPr algn="l">
              <a:spcAft>
                <a:spcPts val="800"/>
              </a:spcAft>
            </a:pPr>
            <a:r>
              <a:rPr sz="1600" b="0">
                <a:solidFill>
                  <a:srgbClr val="FFFFFF"/>
                </a:solidFill>
                <a:latin typeface="맑은 고딕"/>
              </a:rPr>
              <a:t>•  옵션 기능의 쓰임새</a:t>
            </a:r>
          </a:p>
          <a:p>
            <a:pPr algn="l">
              <a:spcAft>
                <a:spcPts val="800"/>
              </a:spcAft>
            </a:pPr>
            <a:r>
              <a:rPr sz="1600" b="0">
                <a:solidFill>
                  <a:srgbClr val="FFFFFF"/>
                </a:solidFill>
                <a:latin typeface="맑은 고딕"/>
              </a:rPr>
              <a:t>•  사용 여부 확인과 문서화</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기본 Data Guard와 옵션 기능</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기준은 적용하면서 여는가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EE 기본: Physical·Logical·Snapshot, Broker, FSFO</a:t>
            </a:r>
          </a:p>
          <a:p>
            <a:pPr algn="l">
              <a:spcAft>
                <a:spcPts val="1000"/>
              </a:spcAft>
            </a:pPr>
            <a:r>
              <a:rPr sz="1700" b="0">
                <a:solidFill>
                  <a:srgbClr val="222222"/>
                </a:solidFill>
                <a:latin typeface="맑은 고딕"/>
              </a:rPr>
              <a:t>•  EE 기본: 적용을 멈춘 READ ONLY 조회</a:t>
            </a:r>
          </a:p>
          <a:p>
            <a:pPr algn="l">
              <a:spcAft>
                <a:spcPts val="1000"/>
              </a:spcAft>
            </a:pPr>
            <a:r>
              <a:rPr sz="1700" b="0">
                <a:solidFill>
                  <a:srgbClr val="222222"/>
                </a:solidFill>
                <a:latin typeface="맑은 고딕"/>
              </a:rPr>
              <a:t>•  옵션: Real-Time Query (READ ONLY WITH APPLY)</a:t>
            </a:r>
          </a:p>
          <a:p>
            <a:pPr algn="l">
              <a:spcAft>
                <a:spcPts val="1000"/>
              </a:spcAft>
            </a:pPr>
            <a:r>
              <a:rPr sz="1700" b="0">
                <a:solidFill>
                  <a:srgbClr val="222222"/>
                </a:solidFill>
                <a:latin typeface="맑은 고딕"/>
              </a:rPr>
              <a:t>•  옵션: DML 리다이렉션, Far Sync, 실시간 캐스케이딩</a:t>
            </a:r>
          </a:p>
          <a:p>
            <a:pPr algn="l">
              <a:spcAft>
                <a:spcPts val="1000"/>
              </a:spcAft>
            </a:pPr>
            <a:r>
              <a:rPr sz="1700" b="0">
                <a:solidFill>
                  <a:srgbClr val="222222"/>
                </a:solidFill>
                <a:latin typeface="맑은 고딕"/>
              </a:rPr>
              <a:t>•  옵션: 자동 블록 복구, Standby 블록 변경 추적</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옵션 기능의 쓰임새</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무엇을 위해 사는 옵션인가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Real-Time Query: 보고·조회 업무를 Standby로</a:t>
            </a:r>
          </a:p>
          <a:p>
            <a:pPr algn="l">
              <a:spcAft>
                <a:spcPts val="1000"/>
              </a:spcAft>
            </a:pPr>
            <a:r>
              <a:rPr sz="1700" b="0">
                <a:solidFill>
                  <a:srgbClr val="222222"/>
                </a:solidFill>
                <a:latin typeface="맑은 고딕"/>
              </a:rPr>
              <a:t>•  DML 리다이렉션: 조회 위주 앱의 가끔 있는 쓰기</a:t>
            </a:r>
          </a:p>
          <a:p>
            <a:pPr algn="l">
              <a:spcAft>
                <a:spcPts val="1000"/>
              </a:spcAft>
            </a:pPr>
            <a:r>
              <a:rPr sz="1700" b="0">
                <a:solidFill>
                  <a:srgbClr val="222222"/>
                </a:solidFill>
                <a:latin typeface="맑은 고딕"/>
              </a:rPr>
              <a:t>•  GTT·PTT 갱신: 임시 결과를 쓰는 보고서</a:t>
            </a:r>
          </a:p>
          <a:p>
            <a:pPr algn="l">
              <a:spcAft>
                <a:spcPts val="1000"/>
              </a:spcAft>
            </a:pPr>
            <a:r>
              <a:rPr sz="1700" b="0">
                <a:solidFill>
                  <a:srgbClr val="222222"/>
                </a:solidFill>
                <a:latin typeface="맑은 고딕"/>
              </a:rPr>
              <a:t>•  Far Sync: 원거리 무손실 보호</a:t>
            </a:r>
          </a:p>
          <a:p>
            <a:pPr algn="l">
              <a:spcAft>
                <a:spcPts val="1000"/>
              </a:spcAft>
            </a:pPr>
            <a:r>
              <a:rPr sz="1700" b="0">
                <a:solidFill>
                  <a:srgbClr val="222222"/>
                </a:solidFill>
                <a:latin typeface="맑은 고딕"/>
              </a:rPr>
              <a:t>•  블록 변경 추적: Standby 증분 백업 가속</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옵션 기능은 잠겨 있지 않다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명령은 성공하고, 책임은 남는다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라이선스 없이도 READ ONLY WITH APPLY 명령은 성공</a:t>
            </a:r>
          </a:p>
          <a:p>
            <a:pPr algn="l">
              <a:spcAft>
                <a:spcPts val="1000"/>
              </a:spcAft>
            </a:pPr>
            <a:r>
              <a:rPr sz="1700" b="0">
                <a:solidFill>
                  <a:srgbClr val="222222"/>
                </a:solidFill>
                <a:latin typeface="맑은 고딕"/>
              </a:rPr>
              <a:t>•  적용 중지 → OPEN → 적용 재기동 순서면 바로 옵션 사용</a:t>
            </a:r>
          </a:p>
          <a:p>
            <a:pPr algn="l">
              <a:spcAft>
                <a:spcPts val="1000"/>
              </a:spcAft>
            </a:pPr>
            <a:r>
              <a:rPr sz="1700" b="0">
                <a:solidFill>
                  <a:srgbClr val="222222"/>
                </a:solidFill>
                <a:latin typeface="맑은 고딕"/>
              </a:rPr>
              <a:t>•  장애 대응·점검 중 무심코 실행되기 쉬움</a:t>
            </a:r>
          </a:p>
          <a:p>
            <a:pPr algn="l">
              <a:spcAft>
                <a:spcPts val="1000"/>
              </a:spcAft>
            </a:pPr>
            <a:r>
              <a:rPr sz="1700" b="0">
                <a:solidFill>
                  <a:srgbClr val="222222"/>
                </a:solidFill>
                <a:latin typeface="맑은 고딕"/>
              </a:rPr>
              <a:t>•  옵션 미보유 사이트는 MOUNT 기동을 절차서에 명시</a:t>
            </a:r>
          </a:p>
          <a:p>
            <a:pPr algn="l">
              <a:spcAft>
                <a:spcPts val="1000"/>
              </a:spcAft>
            </a:pPr>
            <a:r>
              <a:rPr sz="1700" b="0">
                <a:solidFill>
                  <a:srgbClr val="222222"/>
                </a:solidFill>
                <a:latin typeface="맑은 고딕"/>
              </a:rPr>
              <a:t>•  보유 여부를 운영 문서 첫 장에 기록</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사용 여부 확인</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OPEN_MODE가 가장 확실한 근거</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Standby V$DATABASE.OPEN_MODE = READ ONLY WITH APPLY</a:t>
            </a:r>
          </a:p>
          <a:p>
            <a:pPr algn="l">
              <a:spcAft>
                <a:spcPts val="1000"/>
              </a:spcAft>
            </a:pPr>
            <a:r>
              <a:rPr sz="1700" b="0">
                <a:solidFill>
                  <a:srgbClr val="222222"/>
                </a:solidFill>
                <a:latin typeface="맑은 고딕"/>
              </a:rPr>
              <a:t>•  DBA_FEATURE_USAGE_STATISTICS의 사용 이력</a:t>
            </a:r>
          </a:p>
          <a:p>
            <a:pPr algn="l">
              <a:spcAft>
                <a:spcPts val="1000"/>
              </a:spcAft>
            </a:pPr>
            <a:r>
              <a:rPr sz="1700" b="0">
                <a:solidFill>
                  <a:srgbClr val="222222"/>
                </a:solidFill>
                <a:latin typeface="맑은 고딕"/>
              </a:rPr>
              <a:t>•  CDB에서는 CDB_FEATURE_USAGE_STATISTICS 조회</a:t>
            </a:r>
          </a:p>
          <a:p>
            <a:pPr algn="l">
              <a:spcAft>
                <a:spcPts val="1000"/>
              </a:spcAft>
            </a:pPr>
            <a:r>
              <a:rPr sz="1700" b="0">
                <a:solidFill>
                  <a:srgbClr val="222222"/>
                </a:solidFill>
                <a:latin typeface="맑은 고딕"/>
              </a:rPr>
              <a:t>•  읽기 전용 Standby는 이력을 기록하지 못함</a:t>
            </a:r>
          </a:p>
          <a:p>
            <a:pPr algn="l">
              <a:spcAft>
                <a:spcPts val="1000"/>
              </a:spcAft>
            </a:pPr>
            <a:r>
              <a:rPr sz="1700" b="0">
                <a:solidFill>
                  <a:srgbClr val="222222"/>
                </a:solidFill>
                <a:latin typeface="맑은 고딕"/>
              </a:rPr>
              <a:t>•  판정은 계약서 기준, 뷰는 보조 근거</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1.8</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구성 요건과 사전 점검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소프트웨어 요건</a:t>
            </a:r>
          </a:p>
          <a:p>
            <a:pPr algn="l">
              <a:spcAft>
                <a:spcPts val="800"/>
              </a:spcAft>
            </a:pPr>
            <a:r>
              <a:rPr sz="1600" b="0">
                <a:solidFill>
                  <a:srgbClr val="FFFFFF"/>
                </a:solidFill>
                <a:latin typeface="맑은 고딕"/>
              </a:rPr>
              <a:t>•  하드웨어와 운영체제</a:t>
            </a:r>
          </a:p>
          <a:p>
            <a:pPr algn="l">
              <a:spcAft>
                <a:spcPts val="800"/>
              </a:spcAft>
            </a:pPr>
            <a:r>
              <a:rPr sz="1600" b="0">
                <a:solidFill>
                  <a:srgbClr val="FFFFFF"/>
                </a:solidFill>
                <a:latin typeface="맑은 고딕"/>
              </a:rPr>
              <a:t>•  데이터베이스 수준 점검 항목</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소프트웨어 요건</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같은 릴리스의 Enterprise Edition</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Data Guard는 EE 전용, SE에는 없음</a:t>
            </a:r>
          </a:p>
          <a:p>
            <a:pPr algn="l">
              <a:spcAft>
                <a:spcPts val="1000"/>
              </a:spcAft>
            </a:pPr>
            <a:r>
              <a:rPr sz="1700" b="0">
                <a:solidFill>
                  <a:srgbClr val="222222"/>
                </a:solidFill>
                <a:latin typeface="맑은 고딕"/>
              </a:rPr>
              <a:t>•  모든 데이터베이스가 같은 릴리스</a:t>
            </a:r>
          </a:p>
          <a:p>
            <a:pPr algn="l">
              <a:spcAft>
                <a:spcPts val="1000"/>
              </a:spcAft>
            </a:pPr>
            <a:r>
              <a:rPr sz="1700" b="0">
                <a:solidFill>
                  <a:srgbClr val="222222"/>
                </a:solidFill>
                <a:latin typeface="맑은 고딕"/>
              </a:rPr>
              <a:t>•  예외: Logical Standby 롤링 업그레이드</a:t>
            </a:r>
          </a:p>
          <a:p>
            <a:pPr algn="l">
              <a:spcAft>
                <a:spcPts val="1000"/>
              </a:spcAft>
            </a:pPr>
            <a:r>
              <a:rPr sz="1700" b="0">
                <a:solidFill>
                  <a:srgbClr val="222222"/>
                </a:solidFill>
                <a:latin typeface="맑은 고딕"/>
              </a:rPr>
              <a:t>•  실무에서는 RU 수준까지 일치</a:t>
            </a:r>
          </a:p>
          <a:p>
            <a:pPr algn="l">
              <a:spcAft>
                <a:spcPts val="1000"/>
              </a:spcAft>
            </a:pPr>
            <a:r>
              <a:rPr sz="1700" b="0">
                <a:solidFill>
                  <a:srgbClr val="222222"/>
                </a:solidFill>
                <a:latin typeface="맑은 고딕"/>
              </a:rPr>
              <a:t>•  ASM·OMF는 양쪽을 같은 조합으로</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하드웨어와 운영체제</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달라도 되지만, 작으면 곤란하다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CPU 수, 메모리, 스토리지 구성은 달라도 동작</a:t>
            </a:r>
          </a:p>
          <a:p>
            <a:pPr algn="l">
              <a:spcAft>
                <a:spcPts val="1000"/>
              </a:spcAft>
            </a:pPr>
            <a:r>
              <a:rPr sz="1700" b="0">
                <a:solidFill>
                  <a:srgbClr val="222222"/>
                </a:solidFill>
                <a:latin typeface="맑은 고딕"/>
              </a:rPr>
              <a:t>•  Failover 뒤 업무를 감당할 용량은 필요</a:t>
            </a:r>
          </a:p>
          <a:p>
            <a:pPr algn="l">
              <a:spcAft>
                <a:spcPts val="1000"/>
              </a:spcAft>
            </a:pPr>
            <a:r>
              <a:rPr sz="1700" b="0">
                <a:solidFill>
                  <a:srgbClr val="222222"/>
                </a:solidFill>
                <a:latin typeface="맑은 고딕"/>
              </a:rPr>
              <a:t>•  혼합 플랫폼은 일부 조합만 허용</a:t>
            </a:r>
          </a:p>
          <a:p>
            <a:pPr algn="l">
              <a:spcAft>
                <a:spcPts val="1000"/>
              </a:spcAft>
            </a:pPr>
            <a:r>
              <a:rPr sz="1700" b="0">
                <a:solidFill>
                  <a:srgbClr val="222222"/>
                </a:solidFill>
                <a:latin typeface="맑은 고딕"/>
              </a:rPr>
              <a:t>•  확인: MOS 413484.1(Physical), 1085687.1(Logical)</a:t>
            </a:r>
          </a:p>
          <a:p>
            <a:pPr algn="l">
              <a:spcAft>
                <a:spcPts val="1000"/>
              </a:spcAft>
            </a:pPr>
            <a:r>
              <a:rPr sz="1700" b="0">
                <a:solidFill>
                  <a:srgbClr val="222222"/>
                </a:solidFill>
                <a:latin typeface="맑은 고딕"/>
              </a:rPr>
              <a:t>•  같은 서버 배치는 학습·시험용</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데이터베이스 수준 점검 항목</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같아야 하는 것과 달라야 하는 것</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같아야 함: 릴리스·RU, DB_NAME, DBID, 문자셋</a:t>
            </a:r>
          </a:p>
          <a:p>
            <a:pPr algn="l">
              <a:spcAft>
                <a:spcPts val="1000"/>
              </a:spcAft>
            </a:pPr>
            <a:r>
              <a:rPr sz="1700" b="0">
                <a:solidFill>
                  <a:srgbClr val="222222"/>
                </a:solidFill>
                <a:latin typeface="맑은 고딕"/>
              </a:rPr>
              <a:t>•  같게 둠: DB_BLOCK_SIZE, COMPATIBLE</a:t>
            </a:r>
          </a:p>
          <a:p>
            <a:pPr algn="l">
              <a:spcAft>
                <a:spcPts val="1000"/>
              </a:spcAft>
            </a:pPr>
            <a:r>
              <a:rPr sz="1700" b="0">
                <a:solidFill>
                  <a:srgbClr val="222222"/>
                </a:solidFill>
                <a:latin typeface="맑은 고딕"/>
              </a:rPr>
              <a:t>•  달라야 함: DB_UNIQUE_NAME</a:t>
            </a:r>
          </a:p>
          <a:p>
            <a:pPr algn="l">
              <a:spcAft>
                <a:spcPts val="1000"/>
              </a:spcAft>
            </a:pPr>
            <a:r>
              <a:rPr sz="1700" b="0">
                <a:solidFill>
                  <a:srgbClr val="222222"/>
                </a:solidFill>
                <a:latin typeface="맑은 고딕"/>
              </a:rPr>
              <a:t>•  Primary 전제: ARCHIVELOG, FORCE LOGGING</a:t>
            </a:r>
          </a:p>
          <a:p>
            <a:pPr algn="l">
              <a:spcAft>
                <a:spcPts val="1000"/>
              </a:spcAft>
            </a:pPr>
            <a:r>
              <a:rPr sz="1700" b="0">
                <a:solidFill>
                  <a:srgbClr val="222222"/>
                </a:solidFill>
                <a:latin typeface="맑은 고딕"/>
              </a:rPr>
              <a:t>•  양쪽 이름 해석: 리스너, tnsnames.ora</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1.9</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다른 고가용성 기술과의 비교</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RAC, GoldenGate와의 비교</a:t>
            </a:r>
          </a:p>
          <a:p>
            <a:pPr algn="l">
              <a:spcAft>
                <a:spcPts val="800"/>
              </a:spcAft>
            </a:pPr>
            <a:r>
              <a:rPr sz="1600" b="0">
                <a:solidFill>
                  <a:srgbClr val="FFFFFF"/>
                </a:solidFill>
                <a:latin typeface="맑은 고딕"/>
              </a:rPr>
              <a:t>•  백업·Flashback·스토리지 미러링</a:t>
            </a:r>
          </a:p>
          <a:p>
            <a:pPr algn="l">
              <a:spcAft>
                <a:spcPts val="800"/>
              </a:spcAft>
            </a:pPr>
            <a:r>
              <a:rPr sz="1600" b="0">
                <a:solidFill>
                  <a:srgbClr val="FFFFFF"/>
                </a:solidFill>
                <a:latin typeface="맑은 고딕"/>
              </a:rPr>
              <a:t>•  기술을 겹쳐 쓰는 방식</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RAC와의 비교</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인스턴스를 지키는가, 데이터를 지키는가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RAC: 데이터베이스 하나를 여러 인스턴스가 공유</a:t>
            </a:r>
          </a:p>
          <a:p>
            <a:pPr algn="l">
              <a:spcAft>
                <a:spcPts val="1000"/>
              </a:spcAft>
            </a:pPr>
            <a:r>
              <a:rPr sz="1700" b="0">
                <a:solidFill>
                  <a:srgbClr val="222222"/>
                </a:solidFill>
                <a:latin typeface="맑은 고딕"/>
              </a:rPr>
              <a:t>•  서버 장애에는 수 초 단위로 대응</a:t>
            </a:r>
          </a:p>
          <a:p>
            <a:pPr algn="l">
              <a:spcAft>
                <a:spcPts val="1000"/>
              </a:spcAft>
            </a:pPr>
            <a:r>
              <a:rPr sz="1700" b="0">
                <a:solidFill>
                  <a:srgbClr val="222222"/>
                </a:solidFill>
                <a:latin typeface="맑은 고딕"/>
              </a:rPr>
              <a:t>•  데이터 파일은 한 벌, 스토리지·사이트 장애는 대응 불가</a:t>
            </a:r>
          </a:p>
          <a:p>
            <a:pPr algn="l">
              <a:spcAft>
                <a:spcPts val="1000"/>
              </a:spcAft>
            </a:pPr>
            <a:r>
              <a:rPr sz="1700" b="0">
                <a:solidFill>
                  <a:srgbClr val="222222"/>
                </a:solidFill>
                <a:latin typeface="맑은 고딕"/>
              </a:rPr>
              <a:t>•  Data Guard: 별도 사본, 스토리지·사이트 장애 대응</a:t>
            </a:r>
          </a:p>
          <a:p>
            <a:pPr algn="l">
              <a:spcAft>
                <a:spcPts val="1000"/>
              </a:spcAft>
            </a:pPr>
            <a:r>
              <a:rPr sz="1700" b="0">
                <a:solidFill>
                  <a:srgbClr val="222222"/>
                </a:solidFill>
                <a:latin typeface="맑은 고딕"/>
              </a:rPr>
              <a:t>•  RAC Primary + RAC Standby 조합이 흔함</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GoldenGate와의 비교</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논리 복제와 물리 복제</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GoldenGate: 리두에서 변경을 뽑아 논리 복제</a:t>
            </a:r>
          </a:p>
          <a:p>
            <a:pPr algn="l">
              <a:spcAft>
                <a:spcPts val="1000"/>
              </a:spcAft>
            </a:pPr>
            <a:r>
              <a:rPr sz="1700" b="0">
                <a:solidFill>
                  <a:srgbClr val="222222"/>
                </a:solidFill>
                <a:latin typeface="맑은 고딕"/>
              </a:rPr>
              <a:t>•  양방향, 이기종, 버전이 다른 대상 가능</a:t>
            </a:r>
          </a:p>
          <a:p>
            <a:pPr algn="l">
              <a:spcAft>
                <a:spcPts val="1000"/>
              </a:spcAft>
            </a:pPr>
            <a:r>
              <a:rPr sz="1700" b="0">
                <a:solidFill>
                  <a:srgbClr val="222222"/>
                </a:solidFill>
                <a:latin typeface="맑은 고딕"/>
              </a:rPr>
              <a:t>•  무중단 이전, active-active 구성에 강함</a:t>
            </a:r>
          </a:p>
          <a:p>
            <a:pPr algn="l">
              <a:spcAft>
                <a:spcPts val="1000"/>
              </a:spcAft>
            </a:pPr>
            <a:r>
              <a:rPr sz="1700" b="0">
                <a:solidFill>
                  <a:srgbClr val="222222"/>
                </a:solidFill>
                <a:latin typeface="맑은 고딕"/>
              </a:rPr>
              <a:t>•  비동기·데이터 유형 제약 → 무손실 재해 복구는 Physical</a:t>
            </a:r>
          </a:p>
          <a:p>
            <a:pPr algn="l">
              <a:spcAft>
                <a:spcPts val="1000"/>
              </a:spcAft>
            </a:pPr>
            <a:r>
              <a:rPr sz="1700" b="0">
                <a:solidFill>
                  <a:srgbClr val="222222"/>
                </a:solidFill>
                <a:latin typeface="맑은 고딕"/>
              </a:rPr>
              <a:t>•  별도 라이선스 제품</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백업, Flashback, 스토리지 미러링</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Data Guard가 대신하지 않는 것</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RMAN 백업: 모든 전략의 바닥, RTO가 김</a:t>
            </a:r>
          </a:p>
          <a:p>
            <a:pPr algn="l">
              <a:spcAft>
                <a:spcPts val="1000"/>
              </a:spcAft>
            </a:pPr>
            <a:r>
              <a:rPr sz="1700" b="0">
                <a:solidFill>
                  <a:srgbClr val="222222"/>
                </a:solidFill>
                <a:latin typeface="맑은 고딕"/>
              </a:rPr>
              <a:t>•  Flashback Database: 논리 오류 되감기, reinstate 기반</a:t>
            </a:r>
          </a:p>
          <a:p>
            <a:pPr algn="l">
              <a:spcAft>
                <a:spcPts val="1000"/>
              </a:spcAft>
            </a:pPr>
            <a:r>
              <a:rPr sz="1700" b="0">
                <a:solidFill>
                  <a:srgbClr val="222222"/>
                </a:solidFill>
                <a:latin typeface="맑은 고딕"/>
              </a:rPr>
              <a:t>•  스토리지 미러링: 손상된 블록도 그대로 복제</a:t>
            </a:r>
          </a:p>
          <a:p>
            <a:pPr algn="l">
              <a:spcAft>
                <a:spcPts val="1000"/>
              </a:spcAft>
            </a:pPr>
            <a:r>
              <a:rPr sz="1700" b="0">
                <a:solidFill>
                  <a:srgbClr val="222222"/>
                </a:solidFill>
                <a:latin typeface="맑은 고딕"/>
              </a:rPr>
              <a:t>•  Data Guard는 리두 적용 중 검증, 손상이 번지지 않음</a:t>
            </a:r>
          </a:p>
          <a:p>
            <a:pPr algn="l">
              <a:spcAft>
                <a:spcPts val="1000"/>
              </a:spcAft>
            </a:pPr>
            <a:r>
              <a:rPr sz="1700" b="0">
                <a:solidFill>
                  <a:srgbClr val="222222"/>
                </a:solidFill>
                <a:latin typeface="맑은 고딕"/>
              </a:rPr>
              <a:t>•  백업은 Physical Standby에서 받아 Primary 부하 경감</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기술을 겹쳐 쓰는 방식</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MAA의 계층 구조</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기본: 단일 인스턴스 + RMAN 백업 + Flashback</a:t>
            </a:r>
          </a:p>
          <a:p>
            <a:pPr algn="l">
              <a:spcAft>
                <a:spcPts val="1000"/>
              </a:spcAft>
            </a:pPr>
            <a:r>
              <a:rPr sz="1700" b="0">
                <a:solidFill>
                  <a:srgbClr val="222222"/>
                </a:solidFill>
                <a:latin typeface="맑은 고딕"/>
              </a:rPr>
              <a:t>•  서버 장애 대비: + RAC</a:t>
            </a:r>
          </a:p>
          <a:p>
            <a:pPr algn="l">
              <a:spcAft>
                <a:spcPts val="1000"/>
              </a:spcAft>
            </a:pPr>
            <a:r>
              <a:rPr sz="1700" b="0">
                <a:solidFill>
                  <a:srgbClr val="222222"/>
                </a:solidFill>
                <a:latin typeface="맑은 고딕"/>
              </a:rPr>
              <a:t>•  사이트 재해 대비: + Data Guard (필요 시 ADG)</a:t>
            </a:r>
          </a:p>
          <a:p>
            <a:pPr algn="l">
              <a:spcAft>
                <a:spcPts val="1000"/>
              </a:spcAft>
            </a:pPr>
            <a:r>
              <a:rPr sz="1700" b="0">
                <a:solidFill>
                  <a:srgbClr val="222222"/>
                </a:solidFill>
                <a:latin typeface="맑은 고딕"/>
              </a:rPr>
              <a:t>•  무중단 이전·다중 사이트 쓰기: + GoldenGate</a:t>
            </a:r>
          </a:p>
          <a:p>
            <a:pPr algn="l">
              <a:spcAft>
                <a:spcPts val="1000"/>
              </a:spcAft>
            </a:pPr>
            <a:r>
              <a:rPr sz="1700" b="0">
                <a:solidFill>
                  <a:srgbClr val="222222"/>
                </a:solidFill>
                <a:latin typeface="맑은 고딕"/>
              </a:rPr>
              <a:t>•  시스템별 RPO·RTO에 맞는 계층을 고른다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사례: 어떤 기술부터 도입할까</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단일 서버 병원 정보 시스템</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요구: 30분 내 복구, 데이터 손실 없음, 패치 중단 최소</a:t>
            </a:r>
          </a:p>
          <a:p>
            <a:pPr algn="l">
              <a:spcAft>
                <a:spcPts val="1000"/>
              </a:spcAft>
            </a:pPr>
            <a:r>
              <a:rPr sz="1700" b="0">
                <a:solidFill>
                  <a:srgbClr val="222222"/>
                </a:solidFill>
                <a:latin typeface="맑은 고딕"/>
              </a:rPr>
              <a:t>•  RAC: 서버 장애는 해결, 스토리지 위험은 남음</a:t>
            </a:r>
          </a:p>
          <a:p>
            <a:pPr algn="l">
              <a:spcAft>
                <a:spcPts val="1000"/>
              </a:spcAft>
            </a:pPr>
            <a:r>
              <a:rPr sz="1700" b="0">
                <a:solidFill>
                  <a:srgbClr val="222222"/>
                </a:solidFill>
                <a:latin typeface="맑은 고딕"/>
              </a:rPr>
              <a:t>•  Physical Standby + Maximum Availability로 세 요구 충족</a:t>
            </a:r>
          </a:p>
          <a:p>
            <a:pPr algn="l">
              <a:spcAft>
                <a:spcPts val="1000"/>
              </a:spcAft>
            </a:pPr>
            <a:r>
              <a:rPr sz="1700" b="0">
                <a:solidFill>
                  <a:srgbClr val="222222"/>
                </a:solidFill>
                <a:latin typeface="맑은 고딕"/>
              </a:rPr>
              <a:t>•  패치는 Standby 선적용 후 Switchover</a:t>
            </a:r>
          </a:p>
          <a:p>
            <a:pPr algn="l">
              <a:spcAft>
                <a:spcPts val="1000"/>
              </a:spcAft>
            </a:pPr>
            <a:r>
              <a:rPr sz="1700" b="0">
                <a:solidFill>
                  <a:srgbClr val="222222"/>
                </a:solidFill>
                <a:latin typeface="맑은 고딕"/>
              </a:rPr>
              <a:t>•  조회 분산이 필요해지면 그때 ADG 옵션 검토</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1.10</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운영 시 주의점</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접속 대상과 상태 확인</a:t>
            </a:r>
          </a:p>
          <a:p>
            <a:pPr algn="l">
              <a:spcAft>
                <a:spcPts val="800"/>
              </a:spcAft>
            </a:pPr>
            <a:r>
              <a:rPr sz="1600" b="0">
                <a:solidFill>
                  <a:srgbClr val="FFFFFF"/>
                </a:solidFill>
                <a:latin typeface="맑은 고딕"/>
              </a:rPr>
              <a:t>•  기본값과 라이선스</a:t>
            </a:r>
          </a:p>
          <a:p>
            <a:pPr algn="l">
              <a:spcAft>
                <a:spcPts val="800"/>
              </a:spcAft>
            </a:pPr>
            <a:r>
              <a:rPr sz="1600" b="0">
                <a:solidFill>
                  <a:srgbClr val="FFFFFF"/>
                </a:solidFill>
                <a:latin typeface="맑은 고딕"/>
              </a:rPr>
              <a:t>•  감시 기준과 삭제 정책</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운영 시 주의점</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경보 없이 생기는 문제들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접속한 노드부터 확인: DB_UNIQUE_NAME, DATABASE_ROLE</a:t>
            </a:r>
          </a:p>
          <a:p>
            <a:pPr algn="l">
              <a:spcAft>
                <a:spcPts val="1000"/>
              </a:spcAft>
            </a:pPr>
            <a:r>
              <a:rPr sz="1700" b="0">
                <a:solidFill>
                  <a:srgbClr val="222222"/>
                </a:solidFill>
                <a:latin typeface="맑은 고딕"/>
              </a:rPr>
              <a:t>•  상태는 역할·열린 모드·적용 여부의 조합으로</a:t>
            </a:r>
          </a:p>
          <a:p>
            <a:pPr algn="l">
              <a:spcAft>
                <a:spcPts val="1000"/>
              </a:spcAft>
            </a:pPr>
            <a:r>
              <a:rPr sz="1700" b="0">
                <a:solidFill>
                  <a:srgbClr val="222222"/>
                </a:solidFill>
                <a:latin typeface="맑은 고딕"/>
              </a:rPr>
              <a:t>•  기본 보호 모드(Performance)를 그대로 쓰는지 점검</a:t>
            </a:r>
          </a:p>
          <a:p>
            <a:pPr algn="l">
              <a:spcAft>
                <a:spcPts val="1000"/>
              </a:spcAft>
            </a:pPr>
            <a:r>
              <a:rPr sz="1700" b="0">
                <a:solidFill>
                  <a:srgbClr val="222222"/>
                </a:solidFill>
                <a:latin typeface="맑은 고딕"/>
              </a:rPr>
              <a:t>•  정기 Switchover 훈련, 아카이브 삭제 정책 확인</a:t>
            </a:r>
          </a:p>
          <a:p>
            <a:pPr algn="l">
              <a:spcAft>
                <a:spcPts val="1000"/>
              </a:spcAft>
            </a:pPr>
            <a:r>
              <a:rPr sz="1700" b="0">
                <a:solidFill>
                  <a:srgbClr val="222222"/>
                </a:solidFill>
                <a:latin typeface="맑은 고딕"/>
              </a:rPr>
              <a:t>•  감시 기준은 살아 있는가가 아니라 따라오는가</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요약</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구성 = Primary 1 + Standby 최대 30, 리두로 동기화</a:t>
            </a:r>
          </a:p>
          <a:p>
            <a:pPr algn="l">
              <a:spcAft>
                <a:spcPts val="1000"/>
              </a:spcAft>
            </a:pPr>
            <a:r>
              <a:rPr sz="1600" b="0">
                <a:solidFill>
                  <a:srgbClr val="222222"/>
                </a:solidFill>
                <a:latin typeface="맑은 고딕"/>
              </a:rPr>
              <a:t>•  Physical(블록 동일)·Logical(SQL Apply)·Snapshot(시험용), Far Sync는 중계</a:t>
            </a:r>
          </a:p>
          <a:p>
            <a:pPr algn="l">
              <a:spcAft>
                <a:spcPts val="1000"/>
              </a:spcAft>
            </a:pPr>
            <a:r>
              <a:rPr sz="1600" b="0">
                <a:solidFill>
                  <a:srgbClr val="222222"/>
                </a:solidFill>
                <a:latin typeface="맑은 고딕"/>
              </a:rPr>
              <a:t>•  전송(LGWR·NSS·TTnn·ARCn)과 적용(RFS·MRP0·LSP)은 분리</a:t>
            </a:r>
          </a:p>
          <a:p>
            <a:pPr algn="l">
              <a:spcAft>
                <a:spcPts val="1000"/>
              </a:spcAft>
            </a:pPr>
            <a:r>
              <a:rPr sz="1600" b="0">
                <a:solidFill>
                  <a:srgbClr val="222222"/>
                </a:solidFill>
                <a:latin typeface="맑은 고딕"/>
              </a:rPr>
              <a:t>•  갭은 ARCn·FAL로 자동 해소, 기본 보호 모드는 Performance</a:t>
            </a:r>
          </a:p>
          <a:p>
            <a:pPr algn="l">
              <a:spcAft>
                <a:spcPts val="1000"/>
              </a:spcAft>
            </a:pPr>
            <a:r>
              <a:rPr sz="1600" b="0">
                <a:solidFill>
                  <a:srgbClr val="222222"/>
                </a:solidFill>
                <a:latin typeface="맑은 고딕"/>
              </a:rPr>
              <a:t>•  Switchover는 계획 교대, Failover는 비상 전환, FSFO는 자동</a:t>
            </a:r>
          </a:p>
          <a:p>
            <a:pPr algn="l">
              <a:spcAft>
                <a:spcPts val="1000"/>
              </a:spcAft>
            </a:pPr>
            <a:r>
              <a:rPr sz="1600" b="0">
                <a:solidFill>
                  <a:srgbClr val="222222"/>
                </a:solidFill>
                <a:latin typeface="맑은 고딕"/>
              </a:rPr>
              <a:t>•  적용 중 조회·Far Sync·DML 리다이렉션은 ADG 옵션</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퀴즈 (1/2)</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Q1. Standby 유형이 아닌 것은? → Primary</a:t>
            </a:r>
          </a:p>
          <a:p>
            <a:pPr algn="l">
              <a:spcAft>
                <a:spcPts val="1000"/>
              </a:spcAft>
            </a:pPr>
            <a:r>
              <a:rPr sz="1600" b="0">
                <a:solidFill>
                  <a:srgbClr val="222222"/>
                </a:solidFill>
                <a:latin typeface="맑은 고딕"/>
              </a:rPr>
              <a:t>•  Q2. Standby 최대 개수와 근거는? → 30개, LOG_ARCHIVE_DEST_n</a:t>
            </a:r>
          </a:p>
          <a:p>
            <a:pPr algn="l">
              <a:spcAft>
                <a:spcPts val="1000"/>
              </a:spcAft>
            </a:pPr>
            <a:r>
              <a:rPr sz="1600" b="0">
                <a:solidFill>
                  <a:srgbClr val="222222"/>
                </a:solidFill>
                <a:latin typeface="맑은 고딕"/>
              </a:rPr>
              <a:t>•  Q3. Snapshot Standby는 리두를 받지 않는다? → 틀림, 받아서 보관</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퀴즈 (2/2)</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Q4. ASYNC 목적지로 보내는 프로세스는? → TTnn</a:t>
            </a:r>
          </a:p>
          <a:p>
            <a:pPr algn="l">
              <a:spcAft>
                <a:spcPts val="1000"/>
              </a:spcAft>
            </a:pPr>
            <a:r>
              <a:rPr sz="1600" b="0">
                <a:solidFill>
                  <a:srgbClr val="222222"/>
                </a:solidFill>
                <a:latin typeface="맑은 고딕"/>
              </a:rPr>
              <a:t>•  Q5. 스토리지 고장 시 전환과 원래 Primary 처리는? → Failover, reinstate</a:t>
            </a:r>
          </a:p>
          <a:p>
            <a:pPr algn="l">
              <a:spcAft>
                <a:spcPts val="1000"/>
              </a:spcAft>
            </a:pPr>
            <a:r>
              <a:rPr sz="1600" b="0">
                <a:solidFill>
                  <a:srgbClr val="222222"/>
                </a:solidFill>
                <a:latin typeface="맑은 고딕"/>
              </a:rPr>
              <a:t>•  Q6. 옵션 없이 허용되는 운영은? → 적용 중지 후 READ ONLY 조회</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실습 개요</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01 현재 구성 파악: 이름·역할·열린 모드 (1.3)</a:t>
            </a:r>
          </a:p>
          <a:p>
            <a:pPr algn="l">
              <a:spcAft>
                <a:spcPts val="1000"/>
              </a:spcAft>
            </a:pPr>
            <a:r>
              <a:rPr sz="1600" b="0">
                <a:solidFill>
                  <a:srgbClr val="222222"/>
                </a:solidFill>
                <a:latin typeface="맑은 고딕"/>
              </a:rPr>
              <a:t>•  02 Data Guard 프로세스 식별: V$DATAGUARD_PROCESS (1.4)</a:t>
            </a:r>
          </a:p>
          <a:p>
            <a:pPr algn="l">
              <a:spcAft>
                <a:spcPts val="1000"/>
              </a:spcAft>
            </a:pPr>
            <a:r>
              <a:rPr sz="1600" b="0">
                <a:solidFill>
                  <a:srgbClr val="222222"/>
                </a:solidFill>
                <a:latin typeface="맑은 고딕"/>
              </a:rPr>
              <a:t>•  03 라이선스 확인: 에디션, 사용 이력, OPEN_MODE (1.7)</a:t>
            </a:r>
          </a:p>
          <a:p>
            <a:pPr algn="l">
              <a:spcAft>
                <a:spcPts val="1000"/>
              </a:spcAft>
            </a:pPr>
            <a:r>
              <a:rPr sz="1600" b="0">
                <a:solidFill>
                  <a:srgbClr val="222222"/>
                </a:solidFill>
                <a:latin typeface="맑은 고딕"/>
              </a:rPr>
              <a:t>•  04 Standby 유형별 상태 확인: Snapshot 전환과 복귀 (1.3)</a:t>
            </a:r>
          </a:p>
          <a:p>
            <a:pPr algn="l">
              <a:spcAft>
                <a:spcPts val="1000"/>
              </a:spcAft>
            </a:pPr>
            <a:r>
              <a:rPr sz="1600" b="0">
                <a:solidFill>
                  <a:srgbClr val="222222"/>
                </a:solidFill>
                <a:latin typeface="맑은 고딕"/>
              </a:rPr>
              <a:t>•  05 구성 전 점검표: 릴리스·플랫폼·문자셋·파라미터 (1.8)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
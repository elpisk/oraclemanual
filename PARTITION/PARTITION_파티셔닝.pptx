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과정은 파티셔닝을 문법이 아니라 운영 관점에서 다룬다. 파티션을 나누는 다섯 방식, 실행계획으로 프루닝을 판정하는 방법, 인덱스가 못 쓰게 되는 상황과 복구, 파티션 단위 이관까지가 범위다. 모든 수치와 오류 메시지는 19.3 랩에서 직접 측정했다. 수강생이 자기 환경에서 같은 순서로 재현할 수 있도록 트랜스크립트 11종을 함께 제공한다. 원본은 성능 튜닝 준비 과정의 키워드 문서이며, 그 명령 목록을 설명과 실측 화면으로 다시 구성했다.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목표를 여덟 줄로 잡았다. 앞의 다섯 줄이 설계와 판독이고 뒤의 세 줄이 운영이다. 이 과정의 특징은 마지막 줄처럼 문서에 잘 나오지 않는 실측 사실을 다룬다는 점이다. 파티션당 8MB, TRUNCATE 뒤 HWM 이 끝까지 올라가는 현상, EXCHANGE 가 통계까지 맞바꾸는 동작이 그런 항목이다. 이런 것을 모르면 용량 계획과 성능 진단이 어긋난다.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구성은 개념에서 운영으로 내려간다. 시간이 부족하면 3부와 4부를 중심으로 진행하고 5부의 UNUSABLE 부분만 반드시 포함한다. 그 세 부분이 실제 장애와 가장 가깝다. 2부는 문법 위주라 참고 자료로 돌려도 무리가 없다. 실습은 순서 의존성이 있어 06에서 만든 구조를 07이 이어 쓰므로 건너뛰면 숫자가 달라진다. 퀴즈와 요약은 마무리용이며, 실습 개요 슬라이드의 순서 의존성은 반드시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1부의 목표는 파티셔닝을 쓸지 말지 판단하는 기준을 세우는 것이다. 성능 이야기부터 시작하면 오해가 생긴다. 실제로 더 큰 이득은 관리성이다. 1억 건에서 지난 달 데이터를 지우는 작업이 몇 시간에서 몇 초로 바뀐다. 파티션 뷰 실습은 왜 이 기능이 필요한지를 역으로 보여 주는 장치다. 파티션 뷰를 먼저 다루는 이유는 기능 목록을 외우지 않고도 필요성을 이해하게 만들기 위해서다. 뷰가 못 하는 네 가지가 곧 파티션 테이블이 제공하는 네 가지다.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하나가 파티셔닝의 전부다. 애플리케이션 코드는 바뀌지 않는다는 점이 중요하다. 기존 SQL 을 그대로 두고 테이블 구조만 바꿀 수 있다. 아래 목록이 파티션 단위로 가능해지는 작업들인데, 읽기보다 나머지 다섯 개가 운영에서 더 자주 쓰인다. 특히 DROP PARTITION 은 대용량 DELETE 를 대체하는 표준 기법이다. 프루닝은 여섯 항목 중 하나일 뿐이라는 점을 그림에서 함께 전달한다. 나머지 다섯이 운영에서 더 자주 쓰인다.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이득 중 현장에서 가장 체감되는 것은 관리성이다. 대용량 DELETE 때문에 야간 배치가 끝나지 않는 문제, UNDO 테이블스페이스가 터지는 문제가 DROP PARTITION 하나로 사라진다. 성능은 프루닝이 걸리는 SQL 에서만 나타나므로 조회 패턴 분석이 선행돼야 한다. 그래서 도입 판단은 관리 요건부터 확인하는 순서가 맞다. 도입 판단은 관리 요건을 먼저 확인하고 성능은 조회 패턴 분석으로 따로 검증하는 순서가 맞다.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filter(NULL IS NOT NULL) 는 항상 거짓이므로 그 아래 연산이 실행되지 않는다는 표시다. Starts 0 이 증거다. 상수 조건에서는 CHECK 제약과 맞물려 분기가 제거되므로 프루닝처럼 보인다. 그런데 바인드 변수로 바꾸면 값이 실행 시점에 정해지므로 파싱 시점에 판단할 수 없고 세 분기를 모두 읽는다. 애플리케이션은 대부분 바인드를 쓰므로 이 한 줄이 파티션 뷰의 사망 선고다.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파티션 뷰의 네 가지 한계가 곧 파티션 테이블이 제공하는 네 가지 기능이다. 이렇게 짝지어 설명하면 기능 목록을 외우지 않아도 된다. 마지막 줄의 라이선스는 반드시 짚는다. Partitioning 은 Enterprise Edition 의 별도 유상 옵션이다. Standard Edition 에서는 쓸 수 없고, 그때가 파티션 뷰를 고려하는 유일한 경우다. Standard Edition 에서는 파티션 뷰가 유일한 대안이지만 신규 설계에는 권하지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2부는 문법과 각 방식의 성질을 다룬다. 핵심은 마지막에 나오는 선택 기준 한 장이다. 기준은 무엇으로 조회하는가이며, 무엇으로 나누고 싶은가가 아니다. 이 구분을 못 하면 관리하기 편한 키로 나눠 놓고 프루닝이 안 되는 설계를 만든다. 각 방식마다 실측 수치를 함께 보여 주므로 성질을 숫자로 기억할 수 있다. 각 방식마다 실측 수치를 함께 제시하므로 성질을 문장이 아니라 숫자로 기억할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이력·로그·거래 테이블은 거의 전부 RANGE 다. 날짜로 자르고 날짜로 조회하고 날짜로 버리기 때문이다. VALUES LESS THAN 이 미만이라는 점에서 경계값 오류가 자주 난다. 월별 파티션이면 다음 달 1일을 상한으로 쓴다. MAXVALUE 파티션은 안전장치이자 함정이다. ORA-14400 은 막아 주지만 미래 데이터가 전부 그 하나에 쌓여 프루닝 효과가 사라지므로 정기 SPLIT 절차가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 은 월별 파티션 테이블의 기본 선택이라고 해도 된다. 미래 파티션을 누가 만들어 주는가라는 운영 부담이 사라진다. 대신 이름을 예측할 수 없으므로 운영 스크립트는 PARTITION FOR 표기나 딕셔너리 조회로 이름을 찾아야 한다. partition_count 가 1048575 로 보이는 것은 이론상 상한이며 실제 개수는 dba_tab_partitions 를 세야 한다. 모니터링 쿼리가 이것을 틀리는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 의 가장 큰 오해는 프루닝이 된다고 믿는 것이다. 등치와 IN 만 해시 값을 계산할 수 있으므로 범위 조건에서는 전부 읽는다. 순서를 보존하지 않는 방식이기 때문이다. 그래서 HASH 의 실제 이득은 프루닝이 아니라 병렬 처리와 파티션 와이즈 조인, 핫 블록 경합 분산이다. 파티션 수가 2의 거듭제곱이 아니면 ADD 동작 방식 때문에 분포가 고르지 않다.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는 코드값 관리에 쓴다. NULL 이 DEFAULT 로 간다는 점은 RANGE 에서 NULL 이 MAXVALUE 쪽으로 가는 것과 대비해 기억한다. DEFAULT 파티션을 둘지가 정책 결정이다. 두면 안전하지만 예상 못한 코드값이 조용히 쌓여 데이터 품질 문제를 늦게 발견한다. 안 두면 INSERT 가 실패해 즉시 알 수 있다. 19c AUTOMATIC 은 세 번째 답이지만 값 가짓수가 많은 컬럼에는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 파티션을 쓸 이유는 하나다. 조회 조건이 항상 두 개이기 때문이다. 조건이 하나면 단일 파티션이 더 단순하고 관리 비용도 낮다. 표를 보면 두 키가 모두 조건에 있을 때만 세그먼트 하나를 읽는다. 하위 키만으로 조회하는 패턴이 많다면 하위 키를 상위로 올리는 설계를 검토해야 한다. 용량이 곱셈으로 늘어나므로 최소 수억 건 규모에서만 검토한다. 복합 파티션은 관리 대상이 곱셈으로 늘어나므로 도입 전에 세그먼트 수와 용량을 계산해 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장이 2부의 결론이다. 관리 편의로 키를 정하면 프루닝이 안 되는 설계가 나온다. 조회 패턴을 실제로 세어 보는 것이 유일한 객관적 방법이며, v$sql 이나 AWR 의 상위 SQL 을 모아 WHERE 절 컬럼 빈도를 집계한다. 마지막 줄도 중요하다. 변하는 컬럼을 키로 잡으면 ROW MOVEMENT 를 켜야 하고 ROWID 가 바뀌어 애플리케이션이 깨질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3부의 수치는 문서에 잘 나오지 않는 것들이다. 파티션당 8MB, TRUNCATE 뒤 HWM 이 끝까지 올라가는 현상은 용량 계획과 성능 진단 양쪽에 영향을 준다. 파티션 100개를 미리 만드는 설계가 왜 문제인지, 비어 있는 파티션을 읽는데 왜 느린지가 여기서 설명된다. 모두 19.3 랩에서 dbms_space 로 직접 측정한 값이다. dbms_space.unused_space 로 HWM 을 직접 읽는 방법도 함께 익힌다. 점검 스크립트로 바로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수치를 모르면 용량 산정이 어긋난다. 작은 파티션을 많이 만드는 설계가 왜 나쁜지도 여기서 설명된다. 파티션을 잘게 쪼개면 좋다는 직관은 용량과 재귀 호출 비용 때문에 틀릴 수 있다. 파티션 하나가 최소 수십만 건 이상 되도록 설계한다는 기준의 근거가 이 8MB 다. 작은 파티션이 많아야 한다면 테이블스페이스를 UNIFORM SIZE 로 만드는 방법도 검토한다.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일별 스테이징 파티션을 TRUNCATE 해서 재사용하는 패턴이면 이 현상이 매일 반복된다. 풀 스캔 비용이 데이터량과 무관해지므로 파티션 수백 개 중 상당수가 이 상태면 PARTITION RANGE ALL 계획이 실제 데이터량과 무관하게 비싸진다. 비어 있는데 느리다는 문의의 답이 여기 있다. 주기적 SHRINK 를 절차에 넣고 HWM 점검 쿼리를 상시 운영한다.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개지만 짝으로 외우면 쉽다. 테이블과 인덱스, 파티션과 서브파티션, 구조와 키. high_value 가 LONG 이라는 점은 스크립트를 쓸 때 반드시 걸리는 제약이다. 파티션 인덱스의 상태가 dba_indexes 에 나오지 않는다는 점도 중요하다. 점검 쿼리를 하나만 만들면 파티션 인덱스의 UNUSABLE 을 전부 놓친다. 짝으로 외우면 쉽다. 테이블과 인덱스, 파티션과 서브파티션, 구조와 키 세 쌍이다.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PARTITION FOR 표기는 INTERVAL 이나 AUTOMATIC 파티션을 쓰는 환경에서 사실상 필수다. 이름이 SYS_P 로 자동 생성되므로 스크립트에 이름을 박을 수 없다. DDL 에서도 같은 표기가 되므로 RENAME·DROP·TRUNCATE 를 값 기준으로 수행할 수 있다. ORA-14173 은 문구가 원인을 알려 주지 않는 대표적인 오류라 미리 알아 두면 시간을 아낀다.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4부가 이 과정의 핵심 기술이다. 파티셔닝을 했는데 빠르지 않다는 문의는 거의 전부 프루닝이 걸리지 않은 경우다. 판정은 연산 이름과 Pstart/Pstop, Starts 세 값을 함께 봐야 정확하다. 특히 KEY 표시를 프루닝 실패로 오해하는 경우가 많으므로 실측 Buffers 로 확인하는 방법을 반드시 익힌다. 프루닝 판정은 파티셔닝 과정에서 가장 자주 쓰는 기술이므로 표를 손에 익히도록 반복한다.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SERVEROUTPUT ON 상태에서 display_cursor(NULL,NULL,...) 를 쓰면 SQL*Plus 가 보내는 DBMS_OUTPUT.GET_LINES 가 마지막 커서가 되어 계획을 못 찾는다. 이 함정은 실습 트랜스크립트에도 그대로 남겨 두었다. 판정은 세 단계로 하며, 이름만 보고 단정하지 않는 것이 중요하다. KEY 는 실행 시점 결정을 뜻할 뿐이고 실제로는 한 파티션만 읽는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표시 일곱 가지를 외우는 것이 실무에서 가장 빠른 길이다. KEY 를 실패로 오해하는 것이 가장 흔한 착각이며, 실측에서 바인드 변수 조회가 상수 조회와 동일한 Buffers 1338 을 기록했다. 마지막 세 줄은 복합 파티션에서만 나타나는 함정이다. 같은 계획 안에서 Pstart 가 서로 다른 번호 체계를 가리키므로 행마다 해석을 달리해야 한다. 표시를 외우는 것이 실무에서 가장 빠른 길이다. 특히 KEY 계열 세 가지를 구분해 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 한 장으로 4부의 내용이 전부 정리된다. 프루닝 실패가 모두 같은 비용이라는 점이 중요하다. 원인을 찾을 때 비용 차이로 구분할 수 없으므로 계획의 Predicate Information 을 읽어야 한다. 블룸 필터가 가장 싼 이유는 파티션 프루닝과 조인 필터가 함께 적용돼 읽는 행 자체가 줄기 때문이다. 이런 계획은 스타 스키마 조인에서 자동으로 걸린다.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원인 중 (2) 의 암시적 형 변환이 실무에서 가장 악질이다. 오류도 경고도 없고 계획만 조용히 바뀐다. yyyymm 같은 문자형 파티션 키에 숫자를 비교하는 코드가 흔하므로 파티션 키는 되도록 DATE 나 NUMBER 로 잡는 것이 안전하다. 검증 원칙도 반드시 강조한다. 상수 테스트만 하고 배포한 뒤 운영에서 느려지는 사례가 반복된다. 네 원인 모두 SQL 을 고치면 해결되지만, 세 번째는 설계를 다시 봐야 하는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조인 프루닝은 설계할 수 있는 최적화다. 조건절에 파티션 키를 직접 쓸 수 없는 상황에서도 조인 상대가 값을 공급하면 프루닝이 걸린다. 두 형태의 차이는 조인 방식이다. 중첩 루프는 KEY(AP), 해시 조인은 블룸 필터다. 둘 다 옵티마이저가 선택하는 것이므로 통계가 틀어져 조인 순서가 뒤집히면 사라진다. 그래서 통계 관리가 프루닝 유지의 일부다. 조인 프루닝은 통계가 흔들리면 사라지므로 통계 관리가 프루닝 유지의 일부라는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5부는 장애와 가장 가까운 내용이다. 파티션 정리 작업 다음 날 시스템이 느려지는 전형적인 원인이 UNUSABLE 인덱스다. 오류가 나지 않으므로 아무도 모른 채 며칠이 지나간다. LOCAL 과 GLOBAL 의 선택, UPDATE INDEXES 절, 상태 점검 쿼리 세 가지를 절차서에 넣으면 이 문제는 예방된다. 점검 쿼리 두 개와 UPDATE INDEXES 절, 파티션 단위 REBUILD 세 가지가 이 부분의 결론이다.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을 기본으로 삼는 이유는 DROP PARTITION 한 줄에 다 들어 있다. 이력 테이블에서 오래된 파티션을 매달 지운다면 GLOBAL 인덱스는 사실상 쓸 수 없다. 매달 인덱스 전체를 리빌드해야 하기 때문이다. UNIQUE 제약 차이도 설계 단계에서 결정된다. 기본키에 파티션 키를 포함시킬 수 있으면 UNIQUE LOCAL 이 가능해지므로 먼저 검토한다.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비접두 인덱스를 무조건 피하라고 가르치면 과도한 제약이 된다. 실측에서 인덱스 파티션 6개를 모두 탐색해도 Buffers 14 로, 테이블 풀 스캔 139 보다 훨씬 쌌다. 판단 기준은 파티션 수다. 수백 개면 재귀 호출 비용이 커지므로 그때는 GLOBAL 을 검토한다. UNIQUE 가 필요하면 선택지가 줄어든다는 점도 함께 고려한다. UNIQUE 가 필요하면 비접두를 선택할 수 없으므로 기본키 설계와 함께 결정해야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5부의 핵심이다. 오류가 나지 않는다는 점이 문제의 본질이다. 옵티마이저는 UNUSABLE 인덱스를 무시하고 풀 스캔으로 우회하므로 애플리케이션은 정상 동작하고 응답만 느려진다. 파티션 정리 작업 다음 날 시스템이 느려졌다는 문의의 원인이 대부분 이것이다. 감시 쿼리가 유일한 발견 수단이므로 상시 운영해야 한다. 이 현상을 아는 것만으로도 파티션 정리 작업 뒤의 성능 저하 원인을 몇 분 안에 찾을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예방은 문장 템플릿으로 해결한다. UPDATE INDEXES 를 절차서의 모든 파티션 DDL 에 미리 박아 두면 판단할 일이 없어진다. 점검 쿼리를 두 개 만들어야 한다는 점을 다시 강조한다. 파티션 인덱스는 dba_indexes.status 가 N/A 이므로 하나만 보면 절반을 놓친다. 복구 스크립트는 생성해서 돌리는 방식이 안전하며 ONLINE 절을 붙이면 서비스 중에도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6부는 운영 절차서의 재료다. DDL 마다 비용이 다르므로 작업 창을 잡을 때 이 구분이 기준이 된다. EXCHANGE PARTITION 은 건수와 무관하게 즉시 끝나므로 무중단 적재의 핵심 기법이다. 통계는 잊기 쉬운 단계라 DDL 과 한 묶음으로 절차서에 적는 것을 권한다. SPLIT·MERGE 는 통계를 NULL 로 만든다. DDL 비용 구분과 다섯 가지 실무 조합은 그대로 운영 절차서에 옮겨 쓸 수 있게 정리했다.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끝나는 것과 데이터를 재작성하는 것을 구분해 외우는 것이 실용적이다. SPLIT·MERGE·MOVE 세 개만 무겁고 나머지는 딕셔너리 작업이다. 마지막 줄은 절차서에 반영해야 하는 변화다. MAXVALUE 파티션이 있으면 그보다 높은 경계가 없으므로 ADD 가 영구히 막히고 pmax 를 SPLIT 하는 방식으로 바뀐다. 이것을 모르면 월 배치 스크립트가 어느 날 실패한다.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조합이 파티션 운영의 거의 전부다. 특히 (1) 이 파티셔닝 도입의 가장 큰 실익이다. 수천만 건 DELETE 가 몇 초로 바뀐다. (2) 는 무중단 적재의 표준이며 교환 자체는 건수와 무관하게 즉시 끝난다. 마지막 통계 수집을 빠뜨리면 계획이 틀어지므로 절차서에서는 각 조합의 마지막 단계로 못박아 둔다. 각 조합의 마지막 단계로 통계 재수집을 못박아 두는 것이 실수를 줄이는 가장 확실한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MOVEMENT 의 비용은 ROWID 변경이다. SELECT FOR UPDATE 후 ROWID 를 재사용하는 애플리케이션은 깨지므로 개발팀에 알려야 한다. EXCHANGE 의 WITHOUT VALIDATION 은 유령 데이터를 만든다. 경계를 위반한 행은 프루닝 때문에 조회되지 않으므로 데이터가 있는데 없는 상태가 된다. 스테이징에 CHECK 제약을 걸면 검증이 빨라져 굳이 건너뛸 이유가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통계는 파티셔닝에서 특히 중요하다. 파티션 통계와 테이블 통계가 따로 저장되고 옵티마이저는 조건에 따라 둘 중 하나를 쓴다. 파티션만 수집하면 테이블 통계가 낡는데 대용량에서 매번 전체를 수집할 수는 없다. 그 간극을 메우는 것이 증분 통계다. 서브파티션 통계는 AUTO 가 항상 수집하지 않으므로 필요하면 명시한다. 파티션 통계와 테이블 통계가 따로 저장된다는 사실이 이 슬라이드의 출발점이다. 옵티마이저는 조건에 따라 둘 중 하나를 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부분은 이관과 운영이다. Data Pump 의 파티션 관련 옵션 세 개만 알면 파티션 단위 백업과 복원이 가능해진다. 대용량 이력 테이블을 통째로 export 할 수 없는 현실에서 이것이 유일한 실용적 해법이다. 설계 순서와 점검 쿼리는 그대로 운영 문서에 옮겨 쓸 수 있도록 정리했다. 파티션 테이블은 만들고 끝나는 객체가 아니라 계속 관리해야 하는 객체라는 점이 이 부분의 전제다.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table_exists_action 기본값이 skip 이라는 점을 반드시 강조한다. 성공했는데 데이터가 없다는 상황이 여기서 나온다. partition_options 세 값의 차이도 구분해야 한다. merge 는 파티션 경계를 재설계하며 이관할 때, departition 은 파티션을 독립 보관하거나 구조가 다른 DB 로 옮길 때 쓴다. Data Pump 는 논리 백업이므로 시점 복구는 여전히 RMAN 의 일이다.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설계는 ②에서 거의 결정된다. 키를 잘못 잡으면 나머지를 아무리 잘해도 프루닝이 걸리지 않고, 키는 나중에 바꾸기 어렵다. ⑥ 을 빠뜨리는 경우가 많다. 파티션 테이블은 만들고 끝나는 객체가 아니라 계속 관리해야 하는 객체다. 담당자와 주기를 적지 않으면 몇 달 뒤 MAXVALUE 파티션이 비대해지거나 ORA-14400 으로 배치가 멈춘다. 키 선택은 되돌리기 어렵다. 파티션 키 컬럼은 삭제할 수 없고 변경은 테이블 재생성이다.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쿼리를 월 단위 스크립트로 묶어 돌리는 것을 권한다. (2) 가 가장 중요하고 (4) 가 두 번째다. MAXVALUE 파티션이 전체의 절반을 차지하면 프루닝 효과가 사실상 사라진 상태이므로 SPLIT 절차를 점검해야 한다. (3) 은 DDL 뒤 통계 재수집을 빠뜨린 흔적을 찾아 준다. (5) 는 개발팀 고지 대상 목록으로 쓴다. 월 단위 스크립트로 묶어 돌리고 결과를 기록해 두면 추세로 문제를 조기에 발견할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KEY 는 바인드 변수처럼 값이 실행 시점에 정해질 때 나오는 표시이며 프루닝 실패가 아니다. 실측에서 바인드 변수 조회의 Buffers 가 1338 로 상수 조회와 완전히 같았다. 프루닝 실패는 연산 이름에 ALL 이 들어가고 Pstart/Pstop 에 1 / 4 처럼 전체 범위가 찍힌다. 판정은 연산 이름, Pstart/Pstop, Starts 세 값을 함께 봐야 정확하다.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GLOBAL 인덱스 엔트리는 테이블 전체에 흩어진 ROWID 를 가리키므로 지운 파티션의 엔트리가 어느 인덱스 파티션에 있는지 알 수 없다. 그래서 전부 무효로 표시한다. 실측에서 파티션 하나를 지우자 인덱스 파티션 네 개가 모두 UNUSABLE 이 됐다. LOCAL 이라면 해당 인덱스 파티션만 함께 사라지고 나머지는 USABLE 로 남는다. 예방은 UPDATE INDEXES 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세 번째다. 파티션 세그먼트는 기본적으로 8MB 익스텐트 하나로 시작하고, ASSM 은 블록을 묶음으로 포맷한다. TRUNCATE 로 초기화된 세그먼트에 첫 행이 들어오면 익스텐트 전체를 포맷하고 HWM 을 1024 블록 끝까지 올린다. 풀 스캔은 HWM 까지 읽으므로 1건을 읽는 데 Buffers 36 이 들었다. 대응은 ENABLE ROW MOVEMENT 후 SHRINK SPACE 이며 Buffers 가 2 로 줄었다.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두 번째 줄이 도입 판단의 핵심이고 여섯 번째 줄이 진단의 핵심이다. 네 번째와 다섯 번째는 이 과정에서 새로 얻은 실측 지식으로, 문서에 잘 나오지 않지만 용량 계획과 성능 진단에 직접 영향을 준다. 수강생이 자기 시스템에서 한 가지만 점검한다면 UNUSABLE 인덱스부터 보라고 권한다. 오류 없이 성능만 떨어뜨리므로 방치되기 쉽다. 열 줄 중 네 줄이 실측에서 새로 얻은 지식이다. 나머지는 설계 원칙으로 문서에 남긴다.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순서 의존성이 있다. 06 에서 TRUNCATE 후 INSERT 한 이력이 07 의 HWM 관찰 대상이므로 건너뛰면 숫자가 달라진다. 08 과 09 는 테이블 생성에 몇 분 걸리므로 강의 중에는 미리 돌려 두고 결과를 함께 읽는 편이 효율적이다. 트랜스크립트의 화면은 모두 실측이므로 자기 결과와 비교하게 한다. 11 을 마치면 과정안내의 정리 절차로 환경을 철거한다.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rPr>
              <a:t>Oracle Database 19c  ·  성능 튜닝 실습 과정</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rPr>
              <a:t>파티셔닝
Partition Table &amp; Index</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rPr>
              <a:t>테이블을 나누는 다섯 가지 방법 · 프루닝 판독 · 파티션 인덱스 · 관리 DDL · Data Pump 이관
실습 11종 · 모든 수치는 19.3 랩 실측값</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파티셔닝이 성능보다 관리성에서 더 큰 이득을 준다는 점을 설명할 수 있다</a:t>
            </a:r>
          </a:p>
          <a:p>
            <a:pPr>
              <a:spcAft>
                <a:spcPts val="600"/>
              </a:spcAft>
            </a:pPr>
            <a:r>
              <a:rPr sz="1800" b="0">
                <a:solidFill>
                  <a:srgbClr val="202830"/>
                </a:solidFill>
                <a:latin typeface="Malgun Gothic"/>
              </a:rPr>
              <a:t>•  RANGE · INTERVAL · HASH · LIST · COMPOSITE 를 조회 패턴으로 선택할 수 있다</a:t>
            </a:r>
          </a:p>
          <a:p>
            <a:pPr>
              <a:spcAft>
                <a:spcPts val="600"/>
              </a:spcAft>
            </a:pPr>
            <a:r>
              <a:rPr sz="1800" b="0">
                <a:solidFill>
                  <a:srgbClr val="202830"/>
                </a:solidFill>
                <a:latin typeface="Malgun Gothic"/>
              </a:rPr>
              <a:t>•  실행계획의 연산 이름과 Pstart/Pstop 으로 프루닝 성공 여부를 판정할 수 있다</a:t>
            </a:r>
          </a:p>
          <a:p>
            <a:pPr>
              <a:spcAft>
                <a:spcPts val="600"/>
              </a:spcAft>
            </a:pPr>
            <a:r>
              <a:rPr sz="1800" b="0">
                <a:solidFill>
                  <a:srgbClr val="202830"/>
                </a:solidFill>
                <a:latin typeface="Malgun Gothic"/>
              </a:rPr>
              <a:t>•  프루닝이 깨지는 네 가지 원인을 찾아 SQL 을 고칠 수 있다</a:t>
            </a:r>
          </a:p>
          <a:p>
            <a:pPr>
              <a:spcAft>
                <a:spcPts val="600"/>
              </a:spcAft>
            </a:pPr>
            <a:r>
              <a:rPr sz="1800" b="0">
                <a:solidFill>
                  <a:srgbClr val="202830"/>
                </a:solidFill>
                <a:latin typeface="Malgun Gothic"/>
              </a:rPr>
              <a:t>•  LOCAL 과 GLOBAL 인덱스를 선택하고 UNUSABLE 을 예방·복구할 수 있다</a:t>
            </a:r>
          </a:p>
          <a:p>
            <a:pPr>
              <a:spcAft>
                <a:spcPts val="600"/>
              </a:spcAft>
            </a:pPr>
            <a:r>
              <a:rPr sz="1800" b="0">
                <a:solidFill>
                  <a:srgbClr val="202830"/>
                </a:solidFill>
                <a:latin typeface="Malgun Gothic"/>
              </a:rPr>
              <a:t>•  파티션 관리 DDL 열한 가지의 비용을 구분해 작업 창을 계획할 수 있다</a:t>
            </a:r>
          </a:p>
          <a:p>
            <a:pPr>
              <a:spcAft>
                <a:spcPts val="600"/>
              </a:spcAft>
            </a:pPr>
            <a:r>
              <a:rPr sz="1800" b="0">
                <a:solidFill>
                  <a:srgbClr val="202830"/>
                </a:solidFill>
                <a:latin typeface="Malgun Gothic"/>
              </a:rPr>
              <a:t>•  Data Pump 로 파티션 단위 백업·복원·분리를 수행할 수 있다</a:t>
            </a:r>
          </a:p>
          <a:p>
            <a:pPr>
              <a:spcAft>
                <a:spcPts val="600"/>
              </a:spcAft>
            </a:pPr>
            <a:r>
              <a:rPr sz="1800" b="0">
                <a:solidFill>
                  <a:srgbClr val="202830"/>
                </a:solidFill>
                <a:latin typeface="Malgun Gothic"/>
              </a:rPr>
              <a:t>•  파티션 하나가 기본 8MB 를 잡는다는 사실을 용량 계획에 반영할 수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이 과정의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1부  파티셔닝이란 — 무엇을 얻는가, 파티션 뷰로는 왜 안 되는가</a:t>
            </a:r>
          </a:p>
          <a:p>
            <a:pPr>
              <a:spcAft>
                <a:spcPts val="600"/>
              </a:spcAft>
            </a:pPr>
            <a:r>
              <a:rPr sz="1800" b="0">
                <a:solidFill>
                  <a:srgbClr val="202830"/>
                </a:solidFill>
                <a:latin typeface="Malgun Gothic"/>
              </a:rPr>
              <a:t>•  2부  다섯 가지 방식 — RANGE · INTERVAL · HASH · LIST · COMPOSITE</a:t>
            </a:r>
          </a:p>
          <a:p>
            <a:pPr>
              <a:spcAft>
                <a:spcPts val="600"/>
              </a:spcAft>
            </a:pPr>
            <a:r>
              <a:rPr sz="1800" b="0">
                <a:solidFill>
                  <a:srgbClr val="202830"/>
                </a:solidFill>
                <a:latin typeface="Malgun Gothic"/>
              </a:rPr>
              <a:t>•  3부  저장 구조 — 파티션은 세그먼트다, 8MB 와 HWM, 딕셔너리</a:t>
            </a:r>
          </a:p>
          <a:p>
            <a:pPr>
              <a:spcAft>
                <a:spcPts val="600"/>
              </a:spcAft>
            </a:pPr>
            <a:r>
              <a:rPr sz="1800" b="0">
                <a:solidFill>
                  <a:srgbClr val="202830"/>
                </a:solidFill>
                <a:latin typeface="Malgun Gothic"/>
              </a:rPr>
              <a:t>•  4부  파티션 프루닝 — 실행계획 읽는 법과 깨지는 원인</a:t>
            </a:r>
          </a:p>
          <a:p>
            <a:pPr>
              <a:spcAft>
                <a:spcPts val="600"/>
              </a:spcAft>
            </a:pPr>
            <a:r>
              <a:rPr sz="1800" b="0">
                <a:solidFill>
                  <a:srgbClr val="202830"/>
                </a:solidFill>
                <a:latin typeface="Malgun Gothic"/>
              </a:rPr>
              <a:t>•  5부  파티션 인덱스 — LOCAL vs GLOBAL, UNUSABLE 예방과 복구</a:t>
            </a:r>
          </a:p>
          <a:p>
            <a:pPr>
              <a:spcAft>
                <a:spcPts val="600"/>
              </a:spcAft>
            </a:pPr>
            <a:r>
              <a:rPr sz="1800" b="0">
                <a:solidFill>
                  <a:srgbClr val="202830"/>
                </a:solidFill>
                <a:latin typeface="Malgun Gothic"/>
              </a:rPr>
              <a:t>•  6부  관리 DDL — SPLIT · MERGE · EXCHANGE · SHRINK · 통계</a:t>
            </a:r>
          </a:p>
          <a:p>
            <a:pPr>
              <a:spcAft>
                <a:spcPts val="600"/>
              </a:spcAft>
            </a:pPr>
            <a:r>
              <a:rPr sz="1800" b="0">
                <a:solidFill>
                  <a:srgbClr val="202830"/>
                </a:solidFill>
                <a:latin typeface="Malgun Gothic"/>
              </a:rPr>
              <a:t>•  7부  이관과 운영 — Data Pump 파티션 단위, 설계 순서, 점검 목록</a:t>
            </a:r>
          </a:p>
          <a:p>
            <a:pPr>
              <a:spcAft>
                <a:spcPts val="600"/>
              </a:spcAft>
            </a:pPr>
            <a:r>
              <a:rPr sz="1800" b="0">
                <a:solidFill>
                  <a:srgbClr val="202830"/>
                </a:solidFill>
                <a:latin typeface="Malgun Gothic"/>
              </a:rPr>
              <a:t>•  퀴즈 3문항 · 요약 · 실습 11종 안내</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600"/>
              </a:spcAft>
            </a:pPr>
            <a:r>
              <a:rPr sz="1300" b="1">
                <a:solidFill>
                  <a:srgbClr val="B88600"/>
                </a:solidFill>
                <a:latin typeface="Malgun Gothic"/>
              </a:rPr>
              <a:t>준비:</a:t>
            </a:r>
          </a:p>
          <a:p>
            <a:pPr>
              <a:spcAft>
                <a:spcPts val="600"/>
              </a:spcAft>
            </a:pPr>
            <a:r>
              <a:rPr sz="1300" b="0">
                <a:solidFill>
                  <a:srgbClr val="202830"/>
                </a:solidFill>
                <a:latin typeface="Malgun Gothic"/>
              </a:rPr>
              <a:t>Partitioning 옵션이 켜진 19c EE, HR 샘플 스키마(employees 107건), USERS 테이블스페이스 300MB 여유. v$option 으로 옵션을 먼저 확인한다.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파티셔닝이란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하나의 테이블을 여러 세그먼트로 나눈다</a:t>
            </a:r>
          </a:p>
          <a:p>
            <a:pPr>
              <a:spcAft>
                <a:spcPts val="600"/>
              </a:spcAft>
            </a:pPr>
            <a:r>
              <a:rPr sz="1600" b="0">
                <a:solidFill>
                  <a:srgbClr val="C5CED6"/>
                </a:solidFill>
                <a:latin typeface="Malgun Gothic"/>
              </a:rPr>
              <a:t>•  얻는 것 네 가지 — 성능 · 관리성 · 가용성 · 비용</a:t>
            </a:r>
          </a:p>
          <a:p>
            <a:pPr>
              <a:spcAft>
                <a:spcPts val="600"/>
              </a:spcAft>
            </a:pPr>
            <a:r>
              <a:rPr sz="1600" b="0">
                <a:solidFill>
                  <a:srgbClr val="C5CED6"/>
                </a:solidFill>
                <a:latin typeface="Malgun Gothic"/>
              </a:rPr>
              <a:t>•  손으로 흉내낸 파티션 뷰가 무너지는 지점</a:t>
            </a:r>
          </a:p>
          <a:p>
            <a:pPr>
              <a:spcAft>
                <a:spcPts val="600"/>
              </a:spcAft>
            </a:pPr>
            <a:r>
              <a:rPr sz="1600" b="0">
                <a:solidFill>
                  <a:srgbClr val="C5CED6"/>
                </a:solidFill>
                <a:latin typeface="Malgun Gothic"/>
              </a:rPr>
              <a:t>•  도입 기준과 라이선스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파티셔닝의 그림</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논리적으로 하나, 물리적으로 여러 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논리적으로 하나의 테이블 (SALES)</a:t>
            </a:r>
          </a:p>
          <a:p>
            <a:r>
              <a:rPr sz="1250" b="0">
                <a:solidFill>
                  <a:srgbClr val="E6E6E6"/>
                </a:solidFill>
                <a:latin typeface="Consolas"/>
              </a:rPr>
              <a:t>   +----------------------------------------------------------+</a:t>
            </a:r>
          </a:p>
          <a:p>
            <a:r>
              <a:rPr sz="1250" b="0">
                <a:solidFill>
                  <a:srgbClr val="E6E6E6"/>
                </a:solidFill>
                <a:latin typeface="Consolas"/>
              </a:rPr>
              <a:t>   |  P2023        P2024        P2025        PMAX             |</a:t>
            </a:r>
          </a:p>
          <a:p>
            <a:r>
              <a:rPr sz="1250" b="0">
                <a:solidFill>
                  <a:srgbClr val="E6E6E6"/>
                </a:solidFill>
                <a:latin typeface="Consolas"/>
              </a:rPr>
              <a:t>   | [세그먼트]    [세그먼트]    [세그먼트]    [세그먼트]     |</a:t>
            </a:r>
          </a:p>
          <a:p>
            <a:r>
              <a:rPr sz="1250" b="0">
                <a:solidFill>
                  <a:srgbClr val="E6E6E6"/>
                </a:solidFill>
                <a:latin typeface="Consolas"/>
              </a:rPr>
              <a:t>   +----------------------------------------------------------+</a:t>
            </a:r>
          </a:p>
          <a:p>
            <a:r>
              <a:rPr sz="1250" b="0">
                <a:solidFill>
                  <a:srgbClr val="E6E6E6"/>
                </a:solidFill>
                <a:latin typeface="Consolas"/>
              </a:rPr>
              <a:t>        ^ 2024년 조건으로 조회하면 P2024 하나만 읽는다</a:t>
            </a:r>
          </a:p>
          <a:p>
            <a:r>
              <a:rPr sz="1250" b="0">
                <a:solidFill>
                  <a:srgbClr val="E6E6E6"/>
                </a:solidFill>
                <a:latin typeface="Consolas"/>
              </a:rPr>
              <a:t/>
            </a:r>
          </a:p>
          <a:p>
            <a:r>
              <a:rPr sz="1250" b="0">
                <a:solidFill>
                  <a:srgbClr val="E6E6E6"/>
                </a:solidFill>
                <a:latin typeface="Consolas"/>
              </a:rPr>
              <a:t>애플리케이션이 보는 것        : 테이블 SALES 하나</a:t>
            </a:r>
          </a:p>
          <a:p>
            <a:r>
              <a:rPr sz="1250" b="0">
                <a:solidFill>
                  <a:srgbClr val="E6E6E6"/>
                </a:solidFill>
                <a:latin typeface="Consolas"/>
              </a:rPr>
              <a:t>데이터베이스가 관리하는 것    : 세그먼트 4개 (각각 독립적으로 관리)</a:t>
            </a:r>
          </a:p>
          <a:p>
            <a:r>
              <a:rPr sz="1250" b="0">
                <a:solidFill>
                  <a:srgbClr val="E6E6E6"/>
                </a:solidFill>
                <a:latin typeface="Consolas"/>
              </a:rPr>
              <a:t/>
            </a:r>
          </a:p>
          <a:p>
            <a:r>
              <a:rPr sz="1250" b="0">
                <a:solidFill>
                  <a:srgbClr val="E6E6E6"/>
                </a:solidFill>
                <a:latin typeface="Consolas"/>
              </a:rPr>
              <a:t>따라서 다음이 모두 파티션 단위로 가능해진다</a:t>
            </a:r>
          </a:p>
          <a:p>
            <a:r>
              <a:rPr sz="1250" b="0">
                <a:solidFill>
                  <a:srgbClr val="E6E6E6"/>
                </a:solidFill>
                <a:latin typeface="Consolas"/>
              </a:rPr>
              <a:t>  · 읽기      조건에 맞는 파티션만 읽는다 (프루닝)</a:t>
            </a:r>
          </a:p>
          <a:p>
            <a:r>
              <a:rPr sz="1250" b="0">
                <a:solidFill>
                  <a:srgbClr val="E6E6E6"/>
                </a:solidFill>
                <a:latin typeface="Consolas"/>
              </a:rPr>
              <a:t>  · 삭제      ALTER TABLE ... DROP PARTITION  (몇 초, REDO 거의 없음)</a:t>
            </a:r>
          </a:p>
          <a:p>
            <a:r>
              <a:rPr sz="1250" b="0">
                <a:solidFill>
                  <a:srgbClr val="E6E6E6"/>
                </a:solidFill>
                <a:latin typeface="Consolas"/>
              </a:rPr>
              <a:t>  · 이동      ALTER TABLE ... MOVE PARTITION  (느린 디스크로 내린다)</a:t>
            </a:r>
          </a:p>
          <a:p>
            <a:r>
              <a:rPr sz="1250" b="0">
                <a:solidFill>
                  <a:srgbClr val="E6E6E6"/>
                </a:solidFill>
                <a:latin typeface="Consolas"/>
              </a:rPr>
              <a:t>  · 교환      ALTER TABLE ... EXCHANGE PARTITION (이름표만 맞바꾼다)</a:t>
            </a:r>
          </a:p>
          <a:p>
            <a:r>
              <a:rPr sz="1250" b="0">
                <a:solidFill>
                  <a:srgbClr val="E6E6E6"/>
                </a:solidFill>
                <a:latin typeface="Consolas"/>
              </a:rPr>
              <a:t>  · 백업      expdp tables=T:P2024</a:t>
            </a:r>
          </a:p>
          <a:p>
            <a:r>
              <a:rPr sz="1250" b="0">
                <a:solidFill>
                  <a:srgbClr val="E6E6E6"/>
                </a:solidFill>
                <a:latin typeface="Consolas"/>
              </a:rPr>
              <a:t>  · 통계      gather_table_stats(partname=&gt;...)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무엇을 얻는가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성능 — 조건에 맞는 파티션만 읽는다</a:t>
            </a:r>
          </a:p>
          <a:p>
            <a:pPr>
              <a:spcAft>
                <a:spcPts val="600"/>
              </a:spcAft>
            </a:pPr>
            <a:r>
              <a:rPr sz="1600" b="0">
                <a:solidFill>
                  <a:srgbClr val="202830"/>
                </a:solidFill>
                <a:latin typeface="Malgun Gothic"/>
              </a:rPr>
              <a:t>    –  53만 건 테이블 실측: 전체 스캔 Buffers 3716 vs 한 파티션 1338 vs 블룸 필터 652</a:t>
            </a:r>
          </a:p>
          <a:p>
            <a:pPr>
              <a:spcAft>
                <a:spcPts val="600"/>
              </a:spcAft>
            </a:pPr>
            <a:r>
              <a:rPr sz="1800" b="0">
                <a:solidFill>
                  <a:srgbClr val="202830"/>
                </a:solidFill>
                <a:latin typeface="Malgun Gothic"/>
              </a:rPr>
              <a:t>•  관리성 — 파티션 단위로 버리고 옮기고 백업한다</a:t>
            </a:r>
          </a:p>
          <a:p>
            <a:pPr>
              <a:spcAft>
                <a:spcPts val="600"/>
              </a:spcAft>
            </a:pPr>
            <a:r>
              <a:rPr sz="1600" b="0">
                <a:solidFill>
                  <a:srgbClr val="202830"/>
                </a:solidFill>
                <a:latin typeface="Malgun Gothic"/>
              </a:rPr>
              <a:t>    –  1억 건에서 지난 달 DELETE 는 몇 시간. DROP PARTITION 은 몇 초에 REDO 도 거의 없다</a:t>
            </a:r>
          </a:p>
          <a:p>
            <a:pPr>
              <a:spcAft>
                <a:spcPts val="600"/>
              </a:spcAft>
            </a:pPr>
            <a:r>
              <a:rPr sz="1800" b="0">
                <a:solidFill>
                  <a:srgbClr val="202830"/>
                </a:solidFill>
                <a:latin typeface="Malgun Gothic"/>
              </a:rPr>
              <a:t>•  가용성 — 한 파티션의 문제가 전체로 번지지 않는다</a:t>
            </a:r>
          </a:p>
          <a:p>
            <a:pPr>
              <a:spcAft>
                <a:spcPts val="600"/>
              </a:spcAft>
            </a:pPr>
            <a:r>
              <a:rPr sz="1600" b="0">
                <a:solidFill>
                  <a:srgbClr val="202830"/>
                </a:solidFill>
                <a:latin typeface="Malgun Gothic"/>
              </a:rPr>
              <a:t>    –  파티션 하나를 MOVE 하는 동안 다른 파티션은 정상 조회된다</a:t>
            </a:r>
          </a:p>
          <a:p>
            <a:pPr>
              <a:spcAft>
                <a:spcPts val="600"/>
              </a:spcAft>
            </a:pPr>
            <a:r>
              <a:rPr sz="1800" b="0">
                <a:solidFill>
                  <a:srgbClr val="202830"/>
                </a:solidFill>
                <a:latin typeface="Malgun Gothic"/>
              </a:rPr>
              <a:t>•  비용 — 오래된 파티션을 느린 디스크·압축 테이블스페이스로 내린다</a:t>
            </a:r>
          </a:p>
          <a:p>
            <a:pPr>
              <a:spcAft>
                <a:spcPts val="600"/>
              </a:spcAft>
            </a:pPr>
            <a:r>
              <a:rPr sz="1600" b="0">
                <a:solidFill>
                  <a:srgbClr val="202830"/>
                </a:solidFill>
                <a:latin typeface="Malgun Gothic"/>
              </a:rPr>
              <a:t>    –  MOVE PARTITION ... TABLESPACE part_arch ONLINE 한 문장이다 (ILM)</a:t>
            </a:r>
          </a:p>
          <a:p>
            <a:pPr>
              <a:spcAft>
                <a:spcPts val="600"/>
              </a:spcAft>
            </a:pPr>
            <a:r>
              <a:rPr sz="1800" b="0">
                <a:solidFill>
                  <a:srgbClr val="202830"/>
                </a:solidFill>
                <a:latin typeface="Malgun Gothic"/>
              </a:rPr>
              <a:t>•  순서를 바꿔 기억한다 : 관리성 &gt; 성능</a:t>
            </a:r>
          </a:p>
          <a:p>
            <a:pPr>
              <a:spcAft>
                <a:spcPts val="600"/>
              </a:spcAft>
            </a:pPr>
            <a:r>
              <a:rPr sz="1600" b="0">
                <a:solidFill>
                  <a:srgbClr val="202830"/>
                </a:solidFill>
                <a:latin typeface="Malgun Gothic"/>
              </a:rPr>
              <a:t>    –  성능만 기대하고 도입하면 프루닝이 안 되는 SQL 때문에 실망한다</a:t>
            </a:r>
          </a:p>
          <a:p>
            <a:pPr>
              <a:spcAft>
                <a:spcPts val="600"/>
              </a:spcAft>
            </a:pPr>
            <a:r>
              <a:rPr sz="1600" b="0">
                <a:solidFill>
                  <a:srgbClr val="202830"/>
                </a:solidFill>
                <a:latin typeface="Malgun Gothic"/>
              </a:rPr>
              <a:t>    –  관리 요건(기간 단위 삭제·보관) 이 있으면 성능과 무관하게 이미 도입 가치가 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파티셔닝 없이 흉내내면 — 파티션 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01 실측. 어디까지 되고 어디서 무너지는가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부서별 테이블 3개 + CHECK 제약 + UNION ALL 뷰</a:t>
            </a:r>
          </a:p>
          <a:p>
            <a:r>
              <a:rPr sz="1250" b="0">
                <a:solidFill>
                  <a:srgbClr val="E6E6E6"/>
                </a:solidFill>
                <a:latin typeface="Consolas"/>
              </a:rPr>
              <a:t>CREATE TABLE hr.part1 ... ;  ALTER TABLE hr.part1 ADD CONSTRAINT dept_10_ck</a:t>
            </a:r>
          </a:p>
          <a:p>
            <a:r>
              <a:rPr sz="1250" b="0">
                <a:solidFill>
                  <a:srgbClr val="E6E6E6"/>
                </a:solidFill>
                <a:latin typeface="Consolas"/>
              </a:rPr>
              <a:t>                                   CHECK (department_id &lt; 20);</a:t>
            </a:r>
          </a:p>
          <a:p>
            <a:r>
              <a:rPr sz="1250" b="0">
                <a:solidFill>
                  <a:srgbClr val="E6E6E6"/>
                </a:solidFill>
                <a:latin typeface="Consolas"/>
              </a:rPr>
              <a:t>CREATE OR REPLACE VIEW hr.emp_part_vw AS</a:t>
            </a:r>
          </a:p>
          <a:p>
            <a:r>
              <a:rPr sz="1250" b="0">
                <a:solidFill>
                  <a:srgbClr val="E6E6E6"/>
                </a:solidFill>
                <a:latin typeface="Consolas"/>
              </a:rPr>
              <a:t>SELECT * FROM hr.part1 UNION ALL SELECT * FROM hr.part2 UNION ALL SELECT * FROM hr.part3;</a:t>
            </a:r>
          </a:p>
          <a:p>
            <a:r>
              <a:rPr sz="1250" b="0">
                <a:solidFill>
                  <a:srgbClr val="E6E6E6"/>
                </a:solidFill>
                <a:latin typeface="Consolas"/>
              </a:rPr>
              <a:t/>
            </a:r>
          </a:p>
          <a:p>
            <a:r>
              <a:rPr sz="1250" b="0">
                <a:solidFill>
                  <a:srgbClr val="E6E6E6"/>
                </a:solidFill>
                <a:latin typeface="Consolas"/>
              </a:rPr>
              <a:t>-- 상수 조건이면 분기가 제거된다 (department_id = 10)</a:t>
            </a:r>
          </a:p>
          <a:p>
            <a:r>
              <a:rPr sz="1250" b="0">
                <a:solidFill>
                  <a:srgbClr val="E6E6E6"/>
                </a:solidFill>
                <a:latin typeface="Consolas"/>
              </a:rPr>
              <a:t>|*  3 |    TABLE ACCESS FULL | PART1 |  1 |  1 | 1 |...|   6 |</a:t>
            </a:r>
          </a:p>
          <a:p>
            <a:r>
              <a:rPr sz="1250" b="0">
                <a:solidFill>
                  <a:srgbClr val="E6E6E6"/>
                </a:solidFill>
                <a:latin typeface="Consolas"/>
              </a:rPr>
              <a:t>|*  4 |    FILTER            |       |  1 |    | 0 |...|   0 |   &lt;- NULL IS NOT NULL</a:t>
            </a:r>
          </a:p>
          <a:p>
            <a:r>
              <a:rPr sz="1250" b="0">
                <a:solidFill>
                  <a:srgbClr val="E6E6E6"/>
                </a:solidFill>
                <a:latin typeface="Consolas"/>
              </a:rPr>
              <a:t>|*  5 |     TABLE ACCESS FULL| PART2 |  0 |  1 | 0 |...|   0 |   &lt;- Starts 0</a:t>
            </a:r>
          </a:p>
          <a:p>
            <a:r>
              <a:rPr sz="1250" b="0">
                <a:solidFill>
                  <a:srgbClr val="E6E6E6"/>
                </a:solidFill>
                <a:latin typeface="Consolas"/>
              </a:rPr>
              <a:t>                                                Buffers 합계 6</a:t>
            </a:r>
          </a:p>
          <a:p>
            <a:r>
              <a:rPr sz="1250" b="0">
                <a:solidFill>
                  <a:srgbClr val="E6E6E6"/>
                </a:solidFill>
                <a:latin typeface="Consolas"/>
              </a:rPr>
              <a:t/>
            </a:r>
          </a:p>
          <a:p>
            <a:r>
              <a:rPr sz="1250" b="0">
                <a:solidFill>
                  <a:srgbClr val="E6E6E6"/>
                </a:solidFill>
                <a:latin typeface="Consolas"/>
              </a:rPr>
              <a:t>-- 바인드 변수로 바꾸면 (department_id = :v_id)</a:t>
            </a:r>
          </a:p>
          <a:p>
            <a:r>
              <a:rPr sz="1250" b="0">
                <a:solidFill>
                  <a:srgbClr val="E6E6E6"/>
                </a:solidFill>
                <a:latin typeface="Consolas"/>
              </a:rPr>
              <a:t>|*  3 |    TABLE ACCESS FULL| PART1 |  1 | 1 | 1 |...|   6 |</a:t>
            </a:r>
          </a:p>
          <a:p>
            <a:r>
              <a:rPr sz="1250" b="0">
                <a:solidFill>
                  <a:srgbClr val="E6E6E6"/>
                </a:solidFill>
                <a:latin typeface="Consolas"/>
              </a:rPr>
              <a:t>|*  4 |    TABLE ACCESS FULL| PART2 |  1 | 1 | 0 |...|   6 |   &lt;- FILTER 가 사라졌다</a:t>
            </a:r>
          </a:p>
          <a:p>
            <a:r>
              <a:rPr sz="1250" b="0">
                <a:solidFill>
                  <a:srgbClr val="E6E6E6"/>
                </a:solidFill>
                <a:latin typeface="Consolas"/>
              </a:rPr>
              <a:t>|*  5 |    TABLE ACCESS FULL| PART3 |  1 | 1 | 0 |...|   6 |</a:t>
            </a:r>
          </a:p>
          <a:p>
            <a:r>
              <a:rPr sz="1250" b="0">
                <a:solidFill>
                  <a:srgbClr val="E6E6E6"/>
                </a:solidFill>
                <a:latin typeface="Consolas"/>
              </a:rPr>
              <a:t>                                                Buffers 합계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파티션 뷰가 못 하는 것 — 그것이 도입 이유다</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바인드 변수 프루닝이 안 된다</a:t>
            </a:r>
          </a:p>
          <a:p>
            <a:pPr>
              <a:spcAft>
                <a:spcPts val="600"/>
              </a:spcAft>
            </a:pPr>
            <a:r>
              <a:rPr sz="1600" b="0">
                <a:solidFill>
                  <a:srgbClr val="202830"/>
                </a:solidFill>
                <a:latin typeface="Malgun Gothic"/>
              </a:rPr>
              <a:t>    –  파티션 테이블은 Pstart/Pstop 이 KEY 로 나오고 실행 시점에 한 파티션만 읽는다</a:t>
            </a:r>
          </a:p>
          <a:p>
            <a:pPr>
              <a:spcAft>
                <a:spcPts val="600"/>
              </a:spcAft>
            </a:pPr>
            <a:r>
              <a:rPr sz="1800" b="0">
                <a:solidFill>
                  <a:srgbClr val="202830"/>
                </a:solidFill>
                <a:latin typeface="Malgun Gothic"/>
              </a:rPr>
              <a:t>•  하나의 이름으로 INSERT · UPDATE · DELETE 를 할 수 없다</a:t>
            </a:r>
          </a:p>
          <a:p>
            <a:pPr>
              <a:spcAft>
                <a:spcPts val="600"/>
              </a:spcAft>
            </a:pPr>
            <a:r>
              <a:rPr sz="1600" b="0">
                <a:solidFill>
                  <a:srgbClr val="202830"/>
                </a:solidFill>
                <a:latin typeface="Malgun Gothic"/>
              </a:rPr>
              <a:t>    –  UNION ALL 뷰에 DML 은 ORA-01732. 잘못된 테이블에 넣으면 ORA-02290</a:t>
            </a:r>
          </a:p>
          <a:p>
            <a:pPr>
              <a:spcAft>
                <a:spcPts val="600"/>
              </a:spcAft>
            </a:pPr>
            <a:r>
              <a:rPr sz="1600" b="0">
                <a:solidFill>
                  <a:srgbClr val="202830"/>
                </a:solidFill>
                <a:latin typeface="Malgun Gothic"/>
              </a:rPr>
              <a:t>    –  어느 테이블에 넣을지 판단하는 책임이 애플리케이션으로 넘어간다</a:t>
            </a:r>
          </a:p>
          <a:p>
            <a:pPr>
              <a:spcAft>
                <a:spcPts val="600"/>
              </a:spcAft>
            </a:pPr>
            <a:r>
              <a:rPr sz="1800" b="0">
                <a:solidFill>
                  <a:srgbClr val="202830"/>
                </a:solidFill>
                <a:latin typeface="Malgun Gothic"/>
              </a:rPr>
              <a:t>•  인덱스·통계·권한을 한 객체로 관리할 수 없다</a:t>
            </a:r>
          </a:p>
          <a:p>
            <a:pPr>
              <a:spcAft>
                <a:spcPts val="600"/>
              </a:spcAft>
            </a:pPr>
            <a:r>
              <a:rPr sz="1600" b="0">
                <a:solidFill>
                  <a:srgbClr val="202830"/>
                </a:solidFill>
                <a:latin typeface="Malgun Gothic"/>
              </a:rPr>
              <a:t>    –  테이블이 100개면 인덱스 100개를 따로 만들고 따로 리빌드해야 한다</a:t>
            </a:r>
          </a:p>
          <a:p>
            <a:pPr>
              <a:spcAft>
                <a:spcPts val="600"/>
              </a:spcAft>
            </a:pPr>
            <a:r>
              <a:rPr sz="1800" b="0">
                <a:solidFill>
                  <a:srgbClr val="202830"/>
                </a:solidFill>
                <a:latin typeface="Malgun Gothic"/>
              </a:rPr>
              <a:t>•  파티션 단위 TRUNCATE · EXCHANGE · 백업이 없다</a:t>
            </a:r>
          </a:p>
          <a:p>
            <a:pPr>
              <a:spcAft>
                <a:spcPts val="600"/>
              </a:spcAft>
            </a:pPr>
            <a:r>
              <a:rPr sz="1800" b="0">
                <a:solidFill>
                  <a:srgbClr val="202830"/>
                </a:solidFill>
                <a:latin typeface="Malgun Gothic"/>
              </a:rPr>
              <a:t>•  도입 기준</a:t>
            </a:r>
          </a:p>
          <a:p>
            <a:pPr>
              <a:spcAft>
                <a:spcPts val="600"/>
              </a:spcAft>
            </a:pPr>
            <a:r>
              <a:rPr sz="1600" b="0">
                <a:solidFill>
                  <a:srgbClr val="202830"/>
                </a:solidFill>
                <a:latin typeface="Malgun Gothic"/>
              </a:rPr>
              <a:t>    –  테이블 수 GB 이상, 파티션 하나가 최소 수십만 건, 범위·코드값 조회가 주류</a:t>
            </a:r>
          </a:p>
          <a:p>
            <a:pPr>
              <a:spcAft>
                <a:spcPts val="600"/>
              </a:spcAft>
            </a:pPr>
            <a:r>
              <a:rPr sz="1600" b="0">
                <a:solidFill>
                  <a:srgbClr val="202830"/>
                </a:solidFill>
                <a:latin typeface="Malgun Gothic"/>
              </a:rPr>
              <a:t>    –  Partitioning 옵션 라이선스 필요 — SELECT * FROM v$option 으로 먼저 확인한다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다섯 가지 방식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RANGE — 순서가 있는 값을 자른다 (가장 많이 쓴다)</a:t>
            </a:r>
          </a:p>
          <a:p>
            <a:pPr>
              <a:spcAft>
                <a:spcPts val="600"/>
              </a:spcAft>
            </a:pPr>
            <a:r>
              <a:rPr sz="1600" b="0">
                <a:solidFill>
                  <a:srgbClr val="C5CED6"/>
                </a:solidFill>
                <a:latin typeface="Malgun Gothic"/>
              </a:rPr>
              <a:t>•  INTERVAL — 파티션을 자동으로 만든다</a:t>
            </a:r>
          </a:p>
          <a:p>
            <a:pPr>
              <a:spcAft>
                <a:spcPts val="600"/>
              </a:spcAft>
            </a:pPr>
            <a:r>
              <a:rPr sz="1600" b="0">
                <a:solidFill>
                  <a:srgbClr val="C5CED6"/>
                </a:solidFill>
                <a:latin typeface="Malgun Gothic"/>
              </a:rPr>
              <a:t>•  HASH — 고르게 흩뿌린다 (등치 조회만 프루닝)</a:t>
            </a:r>
          </a:p>
          <a:p>
            <a:pPr>
              <a:spcAft>
                <a:spcPts val="600"/>
              </a:spcAft>
            </a:pPr>
            <a:r>
              <a:rPr sz="1600" b="0">
                <a:solidFill>
                  <a:srgbClr val="C5CED6"/>
                </a:solidFill>
                <a:latin typeface="Malgun Gothic"/>
              </a:rPr>
              <a:t>•  LIST — 값의 목록으로 묶는다 (+ 19c AUTOMATIC)</a:t>
            </a:r>
          </a:p>
          <a:p>
            <a:pPr>
              <a:spcAft>
                <a:spcPts val="600"/>
              </a:spcAft>
            </a:pPr>
            <a:r>
              <a:rPr sz="1600" b="0">
                <a:solidFill>
                  <a:srgbClr val="C5CED6"/>
                </a:solidFill>
                <a:latin typeface="Malgun Gothic"/>
              </a:rPr>
              <a:t>•  COMPOSITE — 두 단계로 나눈다 (템플릿 필수)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RANGE — 가장 많이 쓰는 방식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02. 미만(LESS THAN) 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hr.emp_yr</a:t>
            </a:r>
          </a:p>
          <a:p>
            <a:r>
              <a:rPr sz="1250" b="0">
                <a:solidFill>
                  <a:srgbClr val="E6E6E6"/>
                </a:solidFill>
                <a:latin typeface="Consolas"/>
              </a:rPr>
              <a:t>PARTITION BY RANGE (hire_date)</a:t>
            </a:r>
          </a:p>
          <a:p>
            <a:r>
              <a:rPr sz="1250" b="0">
                <a:solidFill>
                  <a:srgbClr val="E6E6E6"/>
                </a:solidFill>
                <a:latin typeface="Consolas"/>
              </a:rPr>
              <a:t>(PARTITION p2004 VALUES LESS THAN (TO_DATE('2005-01-01','YYYY-MM-DD')),</a:t>
            </a:r>
          </a:p>
          <a:p>
            <a:r>
              <a:rPr sz="1250" b="0">
                <a:solidFill>
                  <a:srgbClr val="E6E6E6"/>
                </a:solidFill>
                <a:latin typeface="Consolas"/>
              </a:rPr>
              <a:t> PARTITION p2005 VALUES LESS THAN (TO_DATE('2006-01-01','YYYY-MM-DD')),</a:t>
            </a:r>
          </a:p>
          <a:p>
            <a:r>
              <a:rPr sz="1250" b="0">
                <a:solidFill>
                  <a:srgbClr val="E6E6E6"/>
                </a:solidFill>
                <a:latin typeface="Consolas"/>
              </a:rPr>
              <a:t> PARTITION p2006 VALUES LESS THAN (TO_DATE('2007-01-01','YYYY-MM-DD')),</a:t>
            </a:r>
          </a:p>
          <a:p>
            <a:r>
              <a:rPr sz="1250" b="0">
                <a:solidFill>
                  <a:srgbClr val="E6E6E6"/>
                </a:solidFill>
                <a:latin typeface="Consolas"/>
              </a:rPr>
              <a:t> PARTITION pmax  VALUES LESS THAN (MAXVALUE))</a:t>
            </a:r>
          </a:p>
          <a:p>
            <a:r>
              <a:rPr sz="1250" b="0">
                <a:solidFill>
                  <a:srgbClr val="E6E6E6"/>
                </a:solidFill>
                <a:latin typeface="Consolas"/>
              </a:rPr>
              <a:t>TABLESPACE users</a:t>
            </a:r>
          </a:p>
          <a:p>
            <a:r>
              <a:rPr sz="1250" b="0">
                <a:solidFill>
                  <a:srgbClr val="E6E6E6"/>
                </a:solidFill>
                <a:latin typeface="Consolas"/>
              </a:rPr>
              <a:t>AS SELECT employee_id, last_name, salary, hire_date, department_id FROM hr.employees;</a:t>
            </a:r>
          </a:p>
          <a:p>
            <a:r>
              <a:rPr sz="1250" b="0">
                <a:solidFill>
                  <a:srgbClr val="E6E6E6"/>
                </a:solidFill>
                <a:latin typeface="Consolas"/>
              </a:rPr>
              <a:t/>
            </a:r>
          </a:p>
          <a:p>
            <a:r>
              <a:rPr sz="1250" b="0">
                <a:solidFill>
                  <a:srgbClr val="E6E6E6"/>
                </a:solidFill>
                <a:latin typeface="Consolas"/>
              </a:rPr>
              <a:t>PARTITION_POSITION PARTITIO HIGH_VALUE      NUM_ROWS  BLOCKS  AVG_ROW_LEN</a:t>
            </a:r>
          </a:p>
          <a:p>
            <a:r>
              <a:rPr sz="1250" b="0">
                <a:solidFill>
                  <a:srgbClr val="E6E6E6"/>
                </a:solidFill>
                <a:latin typeface="Consolas"/>
              </a:rPr>
              <a:t>------------------ -------- --------------- -------- ------- -----------</a:t>
            </a:r>
          </a:p>
          <a:p>
            <a:r>
              <a:rPr sz="1250" b="0">
                <a:solidFill>
                  <a:srgbClr val="E6E6E6"/>
                </a:solidFill>
                <a:latin typeface="Consolas"/>
              </a:rPr>
              <a:t>                 1 P2004    2005-01-01 미만       24      19          25</a:t>
            </a:r>
          </a:p>
          <a:p>
            <a:r>
              <a:rPr sz="1250" b="0">
                <a:solidFill>
                  <a:srgbClr val="E6E6E6"/>
                </a:solidFill>
                <a:latin typeface="Consolas"/>
              </a:rPr>
              <a:t>                 2 P2005    2006-01-01 미만       29      19          25</a:t>
            </a:r>
          </a:p>
          <a:p>
            <a:r>
              <a:rPr sz="1250" b="0">
                <a:solidFill>
                  <a:srgbClr val="E6E6E6"/>
                </a:solidFill>
                <a:latin typeface="Consolas"/>
              </a:rPr>
              <a:t>                 3 P2006    2007-01-01 미만       24      19          25</a:t>
            </a:r>
          </a:p>
          <a:p>
            <a:r>
              <a:rPr sz="1250" b="0">
                <a:solidFill>
                  <a:srgbClr val="E6E6E6"/>
                </a:solidFill>
                <a:latin typeface="Consolas"/>
              </a:rPr>
              <a:t>                 4 PMAX     MAXVALUE              30      19          25</a:t>
            </a:r>
          </a:p>
          <a:p>
            <a:r>
              <a:rPr sz="1250" b="0">
                <a:solidFill>
                  <a:srgbClr val="E6E6E6"/>
                </a:solidFill>
                <a:latin typeface="Consolas"/>
              </a:rPr>
              <a:t/>
            </a:r>
          </a:p>
          <a:p>
            <a:r>
              <a:rPr sz="1250" b="0">
                <a:solidFill>
                  <a:srgbClr val="E6E6E6"/>
                </a:solidFill>
                <a:latin typeface="Consolas"/>
              </a:rPr>
              <a:t>기억할 것</a:t>
            </a:r>
          </a:p>
          <a:p>
            <a:r>
              <a:rPr sz="1250" b="0">
                <a:solidFill>
                  <a:srgbClr val="E6E6E6"/>
                </a:solidFill>
                <a:latin typeface="Consolas"/>
              </a:rPr>
              <a:t>  · 경계값 자신은 다음 파티션으로 간다 (2005-01-01 은 P2005)</a:t>
            </a:r>
          </a:p>
          <a:p>
            <a:r>
              <a:rPr sz="1250" b="0">
                <a:solidFill>
                  <a:srgbClr val="E6E6E6"/>
                </a:solidFill>
                <a:latin typeface="Consolas"/>
              </a:rPr>
              <a:t>  · MAXVALUE 가 없으면 범위 밖 INSERT 는 ORA-14400</a:t>
            </a:r>
          </a:p>
          <a:p>
            <a:r>
              <a:rPr sz="1250" b="0">
                <a:solidFill>
                  <a:srgbClr val="E6E6E6"/>
                </a:solidFill>
                <a:latin typeface="Consolas"/>
              </a:rPr>
              <a:t>  · 파티션 키 컬럼은 삭제할 수 없다 (ORA-12984) — 키 변경은 테이블 재생성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INTERVAL — 파티션을 자동으로 만든다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03 실측. 미래 파티션 관리 문제를 없앤다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PARTITION BY RANGE (hire_date) INTERVAL (NUMTOYMINTERVAL(1,'year'))</a:t>
            </a:r>
          </a:p>
          <a:p>
            <a:r>
              <a:rPr sz="1250" b="0">
                <a:solidFill>
                  <a:srgbClr val="E6E6E6"/>
                </a:solidFill>
                <a:latin typeface="Consolas"/>
              </a:rPr>
              <a:t>(PARTITION p2004 VALUES LESS THAN (TO_DATE('2005-01-01','YYYY-MM-DD')),</a:t>
            </a:r>
          </a:p>
          <a:p>
            <a:r>
              <a:rPr sz="1250" b="0">
                <a:solidFill>
                  <a:srgbClr val="E6E6E6"/>
                </a:solidFill>
                <a:latin typeface="Consolas"/>
              </a:rPr>
              <a:t> PARTITION p2005 ..., PARTITION p2006 ...)     -- MAXVALUE 파티션을 두지 않는다</a:t>
            </a:r>
          </a:p>
          <a:p>
            <a:r>
              <a:rPr sz="1250" b="0">
                <a:solidFill>
                  <a:srgbClr val="E6E6E6"/>
                </a:solidFill>
                <a:latin typeface="Consolas"/>
              </a:rPr>
              <a:t/>
            </a:r>
          </a:p>
          <a:p>
            <a:r>
              <a:rPr sz="1250" b="0">
                <a:solidFill>
                  <a:srgbClr val="E6E6E6"/>
                </a:solidFill>
                <a:latin typeface="Consolas"/>
              </a:rPr>
              <a:t>-- CTAS 만으로 2007·2008 구간 파티션이 자동 생성됐다</a:t>
            </a:r>
          </a:p>
          <a:p>
            <a:r>
              <a:rPr sz="1250" b="0">
                <a:solidFill>
                  <a:srgbClr val="E6E6E6"/>
                </a:solidFill>
                <a:latin typeface="Consolas"/>
              </a:rPr>
              <a:t>PARTITION_POSITION PARTITION_ HIGH_VALUE        IS_INTERVAL  SEGMENT_CREATED</a:t>
            </a:r>
          </a:p>
          <a:p>
            <a:r>
              <a:rPr sz="1250" b="0">
                <a:solidFill>
                  <a:srgbClr val="E6E6E6"/>
                </a:solidFill>
                <a:latin typeface="Consolas"/>
              </a:rPr>
              <a:t>                 3 P2006      2007-01-01 미만   NO           YES</a:t>
            </a:r>
          </a:p>
          <a:p>
            <a:r>
              <a:rPr sz="1250" b="0">
                <a:solidFill>
                  <a:srgbClr val="E6E6E6"/>
                </a:solidFill>
                <a:latin typeface="Consolas"/>
              </a:rPr>
              <a:t>                 4 SYS_P612   2008-01-01 미만   YES          YES   &lt;- 자동</a:t>
            </a:r>
          </a:p>
          <a:p>
            <a:r>
              <a:rPr sz="1250" b="0">
                <a:solidFill>
                  <a:srgbClr val="E6E6E6"/>
                </a:solidFill>
                <a:latin typeface="Consolas"/>
              </a:rPr>
              <a:t>                 5 SYS_P613   2009-01-01 미만   YES          YES   &lt;- 자동</a:t>
            </a:r>
          </a:p>
          <a:p>
            <a:r>
              <a:rPr sz="1250" b="0">
                <a:solidFill>
                  <a:srgbClr val="E6E6E6"/>
                </a:solidFill>
                <a:latin typeface="Consolas"/>
              </a:rPr>
              <a:t/>
            </a:r>
          </a:p>
          <a:p>
            <a:r>
              <a:rPr sz="1250" b="0">
                <a:solidFill>
                  <a:srgbClr val="E6E6E6"/>
                </a:solidFill>
                <a:latin typeface="Consolas"/>
              </a:rPr>
              <a:t>PARTITION PARTITION_COUNT INTERVAL_EXPR</a:t>
            </a:r>
          </a:p>
          <a:p>
            <a:r>
              <a:rPr sz="1250" b="0">
                <a:solidFill>
                  <a:srgbClr val="E6E6E6"/>
                </a:solidFill>
                <a:latin typeface="Consolas"/>
              </a:rPr>
              <a:t>RANGE             1048575 NUMTOYMINTERVAL(1,'YEAR')   &lt;- 실제 개수가 아니다</a:t>
            </a:r>
          </a:p>
          <a:p>
            <a:r>
              <a:rPr sz="1250" b="0">
                <a:solidFill>
                  <a:srgbClr val="E6E6E6"/>
                </a:solidFill>
                <a:latin typeface="Consolas"/>
              </a:rPr>
              <a:t/>
            </a:r>
          </a:p>
          <a:p>
            <a:r>
              <a:rPr sz="1250" b="0">
                <a:solidFill>
                  <a:srgbClr val="E6E6E6"/>
                </a:solidFill>
                <a:latin typeface="Consolas"/>
              </a:rPr>
              <a:t>-- 2012-03-01 한 건을 넣으면</a:t>
            </a:r>
          </a:p>
          <a:p>
            <a:r>
              <a:rPr sz="1250" b="0">
                <a:solidFill>
                  <a:srgbClr val="E6E6E6"/>
                </a:solidFill>
                <a:latin typeface="Consolas"/>
              </a:rPr>
              <a:t>SYS_P614   2013-01-01 미만   YES        &lt;- 2009~2011 구간은 만들지 않는다</a:t>
            </a:r>
          </a:p>
          <a:p>
            <a:r>
              <a:rPr sz="1250" b="0">
                <a:solidFill>
                  <a:srgbClr val="E6E6E6"/>
                </a:solidFill>
                <a:latin typeface="Consolas"/>
              </a:rPr>
              <a:t/>
            </a:r>
          </a:p>
          <a:p>
            <a:r>
              <a:rPr sz="1250" b="0">
                <a:solidFill>
                  <a:srgbClr val="E6E6E6"/>
                </a:solidFill>
                <a:latin typeface="Consolas"/>
              </a:rPr>
              <a:t>ALTER TABLE hr.emp_yr SET INTERVAL (NUMTOYMINTERVAL(1,'year'));  -&gt; ORA-14759</a:t>
            </a:r>
          </a:p>
          <a:p>
            <a:r>
              <a:rPr sz="1250" b="0">
                <a:solidFill>
                  <a:srgbClr val="E6E6E6"/>
                </a:solidFill>
                <a:latin typeface="Consolas"/>
              </a:rPr>
              <a:t>ALTER TABLE hr.emp_yr ADD PARTITION pmax VALUES LESS THAN (MAXVALUE); -&gt; ORA-14760</a:t>
            </a:r>
          </a:p>
          <a:p>
            <a:r>
              <a:rPr sz="1250" b="0">
                <a:solidFill>
                  <a:srgbClr val="E6E6E6"/>
                </a:solidFill>
                <a:latin typeface="Consolas"/>
              </a:rPr>
              <a:t>ALTER TABLE hr.emp_yr RENAME PARTITION FOR (DATE '2012-03-01') TO p2012;  -- OK</a:t>
            </a:r>
          </a:p>
          <a:p>
            <a:r>
              <a:rPr sz="1250" b="0">
                <a:solidFill>
                  <a:srgbClr val="E6E6E6"/>
                </a:solidFill>
                <a:latin typeface="Consolas"/>
              </a:rPr>
              <a:t>ALTER TABLE hr.emp_yr SET INTERVAL ();   -- 해제하면 평범한 RANGE 로 돌아간다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HASH — 고르게 흩뿌린다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04 실측. 범위 조회에는 프루닝이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PARTITION BY HASH (employee_id) PARTITIONS 4    -- 개수만 준다. 경계값 없음</a:t>
            </a:r>
          </a:p>
          <a:p>
            <a:r>
              <a:rPr sz="1250" b="0">
                <a:solidFill>
                  <a:srgbClr val="E6E6E6"/>
                </a:solidFill>
                <a:latin typeface="Consolas"/>
              </a:rPr>
              <a:t/>
            </a:r>
          </a:p>
          <a:p>
            <a:r>
              <a:rPr sz="1250" b="0">
                <a:solidFill>
                  <a:srgbClr val="E6E6E6"/>
                </a:solidFill>
                <a:latin typeface="Consolas"/>
              </a:rPr>
              <a:t>PARTITION_POSITION PARTITION_ HIGH_VALUE   NUM_ROWS</a:t>
            </a:r>
          </a:p>
          <a:p>
            <a:r>
              <a:rPr sz="1250" b="0">
                <a:solidFill>
                  <a:srgbClr val="E6E6E6"/>
                </a:solidFill>
                <a:latin typeface="Consolas"/>
              </a:rPr>
              <a:t>                 1 SYS_P615                      25      107건을 4개로 나눈 결과</a:t>
            </a:r>
          </a:p>
          <a:p>
            <a:r>
              <a:rPr sz="1250" b="0">
                <a:solidFill>
                  <a:srgbClr val="E6E6E6"/>
                </a:solidFill>
                <a:latin typeface="Consolas"/>
              </a:rPr>
              <a:t>                 2 SYS_P616                      32      이상값은 26.75</a:t>
            </a:r>
          </a:p>
          <a:p>
            <a:r>
              <a:rPr sz="1250" b="0">
                <a:solidFill>
                  <a:srgbClr val="E6E6E6"/>
                </a:solidFill>
                <a:latin typeface="Consolas"/>
              </a:rPr>
              <a:t>                 3 SYS_P617                      31      해시는 통계적으로 고르게</a:t>
            </a:r>
          </a:p>
          <a:p>
            <a:r>
              <a:rPr sz="1250" b="0">
                <a:solidFill>
                  <a:srgbClr val="E6E6E6"/>
                </a:solidFill>
                <a:latin typeface="Consolas"/>
              </a:rPr>
              <a:t>                 4 SYS_P618                      19      나눌 뿐 정확하지 않다</a:t>
            </a:r>
          </a:p>
          <a:p>
            <a:r>
              <a:rPr sz="1250" b="0">
                <a:solidFill>
                  <a:srgbClr val="E6E6E6"/>
                </a:solidFill>
                <a:latin typeface="Consolas"/>
              </a:rPr>
              <a:t/>
            </a:r>
          </a:p>
          <a:p>
            <a:r>
              <a:rPr sz="1250" b="0">
                <a:solidFill>
                  <a:srgbClr val="E6E6E6"/>
                </a:solidFill>
                <a:latin typeface="Consolas"/>
              </a:rPr>
              <a:t>조건                        | 연산                  | Pstart/Pstop | Starts | Buffers</a:t>
            </a:r>
          </a:p>
          <a:p>
            <a:r>
              <a:rPr sz="1250" b="0">
                <a:solidFill>
                  <a:srgbClr val="E6E6E6"/>
                </a:solidFill>
                <a:latin typeface="Consolas"/>
              </a:rPr>
              <a:t>----------------------------|-----------------------|--------------|--------|--------</a:t>
            </a:r>
          </a:p>
          <a:p>
            <a:r>
              <a:rPr sz="1250" b="0">
                <a:solidFill>
                  <a:srgbClr val="E6E6E6"/>
                </a:solidFill>
                <a:latin typeface="Consolas"/>
              </a:rPr>
              <a:t>employee_id = 115           | PARTITION HASH SINGLE | 2 / 2        | 1      |    2</a:t>
            </a:r>
          </a:p>
          <a:p>
            <a:r>
              <a:rPr sz="1250" b="0">
                <a:solidFill>
                  <a:srgbClr val="E6E6E6"/>
                </a:solidFill>
                <a:latin typeface="Consolas"/>
              </a:rPr>
              <a:t>employee_id BETWEEN 110 120 | PARTITION HASH ALL    | 1 / 4        | 4      |    8</a:t>
            </a:r>
          </a:p>
          <a:p>
            <a:r>
              <a:rPr sz="1250" b="0">
                <a:solidFill>
                  <a:srgbClr val="E6E6E6"/>
                </a:solidFill>
                <a:latin typeface="Consolas"/>
              </a:rPr>
              <a:t/>
            </a:r>
          </a:p>
          <a:p>
            <a:r>
              <a:rPr sz="1250" b="0">
                <a:solidFill>
                  <a:srgbClr val="E6E6E6"/>
                </a:solidFill>
                <a:latin typeface="Consolas"/>
              </a:rPr>
              <a:t>-- 파티션 수 조정</a:t>
            </a:r>
          </a:p>
          <a:p>
            <a:r>
              <a:rPr sz="1250" b="0">
                <a:solidFill>
                  <a:srgbClr val="E6E6E6"/>
                </a:solidFill>
                <a:latin typeface="Consolas"/>
              </a:rPr>
              <a:t>ALTER TABLE hr.emp_hash ADD PARTITION;       -- 한 파티션을 쪼갠다 (25 -&gt; 7 + 18)</a:t>
            </a:r>
          </a:p>
          <a:p>
            <a:r>
              <a:rPr sz="1250" b="0">
                <a:solidFill>
                  <a:srgbClr val="E6E6E6"/>
                </a:solidFill>
                <a:latin typeface="Consolas"/>
              </a:rPr>
              <a:t>ALTER TABLE hr.emp_hash COALESCE PARTITION;  -- 되분배 (25/32/31/19 로 복귀)</a:t>
            </a:r>
          </a:p>
          <a:p>
            <a:r>
              <a:rPr sz="1250" b="0">
                <a:solidFill>
                  <a:srgbClr val="E6E6E6"/>
                </a:solidFill>
                <a:latin typeface="Consolas"/>
              </a:rPr>
              <a:t>ALTER TABLE hr.emp_hash DROP PARTITION ...;  -- ORA-14255 (HASH 는 불가)</a:t>
            </a:r>
          </a:p>
          <a:p>
            <a:r>
              <a:rPr sz="1250" b="0">
                <a:solidFill>
                  <a:srgbClr val="E6E6E6"/>
                </a:solidFill>
                <a:latin typeface="Consolas"/>
              </a:rPr>
              <a:t/>
            </a:r>
          </a:p>
          <a:p>
            <a:r>
              <a:rPr sz="1250" b="0">
                <a:solidFill>
                  <a:srgbClr val="E6E6E6"/>
                </a:solidFill>
                <a:latin typeface="Consolas"/>
              </a:rPr>
              <a:t>설계 규칙 : 파티션 수를 2의 거듭제곱으로. 범위 조회 위주면 HASH 를 쓰지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LIST — 값의 목록으로 묶는다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04 실측. DEFAULT 와 19c AUTOMATIC</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PARTITION BY LIST (department_id)</a:t>
            </a:r>
          </a:p>
          <a:p>
            <a:r>
              <a:rPr sz="1250" b="0">
                <a:solidFill>
                  <a:srgbClr val="E6E6E6"/>
                </a:solidFill>
                <a:latin typeface="Consolas"/>
              </a:rPr>
              <a:t>(PARTITION p_dept_1 VALUES (10,20,30,40),   PARTITION p_dept_2 VALUES (50),</a:t>
            </a:r>
          </a:p>
          <a:p>
            <a:r>
              <a:rPr sz="1250" b="0">
                <a:solidFill>
                  <a:srgbClr val="E6E6E6"/>
                </a:solidFill>
                <a:latin typeface="Consolas"/>
              </a:rPr>
              <a:t> PARTITION p_dept_3 VALUES (60,70,80,90,100,110),</a:t>
            </a:r>
          </a:p>
          <a:p>
            <a:r>
              <a:rPr sz="1250" b="0">
                <a:solidFill>
                  <a:srgbClr val="E6E6E6"/>
                </a:solidFill>
                <a:latin typeface="Consolas"/>
              </a:rPr>
              <a:t> PARTITION p_dept_4 VALUES (DEFAULT))</a:t>
            </a:r>
          </a:p>
          <a:p>
            <a:r>
              <a:rPr sz="1250" b="0">
                <a:solidFill>
                  <a:srgbClr val="E6E6E6"/>
                </a:solidFill>
                <a:latin typeface="Consolas"/>
              </a:rPr>
              <a:t/>
            </a:r>
          </a:p>
          <a:p>
            <a:r>
              <a:rPr sz="1250" b="0">
                <a:solidFill>
                  <a:srgbClr val="E6E6E6"/>
                </a:solidFill>
                <a:latin typeface="Consolas"/>
              </a:rPr>
              <a:t>PARTITION_ HIGH_VALUE                 NUM_ROWS</a:t>
            </a:r>
          </a:p>
          <a:p>
            <a:r>
              <a:rPr sz="1250" b="0">
                <a:solidFill>
                  <a:srgbClr val="E6E6E6"/>
                </a:solidFill>
                <a:latin typeface="Consolas"/>
              </a:rPr>
              <a:t>P_DEPT_1   10, 20, 30, 40                   10   &lt;- 값 목록이 그대로 보인다</a:t>
            </a:r>
          </a:p>
          <a:p>
            <a:r>
              <a:rPr sz="1250" b="0">
                <a:solidFill>
                  <a:srgbClr val="E6E6E6"/>
                </a:solidFill>
                <a:latin typeface="Consolas"/>
              </a:rPr>
              <a:t>P_DEPT_2   50                               45</a:t>
            </a:r>
          </a:p>
          <a:p>
            <a:r>
              <a:rPr sz="1250" b="0">
                <a:solidFill>
                  <a:srgbClr val="E6E6E6"/>
                </a:solidFill>
                <a:latin typeface="Consolas"/>
              </a:rPr>
              <a:t>P_DEPT_3   60, 70, 80, 90, 100, 110         51</a:t>
            </a:r>
          </a:p>
          <a:p>
            <a:r>
              <a:rPr sz="1250" b="0">
                <a:solidFill>
                  <a:srgbClr val="E6E6E6"/>
                </a:solidFill>
                <a:latin typeface="Consolas"/>
              </a:rPr>
              <a:t>P_DEPT_4   DEFAULT                           1   &lt;- 부서가 NULL 인 1건이 여기로</a:t>
            </a:r>
          </a:p>
          <a:p>
            <a:r>
              <a:rPr sz="1250" b="0">
                <a:solidFill>
                  <a:srgbClr val="E6E6E6"/>
                </a:solidFill>
                <a:latin typeface="Consolas"/>
              </a:rPr>
              <a:t/>
            </a:r>
          </a:p>
          <a:p>
            <a:r>
              <a:rPr sz="1250" b="0">
                <a:solidFill>
                  <a:srgbClr val="E6E6E6"/>
                </a:solidFill>
                <a:latin typeface="Consolas"/>
              </a:rPr>
              <a:t>ALTER TABLE hr.emp_list ADD PARTITION p5 VALUES (120,130);      -&gt; ORA-14323</a:t>
            </a:r>
          </a:p>
          <a:p>
            <a:r>
              <a:rPr sz="1250" b="0">
                <a:solidFill>
                  <a:srgbClr val="E6E6E6"/>
                </a:solidFill>
                <a:latin typeface="Consolas"/>
              </a:rPr>
              <a:t>ALTER TABLE hr.emp_list MODIFY PARTITION p_dept_2 ADD VALUES (120);  -- OK (즉시)</a:t>
            </a:r>
          </a:p>
          <a:p>
            <a:r>
              <a:rPr sz="1250" b="0">
                <a:solidFill>
                  <a:srgbClr val="E6E6E6"/>
                </a:solidFill>
                <a:latin typeface="Consolas"/>
              </a:rPr>
              <a:t>ALTER TABLE hr.emp_list MODIFY PARTITION p_dept_3 ADD VALUES (120);  -&gt; ORA-14312</a:t>
            </a:r>
          </a:p>
          <a:p>
            <a:r>
              <a:rPr sz="1250" b="0">
                <a:solidFill>
                  <a:srgbClr val="E6E6E6"/>
                </a:solidFill>
                <a:latin typeface="Consolas"/>
              </a:rPr>
              <a:t/>
            </a:r>
          </a:p>
          <a:p>
            <a:r>
              <a:rPr sz="1250" b="0">
                <a:solidFill>
                  <a:srgbClr val="E6E6E6"/>
                </a:solidFill>
                <a:latin typeface="Consolas"/>
              </a:rPr>
              <a:t>-- 19c 자동 LIST : 값이 들어올 때 파티션을 만든다</a:t>
            </a:r>
          </a:p>
          <a:p>
            <a:r>
              <a:rPr sz="1250" b="0">
                <a:solidFill>
                  <a:srgbClr val="E6E6E6"/>
                </a:solidFill>
                <a:latin typeface="Consolas"/>
              </a:rPr>
              <a:t>PARTITION BY LIST (department_id) AUTOMATIC (PARTITION p_dept_10 VALUES (10))</a:t>
            </a:r>
          </a:p>
          <a:p>
            <a:r>
              <a:rPr sz="1250" b="0">
                <a:solidFill>
                  <a:srgbClr val="E6E6E6"/>
                </a:solidFill>
                <a:latin typeface="Consolas"/>
              </a:rPr>
              <a:t>   CTAS 만으로 11개 생성 -&gt; 부서 999 를 넣으면 12개  (autolist = YES)</a:t>
            </a:r>
          </a:p>
          <a:p>
            <a:r>
              <a:rPr sz="1250" b="0">
                <a:solidFill>
                  <a:srgbClr val="E6E6E6"/>
                </a:solidFill>
                <a:latin typeface="Consolas"/>
              </a:rPr>
              <a:t>   DEFAULT 파티션과 함께 쓸 수 없다. 값 종류가 많으면 파티션이 폭증한다.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COMPOSITE — 두 단계로 나눈다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05 실측. SUBPARTITION TEMPLATE 은 사실상 필수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PARTITION BY RANGE (hire_date)</a:t>
            </a:r>
          </a:p>
          <a:p>
            <a:r>
              <a:rPr sz="1250" b="0">
                <a:solidFill>
                  <a:srgbClr val="E6E6E6"/>
                </a:solidFill>
                <a:latin typeface="Consolas"/>
              </a:rPr>
              <a:t>SUBPARTITION BY LIST (department_id)</a:t>
            </a:r>
          </a:p>
          <a:p>
            <a:r>
              <a:rPr sz="1250" b="0">
                <a:solidFill>
                  <a:srgbClr val="E6E6E6"/>
                </a:solidFill>
                <a:latin typeface="Consolas"/>
              </a:rPr>
              <a:t>SUBPARTITION TEMPLATE</a:t>
            </a:r>
          </a:p>
          <a:p>
            <a:r>
              <a:rPr sz="1250" b="0">
                <a:solidFill>
                  <a:srgbClr val="E6E6E6"/>
                </a:solidFill>
                <a:latin typeface="Consolas"/>
              </a:rPr>
              <a:t>(SUBPARTITION s_dept_1 VALUES (10,20,30,40), SUBPARTITION s_dept_2 VALUES (50),</a:t>
            </a:r>
          </a:p>
          <a:p>
            <a:r>
              <a:rPr sz="1250" b="0">
                <a:solidFill>
                  <a:srgbClr val="E6E6E6"/>
                </a:solidFill>
                <a:latin typeface="Consolas"/>
              </a:rPr>
              <a:t> SUBPARTITION s_dept_3 VALUES (60,70,80,90,100,110),</a:t>
            </a:r>
          </a:p>
          <a:p>
            <a:r>
              <a:rPr sz="1250" b="0">
                <a:solidFill>
                  <a:srgbClr val="E6E6E6"/>
                </a:solidFill>
                <a:latin typeface="Consolas"/>
              </a:rPr>
              <a:t> SUBPARTITION s_dept_4 VALUES (DEFAULT))</a:t>
            </a:r>
          </a:p>
          <a:p>
            <a:r>
              <a:rPr sz="1250" b="0">
                <a:solidFill>
                  <a:srgbClr val="E6E6E6"/>
                </a:solidFill>
                <a:latin typeface="Consolas"/>
              </a:rPr>
              <a:t>(PARTITION p2005 VALUES LESS THAN (...), ... PARTITION pmax VALUES LESS THAN (MAXVALUE))</a:t>
            </a:r>
          </a:p>
          <a:p>
            <a:r>
              <a:rPr sz="1250" b="0">
                <a:solidFill>
                  <a:srgbClr val="E6E6E6"/>
                </a:solidFill>
                <a:latin typeface="Consolas"/>
              </a:rPr>
              <a:t/>
            </a:r>
          </a:p>
          <a:p>
            <a:r>
              <a:rPr sz="1250" b="0">
                <a:solidFill>
                  <a:srgbClr val="E6E6E6"/>
                </a:solidFill>
                <a:latin typeface="Consolas"/>
              </a:rPr>
              <a:t>템플릿 있음  -&gt;  P2005_S_DEPT_1 · P2005_S_DEPT_2 ...   (이름 예측 가능)</a:t>
            </a:r>
          </a:p>
          <a:p>
            <a:r>
              <a:rPr sz="1250" b="0">
                <a:solidFill>
                  <a:srgbClr val="E6E6E6"/>
                </a:solidFill>
                <a:latin typeface="Consolas"/>
              </a:rPr>
              <a:t>템플릿 없음  -&gt;  SYS_SUBP647 · SYS_SUBP648 ...         (스크립트 작성 불가)</a:t>
            </a:r>
          </a:p>
          <a:p>
            <a:r>
              <a:rPr sz="1250" b="0">
                <a:solidFill>
                  <a:srgbClr val="E6E6E6"/>
                </a:solidFill>
                <a:latin typeface="Consolas"/>
              </a:rPr>
              <a:t/>
            </a:r>
          </a:p>
          <a:p>
            <a:r>
              <a:rPr sz="1250" b="0">
                <a:solidFill>
                  <a:srgbClr val="E6E6E6"/>
                </a:solidFill>
                <a:latin typeface="Consolas"/>
              </a:rPr>
              <a:t>조건                      | 상위                  | 하위                  | Buffers</a:t>
            </a:r>
          </a:p>
          <a:p>
            <a:r>
              <a:rPr sz="1250" b="0">
                <a:solidFill>
                  <a:srgbClr val="E6E6E6"/>
                </a:solidFill>
                <a:latin typeface="Consolas"/>
              </a:rPr>
              <a:t>--------------------------|-----------------------|-----------------------|--------</a:t>
            </a:r>
          </a:p>
          <a:p>
            <a:r>
              <a:rPr sz="1250" b="0">
                <a:solidFill>
                  <a:srgbClr val="E6E6E6"/>
                </a:solidFill>
                <a:latin typeface="Consolas"/>
              </a:rPr>
              <a:t>hire_date 만              | PARTITION RANGE SINGLE| PARTITION LIST ALL    |    6</a:t>
            </a:r>
          </a:p>
          <a:p>
            <a:r>
              <a:rPr sz="1250" b="0">
                <a:solidFill>
                  <a:srgbClr val="E6E6E6"/>
                </a:solidFill>
                <a:latin typeface="Consolas"/>
              </a:rPr>
              <a:t>hire_date + department_id | PARTITION RANGE SINGLE| PARTITION LIST SINGLE |    2</a:t>
            </a:r>
          </a:p>
          <a:p>
            <a:r>
              <a:rPr sz="1250" b="0">
                <a:solidFill>
                  <a:srgbClr val="E6E6E6"/>
                </a:solidFill>
                <a:latin typeface="Consolas"/>
              </a:rPr>
              <a:t>department_id 만          | PARTITION RANGE ALL   | PARTITION LIST SINGLE |    8</a:t>
            </a:r>
          </a:p>
          <a:p>
            <a:r>
              <a:rPr sz="1250" b="0">
                <a:solidFill>
                  <a:srgbClr val="E6E6E6"/>
                </a:solidFill>
                <a:latin typeface="Consolas"/>
              </a:rPr>
              <a:t/>
            </a:r>
          </a:p>
          <a:p>
            <a:r>
              <a:rPr sz="1250" b="0">
                <a:solidFill>
                  <a:srgbClr val="E6E6E6"/>
                </a:solidFill>
                <a:latin typeface="Consolas"/>
              </a:rPr>
              <a:t>세그먼트는 서브파티션 단위다 (TABLE SUBPARTITION).</a:t>
            </a:r>
          </a:p>
          <a:p>
            <a:r>
              <a:rPr sz="1250" b="0">
                <a:solidFill>
                  <a:srgbClr val="E6E6E6"/>
                </a:solidFill>
                <a:latin typeface="Consolas"/>
              </a:rPr>
              <a:t>파티션 4 x 서브파티션 4 = 16개 중 13개 생성 = 104MB. 용량은 곱셈이다.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방식 선택 — 기준은 조회 패턴이다</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기간·금액 등 범위로 조회하고 기간 단위로 버린다  -&gt;  RANGE</a:t>
            </a:r>
          </a:p>
          <a:p>
            <a:pPr>
              <a:spcAft>
                <a:spcPts val="600"/>
              </a:spcAft>
            </a:pPr>
            <a:r>
              <a:rPr sz="1600" b="0">
                <a:solidFill>
                  <a:srgbClr val="202830"/>
                </a:solidFill>
                <a:latin typeface="Malgun Gothic"/>
              </a:rPr>
              <a:t>    –  미래 파티션 관리가 부담이면 INTERVAL 로 만든다</a:t>
            </a:r>
          </a:p>
          <a:p>
            <a:pPr>
              <a:spcAft>
                <a:spcPts val="600"/>
              </a:spcAft>
            </a:pPr>
            <a:r>
              <a:rPr sz="1800" b="0">
                <a:solidFill>
                  <a:srgbClr val="202830"/>
                </a:solidFill>
                <a:latin typeface="Malgun Gothic"/>
              </a:rPr>
              <a:t>•  지역·상태·부서 등 코드값으로 조회·관리한다  -&gt;  LIST</a:t>
            </a:r>
          </a:p>
          <a:p>
            <a:pPr>
              <a:spcAft>
                <a:spcPts val="600"/>
              </a:spcAft>
            </a:pPr>
            <a:r>
              <a:rPr sz="1600" b="0">
                <a:solidFill>
                  <a:srgbClr val="202830"/>
                </a:solidFill>
                <a:latin typeface="Malgun Gothic"/>
              </a:rPr>
              <a:t>    –  코드값이 계속 추가되면 19c AUTOMATIC 을 검토한다</a:t>
            </a:r>
          </a:p>
          <a:p>
            <a:pPr>
              <a:spcAft>
                <a:spcPts val="600"/>
              </a:spcAft>
            </a:pPr>
            <a:r>
              <a:rPr sz="1800" b="0">
                <a:solidFill>
                  <a:srgbClr val="202830"/>
                </a:solidFill>
                <a:latin typeface="Malgun Gothic"/>
              </a:rPr>
              <a:t>•  조회는 등치뿐이고 분산 자체가 목적이다  -&gt;  HASH</a:t>
            </a:r>
          </a:p>
          <a:p>
            <a:pPr>
              <a:spcAft>
                <a:spcPts val="600"/>
              </a:spcAft>
            </a:pPr>
            <a:r>
              <a:rPr sz="1600" b="0">
                <a:solidFill>
                  <a:srgbClr val="202830"/>
                </a:solidFill>
                <a:latin typeface="Malgun Gothic"/>
              </a:rPr>
              <a:t>    –  파티션 수는 2의 거듭제곱. 범위 조회 프루닝이 없음을 반드시 확인한다</a:t>
            </a:r>
          </a:p>
          <a:p>
            <a:pPr>
              <a:spcAft>
                <a:spcPts val="600"/>
              </a:spcAft>
            </a:pPr>
            <a:r>
              <a:rPr sz="1800" b="0">
                <a:solidFill>
                  <a:srgbClr val="202830"/>
                </a:solidFill>
                <a:latin typeface="Malgun Gothic"/>
              </a:rPr>
              <a:t>•  조회 조건이 항상 두 개다  -&gt;  COMPOSITE</a:t>
            </a:r>
          </a:p>
          <a:p>
            <a:pPr>
              <a:spcAft>
                <a:spcPts val="600"/>
              </a:spcAft>
            </a:pPr>
            <a:r>
              <a:rPr sz="1600" b="0">
                <a:solidFill>
                  <a:srgbClr val="202830"/>
                </a:solidFill>
                <a:latin typeface="Malgun Gothic"/>
              </a:rPr>
              <a:t>    –  SUBPARTITION TEMPLATE 을 반드시 함께 쓴다</a:t>
            </a:r>
          </a:p>
          <a:p>
            <a:pPr>
              <a:spcAft>
                <a:spcPts val="600"/>
              </a:spcAft>
            </a:pPr>
            <a:r>
              <a:rPr sz="1800" b="0">
                <a:solidFill>
                  <a:srgbClr val="202830"/>
                </a:solidFill>
                <a:latin typeface="Malgun Gothic"/>
              </a:rPr>
              <a:t>•  기준은 "무엇으로 조회하는가" 다. "무엇으로 나누고 싶은가" 가 아니다</a:t>
            </a:r>
          </a:p>
          <a:p>
            <a:pPr>
              <a:spcAft>
                <a:spcPts val="600"/>
              </a:spcAft>
            </a:pPr>
            <a:r>
              <a:rPr sz="1600" b="0">
                <a:solidFill>
                  <a:srgbClr val="202830"/>
                </a:solidFill>
                <a:latin typeface="Malgun Gothic"/>
              </a:rPr>
              <a:t>    –  v$sql 에서 그 테이블을 읽는 상위 SQL 의 WHERE 절을 모아 빈도를 센다</a:t>
            </a:r>
          </a:p>
          <a:p>
            <a:pPr>
              <a:spcAft>
                <a:spcPts val="600"/>
              </a:spcAft>
            </a:pPr>
            <a:r>
              <a:rPr sz="1600" b="0">
                <a:solidFill>
                  <a:srgbClr val="202830"/>
                </a:solidFill>
                <a:latin typeface="Malgun Gothic"/>
              </a:rPr>
              <a:t>    –  파티션 키는 변하지 않는 컬럼으로 잡는다 (등록일·거래일 O, 수정일 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저장 구조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파티션 하나 = 세그먼트 하나</a:t>
            </a:r>
          </a:p>
          <a:p>
            <a:pPr>
              <a:spcAft>
                <a:spcPts val="600"/>
              </a:spcAft>
            </a:pPr>
            <a:r>
              <a:rPr sz="1600" b="0">
                <a:solidFill>
                  <a:srgbClr val="C5CED6"/>
                </a:solidFill>
                <a:latin typeface="Malgun Gothic"/>
              </a:rPr>
              <a:t>•  파티션마다 기본 8MB 를 먼저 잡는다 (실측)</a:t>
            </a:r>
          </a:p>
          <a:p>
            <a:pPr>
              <a:spcAft>
                <a:spcPts val="600"/>
              </a:spcAft>
            </a:pPr>
            <a:r>
              <a:rPr sz="1600" b="0">
                <a:solidFill>
                  <a:srgbClr val="C5CED6"/>
                </a:solidFill>
                <a:latin typeface="Malgun Gothic"/>
              </a:rPr>
              <a:t>•  TRUNCATE 뒤 한 건만 넣어도 HWM 이 8MB 끝까지 올라간다</a:t>
            </a:r>
          </a:p>
          <a:p>
            <a:pPr>
              <a:spcAft>
                <a:spcPts val="600"/>
              </a:spcAft>
            </a:pPr>
            <a:r>
              <a:rPr sz="1600" b="0">
                <a:solidFill>
                  <a:srgbClr val="C5CED6"/>
                </a:solidFill>
                <a:latin typeface="Malgun Gothic"/>
              </a:rPr>
              <a:t>•  딕셔너리 여덟 개와 파티션 지정 조회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파티션 하나가 8MB 를 먼저 잡는다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02 실측. USERS 는 초기 익스텐트 64KB 인데도 그렇다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segment_name, partition_name, segment_type, bytes/1024 kb, blocks, extents</a:t>
            </a:r>
          </a:p>
          <a:p>
            <a:r>
              <a:rPr sz="1250" b="0">
                <a:solidFill>
                  <a:srgbClr val="E6E6E6"/>
                </a:solidFill>
                <a:latin typeface="Consolas"/>
              </a:rPr>
              <a:t>FROM dba_segments WHERE owner='HR' AND segment_name='EMP_YR';</a:t>
            </a:r>
          </a:p>
          <a:p>
            <a:r>
              <a:rPr sz="1250" b="0">
                <a:solidFill>
                  <a:srgbClr val="E6E6E6"/>
                </a:solidFill>
                <a:latin typeface="Consolas"/>
              </a:rPr>
              <a:t/>
            </a:r>
          </a:p>
          <a:p>
            <a:r>
              <a:rPr sz="1250" b="0">
                <a:solidFill>
                  <a:srgbClr val="E6E6E6"/>
                </a:solidFill>
                <a:latin typeface="Consolas"/>
              </a:rPr>
              <a:t>SEGMENT_NA PARTITIO SEGMENT_TYPE           KB   BLOCKS  EXTENTS</a:t>
            </a:r>
          </a:p>
          <a:p>
            <a:r>
              <a:rPr sz="1250" b="0">
                <a:solidFill>
                  <a:srgbClr val="E6E6E6"/>
                </a:solidFill>
                <a:latin typeface="Consolas"/>
              </a:rPr>
              <a:t>---------- -------- ---------------- -------- -------- --------</a:t>
            </a:r>
          </a:p>
          <a:p>
            <a:r>
              <a:rPr sz="1250" b="0">
                <a:solidFill>
                  <a:srgbClr val="E6E6E6"/>
                </a:solidFill>
                <a:latin typeface="Consolas"/>
              </a:rPr>
              <a:t>EMP_YR     P2004    TABLE PARTITION      8192     1024        1</a:t>
            </a:r>
          </a:p>
          <a:p>
            <a:r>
              <a:rPr sz="1250" b="0">
                <a:solidFill>
                  <a:srgbClr val="E6E6E6"/>
                </a:solidFill>
                <a:latin typeface="Consolas"/>
              </a:rPr>
              <a:t>EMP_YR     P2005    TABLE PARTITION      8192     1024        1</a:t>
            </a:r>
          </a:p>
          <a:p>
            <a:r>
              <a:rPr sz="1250" b="0">
                <a:solidFill>
                  <a:srgbClr val="E6E6E6"/>
                </a:solidFill>
                <a:latin typeface="Consolas"/>
              </a:rPr>
              <a:t>EMP_YR     P2006    TABLE PARTITION      8192     1024        1</a:t>
            </a:r>
          </a:p>
          <a:p>
            <a:r>
              <a:rPr sz="1250" b="0">
                <a:solidFill>
                  <a:srgbClr val="E6E6E6"/>
                </a:solidFill>
                <a:latin typeface="Consolas"/>
              </a:rPr>
              <a:t>EMP_YR     PMAX     TABLE PARTITION      8192     1024        1</a:t>
            </a:r>
          </a:p>
          <a:p>
            <a:r>
              <a:rPr sz="1250" b="0">
                <a:solidFill>
                  <a:srgbClr val="E6E6E6"/>
                </a:solidFill>
                <a:latin typeface="Consolas"/>
              </a:rPr>
              <a:t>                    107건짜리 테이블이 32MB 를 잡았다</a:t>
            </a:r>
          </a:p>
          <a:p>
            <a:r>
              <a:rPr sz="1250" b="0">
                <a:solidFill>
                  <a:srgbClr val="E6E6E6"/>
                </a:solidFill>
                <a:latin typeface="Consolas"/>
              </a:rPr>
              <a:t/>
            </a:r>
          </a:p>
          <a:p>
            <a:r>
              <a:rPr sz="1250" b="0">
                <a:solidFill>
                  <a:srgbClr val="E6E6E6"/>
                </a:solidFill>
                <a:latin typeface="Consolas"/>
              </a:rPr>
              <a:t>원인 — 숨은 파라미터 기본값</a:t>
            </a:r>
          </a:p>
          <a:p>
            <a:r>
              <a:rPr sz="1250" b="0">
                <a:solidFill>
                  <a:srgbClr val="E6E6E6"/>
                </a:solidFill>
                <a:latin typeface="Consolas"/>
              </a:rPr>
              <a:t>  _partition_large_extents        = TRUE    테이블 파티션 첫 익스텐트를 8MB 로</a:t>
            </a:r>
          </a:p>
          <a:p>
            <a:r>
              <a:rPr sz="1250" b="0">
                <a:solidFill>
                  <a:srgbClr val="E6E6E6"/>
                </a:solidFill>
                <a:latin typeface="Consolas"/>
              </a:rPr>
              <a:t>  _index_partition_large_extents  = FALSE   인덱스 파티션은 해당 없음</a:t>
            </a:r>
          </a:p>
          <a:p>
            <a:r>
              <a:rPr sz="1250" b="0">
                <a:solidFill>
                  <a:srgbClr val="E6E6E6"/>
                </a:solidFill>
                <a:latin typeface="Consolas"/>
              </a:rPr>
              <a:t/>
            </a:r>
          </a:p>
          <a:p>
            <a:r>
              <a:rPr sz="1250" b="0">
                <a:solidFill>
                  <a:srgbClr val="E6E6E6"/>
                </a:solidFill>
                <a:latin typeface="Consolas"/>
              </a:rPr>
              <a:t>Data Pump 가 뽑는 DDL 에도 그대로 나온다</a:t>
            </a:r>
          </a:p>
          <a:p>
            <a:r>
              <a:rPr sz="1250" b="0">
                <a:solidFill>
                  <a:srgbClr val="E6E6E6"/>
                </a:solidFill>
                <a:latin typeface="Consolas"/>
              </a:rPr>
              <a:t>  STORAGE(INITIAL 8388608 NEXT 1048576 ...)    8388608 바이트 = 8MB</a:t>
            </a:r>
          </a:p>
          <a:p>
            <a:r>
              <a:rPr sz="1250" b="0">
                <a:solidFill>
                  <a:srgbClr val="E6E6E6"/>
                </a:solidFill>
                <a:latin typeface="Consolas"/>
              </a:rPr>
              <a:t/>
            </a:r>
          </a:p>
          <a:p>
            <a:r>
              <a:rPr sz="1250" b="0">
                <a:solidFill>
                  <a:srgbClr val="E6E6E6"/>
                </a:solidFill>
                <a:latin typeface="Consolas"/>
              </a:rPr>
              <a:t>운영 의미 : 파티션 100개면 데이터가 없어도 800MB.</a:t>
            </a:r>
          </a:p>
          <a:p>
            <a:r>
              <a:rPr sz="1250" b="0">
                <a:solidFill>
                  <a:srgbClr val="E6E6E6"/>
                </a:solidFill>
                <a:latin typeface="Consolas"/>
              </a:rPr>
              <a:t>            월별 파티션 5년치를 미리 만드는 설계는 용량 계획을 다시 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TRUNCATE 뒤 한 건이 8MB 를 살린다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07 실측. 비어 있는데 느린 이유</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시점                          총블록   미사용    HWM</a:t>
            </a:r>
          </a:p>
          <a:p>
            <a:r>
              <a:rPr sz="1250" b="0">
                <a:solidFill>
                  <a:srgbClr val="E6E6E6"/>
                </a:solidFill>
                <a:latin typeface="Consolas"/>
              </a:rPr>
              <a:t>----------------------------|--------|--------|------</a:t>
            </a:r>
          </a:p>
          <a:p>
            <a:r>
              <a:rPr sz="1250" b="0">
                <a:solidFill>
                  <a:srgbClr val="E6E6E6"/>
                </a:solidFill>
                <a:latin typeface="Consolas"/>
              </a:rPr>
              <a:t>생성 직후                      1024     1005      19</a:t>
            </a:r>
          </a:p>
          <a:p>
            <a:r>
              <a:rPr sz="1250" b="0">
                <a:solidFill>
                  <a:srgbClr val="E6E6E6"/>
                </a:solidFill>
                <a:latin typeface="Consolas"/>
              </a:rPr>
              <a:t>TRUNCATE PARTITION 직후        1024     1006      18</a:t>
            </a:r>
          </a:p>
          <a:p>
            <a:r>
              <a:rPr sz="1250" b="0">
                <a:solidFill>
                  <a:srgbClr val="E6E6E6"/>
                </a:solidFill>
                <a:latin typeface="Consolas"/>
              </a:rPr>
              <a:t>그 뒤 1건 INSERT               1024        0    1024   &lt;- 8MB 전체가 포맷된다</a:t>
            </a:r>
          </a:p>
          <a:p>
            <a:r>
              <a:rPr sz="1250" b="0">
                <a:solidFill>
                  <a:srgbClr val="E6E6E6"/>
                </a:solidFill>
                <a:latin typeface="Consolas"/>
              </a:rPr>
              <a:t>SHRINK SPACE CASCADE 뒤          24        5      19</a:t>
            </a:r>
          </a:p>
          <a:p>
            <a:r>
              <a:rPr sz="1250" b="0">
                <a:solidFill>
                  <a:srgbClr val="E6E6E6"/>
                </a:solidFill>
                <a:latin typeface="Consolas"/>
              </a:rPr>
              <a:t/>
            </a:r>
          </a:p>
          <a:p>
            <a:r>
              <a:rPr sz="1250" b="0">
                <a:solidFill>
                  <a:srgbClr val="E6E6E6"/>
                </a:solidFill>
                <a:latin typeface="Consolas"/>
              </a:rPr>
              <a:t>-- 1건짜리 파티션을 읽는 실제 비용</a:t>
            </a:r>
          </a:p>
          <a:p>
            <a:r>
              <a:rPr sz="1250" b="0">
                <a:solidFill>
                  <a:srgbClr val="E6E6E6"/>
                </a:solidFill>
                <a:latin typeface="Consolas"/>
              </a:rPr>
              <a:t>|   2 |   PARTITION RANGE SINGLE| | 1 | 1 | 3 | 3 | 1 |...|   36 |   16 |</a:t>
            </a:r>
          </a:p>
          <a:p>
            <a:r>
              <a:rPr sz="1250" b="0">
                <a:solidFill>
                  <a:srgbClr val="E6E6E6"/>
                </a:solidFill>
                <a:latin typeface="Consolas"/>
              </a:rPr>
              <a:t>                                                     Buffers 36, 물리읽기 16</a:t>
            </a:r>
          </a:p>
          <a:p>
            <a:r>
              <a:rPr sz="1250" b="0">
                <a:solidFill>
                  <a:srgbClr val="E6E6E6"/>
                </a:solidFill>
                <a:latin typeface="Consolas"/>
              </a:rPr>
              <a:t>-- SHRINK 뒤 같은 쿼리</a:t>
            </a:r>
          </a:p>
          <a:p>
            <a:r>
              <a:rPr sz="1250" b="0">
                <a:solidFill>
                  <a:srgbClr val="E6E6E6"/>
                </a:solidFill>
                <a:latin typeface="Consolas"/>
              </a:rPr>
              <a:t>|   2 |   PARTITION RANGE SINGLE| | 1 | 1 | 3 | 3 | 1 |...|    2 |      |</a:t>
            </a:r>
          </a:p>
          <a:p>
            <a:r>
              <a:rPr sz="1250" b="0">
                <a:solidFill>
                  <a:srgbClr val="E6E6E6"/>
                </a:solidFill>
                <a:latin typeface="Consolas"/>
              </a:rPr>
              <a:t>                                                     Buffers 2</a:t>
            </a:r>
          </a:p>
          <a:p>
            <a:r>
              <a:rPr sz="1250" b="0">
                <a:solidFill>
                  <a:srgbClr val="E6E6E6"/>
                </a:solidFill>
                <a:latin typeface="Consolas"/>
              </a:rPr>
              <a:t/>
            </a:r>
          </a:p>
          <a:p>
            <a:r>
              <a:rPr sz="1250" b="0">
                <a:solidFill>
                  <a:srgbClr val="E6E6E6"/>
                </a:solidFill>
                <a:latin typeface="Consolas"/>
              </a:rPr>
              <a:t>원인 : ASSM 은 블록을 묶음으로 포맷한다. 8MB 익스텐트 하나뿐인 세그먼트에</a:t>
            </a:r>
          </a:p>
          <a:p>
            <a:r>
              <a:rPr sz="1250" b="0">
                <a:solidFill>
                  <a:srgbClr val="E6E6E6"/>
                </a:solidFill>
                <a:latin typeface="Consolas"/>
              </a:rPr>
              <a:t>       첫 행이 들어오면 익스텐트 전체를 포맷하고 HWM 을 끝까지 올린다.</a:t>
            </a:r>
          </a:p>
          <a:p>
            <a:r>
              <a:rPr sz="1250" b="0">
                <a:solidFill>
                  <a:srgbClr val="E6E6E6"/>
                </a:solidFill>
                <a:latin typeface="Consolas"/>
              </a:rPr>
              <a:t>       풀 스캔은 HWM 까지 읽으므로 데이터가 없어도 읽는다.</a:t>
            </a:r>
          </a:p>
          <a:p>
            <a:r>
              <a:rPr sz="1250" b="0">
                <a:solidFill>
                  <a:srgbClr val="E6E6E6"/>
                </a:solidFill>
                <a:latin typeface="Consolas"/>
              </a:rPr>
              <a:t/>
            </a:r>
          </a:p>
          <a:p>
            <a:r>
              <a:rPr sz="1250" b="0">
                <a:solidFill>
                  <a:srgbClr val="E6E6E6"/>
                </a:solidFill>
                <a:latin typeface="Consolas"/>
              </a:rPr>
              <a:t>대응 : ALTER TABLE t ENABLE ROW MOVEMENT;</a:t>
            </a:r>
          </a:p>
          <a:p>
            <a:r>
              <a:rPr sz="1250" b="0">
                <a:solidFill>
                  <a:srgbClr val="E6E6E6"/>
                </a:solidFill>
                <a:latin typeface="Consolas"/>
              </a:rPr>
              <a:t>       ALTER TABLE t MODIFY PARTITION p SHRINK SPACE CASCADE;   -- ORA-10636 주의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딕셔너리 여덟 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dba_part_tables — 방식 · 파티션 수 · interval · autolist · 서브파티션 방식</a:t>
            </a:r>
          </a:p>
          <a:p>
            <a:pPr>
              <a:spcAft>
                <a:spcPts val="600"/>
              </a:spcAft>
            </a:pPr>
            <a:r>
              <a:rPr sz="1800" b="0">
                <a:solidFill>
                  <a:srgbClr val="202830"/>
                </a:solidFill>
                <a:latin typeface="Malgun Gothic"/>
              </a:rPr>
              <a:t>•  dba_tab_partitions — 파티션별 high_value · 통계 · 테이블스페이스 · logging</a:t>
            </a:r>
          </a:p>
          <a:p>
            <a:pPr>
              <a:spcAft>
                <a:spcPts val="600"/>
              </a:spcAft>
            </a:pPr>
            <a:r>
              <a:rPr sz="1800" b="0">
                <a:solidFill>
                  <a:srgbClr val="202830"/>
                </a:solidFill>
                <a:latin typeface="Malgun Gothic"/>
              </a:rPr>
              <a:t>•  dba_tab_subpartitions — 서브파티션별 같은 정보</a:t>
            </a:r>
          </a:p>
          <a:p>
            <a:pPr>
              <a:spcAft>
                <a:spcPts val="600"/>
              </a:spcAft>
            </a:pPr>
            <a:r>
              <a:rPr sz="1800" b="0">
                <a:solidFill>
                  <a:srgbClr val="202830"/>
                </a:solidFill>
                <a:latin typeface="Malgun Gothic"/>
              </a:rPr>
              <a:t>•  dba_part_key_columns / dba_subpart_key_columns — 파티션 키 컬럼과 순서</a:t>
            </a:r>
          </a:p>
          <a:p>
            <a:pPr>
              <a:spcAft>
                <a:spcPts val="600"/>
              </a:spcAft>
            </a:pPr>
            <a:r>
              <a:rPr sz="1600" b="0">
                <a:solidFill>
                  <a:srgbClr val="202830"/>
                </a:solidFill>
                <a:latin typeface="Malgun Gothic"/>
              </a:rPr>
              <a:t>    –  주의: 이 두 뷰의 컬럼 이름은 table_name 이 아니라 name 이다</a:t>
            </a:r>
          </a:p>
          <a:p>
            <a:pPr>
              <a:spcAft>
                <a:spcPts val="600"/>
              </a:spcAft>
            </a:pPr>
            <a:r>
              <a:rPr sz="1800" b="0">
                <a:solidFill>
                  <a:srgbClr val="202830"/>
                </a:solidFill>
                <a:latin typeface="Malgun Gothic"/>
              </a:rPr>
              <a:t>•  dba_part_indexes — locality(LOCAL/GLOBAL) · alignment(PREFIXED/NON_PREFIXED)</a:t>
            </a:r>
          </a:p>
          <a:p>
            <a:pPr>
              <a:spcAft>
                <a:spcPts val="600"/>
              </a:spcAft>
            </a:pPr>
            <a:r>
              <a:rPr sz="1800" b="0">
                <a:solidFill>
                  <a:srgbClr val="202830"/>
                </a:solidFill>
                <a:latin typeface="Malgun Gothic"/>
              </a:rPr>
              <a:t>•  dba_ind_partitions — 인덱스 파티션별 blevel · leaf_blocks · status</a:t>
            </a:r>
          </a:p>
          <a:p>
            <a:pPr>
              <a:spcAft>
                <a:spcPts val="600"/>
              </a:spcAft>
            </a:pPr>
            <a:r>
              <a:rPr sz="1600" b="0">
                <a:solidFill>
                  <a:srgbClr val="202830"/>
                </a:solidFill>
                <a:latin typeface="Malgun Gothic"/>
              </a:rPr>
              <a:t>    –  파티션 인덱스의 status 는 여기에만 있다. dba_indexes.status 는 N/A 다</a:t>
            </a:r>
          </a:p>
          <a:p>
            <a:pPr>
              <a:spcAft>
                <a:spcPts val="600"/>
              </a:spcAft>
            </a:pPr>
            <a:r>
              <a:rPr sz="1800" b="0">
                <a:solidFill>
                  <a:srgbClr val="202830"/>
                </a:solidFill>
                <a:latin typeface="Malgun Gothic"/>
              </a:rPr>
              <a:t>•  dba_segments — 파티션·서브파티션 단위 실제 크기</a:t>
            </a:r>
          </a:p>
          <a:p>
            <a:pPr>
              <a:spcAft>
                <a:spcPts val="600"/>
              </a:spcAft>
            </a:pPr>
            <a:r>
              <a:rPr sz="1800" b="0">
                <a:solidFill>
                  <a:srgbClr val="202830"/>
                </a:solidFill>
                <a:latin typeface="Malgun Gothic"/>
              </a:rPr>
              <a:t>•  high_value 는 LONG 이다</a:t>
            </a:r>
          </a:p>
          <a:p>
            <a:pPr>
              <a:spcAft>
                <a:spcPts val="600"/>
              </a:spcAft>
            </a:pPr>
            <a:r>
              <a:rPr sz="1600" b="0">
                <a:solidFill>
                  <a:srgbClr val="202830"/>
                </a:solidFill>
                <a:latin typeface="Malgun Gothic"/>
              </a:rPr>
              <a:t>    –  WHERE 절·SUBSTR·조인 불가 (ORA-00997). SET LONG 을 늘려야 전체가 보인다</a:t>
            </a:r>
          </a:p>
          <a:p>
            <a:pPr>
              <a:spcAft>
                <a:spcPts val="600"/>
              </a:spcAft>
            </a:pPr>
            <a:r>
              <a:rPr sz="1600" b="0">
                <a:solidFill>
                  <a:srgbClr val="202830"/>
                </a:solidFill>
                <a:latin typeface="Malgun Gothic"/>
              </a:rPr>
              <a:t>    –  값으로 파티션을 찾을 때는 PARTITION FOR (값) 표기를 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파티션 지정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이름을 몰라도 값으로 찾는다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이름으로</a:t>
            </a:r>
          </a:p>
          <a:p>
            <a:r>
              <a:rPr sz="1250" b="0">
                <a:solidFill>
                  <a:srgbClr val="E6E6E6"/>
                </a:solidFill>
                <a:latin typeface="Consolas"/>
              </a:rPr>
              <a:t>SELECT COUNT(*) FROM hr.emp_yr PARTITION (p2005);                 -&gt; 29</a:t>
            </a:r>
          </a:p>
          <a:p>
            <a:r>
              <a:rPr sz="1250" b="0">
                <a:solidFill>
                  <a:srgbClr val="E6E6E6"/>
                </a:solidFill>
                <a:latin typeface="Consolas"/>
              </a:rPr>
              <a:t/>
            </a:r>
          </a:p>
          <a:p>
            <a:r>
              <a:rPr sz="1250" b="0">
                <a:solidFill>
                  <a:srgbClr val="E6E6E6"/>
                </a:solidFill>
                <a:latin typeface="Consolas"/>
              </a:rPr>
              <a:t>-- 값으로 (자동 생성된 SYS_P 이름을 모를 때 필수)</a:t>
            </a:r>
          </a:p>
          <a:p>
            <a:r>
              <a:rPr sz="1250" b="0">
                <a:solidFill>
                  <a:srgbClr val="E6E6E6"/>
                </a:solidFill>
                <a:latin typeface="Consolas"/>
              </a:rPr>
              <a:t>SELECT COUNT(*) FROM hr.emp_yr PARTITION FOR (DATE '2005-06-01'); -&gt; 29</a:t>
            </a:r>
          </a:p>
          <a:p>
            <a:r>
              <a:rPr sz="1250" b="0">
                <a:solidFill>
                  <a:srgbClr val="E6E6E6"/>
                </a:solidFill>
                <a:latin typeface="Consolas"/>
              </a:rPr>
              <a:t/>
            </a:r>
          </a:p>
          <a:p>
            <a:r>
              <a:rPr sz="1250" b="0">
                <a:solidFill>
                  <a:srgbClr val="E6E6E6"/>
                </a:solidFill>
                <a:latin typeface="Consolas"/>
              </a:rPr>
              <a:t>-- 서브파티션</a:t>
            </a:r>
          </a:p>
          <a:p>
            <a:r>
              <a:rPr sz="1250" b="0">
                <a:solidFill>
                  <a:srgbClr val="E6E6E6"/>
                </a:solidFill>
                <a:latin typeface="Consolas"/>
              </a:rPr>
              <a:t>SELECT COUNT(*) FROM hr.emp_comp_rl SUBPARTITION (p2005_s_dept_2);      -&gt; 12</a:t>
            </a:r>
          </a:p>
          <a:p>
            <a:r>
              <a:rPr sz="1250" b="0">
                <a:solidFill>
                  <a:srgbClr val="E6E6E6"/>
                </a:solidFill>
                <a:latin typeface="Consolas"/>
              </a:rPr>
              <a:t>SELECT COUNT(*) FROM hr.emp_comp_rl SUBPARTITION FOR (DATE '2005-06-01', 50); -&gt; 12</a:t>
            </a:r>
          </a:p>
          <a:p>
            <a:r>
              <a:rPr sz="1250" b="0">
                <a:solidFill>
                  <a:srgbClr val="E6E6E6"/>
                </a:solidFill>
                <a:latin typeface="Consolas"/>
              </a:rPr>
              <a:t/>
            </a:r>
          </a:p>
          <a:p>
            <a:r>
              <a:rPr sz="1250" b="0">
                <a:solidFill>
                  <a:srgbClr val="E6E6E6"/>
                </a:solidFill>
                <a:latin typeface="Consolas"/>
              </a:rPr>
              <a:t>-- 없는 이름</a:t>
            </a:r>
          </a:p>
          <a:p>
            <a:r>
              <a:rPr sz="1250" b="0">
                <a:solidFill>
                  <a:srgbClr val="E6E6E6"/>
                </a:solidFill>
                <a:latin typeface="Consolas"/>
              </a:rPr>
              <a:t>SELECT COUNT(*) FROM hr.emp_yr PARTITION (p2099);</a:t>
            </a:r>
          </a:p>
          <a:p>
            <a:r>
              <a:rPr sz="1250" b="0">
                <a:solidFill>
                  <a:srgbClr val="E6E6E6"/>
                </a:solidFill>
                <a:latin typeface="Consolas"/>
              </a:rPr>
              <a:t>ORA-02149: Specified partition does not exist</a:t>
            </a:r>
          </a:p>
          <a:p>
            <a:r>
              <a:rPr sz="1250" b="0">
                <a:solidFill>
                  <a:srgbClr val="E6E6E6"/>
                </a:solidFill>
                <a:latin typeface="Consolas"/>
              </a:rPr>
              <a:t/>
            </a:r>
          </a:p>
          <a:p>
            <a:r>
              <a:rPr sz="1250" b="0">
                <a:solidFill>
                  <a:srgbClr val="E6E6E6"/>
                </a:solidFill>
                <a:latin typeface="Consolas"/>
              </a:rPr>
              <a:t>-- 복합 파티션이 아닌데 SUBPARTITION 을 쓰면</a:t>
            </a:r>
          </a:p>
          <a:p>
            <a:r>
              <a:rPr sz="1250" b="0">
                <a:solidFill>
                  <a:srgbClr val="E6E6E6"/>
                </a:solidFill>
                <a:latin typeface="Consolas"/>
              </a:rPr>
              <a:t>SELECT COUNT(*) FROM hr.emp_hash SUBPARTITION FOR (1);</a:t>
            </a:r>
          </a:p>
          <a:p>
            <a:r>
              <a:rPr sz="1250" b="0">
                <a:solidFill>
                  <a:srgbClr val="E6E6E6"/>
                </a:solidFill>
                <a:latin typeface="Consolas"/>
              </a:rPr>
              <a:t>ORA-14173: illegal subpartition-extended table name syntax</a:t>
            </a:r>
          </a:p>
          <a:p>
            <a:r>
              <a:rPr sz="1250" b="0">
                <a:solidFill>
                  <a:srgbClr val="E6E6E6"/>
                </a:solidFill>
                <a:latin typeface="Consolas"/>
              </a:rPr>
              <a:t>   문구는 구문 오류처럼 보이지만 실제 원인은 "서브파티션이 없는 테이블" 이다</a:t>
            </a:r>
          </a:p>
          <a:p>
            <a:r>
              <a:rPr sz="1250" b="0">
                <a:solidFill>
                  <a:srgbClr val="E6E6E6"/>
                </a:solidFill>
                <a:latin typeface="Consolas"/>
              </a:rPr>
              <a:t/>
            </a:r>
          </a:p>
          <a:p>
            <a:r>
              <a:rPr sz="1250" b="0">
                <a:solidFill>
                  <a:srgbClr val="E6E6E6"/>
                </a:solidFill>
                <a:latin typeface="Consolas"/>
              </a:rPr>
              <a:t>-- DDL 에서도 같은 표기를 쓴다</a:t>
            </a:r>
          </a:p>
          <a:p>
            <a:r>
              <a:rPr sz="1250" b="0">
                <a:solidFill>
                  <a:srgbClr val="E6E6E6"/>
                </a:solidFill>
                <a:latin typeface="Consolas"/>
              </a:rPr>
              <a:t>ALTER TABLE hr.emp_yr RENAME PARTITION FOR (DATE '2012-03-01') TO p2012;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파티션 프루닝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연산 이름으로 성공·실패를 판정한다</a:t>
            </a:r>
          </a:p>
          <a:p>
            <a:pPr>
              <a:spcAft>
                <a:spcPts val="600"/>
              </a:spcAft>
            </a:pPr>
            <a:r>
              <a:rPr sz="1600" b="0">
                <a:solidFill>
                  <a:srgbClr val="C5CED6"/>
                </a:solidFill>
                <a:latin typeface="Malgun Gothic"/>
              </a:rPr>
              <a:t>•  Pstart / Pstop 일곱 가지 표시를 읽는다</a:t>
            </a:r>
          </a:p>
          <a:p>
            <a:pPr>
              <a:spcAft>
                <a:spcPts val="600"/>
              </a:spcAft>
            </a:pPr>
            <a:r>
              <a:rPr sz="1600" b="0">
                <a:solidFill>
                  <a:srgbClr val="C5CED6"/>
                </a:solidFill>
                <a:latin typeface="Malgun Gothic"/>
              </a:rPr>
              <a:t>•  53만 5천 건 실측 비교 — Buffers 1338 vs 3716 vs 652</a:t>
            </a:r>
          </a:p>
          <a:p>
            <a:pPr>
              <a:spcAft>
                <a:spcPts val="600"/>
              </a:spcAft>
            </a:pPr>
            <a:r>
              <a:rPr sz="1600" b="0">
                <a:solidFill>
                  <a:srgbClr val="C5CED6"/>
                </a:solidFill>
                <a:latin typeface="Malgun Gothic"/>
              </a:rPr>
              <a:t>•  프루닝이 깨지는 네 가지 원인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실행계획 준비와 연산 이름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+PARTITION 을 빼면 Pstart/Pstop 이 안 나온다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ALTER SESSION SET statistics_level = ALL;</a:t>
            </a:r>
          </a:p>
          <a:p>
            <a:r>
              <a:rPr sz="1250" b="0">
                <a:solidFill>
                  <a:srgbClr val="E6E6E6"/>
                </a:solidFill>
                <a:latin typeface="Consolas"/>
              </a:rPr>
              <a:t>SELECT /*+ gather_plan_statistics */ COUNT(*) FROM hr.emp_big WHERE ... ;</a:t>
            </a:r>
          </a:p>
          <a:p>
            <a:r>
              <a:rPr sz="1250" b="0">
                <a:solidFill>
                  <a:srgbClr val="E6E6E6"/>
                </a:solidFill>
                <a:latin typeface="Consolas"/>
              </a:rPr>
              <a:t>SELECT * FROM TABLE(dbms_xplan.display_cursor(NULL,NULL,'ALLSTATS LAST +PARTITION'));</a:t>
            </a:r>
          </a:p>
          <a:p>
            <a:r>
              <a:rPr sz="1250" b="0">
                <a:solidFill>
                  <a:srgbClr val="E6E6E6"/>
                </a:solidFill>
                <a:latin typeface="Consolas"/>
              </a:rPr>
              <a:t/>
            </a:r>
          </a:p>
          <a:p>
            <a:r>
              <a:rPr sz="1250" b="0">
                <a:solidFill>
                  <a:srgbClr val="E6E6E6"/>
                </a:solidFill>
                <a:latin typeface="Consolas"/>
              </a:rPr>
              <a:t>연산 이름                          | 의미</a:t>
            </a:r>
          </a:p>
          <a:p>
            <a:r>
              <a:rPr sz="1250" b="0">
                <a:solidFill>
                  <a:srgbClr val="E6E6E6"/>
                </a:solidFill>
                <a:latin typeface="Consolas"/>
              </a:rPr>
              <a:t>-----------------------------------|----------------------------------------------</a:t>
            </a:r>
          </a:p>
          <a:p>
            <a:r>
              <a:rPr sz="1250" b="0">
                <a:solidFill>
                  <a:srgbClr val="E6E6E6"/>
                </a:solidFill>
                <a:latin typeface="Consolas"/>
              </a:rPr>
              <a:t>PARTITION RANGE SINGLE             | 파티션 하나만 읽었다</a:t>
            </a:r>
          </a:p>
          <a:p>
            <a:r>
              <a:rPr sz="1250" b="0">
                <a:solidFill>
                  <a:srgbClr val="E6E6E6"/>
                </a:solidFill>
                <a:latin typeface="Consolas"/>
              </a:rPr>
              <a:t>PARTITION RANGE ITERATOR           | 연속한 여러 파티션을 순회했다</a:t>
            </a:r>
          </a:p>
          <a:p>
            <a:r>
              <a:rPr sz="1250" b="0">
                <a:solidFill>
                  <a:srgbClr val="E6E6E6"/>
                </a:solidFill>
                <a:latin typeface="Consolas"/>
              </a:rPr>
              <a:t>PARTITION RANGE INLIST             | IN 리스트에 해당하는 파티션만 읽었다</a:t>
            </a:r>
          </a:p>
          <a:p>
            <a:r>
              <a:rPr sz="1250" b="0">
                <a:solidFill>
                  <a:srgbClr val="E6E6E6"/>
                </a:solidFill>
                <a:latin typeface="Consolas"/>
              </a:rPr>
              <a:t>PARTITION RANGE ALL                | 프루닝 실패. 전부 읽었다</a:t>
            </a:r>
          </a:p>
          <a:p>
            <a:r>
              <a:rPr sz="1250" b="0">
                <a:solidFill>
                  <a:srgbClr val="E6E6E6"/>
                </a:solidFill>
                <a:latin typeface="Consolas"/>
              </a:rPr>
              <a:t>PARTITION RANGE AND                | 조인 상대가 값을 공급해 실행 시점에 골랐다</a:t>
            </a:r>
          </a:p>
          <a:p>
            <a:r>
              <a:rPr sz="1250" b="0">
                <a:solidFill>
                  <a:srgbClr val="E6E6E6"/>
                </a:solidFill>
                <a:latin typeface="Consolas"/>
              </a:rPr>
              <a:t>PARTITION RANGE JOIN-FILTER        | 블룸 필터로 골랐다</a:t>
            </a:r>
          </a:p>
          <a:p>
            <a:r>
              <a:rPr sz="1250" b="0">
                <a:solidFill>
                  <a:srgbClr val="E6E6E6"/>
                </a:solidFill>
                <a:latin typeface="Consolas"/>
              </a:rPr>
              <a:t>PARTITION HASH SINGLE / ALL        | HASH 파티션 (등치만 SINGLE)</a:t>
            </a:r>
          </a:p>
          <a:p>
            <a:r>
              <a:rPr sz="1250" b="0">
                <a:solidFill>
                  <a:srgbClr val="E6E6E6"/>
                </a:solidFill>
                <a:latin typeface="Consolas"/>
              </a:rPr>
              <a:t>PARTITION LIST SINGLE/INLIST/ALL   | LIST 파티션</a:t>
            </a:r>
          </a:p>
          <a:p>
            <a:r>
              <a:rPr sz="1250" b="0">
                <a:solidFill>
                  <a:srgbClr val="E6E6E6"/>
                </a:solidFill>
                <a:latin typeface="Consolas"/>
              </a:rPr>
              <a:t>PARTITION LIST ITERATOR            | LIST 여러 파티션 순회</a:t>
            </a:r>
          </a:p>
          <a:p>
            <a:r>
              <a:rPr sz="1250" b="0">
                <a:solidFill>
                  <a:srgbClr val="E6E6E6"/>
                </a:solidFill>
                <a:latin typeface="Consolas"/>
              </a:rPr>
              <a:t/>
            </a:r>
          </a:p>
          <a:p>
            <a:r>
              <a:rPr sz="1250" b="0">
                <a:solidFill>
                  <a:srgbClr val="E6E6E6"/>
                </a:solidFill>
                <a:latin typeface="Consolas"/>
              </a:rPr>
              <a:t>판정 1단계 : 이름에 ALL 이 있으면 실패다.</a:t>
            </a:r>
          </a:p>
          <a:p>
            <a:r>
              <a:rPr sz="1250" b="0">
                <a:solidFill>
                  <a:srgbClr val="E6E6E6"/>
                </a:solidFill>
                <a:latin typeface="Consolas"/>
              </a:rPr>
              <a:t>판정 2단계 : SINGLE·ITERATOR·INLIST 는 성공이다.</a:t>
            </a:r>
          </a:p>
          <a:p>
            <a:r>
              <a:rPr sz="1250" b="0">
                <a:solidFill>
                  <a:srgbClr val="E6E6E6"/>
                </a:solidFill>
                <a:latin typeface="Consolas"/>
              </a:rPr>
              <a:t>판정 3단계 : KEY 계열은 Starts 와 Buffers 로 실제 읽은 양을 확인한다.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Pstart / Pstop 일곱 가지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2 / 2 — 2번 파티션 하나 (정적 프루닝)</a:t>
            </a:r>
          </a:p>
          <a:p>
            <a:pPr>
              <a:spcAft>
                <a:spcPts val="600"/>
              </a:spcAft>
            </a:pPr>
            <a:r>
              <a:rPr sz="1800" b="0">
                <a:solidFill>
                  <a:srgbClr val="202830"/>
                </a:solidFill>
                <a:latin typeface="Malgun Gothic"/>
              </a:rPr>
              <a:t>•  1 / 2 — 1~2번 파티션 (정적, 범위)</a:t>
            </a:r>
          </a:p>
          <a:p>
            <a:pPr>
              <a:spcAft>
                <a:spcPts val="600"/>
              </a:spcAft>
            </a:pPr>
            <a:r>
              <a:rPr sz="1800" b="0">
                <a:solidFill>
                  <a:srgbClr val="202830"/>
                </a:solidFill>
                <a:latin typeface="Malgun Gothic"/>
              </a:rPr>
              <a:t>•  1 / 4 — 전체. 프루닝 없음</a:t>
            </a:r>
          </a:p>
          <a:p>
            <a:pPr>
              <a:spcAft>
                <a:spcPts val="600"/>
              </a:spcAft>
            </a:pPr>
            <a:r>
              <a:rPr sz="1800" b="0">
                <a:solidFill>
                  <a:srgbClr val="202830"/>
                </a:solidFill>
                <a:latin typeface="Malgun Gothic"/>
              </a:rPr>
              <a:t>•  KEY — 실행 시점 결정 (바인드 변수)</a:t>
            </a:r>
          </a:p>
          <a:p>
            <a:pPr>
              <a:spcAft>
                <a:spcPts val="600"/>
              </a:spcAft>
            </a:pPr>
            <a:r>
              <a:rPr sz="1600" b="0">
                <a:solidFill>
                  <a:srgbClr val="202830"/>
                </a:solidFill>
                <a:latin typeface="Malgun Gothic"/>
              </a:rPr>
              <a:t>    –  실측: Buffers 1338 로 정적 프루닝과 동일했다. 실패가 아니다</a:t>
            </a:r>
          </a:p>
          <a:p>
            <a:pPr>
              <a:spcAft>
                <a:spcPts val="600"/>
              </a:spcAft>
            </a:pPr>
            <a:r>
              <a:rPr sz="1800" b="0">
                <a:solidFill>
                  <a:srgbClr val="202830"/>
                </a:solidFill>
                <a:latin typeface="Malgun Gothic"/>
              </a:rPr>
              <a:t>•  KEY(I) — 실행 시점 결정, IN 리스트</a:t>
            </a:r>
          </a:p>
          <a:p>
            <a:pPr>
              <a:spcAft>
                <a:spcPts val="600"/>
              </a:spcAft>
            </a:pPr>
            <a:r>
              <a:rPr sz="1800" b="0">
                <a:solidFill>
                  <a:srgbClr val="202830"/>
                </a:solidFill>
                <a:latin typeface="Malgun Gothic"/>
              </a:rPr>
              <a:t>•  KEY(AP) — 실행 시점 결정, 조인 상대가 값 공급 (AND-Pruning)</a:t>
            </a:r>
          </a:p>
          <a:p>
            <a:pPr>
              <a:spcAft>
                <a:spcPts val="600"/>
              </a:spcAft>
            </a:pPr>
            <a:r>
              <a:rPr sz="1800" b="0">
                <a:solidFill>
                  <a:srgbClr val="202830"/>
                </a:solidFill>
                <a:latin typeface="Malgun Gothic"/>
              </a:rPr>
              <a:t>•  :BF0000 — 블룸 필터로 결정 (해시 조인)</a:t>
            </a:r>
          </a:p>
          <a:p>
            <a:pPr>
              <a:spcAft>
                <a:spcPts val="600"/>
              </a:spcAft>
            </a:pPr>
            <a:r>
              <a:rPr sz="1800" b="0">
                <a:solidFill>
                  <a:srgbClr val="202830"/>
                </a:solidFill>
                <a:latin typeface="Malgun Gothic"/>
              </a:rPr>
              <a:t>•  계층마다 의미가 다르다</a:t>
            </a:r>
          </a:p>
          <a:p>
            <a:pPr>
              <a:spcAft>
                <a:spcPts val="600"/>
              </a:spcAft>
            </a:pPr>
            <a:r>
              <a:rPr sz="1600" b="0">
                <a:solidFill>
                  <a:srgbClr val="202830"/>
                </a:solidFill>
                <a:latin typeface="Malgun Gothic"/>
              </a:rPr>
              <a:t>    –  상위 연산 행 = 상위 파티션 번호</a:t>
            </a:r>
          </a:p>
          <a:p>
            <a:pPr>
              <a:spcAft>
                <a:spcPts val="600"/>
              </a:spcAft>
            </a:pPr>
            <a:r>
              <a:rPr sz="1600" b="0">
                <a:solidFill>
                  <a:srgbClr val="202830"/>
                </a:solidFill>
                <a:latin typeface="Malgun Gothic"/>
              </a:rPr>
              <a:t>    –  테이블 접근 행 = 복합 파티션이면 서브파티션 절대 번호 (실측 5-8, 6-6)</a:t>
            </a:r>
          </a:p>
          <a:p>
            <a:pPr>
              <a:spcAft>
                <a:spcPts val="600"/>
              </a:spcAft>
            </a:pPr>
            <a:r>
              <a:rPr sz="1600" b="0">
                <a:solidFill>
                  <a:srgbClr val="202830"/>
                </a:solidFill>
                <a:latin typeface="Malgun Gothic"/>
              </a:rPr>
              <a:t>    –  이것을 혼동하면 프루닝 여부를 잘못 읽는다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53만 5천 건 실측 비교표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08. 같은 테이블, 조건만 바꿨다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조건                                    | 연산                | Pstart/Pstop | Buffers</a:t>
            </a:r>
          </a:p>
          <a:p>
            <a:r>
              <a:rPr sz="1250" b="0">
                <a:solidFill>
                  <a:srgbClr val="E6E6E6"/>
                </a:solidFill>
                <a:latin typeface="Consolas"/>
              </a:rPr>
              <a:t>----------------------------------------|---------------------|--------------|--------</a:t>
            </a:r>
          </a:p>
          <a:p>
            <a:r>
              <a:rPr sz="1250" b="0">
                <a:solidFill>
                  <a:srgbClr val="E6E6E6"/>
                </a:solidFill>
                <a:latin typeface="Consolas"/>
              </a:rPr>
              <a:t>salary BETWEEN 5000 AND 8000  (상수)    | RANGE SINGLE        | 2 / 2        |   1338</a:t>
            </a:r>
          </a:p>
          <a:p>
            <a:r>
              <a:rPr sz="1250" b="0">
                <a:solidFill>
                  <a:srgbClr val="E6E6E6"/>
                </a:solidFill>
                <a:latin typeface="Consolas"/>
              </a:rPr>
              <a:t>salary BETWEEN 3000 AND 8000  (상수)    | RANGE ITERATOR      | 1 / 2        |   3064</a:t>
            </a:r>
          </a:p>
          <a:p>
            <a:r>
              <a:rPr sz="1250" b="0">
                <a:solidFill>
                  <a:srgbClr val="E6E6E6"/>
                </a:solidFill>
                <a:latin typeface="Consolas"/>
              </a:rPr>
              <a:t>salary BETWEEN :b1 AND :b2    (바인드)  | RANGE ITERATOR      | KEY / KEY    |   1338</a:t>
            </a:r>
          </a:p>
          <a:p>
            <a:r>
              <a:rPr sz="1250" b="0">
                <a:solidFill>
                  <a:srgbClr val="E6E6E6"/>
                </a:solidFill>
                <a:latin typeface="Consolas"/>
              </a:rPr>
              <a:t>salary IN (2500, 24000)                 | RANGE INLIST        | KEY(I)       |   2378</a:t>
            </a:r>
          </a:p>
          <a:p>
            <a:r>
              <a:rPr sz="1250" b="0">
                <a:solidFill>
                  <a:srgbClr val="E6E6E6"/>
                </a:solidFill>
                <a:latin typeface="Consolas"/>
              </a:rPr>
              <a:t>salary + 0 BETWEEN 5000 AND 8000        | RANGE ALL           | 1 / 4        |   3716</a:t>
            </a:r>
          </a:p>
          <a:p>
            <a:r>
              <a:rPr sz="1250" b="0">
                <a:solidFill>
                  <a:srgbClr val="E6E6E6"/>
                </a:solidFill>
                <a:latin typeface="Consolas"/>
              </a:rPr>
              <a:t>TO_CHAR(salary) = '6000'                | RANGE ALL           | 1 / 4        |   3716</a:t>
            </a:r>
          </a:p>
          <a:p>
            <a:r>
              <a:rPr sz="1250" b="0">
                <a:solidFill>
                  <a:srgbClr val="E6E6E6"/>
                </a:solidFill>
                <a:latin typeface="Consolas"/>
              </a:rPr>
              <a:t>department_id = 50            (키 아님) | RANGE ALL           | 1 / 4        |   3716</a:t>
            </a:r>
          </a:p>
          <a:p>
            <a:r>
              <a:rPr sz="1250" b="0">
                <a:solidFill>
                  <a:srgbClr val="E6E6E6"/>
                </a:solidFill>
                <a:latin typeface="Consolas"/>
              </a:rPr>
              <a:t>salary &lt; 5000 OR department_id = 50     | RANGE ALL           | 1 / 4        |   3716</a:t>
            </a:r>
          </a:p>
          <a:p>
            <a:r>
              <a:rPr sz="1250" b="0">
                <a:solidFill>
                  <a:srgbClr val="E6E6E6"/>
                </a:solidFill>
                <a:latin typeface="Consolas"/>
              </a:rPr>
              <a:t>조인 (NL, 상대가 값 공급)               | RANGE AND           | KEY(AP)      |   1338</a:t>
            </a:r>
          </a:p>
          <a:p>
            <a:r>
              <a:rPr sz="1250" b="0">
                <a:solidFill>
                  <a:srgbClr val="E6E6E6"/>
                </a:solidFill>
                <a:latin typeface="Consolas"/>
              </a:rPr>
              <a:t>조인 (해시, 블룸 필터)                  | RANGE JOIN-FILTER   | :BF0000      |    652</a:t>
            </a:r>
          </a:p>
          <a:p>
            <a:r>
              <a:rPr sz="1250" b="0">
                <a:solidFill>
                  <a:srgbClr val="E6E6E6"/>
                </a:solidFill>
                <a:latin typeface="Consolas"/>
              </a:rPr>
              <a:t/>
            </a:r>
          </a:p>
          <a:p>
            <a:r>
              <a:rPr sz="1250" b="0">
                <a:solidFill>
                  <a:srgbClr val="E6E6E6"/>
                </a:solidFill>
                <a:latin typeface="Consolas"/>
              </a:rPr>
              <a:t>읽는 법</a:t>
            </a:r>
          </a:p>
          <a:p>
            <a:r>
              <a:rPr sz="1250" b="0">
                <a:solidFill>
                  <a:srgbClr val="E6E6E6"/>
                </a:solidFill>
                <a:latin typeface="Consolas"/>
              </a:rPr>
              <a:t>  · 프루닝 실패는 전부 같은 비용이다 (3716). 원인이 무엇이든 결과는 같다</a:t>
            </a:r>
          </a:p>
          <a:p>
            <a:r>
              <a:rPr sz="1250" b="0">
                <a:solidFill>
                  <a:srgbClr val="E6E6E6"/>
                </a:solidFill>
                <a:latin typeface="Consolas"/>
              </a:rPr>
              <a:t>  · 바인드 변수도 정적 프루닝과 같은 1338 이다. KEY 는 실패가 아니다</a:t>
            </a:r>
          </a:p>
          <a:p>
            <a:r>
              <a:rPr sz="1250" b="0">
                <a:solidFill>
                  <a:srgbClr val="E6E6E6"/>
                </a:solidFill>
                <a:latin typeface="Consolas"/>
              </a:rPr>
              <a:t>  · 블룸 필터 652 가 가장 싸다. 한 파티션의 일부만 읽었기 때문이다</a:t>
            </a:r>
          </a:p>
          <a:p>
            <a:r>
              <a:rPr sz="1250" b="0">
                <a:solidFill>
                  <a:srgbClr val="E6E6E6"/>
                </a:solidFill>
                <a:latin typeface="Consolas"/>
              </a:rPr>
              <a:t>  · 테이블 : 535,000건 / 3797블록 / 세그먼트 40MB / 파티션 4개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프루닝이 깨지는 네 가지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08 실측. 전부 Buffers 3716</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(1) 파티션 키에 연산</a:t>
            </a:r>
          </a:p>
          <a:p>
            <a:r>
              <a:rPr sz="1250" b="0">
                <a:solidFill>
                  <a:srgbClr val="E6E6E6"/>
                </a:solidFill>
                <a:latin typeface="Consolas"/>
              </a:rPr>
              <a:t>WHERE salary + 0 BETWEEN 5000 AND 8000      -- salary+0 은 파티션 키가 아니다</a:t>
            </a:r>
          </a:p>
          <a:p>
            <a:r>
              <a:rPr sz="1250" b="0">
                <a:solidFill>
                  <a:srgbClr val="E6E6E6"/>
                </a:solidFill>
                <a:latin typeface="Consolas"/>
              </a:rPr>
              <a:t>   같은 유형 : NVL(키,0) · TRUNC(키) · 키*1 · 키||''</a:t>
            </a:r>
          </a:p>
          <a:p>
            <a:r>
              <a:rPr sz="1250" b="0">
                <a:solidFill>
                  <a:srgbClr val="E6E6E6"/>
                </a:solidFill>
                <a:latin typeface="Consolas"/>
              </a:rPr>
              <a:t/>
            </a:r>
          </a:p>
          <a:p>
            <a:r>
              <a:rPr sz="1250" b="0">
                <a:solidFill>
                  <a:srgbClr val="E6E6E6"/>
                </a:solidFill>
                <a:latin typeface="Consolas"/>
              </a:rPr>
              <a:t>-- (2) 형 변환 (가장 찾기 어렵다)</a:t>
            </a:r>
          </a:p>
          <a:p>
            <a:r>
              <a:rPr sz="1250" b="0">
                <a:solidFill>
                  <a:srgbClr val="E6E6E6"/>
                </a:solidFill>
                <a:latin typeface="Consolas"/>
              </a:rPr>
              <a:t>WHERE TO_CHAR(salary) = '6000'              -- 명시적</a:t>
            </a:r>
          </a:p>
          <a:p>
            <a:r>
              <a:rPr sz="1250" b="0">
                <a:solidFill>
                  <a:srgbClr val="E6E6E6"/>
                </a:solidFill>
                <a:latin typeface="Consolas"/>
              </a:rPr>
              <a:t>WHERE yyyymm = 202501                       -- 암시적! yyyymm 이 VARCHAR2(6) 이면</a:t>
            </a:r>
          </a:p>
          <a:p>
            <a:r>
              <a:rPr sz="1250" b="0">
                <a:solidFill>
                  <a:srgbClr val="E6E6E6"/>
                </a:solidFill>
                <a:latin typeface="Consolas"/>
              </a:rPr>
              <a:t>   Oracle 이 TO_NUMBER(yyyymm) 을 씌우면서 조용히 프루닝이 사라진다</a:t>
            </a:r>
          </a:p>
          <a:p>
            <a:r>
              <a:rPr sz="1250" b="0">
                <a:solidFill>
                  <a:srgbClr val="E6E6E6"/>
                </a:solidFill>
                <a:latin typeface="Consolas"/>
              </a:rPr>
              <a:t>   -&gt; 파티션 키의 타입과 조건값의 타입을 반드시 일치시킨다</a:t>
            </a:r>
          </a:p>
          <a:p>
            <a:r>
              <a:rPr sz="1250" b="0">
                <a:solidFill>
                  <a:srgbClr val="E6E6E6"/>
                </a:solidFill>
                <a:latin typeface="Consolas"/>
              </a:rPr>
              <a:t/>
            </a:r>
          </a:p>
          <a:p>
            <a:r>
              <a:rPr sz="1250" b="0">
                <a:solidFill>
                  <a:srgbClr val="E6E6E6"/>
                </a:solidFill>
                <a:latin typeface="Consolas"/>
              </a:rPr>
              <a:t>-- (3) 파티션 키가 조건에 없다</a:t>
            </a:r>
          </a:p>
          <a:p>
            <a:r>
              <a:rPr sz="1250" b="0">
                <a:solidFill>
                  <a:srgbClr val="E6E6E6"/>
                </a:solidFill>
                <a:latin typeface="Consolas"/>
              </a:rPr>
              <a:t>WHERE department_id = 50                    -- 설계 문제다. 키 선택을 다시 본다</a:t>
            </a:r>
          </a:p>
          <a:p>
            <a:r>
              <a:rPr sz="1250" b="0">
                <a:solidFill>
                  <a:srgbClr val="E6E6E6"/>
                </a:solidFill>
                <a:latin typeface="Consolas"/>
              </a:rPr>
              <a:t/>
            </a:r>
          </a:p>
          <a:p>
            <a:r>
              <a:rPr sz="1250" b="0">
                <a:solidFill>
                  <a:srgbClr val="E6E6E6"/>
                </a:solidFill>
                <a:latin typeface="Consolas"/>
              </a:rPr>
              <a:t>-- (4) OR 로 묶였다</a:t>
            </a:r>
          </a:p>
          <a:p>
            <a:r>
              <a:rPr sz="1250" b="0">
                <a:solidFill>
                  <a:srgbClr val="E6E6E6"/>
                </a:solidFill>
                <a:latin typeface="Consolas"/>
              </a:rPr>
              <a:t>WHERE salary &lt; 5000 OR department_id = 50</a:t>
            </a:r>
          </a:p>
          <a:p>
            <a:r>
              <a:rPr sz="1250" b="0">
                <a:solidFill>
                  <a:srgbClr val="E6E6E6"/>
                </a:solidFill>
                <a:latin typeface="Consolas"/>
              </a:rPr>
              <a:t>   -&gt; UNION ALL 로 분해하면 앞쪽 분기만 프루닝된다</a:t>
            </a:r>
          </a:p>
          <a:p>
            <a:r>
              <a:rPr sz="1250" b="0">
                <a:solidFill>
                  <a:srgbClr val="E6E6E6"/>
                </a:solidFill>
                <a:latin typeface="Consolas"/>
              </a:rPr>
              <a:t/>
            </a:r>
          </a:p>
          <a:p>
            <a:r>
              <a:rPr sz="1250" b="0">
                <a:solidFill>
                  <a:srgbClr val="E6E6E6"/>
                </a:solidFill>
                <a:latin typeface="Consolas"/>
              </a:rPr>
              <a:t>검증 원칙</a:t>
            </a:r>
          </a:p>
          <a:p>
            <a:r>
              <a:rPr sz="1250" b="0">
                <a:solidFill>
                  <a:srgbClr val="E6E6E6"/>
                </a:solidFill>
                <a:latin typeface="Consolas"/>
              </a:rPr>
              <a:t>  성능 검증은 애플리케이션과 같은 형태(바인드 변수) 로 한다.</a:t>
            </a:r>
          </a:p>
          <a:p>
            <a:r>
              <a:rPr sz="1250" b="0">
                <a:solidFill>
                  <a:srgbClr val="E6E6E6"/>
                </a:solidFill>
                <a:latin typeface="Consolas"/>
              </a:rPr>
              <a:t>  상수로 테스트하면 정적 프루닝이라 항상 빠르다.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조인이 만드는 프루닝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조건절에 파티션 키가 없어도 걸린다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(1) 중첩 루프 : 조인 상대가 값을 공급한다 (AND-Pruning)</a:t>
            </a:r>
          </a:p>
          <a:p>
            <a:r>
              <a:rPr sz="1250" b="0">
                <a:solidFill>
                  <a:srgbClr val="E6E6E6"/>
                </a:solidFill>
                <a:latin typeface="Consolas"/>
              </a:rPr>
              <a:t>SELECT COUNT(*) FROM hr.emp_big b, hr.employees s</a:t>
            </a:r>
          </a:p>
          <a:p>
            <a:r>
              <a:rPr sz="1250" b="0">
                <a:solidFill>
                  <a:srgbClr val="E6E6E6"/>
                </a:solidFill>
                <a:latin typeface="Consolas"/>
              </a:rPr>
              <a:t>WHERE  b.salary = s.salary AND s.employee_id = 103;</a:t>
            </a:r>
          </a:p>
          <a:p>
            <a:r>
              <a:rPr sz="1250" b="0">
                <a:solidFill>
                  <a:srgbClr val="E6E6E6"/>
                </a:solidFill>
                <a:latin typeface="Consolas"/>
              </a:rPr>
              <a:t/>
            </a:r>
          </a:p>
          <a:p>
            <a:r>
              <a:rPr sz="1250" b="0">
                <a:solidFill>
                  <a:srgbClr val="E6E6E6"/>
                </a:solidFill>
                <a:latin typeface="Consolas"/>
              </a:rPr>
              <a:t>|   3 |    TABLE ACCESS BY INDEX ROWID| EMPLOYEES     | 1 |...|      2 |</a:t>
            </a:r>
          </a:p>
          <a:p>
            <a:r>
              <a:rPr sz="1250" b="0">
                <a:solidFill>
                  <a:srgbClr val="E6E6E6"/>
                </a:solidFill>
                <a:latin typeface="Consolas"/>
              </a:rPr>
              <a:t>|   5 |    PARTITION RANGE AND        |               | 1 |KEY(AP)|KEY(AP)| 1338 |</a:t>
            </a:r>
          </a:p>
          <a:p>
            <a:r>
              <a:rPr sz="1250" b="0">
                <a:solidFill>
                  <a:srgbClr val="E6E6E6"/>
                </a:solidFill>
                <a:latin typeface="Consolas"/>
              </a:rPr>
              <a:t>|*  6 |     TABLE ACCESS FULL         | EMP_BIG       | 1 |KEY(AP)|KEY(AP)| 1338 |</a:t>
            </a:r>
          </a:p>
          <a:p>
            <a:r>
              <a:rPr sz="1250" b="0">
                <a:solidFill>
                  <a:srgbClr val="E6E6E6"/>
                </a:solidFill>
                <a:latin typeface="Consolas"/>
              </a:rPr>
              <a:t>     employees 에서 salary 를 먼저 읽고 그 값으로 파티션을 골랐다</a:t>
            </a:r>
          </a:p>
          <a:p>
            <a:r>
              <a:rPr sz="1250" b="0">
                <a:solidFill>
                  <a:srgbClr val="E6E6E6"/>
                </a:solidFill>
                <a:latin typeface="Consolas"/>
              </a:rPr>
              <a:t/>
            </a:r>
          </a:p>
          <a:p>
            <a:r>
              <a:rPr sz="1250" b="0">
                <a:solidFill>
                  <a:srgbClr val="E6E6E6"/>
                </a:solidFill>
                <a:latin typeface="Consolas"/>
              </a:rPr>
              <a:t>-- (2) 해시 조인 : 블룸 필터</a:t>
            </a:r>
          </a:p>
          <a:p>
            <a:r>
              <a:rPr sz="1250" b="0">
                <a:solidFill>
                  <a:srgbClr val="E6E6E6"/>
                </a:solidFill>
                <a:latin typeface="Consolas"/>
              </a:rPr>
              <a:t>SELECT /*+ use_hash(b s) */ COUNT(*) FROM hr.emp_big b, hr.sal_emp s</a:t>
            </a:r>
          </a:p>
          <a:p>
            <a:r>
              <a:rPr sz="1250" b="0">
                <a:solidFill>
                  <a:srgbClr val="E6E6E6"/>
                </a:solidFill>
                <a:latin typeface="Consolas"/>
              </a:rPr>
              <a:t>WHERE  b.salary = s.salary AND s.employee_id = 102;</a:t>
            </a:r>
          </a:p>
          <a:p>
            <a:r>
              <a:rPr sz="1250" b="0">
                <a:solidFill>
                  <a:srgbClr val="E6E6E6"/>
                </a:solidFill>
                <a:latin typeface="Consolas"/>
              </a:rPr>
              <a:t/>
            </a:r>
          </a:p>
          <a:p>
            <a:r>
              <a:rPr sz="1250" b="0">
                <a:solidFill>
                  <a:srgbClr val="E6E6E6"/>
                </a:solidFill>
                <a:latin typeface="Consolas"/>
              </a:rPr>
              <a:t>|   3 |    PART JOIN FILTER CREATE    | :BF0000 | 1 |...|       14 |</a:t>
            </a:r>
          </a:p>
          <a:p>
            <a:r>
              <a:rPr sz="1250" b="0">
                <a:solidFill>
                  <a:srgbClr val="E6E6E6"/>
                </a:solidFill>
                <a:latin typeface="Consolas"/>
              </a:rPr>
              <a:t>|   6 |    PARTITION RANGE JOIN-FILTER|         | 1 |:BF0000|:BF0000| 652 |</a:t>
            </a:r>
          </a:p>
          <a:p>
            <a:r>
              <a:rPr sz="1250" b="0">
                <a:solidFill>
                  <a:srgbClr val="E6E6E6"/>
                </a:solidFill>
                <a:latin typeface="Consolas"/>
              </a:rPr>
              <a:t>|   7 |     TABLE ACCESS FULL         | EMP_BIG | 1 |:BF0000|:BF0000| 652 |</a:t>
            </a:r>
          </a:p>
          <a:p>
            <a:r>
              <a:rPr sz="1250" b="0">
                <a:solidFill>
                  <a:srgbClr val="E6E6E6"/>
                </a:solidFill>
                <a:latin typeface="Consolas"/>
              </a:rPr>
              <a:t>     A-Rows 95000 — part3 하나만 읽었다. 전체 스캔(3716) 의 1/5 이다</a:t>
            </a:r>
          </a:p>
          <a:p>
            <a:r>
              <a:rPr sz="1250" b="0">
                <a:solidFill>
                  <a:srgbClr val="E6E6E6"/>
                </a:solidFill>
                <a:latin typeface="Consolas"/>
              </a:rPr>
              <a:t/>
            </a:r>
          </a:p>
          <a:p>
            <a:r>
              <a:rPr sz="1250" b="0">
                <a:solidFill>
                  <a:srgbClr val="E6E6E6"/>
                </a:solidFill>
                <a:latin typeface="Consolas"/>
              </a:rPr>
              <a:t>설계 관점 : 큰 파티션 테이블 + 작은 차원 테이블 조인(스타 스키마) 에서 자동으로 걸린다.</a:t>
            </a:r>
          </a:p>
          <a:p>
            <a:r>
              <a:rPr sz="1250" b="0">
                <a:solidFill>
                  <a:srgbClr val="E6E6E6"/>
                </a:solidFill>
                <a:latin typeface="Consolas"/>
              </a:rPr>
              <a:t>            조인 순서가 뒤집히면 사라진다. 계획이 바뀌면 이것부터 확인한다.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파티션 인덱스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LOCAL 은 1:1, GLOBAL 은 무관</a:t>
            </a:r>
          </a:p>
          <a:p>
            <a:pPr>
              <a:spcAft>
                <a:spcPts val="600"/>
              </a:spcAft>
            </a:pPr>
            <a:r>
              <a:rPr sz="1600" b="0">
                <a:solidFill>
                  <a:srgbClr val="C5CED6"/>
                </a:solidFill>
                <a:latin typeface="Malgun Gothic"/>
              </a:rPr>
              <a:t>•  접두(PREFIXED) 와 비접두(NON_PREFIXED)</a:t>
            </a:r>
          </a:p>
          <a:p>
            <a:pPr>
              <a:spcAft>
                <a:spcPts val="600"/>
              </a:spcAft>
            </a:pPr>
            <a:r>
              <a:rPr sz="1600" b="0">
                <a:solidFill>
                  <a:srgbClr val="C5CED6"/>
                </a:solidFill>
                <a:latin typeface="Malgun Gothic"/>
              </a:rPr>
              <a:t>•  UNUSABLE 은 오류를 내지 않는다 — 조용히 느려진다</a:t>
            </a:r>
          </a:p>
          <a:p>
            <a:pPr>
              <a:spcAft>
                <a:spcPts val="600"/>
              </a:spcAft>
            </a:pPr>
            <a:r>
              <a:rPr sz="1600" b="0">
                <a:solidFill>
                  <a:srgbClr val="C5CED6"/>
                </a:solidFill>
                <a:latin typeface="Malgun Gothic"/>
              </a:rPr>
              <a:t>•  UPDATE INDEXES 와 파티션 단위 REBUILD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LOCAL 과 GLOBAL</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구조 — LOCAL 은 테이블 파티션과 1:1, GLOBAL 은 무관</a:t>
            </a:r>
          </a:p>
          <a:p>
            <a:pPr>
              <a:spcAft>
                <a:spcPts val="600"/>
              </a:spcAft>
            </a:pPr>
            <a:r>
              <a:rPr sz="1600" b="0">
                <a:solidFill>
                  <a:srgbClr val="202830"/>
                </a:solidFill>
                <a:latin typeface="Malgun Gothic"/>
              </a:rPr>
              <a:t>    –  LOCAL 파티션 수는 테이블과 항상 같다. 실측 GLOBAL 은 테이블 6, 인덱스 4</a:t>
            </a:r>
          </a:p>
          <a:p>
            <a:pPr>
              <a:spcAft>
                <a:spcPts val="600"/>
              </a:spcAft>
            </a:pPr>
            <a:r>
              <a:rPr sz="1800" b="0">
                <a:solidFill>
                  <a:srgbClr val="202830"/>
                </a:solidFill>
                <a:latin typeface="Malgun Gothic"/>
              </a:rPr>
              <a:t>•  비접두 허용 — LOCAL 은 허용, GLOBAL 은 불가 (ORA-14038)</a:t>
            </a:r>
          </a:p>
          <a:p>
            <a:pPr>
              <a:spcAft>
                <a:spcPts val="600"/>
              </a:spcAft>
            </a:pPr>
            <a:r>
              <a:rPr sz="1800" b="0">
                <a:solidFill>
                  <a:srgbClr val="202830"/>
                </a:solidFill>
                <a:latin typeface="Malgun Gothic"/>
              </a:rPr>
              <a:t>•  UNIQUE — LOCAL 은 키에 파티션 컬럼 포함 필수 (ORA-14039), GLOBAL 은 제약 없음</a:t>
            </a:r>
          </a:p>
          <a:p>
            <a:pPr>
              <a:spcAft>
                <a:spcPts val="600"/>
              </a:spcAft>
            </a:pPr>
            <a:r>
              <a:rPr sz="1600" b="0">
                <a:solidFill>
                  <a:srgbClr val="202830"/>
                </a:solidFill>
                <a:latin typeface="Malgun Gothic"/>
              </a:rPr>
              <a:t>    –  LOCAL 은 파티션마다 독립적이라 파티션을 가로질러 유일성을 보장할 수 없다</a:t>
            </a:r>
          </a:p>
          <a:p>
            <a:pPr>
              <a:spcAft>
                <a:spcPts val="600"/>
              </a:spcAft>
            </a:pPr>
            <a:r>
              <a:rPr sz="1800" b="0">
                <a:solidFill>
                  <a:srgbClr val="202830"/>
                </a:solidFill>
                <a:latin typeface="Malgun Gothic"/>
              </a:rPr>
              <a:t>•  DROP PARTITION — LOCAL 은 해당 인덱스 파티션만 사라지고 나머지 USABLE</a:t>
            </a:r>
          </a:p>
          <a:p>
            <a:pPr>
              <a:spcAft>
                <a:spcPts val="600"/>
              </a:spcAft>
            </a:pPr>
            <a:r>
              <a:rPr sz="1600" b="0">
                <a:solidFill>
                  <a:srgbClr val="202830"/>
                </a:solidFill>
                <a:latin typeface="Malgun Gothic"/>
              </a:rPr>
              <a:t>    –  GLOBAL 은 인덱스 전체가 UNUSABLE 이 된다. 실측 4개 파티션 전부</a:t>
            </a:r>
          </a:p>
          <a:p>
            <a:pPr>
              <a:spcAft>
                <a:spcPts val="600"/>
              </a:spcAft>
            </a:pPr>
            <a:r>
              <a:rPr sz="1800" b="0">
                <a:solidFill>
                  <a:srgbClr val="202830"/>
                </a:solidFill>
                <a:latin typeface="Malgun Gothic"/>
              </a:rPr>
              <a:t>•  MOVE PARTITION — LOCAL 은 그 파티션만, GLOBAL 은 전체 UNUSABLE</a:t>
            </a:r>
          </a:p>
          <a:p>
            <a:pPr>
              <a:spcAft>
                <a:spcPts val="600"/>
              </a:spcAft>
            </a:pPr>
            <a:r>
              <a:rPr sz="1800" b="0">
                <a:solidFill>
                  <a:srgbClr val="202830"/>
                </a:solidFill>
                <a:latin typeface="Malgun Gothic"/>
              </a:rPr>
              <a:t>•  전체 REBUILD — 파티션 인덱스는 불가 (ORA-14086). 파티션 단위로 반복한다</a:t>
            </a:r>
          </a:p>
          <a:p>
            <a:pPr>
              <a:spcAft>
                <a:spcPts val="600"/>
              </a:spcAft>
            </a:pPr>
            <a:r>
              <a:rPr sz="1800" b="0">
                <a:solidFill>
                  <a:srgbClr val="202830"/>
                </a:solidFill>
                <a:latin typeface="Malgun Gothic"/>
              </a:rPr>
              <a:t>•  status 확인 위치 — 파티션 인덱스는 dba_ind_partitions 에만 있다</a:t>
            </a:r>
          </a:p>
          <a:p>
            <a:pPr>
              <a:spcAft>
                <a:spcPts val="600"/>
              </a:spcAft>
            </a:pPr>
            <a:r>
              <a:rPr sz="1600" b="0">
                <a:solidFill>
                  <a:srgbClr val="202830"/>
                </a:solidFill>
                <a:latin typeface="Malgun Gothic"/>
              </a:rPr>
              <a:t>    –  dba_indexes.status 는 파티션 인덱스에서 N/A 다. 점검 쿼리가 두 개 필요하다</a:t>
            </a:r>
          </a:p>
          <a:p>
            <a:pPr>
              <a:spcAft>
                <a:spcPts val="600"/>
              </a:spcAft>
            </a:pPr>
            <a:r>
              <a:rPr sz="1800" b="0">
                <a:solidFill>
                  <a:srgbClr val="202830"/>
                </a:solidFill>
                <a:latin typeface="Malgun Gothic"/>
              </a:rPr>
              <a:t>•  선택 — 특별한 이유가 없으면 LOCAL. 조회 조건이 파티션 키와 다르면 GLOBAL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접두와 비접두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09 실측. 비접두가 항상 나쁜 것은 아니다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접두 : 인덱스 선두 컬럼 = 파티션 키</a:t>
            </a:r>
          </a:p>
          <a:p>
            <a:r>
              <a:rPr sz="1250" b="0">
                <a:solidFill>
                  <a:srgbClr val="E6E6E6"/>
                </a:solidFill>
                <a:latin typeface="Consolas"/>
              </a:rPr>
              <a:t>CREATE UNIQUE INDEX hr.emp_local_idx ON hr.emp_local(employee_id) LOCAL;</a:t>
            </a:r>
          </a:p>
          <a:p>
            <a:r>
              <a:rPr sz="1250" b="0">
                <a:solidFill>
                  <a:srgbClr val="E6E6E6"/>
                </a:solidFill>
                <a:latin typeface="Consolas"/>
              </a:rPr>
              <a:t>INDEX_NAME     UNIQUENES LOCALI ALIGNMENT    PAR PARTITION_COUNT</a:t>
            </a:r>
          </a:p>
          <a:p>
            <a:r>
              <a:rPr sz="1250" b="0">
                <a:solidFill>
                  <a:srgbClr val="E6E6E6"/>
                </a:solidFill>
                <a:latin typeface="Consolas"/>
              </a:rPr>
              <a:t>EMP_LOCAL_IDX  UNIQUE    LOCAL  PREFIXED     YES               6</a:t>
            </a:r>
          </a:p>
          <a:p>
            <a:r>
              <a:rPr sz="1250" b="0">
                <a:solidFill>
                  <a:srgbClr val="E6E6E6"/>
                </a:solidFill>
                <a:latin typeface="Consolas"/>
              </a:rPr>
              <a:t/>
            </a:r>
          </a:p>
          <a:p>
            <a:r>
              <a:rPr sz="1250" b="0">
                <a:solidFill>
                  <a:srgbClr val="E6E6E6"/>
                </a:solidFill>
                <a:latin typeface="Consolas"/>
              </a:rPr>
              <a:t>WHERE employee_id = 1000</a:t>
            </a:r>
          </a:p>
          <a:p>
            <a:r>
              <a:rPr sz="1250" b="0">
                <a:solidFill>
                  <a:srgbClr val="E6E6E6"/>
                </a:solidFill>
                <a:latin typeface="Consolas"/>
              </a:rPr>
              <a:t>|   2 |   PARTITION RANGE SINGLE|               | 1 | 1 | 1 |...|   2 |</a:t>
            </a:r>
          </a:p>
          <a:p>
            <a:r>
              <a:rPr sz="1250" b="0">
                <a:solidFill>
                  <a:srgbClr val="E6E6E6"/>
                </a:solidFill>
                <a:latin typeface="Consolas"/>
              </a:rPr>
              <a:t>|*  3 |    INDEX UNIQUE SCAN    | EMP_LOCAL_IDX | 1 | 1 | 1 |...|   2 |</a:t>
            </a:r>
          </a:p>
          <a:p>
            <a:r>
              <a:rPr sz="1250" b="0">
                <a:solidFill>
                  <a:srgbClr val="E6E6E6"/>
                </a:solidFill>
                <a:latin typeface="Consolas"/>
              </a:rPr>
              <a:t>     인덱스 파티션 6개 중 1개만 탐색. Buffers 2  (인덱스 없을 때는 139)</a:t>
            </a:r>
          </a:p>
          <a:p>
            <a:r>
              <a:rPr sz="1250" b="0">
                <a:solidFill>
                  <a:srgbClr val="E6E6E6"/>
                </a:solidFill>
                <a:latin typeface="Consolas"/>
              </a:rPr>
              <a:t/>
            </a:r>
          </a:p>
          <a:p>
            <a:r>
              <a:rPr sz="1250" b="0">
                <a:solidFill>
                  <a:srgbClr val="E6E6E6"/>
                </a:solidFill>
                <a:latin typeface="Consolas"/>
              </a:rPr>
              <a:t>-- 비접두 : 인덱스 선두 컬럼 != 파티션 키</a:t>
            </a:r>
          </a:p>
          <a:p>
            <a:r>
              <a:rPr sz="1250" b="0">
                <a:solidFill>
                  <a:srgbClr val="E6E6E6"/>
                </a:solidFill>
                <a:latin typeface="Consolas"/>
              </a:rPr>
              <a:t>CREATE INDEX hr.emp_local_hd ON hr.emp_local(hire_date) LOCAL;</a:t>
            </a:r>
          </a:p>
          <a:p>
            <a:r>
              <a:rPr sz="1250" b="0">
                <a:solidFill>
                  <a:srgbClr val="E6E6E6"/>
                </a:solidFill>
                <a:latin typeface="Consolas"/>
              </a:rPr>
              <a:t>EMP_LOCAL_HD   NONUNIQUE LOCAL  NON_PREFIXED                   6</a:t>
            </a:r>
          </a:p>
          <a:p>
            <a:r>
              <a:rPr sz="1250" b="0">
                <a:solidFill>
                  <a:srgbClr val="E6E6E6"/>
                </a:solidFill>
                <a:latin typeface="Consolas"/>
              </a:rPr>
              <a:t/>
            </a:r>
          </a:p>
          <a:p>
            <a:r>
              <a:rPr sz="1250" b="0">
                <a:solidFill>
                  <a:srgbClr val="E6E6E6"/>
                </a:solidFill>
                <a:latin typeface="Consolas"/>
              </a:rPr>
              <a:t>WHERE hire_date = DATE '2003-06-17'</a:t>
            </a:r>
          </a:p>
          <a:p>
            <a:r>
              <a:rPr sz="1250" b="0">
                <a:solidFill>
                  <a:srgbClr val="E6E6E6"/>
                </a:solidFill>
                <a:latin typeface="Consolas"/>
              </a:rPr>
              <a:t>|   2 |   PARTITION RANGE ALL|              | 1 | 1092 | 1 | 6 | 1000 |...|  14 |</a:t>
            </a:r>
          </a:p>
          <a:p>
            <a:r>
              <a:rPr sz="1250" b="0">
                <a:solidFill>
                  <a:srgbClr val="E6E6E6"/>
                </a:solidFill>
                <a:latin typeface="Consolas"/>
              </a:rPr>
              <a:t>|*  3 |    INDEX RANGE SCAN  | EMP_LOCAL_HD | 6 | 1092 | 1 | 6 | 1000 |...|  14 |</a:t>
            </a:r>
          </a:p>
          <a:p>
            <a:r>
              <a:rPr sz="1250" b="0">
                <a:solidFill>
                  <a:srgbClr val="E6E6E6"/>
                </a:solidFill>
                <a:latin typeface="Consolas"/>
              </a:rPr>
              <a:t>     인덱스 파티션 6개를 전부 탐색(Starts=6). 그래도 Buffers 는 14 로 작다</a:t>
            </a:r>
          </a:p>
          <a:p>
            <a:r>
              <a:rPr sz="1250" b="0">
                <a:solidFill>
                  <a:srgbClr val="E6E6E6"/>
                </a:solidFill>
                <a:latin typeface="Consolas"/>
              </a:rPr>
              <a:t/>
            </a:r>
          </a:p>
          <a:p>
            <a:r>
              <a:rPr sz="1250" b="0">
                <a:solidFill>
                  <a:srgbClr val="E6E6E6"/>
                </a:solidFill>
                <a:latin typeface="Consolas"/>
              </a:rPr>
              <a:t>판단 기준은 파티션 수다. 6개면 문제없고 수백 개면 오버헤드가 커진다.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UNUSABLE 은 오류를 내지 않는다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10 실측. 조용히 6배 느려진다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GLOBAL 파티션 인덱스가 있는 테이블에서 파티션 하나를 지웠다</a:t>
            </a:r>
          </a:p>
          <a:p>
            <a:r>
              <a:rPr sz="1250" b="0">
                <a:solidFill>
                  <a:srgbClr val="E6E6E6"/>
                </a:solidFill>
                <a:latin typeface="Consolas"/>
              </a:rPr>
              <a:t>ALTER TABLE hr.emp_global DROP PARTITION p4;</a:t>
            </a:r>
          </a:p>
          <a:p>
            <a:r>
              <a:rPr sz="1250" b="0">
                <a:solidFill>
                  <a:srgbClr val="E6E6E6"/>
                </a:solidFill>
                <a:latin typeface="Consolas"/>
              </a:rPr>
              <a:t/>
            </a:r>
          </a:p>
          <a:p>
            <a:r>
              <a:rPr sz="1250" b="0">
                <a:solidFill>
                  <a:srgbClr val="E6E6E6"/>
                </a:solidFill>
                <a:latin typeface="Consolas"/>
              </a:rPr>
              <a:t>PARTITIO STATUS          PARTITIO STATUS</a:t>
            </a:r>
          </a:p>
          <a:p>
            <a:r>
              <a:rPr sz="1250" b="0">
                <a:solidFill>
                  <a:srgbClr val="E6E6E6"/>
                </a:solidFill>
                <a:latin typeface="Consolas"/>
              </a:rPr>
              <a:t>-------- --------        -------- --------</a:t>
            </a:r>
          </a:p>
          <a:p>
            <a:r>
              <a:rPr sz="1250" b="0">
                <a:solidFill>
                  <a:srgbClr val="E6E6E6"/>
                </a:solidFill>
                <a:latin typeface="Consolas"/>
              </a:rPr>
              <a:t>P2004    USABLE     -&gt;   P2004    UNUSABLE</a:t>
            </a:r>
          </a:p>
          <a:p>
            <a:r>
              <a:rPr sz="1250" b="0">
                <a:solidFill>
                  <a:srgbClr val="E6E6E6"/>
                </a:solidFill>
                <a:latin typeface="Consolas"/>
              </a:rPr>
              <a:t>P2005    USABLE          P2005    UNUSABLE     &lt;- 인덱스 전체가 무효가 됐다</a:t>
            </a:r>
          </a:p>
          <a:p>
            <a:r>
              <a:rPr sz="1250" b="0">
                <a:solidFill>
                  <a:srgbClr val="E6E6E6"/>
                </a:solidFill>
                <a:latin typeface="Consolas"/>
              </a:rPr>
              <a:t>P2006    USABLE          P2006    UNUSABLE</a:t>
            </a:r>
          </a:p>
          <a:p>
            <a:r>
              <a:rPr sz="1250" b="0">
                <a:solidFill>
                  <a:srgbClr val="E6E6E6"/>
                </a:solidFill>
                <a:latin typeface="Consolas"/>
              </a:rPr>
              <a:t>PMAX     USABLE          PMAX     UNUSABLE</a:t>
            </a:r>
          </a:p>
          <a:p>
            <a:r>
              <a:rPr sz="1250" b="0">
                <a:solidFill>
                  <a:srgbClr val="E6E6E6"/>
                </a:solidFill>
                <a:latin typeface="Consolas"/>
              </a:rPr>
              <a:t/>
            </a:r>
          </a:p>
          <a:p>
            <a:r>
              <a:rPr sz="1250" b="0">
                <a:solidFill>
                  <a:srgbClr val="E6E6E6"/>
                </a:solidFill>
                <a:latin typeface="Consolas"/>
              </a:rPr>
              <a:t>-- 힌트로 강제하면 오류가 난다</a:t>
            </a:r>
          </a:p>
          <a:p>
            <a:r>
              <a:rPr sz="1250" b="0">
                <a:solidFill>
                  <a:srgbClr val="E6E6E6"/>
                </a:solidFill>
                <a:latin typeface="Consolas"/>
              </a:rPr>
              <a:t>ORA-01502: index HR.EMP_GLOBAL_IDX or partition of such index is in unusable state</a:t>
            </a:r>
          </a:p>
          <a:p>
            <a:r>
              <a:rPr sz="1250" b="0">
                <a:solidFill>
                  <a:srgbClr val="E6E6E6"/>
                </a:solidFill>
                <a:latin typeface="Consolas"/>
              </a:rPr>
              <a:t/>
            </a:r>
          </a:p>
          <a:p>
            <a:r>
              <a:rPr sz="1250" b="0">
                <a:solidFill>
                  <a:srgbClr val="E6E6E6"/>
                </a:solidFill>
                <a:latin typeface="Consolas"/>
              </a:rPr>
              <a:t>-- 힌트가 없으면 조용히 풀 스캔으로 우회한다  (오류 없음!)</a:t>
            </a:r>
          </a:p>
          <a:p>
            <a:r>
              <a:rPr sz="1250" b="0">
                <a:solidFill>
                  <a:srgbClr val="E6E6E6"/>
                </a:solidFill>
                <a:latin typeface="Consolas"/>
              </a:rPr>
              <a:t>|   2 |   PARTITION RANGE ALL| | 1 | 13669 | 1 | 5 | 23579 |...|  608 |</a:t>
            </a:r>
          </a:p>
          <a:p>
            <a:r>
              <a:rPr sz="1250" b="0">
                <a:solidFill>
                  <a:srgbClr val="E6E6E6"/>
                </a:solidFill>
                <a:latin typeface="Consolas"/>
              </a:rPr>
              <a:t>        Buffers 94  -&gt;  608.  6배 이상 느려졌는데 아무 오류가 없다</a:t>
            </a:r>
          </a:p>
          <a:p>
            <a:r>
              <a:rPr sz="1250" b="0">
                <a:solidFill>
                  <a:srgbClr val="E6E6E6"/>
                </a:solidFill>
                <a:latin typeface="Consolas"/>
              </a:rPr>
              <a:t/>
            </a:r>
          </a:p>
          <a:p>
            <a:r>
              <a:rPr sz="1250" b="0">
                <a:solidFill>
                  <a:srgbClr val="E6E6E6"/>
                </a:solidFill>
                <a:latin typeface="Consolas"/>
              </a:rPr>
              <a:t>-- 복구 : 통째로는 안 된다</a:t>
            </a:r>
          </a:p>
          <a:p>
            <a:r>
              <a:rPr sz="1250" b="0">
                <a:solidFill>
                  <a:srgbClr val="E6E6E6"/>
                </a:solidFill>
                <a:latin typeface="Consolas"/>
              </a:rPr>
              <a:t>ALTER INDEX hr.emp_global_idx REBUILD;              -&gt; ORA-14086</a:t>
            </a:r>
          </a:p>
          <a:p>
            <a:r>
              <a:rPr sz="1250" b="0">
                <a:solidFill>
                  <a:srgbClr val="E6E6E6"/>
                </a:solidFill>
                <a:latin typeface="Consolas"/>
              </a:rPr>
              <a:t>ALTER INDEX hr.emp_global_idx REBUILD PARTITION p2004;   -- 파티션마다 반복</a:t>
            </a:r>
          </a:p>
          <a:p>
            <a:r>
              <a:rPr sz="1250" b="0">
                <a:solidFill>
                  <a:srgbClr val="E6E6E6"/>
                </a:solidFill>
                <a:latin typeface="Consolas"/>
              </a:rPr>
              <a:t>   복구 후 leaf_blocks 77/93/77/97 -&gt; 63/76/63/79, Buffers 608 -&gt; 77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예방과 점검 — 절차서에 박아 둔다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UPDATE INDEXES 와 두 개의 점검 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예방 : 모든 파티션 DDL 에 UPDATE INDEXES 를 붙인다</a:t>
            </a:r>
          </a:p>
          <a:p>
            <a:r>
              <a:rPr sz="1250" b="0">
                <a:solidFill>
                  <a:srgbClr val="E6E6E6"/>
                </a:solidFill>
                <a:latin typeface="Consolas"/>
              </a:rPr>
              <a:t>ALTER TABLE hr.emp_global DROP PARTITION p5 UPDATE INDEXES;</a:t>
            </a:r>
          </a:p>
          <a:p>
            <a:r>
              <a:rPr sz="1250" b="0">
                <a:solidFill>
                  <a:srgbClr val="E6E6E6"/>
                </a:solidFill>
                <a:latin typeface="Consolas"/>
              </a:rPr>
              <a:t>   -&gt; 작업 후 네 인덱스 파티션이 모두 USABLE. UNUSABLE 구간이 없다</a:t>
            </a:r>
          </a:p>
          <a:p>
            <a:r>
              <a:rPr sz="1250" b="0">
                <a:solidFill>
                  <a:srgbClr val="E6E6E6"/>
                </a:solidFill>
                <a:latin typeface="Consolas"/>
              </a:rPr>
              <a:t>ALTER TABLE hr.emp_local MOVE PARTITION p2 TABLESPACE part_arch UPDATE INDEXES;</a:t>
            </a:r>
          </a:p>
          <a:p>
            <a:r>
              <a:rPr sz="1250" b="0">
                <a:solidFill>
                  <a:srgbClr val="E6E6E6"/>
                </a:solidFill>
                <a:latin typeface="Consolas"/>
              </a:rPr>
              <a:t>   -&gt; 인덱스 파티션의 tablespace 는 그대로다 (테이블만 옮겼다)</a:t>
            </a:r>
          </a:p>
          <a:p>
            <a:r>
              <a:rPr sz="1250" b="0">
                <a:solidFill>
                  <a:srgbClr val="E6E6E6"/>
                </a:solidFill>
                <a:latin typeface="Consolas"/>
              </a:rPr>
              <a:t/>
            </a:r>
          </a:p>
          <a:p>
            <a:r>
              <a:rPr sz="1250" b="0">
                <a:solidFill>
                  <a:srgbClr val="E6E6E6"/>
                </a:solidFill>
                <a:latin typeface="Consolas"/>
              </a:rPr>
              <a:t>   비용 : 인덱스 갱신을 포함하므로 DDL 이 느려진다</a:t>
            </a:r>
          </a:p>
          <a:p>
            <a:r>
              <a:rPr sz="1250" b="0">
                <a:solidFill>
                  <a:srgbClr val="E6E6E6"/>
                </a:solidFill>
                <a:latin typeface="Consolas"/>
              </a:rPr>
              <a:t>   야간 창이 충분하면 MOVE 후 REBUILD, 서비스 중이면 UPDATE INDEXES</a:t>
            </a:r>
          </a:p>
          <a:p>
            <a:r>
              <a:rPr sz="1250" b="0">
                <a:solidFill>
                  <a:srgbClr val="E6E6E6"/>
                </a:solidFill>
                <a:latin typeface="Consolas"/>
              </a:rPr>
              <a:t/>
            </a:r>
          </a:p>
          <a:p>
            <a:r>
              <a:rPr sz="1250" b="0">
                <a:solidFill>
                  <a:srgbClr val="E6E6E6"/>
                </a:solidFill>
                <a:latin typeface="Consolas"/>
              </a:rPr>
              <a:t>-- 점검 : 두 쿼리가 모두 필요하다</a:t>
            </a:r>
          </a:p>
          <a:p>
            <a:r>
              <a:rPr sz="1250" b="0">
                <a:solidFill>
                  <a:srgbClr val="E6E6E6"/>
                </a:solidFill>
                <a:latin typeface="Consolas"/>
              </a:rPr>
              <a:t>SELECT index_owner, index_name, partition_name FROM dba_ind_partitions</a:t>
            </a:r>
          </a:p>
          <a:p>
            <a:r>
              <a:rPr sz="1250" b="0">
                <a:solidFill>
                  <a:srgbClr val="E6E6E6"/>
                </a:solidFill>
                <a:latin typeface="Consolas"/>
              </a:rPr>
              <a:t>WHERE  status &lt;&gt; 'USABLE';                  -- 파티션 인덱스</a:t>
            </a:r>
          </a:p>
          <a:p>
            <a:r>
              <a:rPr sz="1250" b="0">
                <a:solidFill>
                  <a:srgbClr val="E6E6E6"/>
                </a:solidFill>
                <a:latin typeface="Consolas"/>
              </a:rPr>
              <a:t>SELECT owner, index_name FROM dba_indexes</a:t>
            </a:r>
          </a:p>
          <a:p>
            <a:r>
              <a:rPr sz="1250" b="0">
                <a:solidFill>
                  <a:srgbClr val="E6E6E6"/>
                </a:solidFill>
                <a:latin typeface="Consolas"/>
              </a:rPr>
              <a:t>WHERE  status = 'UNUSABLE';                 -- 비파티션 인덱스</a:t>
            </a:r>
          </a:p>
          <a:p>
            <a:r>
              <a:rPr sz="1250" b="0">
                <a:solidFill>
                  <a:srgbClr val="E6E6E6"/>
                </a:solidFill>
                <a:latin typeface="Consolas"/>
              </a:rPr>
              <a:t/>
            </a:r>
          </a:p>
          <a:p>
            <a:r>
              <a:rPr sz="1250" b="0">
                <a:solidFill>
                  <a:srgbClr val="E6E6E6"/>
                </a:solidFill>
                <a:latin typeface="Consolas"/>
              </a:rPr>
              <a:t>-- 복구 스크립트 생성</a:t>
            </a:r>
          </a:p>
          <a:p>
            <a:r>
              <a:rPr sz="1250" b="0">
                <a:solidFill>
                  <a:srgbClr val="E6E6E6"/>
                </a:solidFill>
                <a:latin typeface="Consolas"/>
              </a:rPr>
              <a:t>SELECT 'ALTER INDEX '||index_owner||'.'||index_name||</a:t>
            </a:r>
          </a:p>
          <a:p>
            <a:r>
              <a:rPr sz="1250" b="0">
                <a:solidFill>
                  <a:srgbClr val="E6E6E6"/>
                </a:solidFill>
                <a:latin typeface="Consolas"/>
              </a:rPr>
              <a:t>       ' REBUILD PARTITION '||partition_name||' ONLINE;'</a:t>
            </a:r>
          </a:p>
          <a:p>
            <a:r>
              <a:rPr sz="1250" b="0">
                <a:solidFill>
                  <a:srgbClr val="E6E6E6"/>
                </a:solidFill>
                <a:latin typeface="Consolas"/>
              </a:rPr>
              <a:t>FROM   dba_ind_partitions WHERE status &lt;&gt; 'USABLE';</a:t>
            </a:r>
          </a:p>
          <a:p>
            <a:r>
              <a:rPr sz="1250" b="0">
                <a:solidFill>
                  <a:srgbClr val="E6E6E6"/>
                </a:solidFill>
                <a:latin typeface="Consolas"/>
              </a:rPr>
              <a:t/>
            </a:r>
          </a:p>
          <a:p>
            <a:r>
              <a:rPr sz="1250" b="0">
                <a:solidFill>
                  <a:srgbClr val="E6E6E6"/>
                </a:solidFill>
                <a:latin typeface="Consolas"/>
              </a:rPr>
              <a:t>UNUSABLE 을 만드는 작업 : MOVE · SPLIT · MERGE · EXCHANGE · TRUNCATE · 직접 적재</a:t>
            </a:r>
          </a:p>
          <a:p>
            <a:r>
              <a:rPr sz="1250" b="0">
                <a:solidFill>
                  <a:srgbClr val="E6E6E6"/>
                </a:solidFill>
                <a:latin typeface="Consolas"/>
              </a:rPr>
              <a:t>LOCAL 인덱스에서 DROP PARTITION 은 UNUSABLE 을 만들지 않는다 (유일한 예외)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관리 DDL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열한 가지 DDL 과 그 비용</a:t>
            </a:r>
          </a:p>
          <a:p>
            <a:pPr>
              <a:spcAft>
                <a:spcPts val="600"/>
              </a:spcAft>
            </a:pPr>
            <a:r>
              <a:rPr sz="1600" b="0">
                <a:solidFill>
                  <a:srgbClr val="C5CED6"/>
                </a:solidFill>
                <a:latin typeface="Malgun Gothic"/>
              </a:rPr>
              <a:t>•  즉시 끝나는 것과 데이터를 재작성하는 것</a:t>
            </a:r>
          </a:p>
          <a:p>
            <a:pPr>
              <a:spcAft>
                <a:spcPts val="600"/>
              </a:spcAft>
            </a:pPr>
            <a:r>
              <a:rPr sz="1600" b="0">
                <a:solidFill>
                  <a:srgbClr val="C5CED6"/>
                </a:solidFill>
                <a:latin typeface="Malgun Gothic"/>
              </a:rPr>
              <a:t>•  ROW MOVEMENT 와 ORA-14402</a:t>
            </a:r>
          </a:p>
          <a:p>
            <a:pPr>
              <a:spcAft>
                <a:spcPts val="600"/>
              </a:spcAft>
            </a:pPr>
            <a:r>
              <a:rPr sz="1600" b="0">
                <a:solidFill>
                  <a:srgbClr val="C5CED6"/>
                </a:solidFill>
                <a:latin typeface="Malgun Gothic"/>
              </a:rPr>
              <a:t>•  EXCHANGE PARTITION — 대용량 적재의 표준</a:t>
            </a:r>
          </a:p>
          <a:p>
            <a:pPr>
              <a:spcAft>
                <a:spcPts val="600"/>
              </a:spcAft>
            </a:pPr>
            <a:r>
              <a:rPr sz="1600" b="0">
                <a:solidFill>
                  <a:srgbClr val="C5CED6"/>
                </a:solidFill>
                <a:latin typeface="Malgun Gothic"/>
              </a:rPr>
              <a:t>•  통계 — DDL 뒤에는 반드시 재수집한다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열한 가지 DDL 과 비용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작업 창을 잡는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DDL                                | 하는 일              | 비용        | 대상</a:t>
            </a:r>
          </a:p>
          <a:p>
            <a:r>
              <a:rPr sz="1250" b="0">
                <a:solidFill>
                  <a:srgbClr val="E6E6E6"/>
                </a:solidFill>
                <a:latin typeface="Consolas"/>
              </a:rPr>
              <a:t>-----------------------------------|----------------------|-------------|----------</a:t>
            </a:r>
          </a:p>
          <a:p>
            <a:r>
              <a:rPr sz="1250" b="0">
                <a:solidFill>
                  <a:srgbClr val="E6E6E6"/>
                </a:solidFill>
                <a:latin typeface="Consolas"/>
              </a:rPr>
              <a:t>ADD PARTITION                      | 맨 뒤에 붙인다        | 즉시        | R·L·H</a:t>
            </a:r>
          </a:p>
          <a:p>
            <a:r>
              <a:rPr sz="1250" b="0">
                <a:solidFill>
                  <a:srgbClr val="E6E6E6"/>
                </a:solidFill>
                <a:latin typeface="Consolas"/>
              </a:rPr>
              <a:t>SPLIT PARTITION                    | 하나를 둘로           | 데이터 재작성| R·L</a:t>
            </a:r>
          </a:p>
          <a:p>
            <a:r>
              <a:rPr sz="1250" b="0">
                <a:solidFill>
                  <a:srgbClr val="E6E6E6"/>
                </a:solidFill>
                <a:latin typeface="Consolas"/>
              </a:rPr>
              <a:t>MERGE PARTITIONS                   | 인접한 둘을 합친다     | 데이터 재작성| R·L</a:t>
            </a:r>
          </a:p>
          <a:p>
            <a:r>
              <a:rPr sz="1250" b="0">
                <a:solidFill>
                  <a:srgbClr val="E6E6E6"/>
                </a:solidFill>
                <a:latin typeface="Consolas"/>
              </a:rPr>
              <a:t>DROP PARTITION                     | 데이터까지 버린다      | 즉시        | R·L</a:t>
            </a:r>
          </a:p>
          <a:p>
            <a:r>
              <a:rPr sz="1250" b="0">
                <a:solidFill>
                  <a:srgbClr val="E6E6E6"/>
                </a:solidFill>
                <a:latin typeface="Consolas"/>
              </a:rPr>
              <a:t>TRUNCATE PARTITION                 | 데이터만 비운다        | 즉시        | 전부</a:t>
            </a:r>
          </a:p>
          <a:p>
            <a:r>
              <a:rPr sz="1250" b="0">
                <a:solidFill>
                  <a:srgbClr val="E6E6E6"/>
                </a:solidFill>
                <a:latin typeface="Consolas"/>
              </a:rPr>
              <a:t>RENAME PARTITION                   | 이름만 바꾼다          | 즉시        | 전부</a:t>
            </a:r>
          </a:p>
          <a:p>
            <a:r>
              <a:rPr sz="1250" b="0">
                <a:solidFill>
                  <a:srgbClr val="E6E6E6"/>
                </a:solidFill>
                <a:latin typeface="Consolas"/>
              </a:rPr>
              <a:t>MOVE PARTITION                     | 테이블스페이스 이동    | 데이터 재작성| 전부</a:t>
            </a:r>
          </a:p>
          <a:p>
            <a:r>
              <a:rPr sz="1250" b="0">
                <a:solidFill>
                  <a:srgbClr val="E6E6E6"/>
                </a:solidFill>
                <a:latin typeface="Consolas"/>
              </a:rPr>
              <a:t>EXCHANGE PARTITION                 | 일반 테이블과 맞바꾼다 | 즉시        | R·L</a:t>
            </a:r>
          </a:p>
          <a:p>
            <a:r>
              <a:rPr sz="1250" b="0">
                <a:solidFill>
                  <a:srgbClr val="E6E6E6"/>
                </a:solidFill>
                <a:latin typeface="Consolas"/>
              </a:rPr>
              <a:t>COALESCE PARTITION                 | 파티션 수를 줄인다     | 재분배      | H</a:t>
            </a:r>
          </a:p>
          <a:p>
            <a:r>
              <a:rPr sz="1250" b="0">
                <a:solidFill>
                  <a:srgbClr val="E6E6E6"/>
                </a:solidFill>
                <a:latin typeface="Consolas"/>
              </a:rPr>
              <a:t>MODIFY PARTITION ... SHRINK SPACE  | HWM 을 내린다          | 온라인      | 전부</a:t>
            </a:r>
          </a:p>
          <a:p>
            <a:r>
              <a:rPr sz="1250" b="0">
                <a:solidFill>
                  <a:srgbClr val="E6E6E6"/>
                </a:solidFill>
                <a:latin typeface="Consolas"/>
              </a:rPr>
              <a:t>MODIFY PARTITION ... ADD/DROP VALUES| LIST 값 조정          | 즉시        | L</a:t>
            </a:r>
          </a:p>
          <a:p>
            <a:r>
              <a:rPr sz="1250" b="0">
                <a:solidFill>
                  <a:srgbClr val="E6E6E6"/>
                </a:solidFill>
                <a:latin typeface="Consolas"/>
              </a:rPr>
              <a:t/>
            </a:r>
          </a:p>
          <a:p>
            <a:r>
              <a:rPr sz="1250" b="0">
                <a:solidFill>
                  <a:srgbClr val="E6E6E6"/>
                </a:solidFill>
                <a:latin typeface="Consolas"/>
              </a:rPr>
              <a:t>실습 06 에서 만난 오류</a:t>
            </a:r>
          </a:p>
          <a:p>
            <a:r>
              <a:rPr sz="1250" b="0">
                <a:solidFill>
                  <a:srgbClr val="E6E6E6"/>
                </a:solidFill>
                <a:latin typeface="Consolas"/>
              </a:rPr>
              <a:t>  ORA-14080  범위 밖의 값으로 SPLIT         -&gt; high_value 확인 후 재시도</a:t>
            </a:r>
          </a:p>
          <a:p>
            <a:r>
              <a:rPr sz="1250" b="0">
                <a:solidFill>
                  <a:srgbClr val="E6E6E6"/>
                </a:solidFill>
                <a:latin typeface="Consolas"/>
              </a:rPr>
              <a:t>  ORA-14074  마지막 파티션보다 낮은 경계 ADD -&gt; SPLIT 을 쓴다</a:t>
            </a:r>
          </a:p>
          <a:p>
            <a:r>
              <a:rPr sz="1250" b="0">
                <a:solidFill>
                  <a:srgbClr val="E6E6E6"/>
                </a:solidFill>
                <a:latin typeface="Consolas"/>
              </a:rPr>
              <a:t>  ORA-14274  인접하지 않은 파티션 MERGE     -&gt; 인접한 쌍끼리 순서대로</a:t>
            </a:r>
          </a:p>
          <a:p>
            <a:r>
              <a:rPr sz="1250" b="0">
                <a:solidFill>
                  <a:srgbClr val="E6E6E6"/>
                </a:solidFill>
                <a:latin typeface="Consolas"/>
              </a:rPr>
              <a:t>  ORA-14255  HASH 파티션에 DROP PARTITION   -&gt; COALESCE PARTITION</a:t>
            </a:r>
          </a:p>
          <a:p>
            <a:r>
              <a:rPr sz="1250" b="0">
                <a:solidFill>
                  <a:srgbClr val="E6E6E6"/>
                </a:solidFill>
                <a:latin typeface="Consolas"/>
              </a:rPr>
              <a:t/>
            </a:r>
          </a:p>
          <a:p>
            <a:r>
              <a:rPr sz="1250" b="0">
                <a:solidFill>
                  <a:srgbClr val="E6E6E6"/>
                </a:solidFill>
                <a:latin typeface="Consolas"/>
              </a:rPr>
              <a:t>MAXVALUE 파티션을 두는 순간 파티션 추가 방법이 ADD 에서 SPLIT 으로 바뀐다.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실무에서 자주 쓰는 조합 다섯 가지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절차서에 그대로 넣을 수 있는 형태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(1) 이력 보관 후 파티션 버리기 (대용량 DELETE 대체)</a:t>
            </a:r>
          </a:p>
          <a:p>
            <a:r>
              <a:rPr sz="1250" b="0">
                <a:solidFill>
                  <a:srgbClr val="E6E6E6"/>
                </a:solidFill>
                <a:latin typeface="Consolas"/>
              </a:rPr>
              <a:t>expdp system/oracle_4U directory=dirpump tables=hr.sal_emp:part2 dumpfile=part2.dmp</a:t>
            </a:r>
          </a:p>
          <a:p>
            <a:r>
              <a:rPr sz="1250" b="0">
                <a:solidFill>
                  <a:srgbClr val="E6E6E6"/>
                </a:solidFill>
                <a:latin typeface="Consolas"/>
              </a:rPr>
              <a:t>ALTER TABLE hr.sal_emp DROP PARTITION part2 UPDATE INDEXES;</a:t>
            </a:r>
          </a:p>
          <a:p>
            <a:r>
              <a:rPr sz="1250" b="0">
                <a:solidFill>
                  <a:srgbClr val="E6E6E6"/>
                </a:solidFill>
                <a:latin typeface="Consolas"/>
              </a:rPr>
              <a:t/>
            </a:r>
          </a:p>
          <a:p>
            <a:r>
              <a:rPr sz="1250" b="0">
                <a:solidFill>
                  <a:srgbClr val="E6E6E6"/>
                </a:solidFill>
                <a:latin typeface="Consolas"/>
              </a:rPr>
              <a:t>-- (2) 대용량 적재 (서비스 중단 없이)</a:t>
            </a:r>
          </a:p>
          <a:p>
            <a:r>
              <a:rPr sz="1250" b="0">
                <a:solidFill>
                  <a:srgbClr val="E6E6E6"/>
                </a:solidFill>
                <a:latin typeface="Consolas"/>
              </a:rPr>
              <a:t>--     스테이징 적재 -&gt; 인덱스 생성 -&gt; 통계 수집 -&gt; 교환</a:t>
            </a:r>
          </a:p>
          <a:p>
            <a:r>
              <a:rPr sz="1250" b="0">
                <a:solidFill>
                  <a:srgbClr val="E6E6E6"/>
                </a:solidFill>
                <a:latin typeface="Consolas"/>
              </a:rPr>
              <a:t>ALTER TABLE hr.sal_emp EXCHANGE PARTITION p5 WITH TABLE hr.stg INCLUDING INDEXES;</a:t>
            </a:r>
          </a:p>
          <a:p>
            <a:r>
              <a:rPr sz="1250" b="0">
                <a:solidFill>
                  <a:srgbClr val="E6E6E6"/>
                </a:solidFill>
                <a:latin typeface="Consolas"/>
              </a:rPr>
              <a:t/>
            </a:r>
          </a:p>
          <a:p>
            <a:r>
              <a:rPr sz="1250" b="0">
                <a:solidFill>
                  <a:srgbClr val="E6E6E6"/>
                </a:solidFill>
                <a:latin typeface="Consolas"/>
              </a:rPr>
              <a:t>-- (3) MAXVALUE 파티션 정기 분할 (월 배치)</a:t>
            </a:r>
          </a:p>
          <a:p>
            <a:r>
              <a:rPr sz="1250" b="0">
                <a:solidFill>
                  <a:srgbClr val="E6E6E6"/>
                </a:solidFill>
                <a:latin typeface="Consolas"/>
              </a:rPr>
              <a:t>ALTER TABLE hr.sal_emp SPLIT PARTITION pmax AT (경계)</a:t>
            </a:r>
          </a:p>
          <a:p>
            <a:r>
              <a:rPr sz="1250" b="0">
                <a:solidFill>
                  <a:srgbClr val="E6E6E6"/>
                </a:solidFill>
                <a:latin typeface="Consolas"/>
              </a:rPr>
              <a:t>  INTO (PARTITION p202502, PARTITION pmax) UPDATE INDEXES;</a:t>
            </a:r>
          </a:p>
          <a:p>
            <a:r>
              <a:rPr sz="1250" b="0">
                <a:solidFill>
                  <a:srgbClr val="E6E6E6"/>
                </a:solidFill>
                <a:latin typeface="Consolas"/>
              </a:rPr>
              <a:t/>
            </a:r>
          </a:p>
          <a:p>
            <a:r>
              <a:rPr sz="1250" b="0">
                <a:solidFill>
                  <a:srgbClr val="E6E6E6"/>
                </a:solidFill>
                <a:latin typeface="Consolas"/>
              </a:rPr>
              <a:t>-- (4) 공간 회수</a:t>
            </a:r>
          </a:p>
          <a:p>
            <a:r>
              <a:rPr sz="1250" b="0">
                <a:solidFill>
                  <a:srgbClr val="E6E6E6"/>
                </a:solidFill>
                <a:latin typeface="Consolas"/>
              </a:rPr>
              <a:t>ALTER TABLE hr.sal_emp ENABLE ROW MOVEMENT;</a:t>
            </a:r>
          </a:p>
          <a:p>
            <a:r>
              <a:rPr sz="1250" b="0">
                <a:solidFill>
                  <a:srgbClr val="E6E6E6"/>
                </a:solidFill>
                <a:latin typeface="Consolas"/>
              </a:rPr>
              <a:t>ALTER TABLE hr.sal_emp MODIFY PARTITION part3 SHRINK SPACE CASCADE;</a:t>
            </a:r>
          </a:p>
          <a:p>
            <a:r>
              <a:rPr sz="1250" b="0">
                <a:solidFill>
                  <a:srgbClr val="E6E6E6"/>
                </a:solidFill>
                <a:latin typeface="Consolas"/>
              </a:rPr>
              <a:t>ALTER TABLE hr.sal_emp DISABLE ROW MOVEMENT;</a:t>
            </a:r>
          </a:p>
          <a:p>
            <a:r>
              <a:rPr sz="1250" b="0">
                <a:solidFill>
                  <a:srgbClr val="E6E6E6"/>
                </a:solidFill>
                <a:latin typeface="Consolas"/>
              </a:rPr>
              <a:t/>
            </a:r>
          </a:p>
          <a:p>
            <a:r>
              <a:rPr sz="1250" b="0">
                <a:solidFill>
                  <a:srgbClr val="E6E6E6"/>
                </a:solidFill>
                <a:latin typeface="Consolas"/>
              </a:rPr>
              <a:t>-- (5) 오래된 파티션을 느린 디스크로 (ILM)</a:t>
            </a:r>
          </a:p>
          <a:p>
            <a:r>
              <a:rPr sz="1250" b="0">
                <a:solidFill>
                  <a:srgbClr val="E6E6E6"/>
                </a:solidFill>
                <a:latin typeface="Consolas"/>
              </a:rPr>
              <a:t>ALTER TABLE hr.sal_emp MOVE PARTITION part1 TABLESPACE part_arch</a:t>
            </a:r>
          </a:p>
          <a:p>
            <a:r>
              <a:rPr sz="1250" b="0">
                <a:solidFill>
                  <a:srgbClr val="E6E6E6"/>
                </a:solidFill>
                <a:latin typeface="Consolas"/>
              </a:rPr>
              <a:t>  ONLINE UPDATE INDEXES;</a:t>
            </a:r>
          </a:p>
          <a:p>
            <a:r>
              <a:rPr sz="1250" b="0">
                <a:solidFill>
                  <a:srgbClr val="E6E6E6"/>
                </a:solidFill>
                <a:latin typeface="Consolas"/>
              </a:rPr>
              <a:t/>
            </a:r>
          </a:p>
          <a:p>
            <a:r>
              <a:rPr sz="1250" b="0">
                <a:solidFill>
                  <a:srgbClr val="E6E6E6"/>
                </a:solidFill>
                <a:latin typeface="Consolas"/>
              </a:rPr>
              <a:t>-- 그리고 어느 조합이든 마지막에</a:t>
            </a:r>
          </a:p>
          <a:p>
            <a:r>
              <a:rPr sz="1250" b="0">
                <a:solidFill>
                  <a:srgbClr val="E6E6E6"/>
                </a:solidFill>
                <a:latin typeface="Consolas"/>
              </a:rPr>
              <a:t>EXEC dbms_stats.gather_table_stats('HR','SAL_EMP', granularity=&gt;'AUTO')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ROW MOVEMENT 와 EXCHANGE 의 조건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06·07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파티션 키를 바꾸는 UPDATE 는 기본적으로 금지된다</a:t>
            </a:r>
          </a:p>
          <a:p>
            <a:r>
              <a:rPr sz="1250" b="0">
                <a:solidFill>
                  <a:srgbClr val="E6E6E6"/>
                </a:solidFill>
                <a:latin typeface="Consolas"/>
              </a:rPr>
              <a:t>UPDATE hr.sal_emp SET salary = 21000 WHERE employee_id = 101;</a:t>
            </a:r>
          </a:p>
          <a:p>
            <a:r>
              <a:rPr sz="1250" b="0">
                <a:solidFill>
                  <a:srgbClr val="E6E6E6"/>
                </a:solidFill>
                <a:latin typeface="Consolas"/>
              </a:rPr>
              <a:t>ORA-14402: updating partition key column would cause a partition change</a:t>
            </a:r>
          </a:p>
          <a:p>
            <a:r>
              <a:rPr sz="1250" b="0">
                <a:solidFill>
                  <a:srgbClr val="E6E6E6"/>
                </a:solidFill>
                <a:latin typeface="Consolas"/>
              </a:rPr>
              <a:t>   part3(20000 미만) -&gt; p4(25000 미만) 로 행이 옮겨가야 한다</a:t>
            </a:r>
          </a:p>
          <a:p>
            <a:r>
              <a:rPr sz="1250" b="0">
                <a:solidFill>
                  <a:srgbClr val="E6E6E6"/>
                </a:solidFill>
                <a:latin typeface="Consolas"/>
              </a:rPr>
              <a:t/>
            </a:r>
          </a:p>
          <a:p>
            <a:r>
              <a:rPr sz="1250" b="0">
                <a:solidFill>
                  <a:srgbClr val="E6E6E6"/>
                </a:solidFill>
                <a:latin typeface="Consolas"/>
              </a:rPr>
              <a:t>UPDATE hr.sal_emp SET salary = 18000 WHERE employee_id = 101;   -- 같은 파티션 OK</a:t>
            </a:r>
          </a:p>
          <a:p>
            <a:r>
              <a:rPr sz="1250" b="0">
                <a:solidFill>
                  <a:srgbClr val="E6E6E6"/>
                </a:solidFill>
                <a:latin typeface="Consolas"/>
              </a:rPr>
              <a:t>ALTER TABLE hr.sal_emp ENABLE ROW MOVEMENT;                     -- 허용</a:t>
            </a:r>
          </a:p>
          <a:p>
            <a:r>
              <a:rPr sz="1250" b="0">
                <a:solidFill>
                  <a:srgbClr val="E6E6E6"/>
                </a:solidFill>
                <a:latin typeface="Consolas"/>
              </a:rPr>
              <a:t/>
            </a:r>
          </a:p>
          <a:p>
            <a:r>
              <a:rPr sz="1250" b="0">
                <a:solidFill>
                  <a:srgbClr val="E6E6E6"/>
                </a:solidFill>
                <a:latin typeface="Consolas"/>
              </a:rPr>
              <a:t>   내부적으로 DELETE + INSERT 다 -&gt; ROWID 가 바뀐다</a:t>
            </a:r>
          </a:p>
          <a:p>
            <a:r>
              <a:rPr sz="1250" b="0">
                <a:solidFill>
                  <a:srgbClr val="E6E6E6"/>
                </a:solidFill>
                <a:latin typeface="Consolas"/>
              </a:rPr>
              <a:t>   REDO·UNDO 가 일반 UPDATE 보다 많다. 기본값이 DISABLE 인 이유다</a:t>
            </a:r>
          </a:p>
          <a:p>
            <a:r>
              <a:rPr sz="1250" b="0">
                <a:solidFill>
                  <a:srgbClr val="E6E6E6"/>
                </a:solidFill>
                <a:latin typeface="Consolas"/>
              </a:rPr>
              <a:t>   SHRINK SPACE 도 ROW MOVEMENT 를 요구한다 (없으면 ORA-10636)</a:t>
            </a:r>
          </a:p>
          <a:p>
            <a:r>
              <a:rPr sz="1250" b="0">
                <a:solidFill>
                  <a:srgbClr val="E6E6E6"/>
                </a:solidFill>
                <a:latin typeface="Consolas"/>
              </a:rPr>
              <a:t>   근본 대책 : 변하지 않는 컬럼을 파티션 키로 잡는다</a:t>
            </a:r>
          </a:p>
          <a:p>
            <a:r>
              <a:rPr sz="1250" b="0">
                <a:solidFill>
                  <a:srgbClr val="E6E6E6"/>
                </a:solidFill>
                <a:latin typeface="Consolas"/>
              </a:rPr>
              <a:t/>
            </a:r>
          </a:p>
          <a:p>
            <a:r>
              <a:rPr sz="1250" b="0">
                <a:solidFill>
                  <a:srgbClr val="E6E6E6"/>
                </a:solidFill>
                <a:latin typeface="Consolas"/>
              </a:rPr>
              <a:t>-- EXCHANGE PARTITION 의 조건</a:t>
            </a:r>
          </a:p>
          <a:p>
            <a:r>
              <a:rPr sz="1250" b="0">
                <a:solidFill>
                  <a:srgbClr val="E6E6E6"/>
                </a:solidFill>
                <a:latin typeface="Consolas"/>
              </a:rPr>
              <a:t>ALTER TABLE hr.sal_emp EXCHANGE PARTITION p5 WITH TABLE hr.exch_emp;</a:t>
            </a:r>
          </a:p>
          <a:p>
            <a:r>
              <a:rPr sz="1250" b="0">
                <a:solidFill>
                  <a:srgbClr val="E6E6E6"/>
                </a:solidFill>
                <a:latin typeface="Consolas"/>
              </a:rPr>
              <a:t>  컬럼 수·순서·타입이 같아야 한다 (이름은 달라도 된다)  -&gt; 아니면 ORA-14096</a:t>
            </a:r>
          </a:p>
          <a:p>
            <a:r>
              <a:rPr sz="1250" b="0">
                <a:solidFill>
                  <a:srgbClr val="E6E6E6"/>
                </a:solidFill>
                <a:latin typeface="Consolas"/>
              </a:rPr>
              <a:t>  모든 행이 그 파티션 경계를 만족해야 한다              -&gt; 아니면 ORA-14099</a:t>
            </a:r>
          </a:p>
          <a:p>
            <a:r>
              <a:rPr sz="1250" b="0">
                <a:solidFill>
                  <a:srgbClr val="E6E6E6"/>
                </a:solidFill>
                <a:latin typeface="Consolas"/>
              </a:rPr>
              <a:t>  WITHOUT VALIDATION 으로 건너뛸 수 있다 — 위험하다</a:t>
            </a:r>
          </a:p>
          <a:p>
            <a:r>
              <a:rPr sz="1250" b="0">
                <a:solidFill>
                  <a:srgbClr val="E6E6E6"/>
                </a:solidFill>
                <a:latin typeface="Consolas"/>
              </a:rPr>
              <a:t>    실측: salary=45000 인 행이 p5(30000 미만) 에 들어갔고</a:t>
            </a:r>
          </a:p>
          <a:p>
            <a:r>
              <a:rPr sz="1250" b="0">
                <a:solidFill>
                  <a:srgbClr val="E6E6E6"/>
                </a:solidFill>
                <a:latin typeface="Consolas"/>
              </a:rPr>
              <a:t>          salary=45000 조건은 pmax 만 보므로 그 행을 영원히 못 찾는다</a:t>
            </a:r>
          </a:p>
          <a:p>
            <a:r>
              <a:rPr sz="1250" b="0">
                <a:solidFill>
                  <a:srgbClr val="E6E6E6"/>
                </a:solidFill>
                <a:latin typeface="Consolas"/>
              </a:rPr>
              <a:t>  통계까지 맞바꾼다 -&gt; 교환 전에 스테이징 테이블 통계를 수집한다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통계 — DDL 뒤에는 반드시 재수집</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06·07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EXEC dbms_stats.gather_table_stats('HR','SAL_EMP', granularity=&gt;'AUTO')</a:t>
            </a:r>
          </a:p>
          <a:p>
            <a:r>
              <a:rPr sz="1250" b="0">
                <a:solidFill>
                  <a:srgbClr val="E6E6E6"/>
                </a:solidFill>
                <a:latin typeface="Consolas"/>
              </a:rPr>
              <a:t>EXEC dbms_stats.gather_table_stats('HR','SAL_EMP', partname=&gt;'PART3',</a:t>
            </a:r>
          </a:p>
          <a:p>
            <a:r>
              <a:rPr sz="1250" b="0">
                <a:solidFill>
                  <a:srgbClr val="E6E6E6"/>
                </a:solidFill>
                <a:latin typeface="Consolas"/>
              </a:rPr>
              <a:t>                                   granularity=&gt;'PARTITION')</a:t>
            </a:r>
          </a:p>
          <a:p>
            <a:r>
              <a:rPr sz="1250" b="0">
                <a:solidFill>
                  <a:srgbClr val="E6E6E6"/>
                </a:solidFill>
                <a:latin typeface="Consolas"/>
              </a:rPr>
              <a:t/>
            </a:r>
          </a:p>
          <a:p>
            <a:r>
              <a:rPr sz="1250" b="0">
                <a:solidFill>
                  <a:srgbClr val="E6E6E6"/>
                </a:solidFill>
                <a:latin typeface="Consolas"/>
              </a:rPr>
              <a:t>granularity     | 수집 범위</a:t>
            </a:r>
          </a:p>
          <a:p>
            <a:r>
              <a:rPr sz="1250" b="0">
                <a:solidFill>
                  <a:srgbClr val="E6E6E6"/>
                </a:solidFill>
                <a:latin typeface="Consolas"/>
              </a:rPr>
              <a:t>----------------|--------------------------------------------------</a:t>
            </a:r>
          </a:p>
          <a:p>
            <a:r>
              <a:rPr sz="1250" b="0">
                <a:solidFill>
                  <a:srgbClr val="E6E6E6"/>
                </a:solidFill>
                <a:latin typeface="Consolas"/>
              </a:rPr>
              <a:t>AUTO (기본)     | 테이블 + 파티션 (서브파티션은 판단에 따라)</a:t>
            </a:r>
          </a:p>
          <a:p>
            <a:r>
              <a:rPr sz="1250" b="0">
                <a:solidFill>
                  <a:srgbClr val="E6E6E6"/>
                </a:solidFill>
                <a:latin typeface="Consolas"/>
              </a:rPr>
              <a:t>GLOBAL          | 테이블 수준만</a:t>
            </a:r>
          </a:p>
          <a:p>
            <a:r>
              <a:rPr sz="1250" b="0">
                <a:solidFill>
                  <a:srgbClr val="E6E6E6"/>
                </a:solidFill>
                <a:latin typeface="Consolas"/>
              </a:rPr>
              <a:t>PARTITION       | 파티션 수준만</a:t>
            </a:r>
          </a:p>
          <a:p>
            <a:r>
              <a:rPr sz="1250" b="0">
                <a:solidFill>
                  <a:srgbClr val="E6E6E6"/>
                </a:solidFill>
                <a:latin typeface="Consolas"/>
              </a:rPr>
              <a:t>SUBPARTITION    | 서브파티션 수준만</a:t>
            </a:r>
          </a:p>
          <a:p>
            <a:r>
              <a:rPr sz="1250" b="0">
                <a:solidFill>
                  <a:srgbClr val="E6E6E6"/>
                </a:solidFill>
                <a:latin typeface="Consolas"/>
              </a:rPr>
              <a:t>ALL             | 전부</a:t>
            </a:r>
          </a:p>
          <a:p>
            <a:r>
              <a:rPr sz="1250" b="0">
                <a:solidFill>
                  <a:srgbClr val="E6E6E6"/>
                </a:solidFill>
                <a:latin typeface="Consolas"/>
              </a:rPr>
              <a:t/>
            </a:r>
          </a:p>
          <a:p>
            <a:r>
              <a:rPr sz="1250" b="0">
                <a:solidFill>
                  <a:srgbClr val="E6E6E6"/>
                </a:solidFill>
                <a:latin typeface="Consolas"/>
              </a:rPr>
              <a:t>실측으로 확인한 세 가지</a:t>
            </a:r>
          </a:p>
          <a:p>
            <a:r>
              <a:rPr sz="1250" b="0">
                <a:solidFill>
                  <a:srgbClr val="E6E6E6"/>
                </a:solidFill>
                <a:latin typeface="Consolas"/>
              </a:rPr>
              <a:t>  (1) SPLIT·MERGE 뒤 num_rows 가 NULL 이 된다. DDL 과 수집을 한 단계로 묶는다</a:t>
            </a:r>
          </a:p>
          <a:p>
            <a:r>
              <a:rPr sz="1250" b="0">
                <a:solidFill>
                  <a:srgbClr val="E6E6E6"/>
                </a:solidFill>
                <a:latin typeface="Consolas"/>
              </a:rPr>
              <a:t>  (2) partname 으로 한 파티션만 수집하면 테이블 수준 통계는 갱신되지 않는다</a:t>
            </a:r>
          </a:p>
          <a:p>
            <a:r>
              <a:rPr sz="1250" b="0">
                <a:solidFill>
                  <a:srgbClr val="E6E6E6"/>
                </a:solidFill>
                <a:latin typeface="Consolas"/>
              </a:rPr>
              <a:t>      PART3 만 last_analyzed 가 5초 뒤였고 테이블 통계는 그대로였다</a:t>
            </a:r>
          </a:p>
          <a:p>
            <a:r>
              <a:rPr sz="1250" b="0">
                <a:solidFill>
                  <a:srgbClr val="E6E6E6"/>
                </a:solidFill>
                <a:latin typeface="Consolas"/>
              </a:rPr>
              <a:t>  (3) EXCHANGE 는 통계까지 맞바꾼다. 통계 없는 테이블과 교환하면 0 이 된다</a:t>
            </a:r>
          </a:p>
          <a:p>
            <a:r>
              <a:rPr sz="1250" b="0">
                <a:solidFill>
                  <a:srgbClr val="E6E6E6"/>
                </a:solidFill>
                <a:latin typeface="Consolas"/>
              </a:rPr>
              <a:t/>
            </a:r>
          </a:p>
          <a:p>
            <a:r>
              <a:rPr sz="1250" b="0">
                <a:solidFill>
                  <a:srgbClr val="E6E6E6"/>
                </a:solidFill>
                <a:latin typeface="Consolas"/>
              </a:rPr>
              <a:t>-- 대용량에서는 증분 통계를 켠다</a:t>
            </a:r>
          </a:p>
          <a:p>
            <a:r>
              <a:rPr sz="1250" b="0">
                <a:solidFill>
                  <a:srgbClr val="E6E6E6"/>
                </a:solidFill>
                <a:latin typeface="Consolas"/>
              </a:rPr>
              <a:t>EXEC dbms_stats.set_table_prefs('HR','SAL_EMP','INCREMENTAL','TRUE')</a:t>
            </a:r>
          </a:p>
          <a:p>
            <a:r>
              <a:rPr sz="1250" b="0">
                <a:solidFill>
                  <a:srgbClr val="E6E6E6"/>
                </a:solidFill>
                <a:latin typeface="Consolas"/>
              </a:rPr>
              <a:t>   파티션만 수집해도 전체 통계를 합성해 준다. global_stats=YES 면 실측값이다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이관과 운영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Data Pump 로 파티션 단위 백업·복원·분리</a:t>
            </a:r>
          </a:p>
          <a:p>
            <a:pPr>
              <a:spcAft>
                <a:spcPts val="600"/>
              </a:spcAft>
            </a:pPr>
            <a:r>
              <a:rPr sz="1600" b="0">
                <a:solidFill>
                  <a:srgbClr val="C5CED6"/>
                </a:solidFill>
                <a:latin typeface="Malgun Gothic"/>
              </a:rPr>
              <a:t>•  설계 순서 여섯 단계</a:t>
            </a:r>
          </a:p>
          <a:p>
            <a:pPr>
              <a:spcAft>
                <a:spcPts val="600"/>
              </a:spcAft>
            </a:pPr>
            <a:r>
              <a:rPr sz="1600" b="0">
                <a:solidFill>
                  <a:srgbClr val="C5CED6"/>
                </a:solidFill>
                <a:latin typeface="Malgun Gothic"/>
              </a:rPr>
              <a:t>•  운영 점검 쿼리 다섯 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Data Pump 파티션 단위 이관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11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테이블 전체 / 파티션 하나</a:t>
            </a:r>
          </a:p>
          <a:p>
            <a:r>
              <a:rPr sz="1250" b="0">
                <a:solidFill>
                  <a:srgbClr val="E6E6E6"/>
                </a:solidFill>
                <a:latin typeface="Consolas"/>
              </a:rPr>
              <a:t>expdp system/oracle_4U directory=dirpump tables=hr.sal_emp        dumpfile=t.dmp</a:t>
            </a:r>
          </a:p>
          <a:p>
            <a:r>
              <a:rPr sz="1250" b="0">
                <a:solidFill>
                  <a:srgbClr val="E6E6E6"/>
                </a:solidFill>
                <a:latin typeface="Consolas"/>
              </a:rPr>
              <a:t>expdp system/oracle_4U directory=dirpump tables=hr.sal_emp:part2  dumpfile=p2.dmp</a:t>
            </a:r>
          </a:p>
          <a:p>
            <a:r>
              <a:rPr sz="1250" b="0">
                <a:solidFill>
                  <a:srgbClr val="E6E6E6"/>
                </a:solidFill>
                <a:latin typeface="Consolas"/>
              </a:rPr>
              <a:t/>
            </a:r>
          </a:p>
          <a:p>
            <a:r>
              <a:rPr sz="1250" b="0">
                <a:solidFill>
                  <a:srgbClr val="E6E6E6"/>
                </a:solidFill>
                <a:latin typeface="Consolas"/>
              </a:rPr>
              <a:t>   . . exported "HR"."SAL_EMP":"PART2"   7.601 KB   55 rows</a:t>
            </a:r>
          </a:p>
          <a:p>
            <a:r>
              <a:rPr sz="1250" b="0">
                <a:solidFill>
                  <a:srgbClr val="E6E6E6"/>
                </a:solidFill>
                <a:latin typeface="Consolas"/>
              </a:rPr>
              <a:t>   파티션마다 한 줄씩 보고한다 -&gt; 로그가 곧 파티션별 건수 증빙이다</a:t>
            </a:r>
          </a:p>
          <a:p>
            <a:r>
              <a:rPr sz="1250" b="0">
                <a:solidFill>
                  <a:srgbClr val="E6E6E6"/>
                </a:solidFill>
                <a:latin typeface="Consolas"/>
              </a:rPr>
              <a:t>   이관 검증은 전체 건수가 아니라 파티션별 건수로 비교한다</a:t>
            </a:r>
          </a:p>
          <a:p>
            <a:r>
              <a:rPr sz="1250" b="0">
                <a:solidFill>
                  <a:srgbClr val="E6E6E6"/>
                </a:solidFill>
                <a:latin typeface="Consolas"/>
              </a:rPr>
              <a:t/>
            </a:r>
          </a:p>
          <a:p>
            <a:r>
              <a:rPr sz="1250" b="0">
                <a:solidFill>
                  <a:srgbClr val="E6E6E6"/>
                </a:solidFill>
                <a:latin typeface="Consolas"/>
              </a:rPr>
              <a:t># 덤프에서 DDL 만 뽑기 (DB 에 아무 변화 없음. 복구의 출발점)</a:t>
            </a:r>
          </a:p>
          <a:p>
            <a:r>
              <a:rPr sz="1250" b="0">
                <a:solidFill>
                  <a:srgbClr val="E6E6E6"/>
                </a:solidFill>
                <a:latin typeface="Consolas"/>
              </a:rPr>
              <a:t>impdp ... dumpfile=t.dmp sqlfile=ddl.sql</a:t>
            </a:r>
          </a:p>
          <a:p>
            <a:r>
              <a:rPr sz="1250" b="0">
                <a:solidFill>
                  <a:srgbClr val="E6E6E6"/>
                </a:solidFill>
                <a:latin typeface="Consolas"/>
              </a:rPr>
              <a:t>   -&gt; 잃어버린 파티션의 경계값을 여기서 알아낸다</a:t>
            </a:r>
          </a:p>
          <a:p>
            <a:r>
              <a:rPr sz="1250" b="0">
                <a:solidFill>
                  <a:srgbClr val="E6E6E6"/>
                </a:solidFill>
                <a:latin typeface="Consolas"/>
              </a:rPr>
              <a:t>   -&gt; STORAGE(INITIAL 8388608 ...) 도 그대로 나온다 (파티션당 8MB)</a:t>
            </a:r>
          </a:p>
          <a:p>
            <a:r>
              <a:rPr sz="1250" b="0">
                <a:solidFill>
                  <a:srgbClr val="E6E6E6"/>
                </a:solidFill>
                <a:latin typeface="Consolas"/>
              </a:rPr>
              <a:t/>
            </a:r>
          </a:p>
          <a:p>
            <a:r>
              <a:rPr sz="1250" b="0">
                <a:solidFill>
                  <a:srgbClr val="E6E6E6"/>
                </a:solidFill>
                <a:latin typeface="Consolas"/>
              </a:rPr>
              <a:t># 특정 파티션 데이터만 넣기</a:t>
            </a:r>
          </a:p>
          <a:p>
            <a:r>
              <a:rPr sz="1250" b="0">
                <a:solidFill>
                  <a:srgbClr val="E6E6E6"/>
                </a:solidFill>
                <a:latin typeface="Consolas"/>
              </a:rPr>
              <a:t>impdp ... dumpfile=t.dmp tables=hr.sal_emp:pmax partition_options=merge \</a:t>
            </a:r>
          </a:p>
          <a:p>
            <a:r>
              <a:rPr sz="1250" b="0">
                <a:solidFill>
                  <a:srgbClr val="E6E6E6"/>
                </a:solidFill>
                <a:latin typeface="Consolas"/>
              </a:rPr>
              <a:t>          table_exists_action=append</a:t>
            </a:r>
          </a:p>
          <a:p>
            <a:r>
              <a:rPr sz="1250" b="0">
                <a:solidFill>
                  <a:srgbClr val="E6E6E6"/>
                </a:solidFill>
                <a:latin typeface="Consolas"/>
              </a:rPr>
              <a:t/>
            </a:r>
          </a:p>
          <a:p>
            <a:r>
              <a:rPr sz="1250" b="0">
                <a:solidFill>
                  <a:srgbClr val="E6E6E6"/>
                </a:solidFill>
                <a:latin typeface="Consolas"/>
              </a:rPr>
              <a:t># 데이터만 넣기 (TRUNCATE 한 파티션 되채우기)</a:t>
            </a:r>
          </a:p>
          <a:p>
            <a:r>
              <a:rPr sz="1250" b="0">
                <a:solidFill>
                  <a:srgbClr val="E6E6E6"/>
                </a:solidFill>
                <a:latin typeface="Consolas"/>
              </a:rPr>
              <a:t>impdp ... dumpfile=p2.dmp tables=hr.sal_emp:part2 content=data_only</a:t>
            </a:r>
          </a:p>
          <a:p>
            <a:r>
              <a:rPr sz="1250" b="0">
                <a:solidFill>
                  <a:srgbClr val="E6E6E6"/>
                </a:solidFill>
                <a:latin typeface="Consolas"/>
              </a:rPr>
              <a:t/>
            </a:r>
          </a:p>
          <a:p>
            <a:r>
              <a:rPr sz="1250" b="0">
                <a:solidFill>
                  <a:srgbClr val="E6E6E6"/>
                </a:solidFill>
                <a:latin typeface="Consolas"/>
              </a:rPr>
              <a:t># 파티션을 독립 테이블로 떼어 내기 -&gt; SAL_EMP_PART1 ... SAL_EMP_PMAX</a:t>
            </a:r>
          </a:p>
          <a:p>
            <a:r>
              <a:rPr sz="1250" b="0">
                <a:solidFill>
                  <a:srgbClr val="E6E6E6"/>
                </a:solidFill>
                <a:latin typeface="Consolas"/>
              </a:rPr>
              <a:t>impdp ... dumpfile=t.dmp tables=hr.sal_emp partition_options=departition</a:t>
            </a:r>
          </a:p>
          <a:p>
            <a:r>
              <a:rPr sz="1250" b="0">
                <a:solidFill>
                  <a:srgbClr val="E6E6E6"/>
                </a:solidFill>
                <a:latin typeface="Consolas"/>
              </a:rPr>
              <a:t>   remap_table 을 줘도 이름 규칙이 우선한다 (실측)</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설계 순서 여섯 단계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① 이 테이블이 파티셔닝 대상인가</a:t>
            </a:r>
          </a:p>
          <a:p>
            <a:pPr>
              <a:spcAft>
                <a:spcPts val="600"/>
              </a:spcAft>
            </a:pPr>
            <a:r>
              <a:rPr sz="1600" b="0">
                <a:solidFill>
                  <a:srgbClr val="202830"/>
                </a:solidFill>
                <a:latin typeface="Malgun Gothic"/>
              </a:rPr>
              <a:t>    –  수 GB 이상 · 범위/코드 조회 위주 · 기간 단위 관리 필요 · 라이선스 보유</a:t>
            </a:r>
          </a:p>
          <a:p>
            <a:pPr>
              <a:spcAft>
                <a:spcPts val="600"/>
              </a:spcAft>
            </a:pPr>
            <a:r>
              <a:rPr sz="1800" b="0">
                <a:solidFill>
                  <a:srgbClr val="202830"/>
                </a:solidFill>
                <a:latin typeface="Malgun Gothic"/>
              </a:rPr>
              <a:t>•  ② 파티션 키를 무엇으로 할까</a:t>
            </a:r>
          </a:p>
          <a:p>
            <a:pPr>
              <a:spcAft>
                <a:spcPts val="600"/>
              </a:spcAft>
            </a:pPr>
            <a:r>
              <a:rPr sz="1600" b="0">
                <a:solidFill>
                  <a:srgbClr val="202830"/>
                </a:solidFill>
                <a:latin typeface="Malgun Gothic"/>
              </a:rPr>
              <a:t>    –  v$sql 의 상위 SQL WHERE 절 빈도를 센다. 관리 편의보다 조회 패턴이 우선</a:t>
            </a:r>
          </a:p>
          <a:p>
            <a:pPr>
              <a:spcAft>
                <a:spcPts val="600"/>
              </a:spcAft>
            </a:pPr>
            <a:r>
              <a:rPr sz="1600" b="0">
                <a:solidFill>
                  <a:srgbClr val="202830"/>
                </a:solidFill>
                <a:latin typeface="Malgun Gothic"/>
              </a:rPr>
              <a:t>    –  변하지 않는 컬럼이어야 한다 (ROW MOVEMENT 회피)</a:t>
            </a:r>
          </a:p>
          <a:p>
            <a:pPr>
              <a:spcAft>
                <a:spcPts val="600"/>
              </a:spcAft>
            </a:pPr>
            <a:r>
              <a:rPr sz="1800" b="0">
                <a:solidFill>
                  <a:srgbClr val="202830"/>
                </a:solidFill>
                <a:latin typeface="Malgun Gothic"/>
              </a:rPr>
              <a:t>•  ③ 방식 선택 — RANGE/INTERVAL · LIST/AUTOMATIC · HASH · COMPOSITE</a:t>
            </a:r>
          </a:p>
          <a:p>
            <a:pPr>
              <a:spcAft>
                <a:spcPts val="600"/>
              </a:spcAft>
            </a:pPr>
            <a:r>
              <a:rPr sz="1800" b="0">
                <a:solidFill>
                  <a:srgbClr val="202830"/>
                </a:solidFill>
                <a:latin typeface="Malgun Gothic"/>
              </a:rPr>
              <a:t>•  ④ 파티션 개수와 크기</a:t>
            </a:r>
          </a:p>
          <a:p>
            <a:pPr>
              <a:spcAft>
                <a:spcPts val="600"/>
              </a:spcAft>
            </a:pPr>
            <a:r>
              <a:rPr sz="1600" b="0">
                <a:solidFill>
                  <a:srgbClr val="202830"/>
                </a:solidFill>
                <a:latin typeface="Malgun Gothic"/>
              </a:rPr>
              <a:t>    –  파티션 하나가 최소 수십만 건. 개수 × 8MB 를 용량 계획에 넣는다</a:t>
            </a:r>
          </a:p>
          <a:p>
            <a:pPr>
              <a:spcAft>
                <a:spcPts val="600"/>
              </a:spcAft>
            </a:pPr>
            <a:r>
              <a:rPr sz="1800" b="0">
                <a:solidFill>
                  <a:srgbClr val="202830"/>
                </a:solidFill>
                <a:latin typeface="Malgun Gothic"/>
              </a:rPr>
              <a:t>•  ⑤ 인덱스 — LOCAL PREFIXED 가 기본. 기본키에 파티션 키를 포함할 수 있는가</a:t>
            </a:r>
          </a:p>
          <a:p>
            <a:pPr>
              <a:spcAft>
                <a:spcPts val="600"/>
              </a:spcAft>
            </a:pPr>
            <a:r>
              <a:rPr sz="1800" b="0">
                <a:solidFill>
                  <a:srgbClr val="202830"/>
                </a:solidFill>
                <a:latin typeface="Malgun Gothic"/>
              </a:rPr>
              <a:t>•  ⑥ 운영 절차를 문서로 만든다</a:t>
            </a:r>
          </a:p>
          <a:p>
            <a:pPr>
              <a:spcAft>
                <a:spcPts val="600"/>
              </a:spcAft>
            </a:pPr>
            <a:r>
              <a:rPr sz="1600" b="0">
                <a:solidFill>
                  <a:srgbClr val="202830"/>
                </a:solidFill>
                <a:latin typeface="Malgun Gothic"/>
              </a:rPr>
              <a:t>    –  파티션 추가(ADD 또는 SPLIT pmax) · 주기와 담당자</a:t>
            </a:r>
          </a:p>
          <a:p>
            <a:pPr>
              <a:spcAft>
                <a:spcPts val="600"/>
              </a:spcAft>
            </a:pPr>
            <a:r>
              <a:rPr sz="1600" b="0">
                <a:solidFill>
                  <a:srgbClr val="202830"/>
                </a:solidFill>
                <a:latin typeface="Malgun Gothic"/>
              </a:rPr>
              <a:t>    –  이력 보관·삭제(expdp → DROP PARTITION UPDATE INDEXES)</a:t>
            </a:r>
          </a:p>
          <a:p>
            <a:pPr>
              <a:spcAft>
                <a:spcPts val="600"/>
              </a:spcAft>
            </a:pPr>
            <a:r>
              <a:rPr sz="1600" b="0">
                <a:solidFill>
                  <a:srgbClr val="202830"/>
                </a:solidFill>
                <a:latin typeface="Malgun Gothic"/>
              </a:rPr>
              <a:t>    –  통계 수집(INCREMENTAL, DDL 직후 재수집) · 인덱스 상태 점검 · HWM 점검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운영 점검 쿼리 다섯 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그대로 스크립트로 만들어 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(1) 파티션 수와 방식 (INTERVAL 의 1048575 에 속지 않기)</a:t>
            </a:r>
          </a:p>
          <a:p>
            <a:r>
              <a:rPr sz="1250" b="0">
                <a:solidFill>
                  <a:srgbClr val="E6E6E6"/>
                </a:solidFill>
                <a:latin typeface="Consolas"/>
              </a:rPr>
              <a:t>SELECT owner, table_name, partitioning_type, subpartitioning_type,</a:t>
            </a:r>
          </a:p>
          <a:p>
            <a:r>
              <a:rPr sz="1250" b="0">
                <a:solidFill>
                  <a:srgbClr val="E6E6E6"/>
                </a:solidFill>
                <a:latin typeface="Consolas"/>
              </a:rPr>
              <a:t>       (SELECT COUNT(*) FROM dba_tab_partitions p</a:t>
            </a:r>
          </a:p>
          <a:p>
            <a:r>
              <a:rPr sz="1250" b="0">
                <a:solidFill>
                  <a:srgbClr val="E6E6E6"/>
                </a:solidFill>
                <a:latin typeface="Consolas"/>
              </a:rPr>
              <a:t>        WHERE p.table_owner=t.owner AND p.table_name=t.table_name) AS real_parts</a:t>
            </a:r>
          </a:p>
          <a:p>
            <a:r>
              <a:rPr sz="1250" b="0">
                <a:solidFill>
                  <a:srgbClr val="E6E6E6"/>
                </a:solidFill>
                <a:latin typeface="Consolas"/>
              </a:rPr>
              <a:t>FROM   dba_part_tables t WHERE owner NOT IN ('SYS','SYSTEM');</a:t>
            </a:r>
          </a:p>
          <a:p>
            <a:r>
              <a:rPr sz="1250" b="0">
                <a:solidFill>
                  <a:srgbClr val="E6E6E6"/>
                </a:solidFill>
                <a:latin typeface="Consolas"/>
              </a:rPr>
              <a:t/>
            </a:r>
          </a:p>
          <a:p>
            <a:r>
              <a:rPr sz="1250" b="0">
                <a:solidFill>
                  <a:srgbClr val="E6E6E6"/>
                </a:solidFill>
                <a:latin typeface="Consolas"/>
              </a:rPr>
              <a:t>-- (2) UNUSABLE 인덱스 (두 쿼리 모두 필요하다)</a:t>
            </a:r>
          </a:p>
          <a:p>
            <a:r>
              <a:rPr sz="1250" b="0">
                <a:solidFill>
                  <a:srgbClr val="E6E6E6"/>
                </a:solidFill>
                <a:latin typeface="Consolas"/>
              </a:rPr>
              <a:t>SELECT index_owner, index_name, partition_name FROM dba_ind_partitions</a:t>
            </a:r>
          </a:p>
          <a:p>
            <a:r>
              <a:rPr sz="1250" b="0">
                <a:solidFill>
                  <a:srgbClr val="E6E6E6"/>
                </a:solidFill>
                <a:latin typeface="Consolas"/>
              </a:rPr>
              <a:t>WHERE  status &lt;&gt; 'USABLE';</a:t>
            </a:r>
          </a:p>
          <a:p>
            <a:r>
              <a:rPr sz="1250" b="0">
                <a:solidFill>
                  <a:srgbClr val="E6E6E6"/>
                </a:solidFill>
                <a:latin typeface="Consolas"/>
              </a:rPr>
              <a:t>SELECT owner, index_name FROM dba_indexes WHERE status = 'UNUSABLE';</a:t>
            </a:r>
          </a:p>
          <a:p>
            <a:r>
              <a:rPr sz="1250" b="0">
                <a:solidFill>
                  <a:srgbClr val="E6E6E6"/>
                </a:solidFill>
                <a:latin typeface="Consolas"/>
              </a:rPr>
              <a:t/>
            </a:r>
          </a:p>
          <a:p>
            <a:r>
              <a:rPr sz="1250" b="0">
                <a:solidFill>
                  <a:srgbClr val="E6E6E6"/>
                </a:solidFill>
                <a:latin typeface="Consolas"/>
              </a:rPr>
              <a:t>-- (3) 통계가 낡은 파티션</a:t>
            </a:r>
          </a:p>
          <a:p>
            <a:r>
              <a:rPr sz="1250" b="0">
                <a:solidFill>
                  <a:srgbClr val="E6E6E6"/>
                </a:solidFill>
                <a:latin typeface="Consolas"/>
              </a:rPr>
              <a:t>SELECT table_owner, table_name, partition_name, num_rows, last_analyzed</a:t>
            </a:r>
          </a:p>
          <a:p>
            <a:r>
              <a:rPr sz="1250" b="0">
                <a:solidFill>
                  <a:srgbClr val="E6E6E6"/>
                </a:solidFill>
                <a:latin typeface="Consolas"/>
              </a:rPr>
              <a:t>FROM   dba_tab_partitions</a:t>
            </a:r>
          </a:p>
          <a:p>
            <a:r>
              <a:rPr sz="1250" b="0">
                <a:solidFill>
                  <a:srgbClr val="E6E6E6"/>
                </a:solidFill>
                <a:latin typeface="Consolas"/>
              </a:rPr>
              <a:t>WHERE  num_rows IS NULL OR last_analyzed &lt; SYSDATE - 30;</a:t>
            </a:r>
          </a:p>
          <a:p>
            <a:r>
              <a:rPr sz="1250" b="0">
                <a:solidFill>
                  <a:srgbClr val="E6E6E6"/>
                </a:solidFill>
                <a:latin typeface="Consolas"/>
              </a:rPr>
              <a:t/>
            </a:r>
          </a:p>
          <a:p>
            <a:r>
              <a:rPr sz="1250" b="0">
                <a:solidFill>
                  <a:srgbClr val="E6E6E6"/>
                </a:solidFill>
                <a:latin typeface="Consolas"/>
              </a:rPr>
              <a:t>-- (4) MAXVALUE / DEFAULT 파티션이 비대해지지 않았는가</a:t>
            </a:r>
          </a:p>
          <a:p>
            <a:r>
              <a:rPr sz="1250" b="0">
                <a:solidFill>
                  <a:srgbClr val="E6E6E6"/>
                </a:solidFill>
                <a:latin typeface="Consolas"/>
              </a:rPr>
              <a:t>SELECT table_owner, table_name, partition_name, num_rows FROM dba_tab_partitions</a:t>
            </a:r>
          </a:p>
          <a:p>
            <a:r>
              <a:rPr sz="1250" b="0">
                <a:solidFill>
                  <a:srgbClr val="E6E6E6"/>
                </a:solidFill>
                <a:latin typeface="Consolas"/>
              </a:rPr>
              <a:t>WHERE  partition_name LIKE '%MAX%' OR partition_name LIKE '%DEFAULT%'</a:t>
            </a:r>
          </a:p>
          <a:p>
            <a:r>
              <a:rPr sz="1250" b="0">
                <a:solidFill>
                  <a:srgbClr val="E6E6E6"/>
                </a:solidFill>
                <a:latin typeface="Consolas"/>
              </a:rPr>
              <a:t>ORDER  BY num_rows DESC;</a:t>
            </a:r>
          </a:p>
          <a:p>
            <a:r>
              <a:rPr sz="1250" b="0">
                <a:solidFill>
                  <a:srgbClr val="E6E6E6"/>
                </a:solidFill>
                <a:latin typeface="Consolas"/>
              </a:rPr>
              <a:t/>
            </a:r>
          </a:p>
          <a:p>
            <a:r>
              <a:rPr sz="1250" b="0">
                <a:solidFill>
                  <a:srgbClr val="E6E6E6"/>
                </a:solidFill>
                <a:latin typeface="Consolas"/>
              </a:rPr>
              <a:t>-- (5) ROW MOVEMENT 가 켜진 테이블 (ROWID 변경 위험 고지 대상)</a:t>
            </a:r>
          </a:p>
          <a:p>
            <a:r>
              <a:rPr sz="1250" b="0">
                <a:solidFill>
                  <a:srgbClr val="E6E6E6"/>
                </a:solidFill>
                <a:latin typeface="Consolas"/>
              </a:rPr>
              <a:t>SELECT owner, table_name FROM dba_tables WHERE row_movement = 'ENABLED';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프루닝 판정</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실행계획에 PARTITION RANGE ITERATOR 가 나오고 Pstart/Pstop 이 KEY / KEY 다. 어떻게 판정하는가?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프루닝이 실패했다. 전체 파티션을 읽는다</a:t>
            </a:r>
          </a:p>
          <a:p>
            <a:pPr>
              <a:spcAft>
                <a:spcPts val="600"/>
              </a:spcAft>
            </a:pPr>
            <a:r>
              <a:rPr sz="1700" b="0">
                <a:solidFill>
                  <a:srgbClr val="202830"/>
                </a:solidFill>
                <a:latin typeface="Malgun Gothic"/>
              </a:rPr>
              <a:t>프루닝이 실행 시점에 적용된다. Starts 와 Buffers 로 실제 읽은 양을 확인한다</a:t>
            </a:r>
          </a:p>
          <a:p>
            <a:pPr>
              <a:spcAft>
                <a:spcPts val="600"/>
              </a:spcAft>
            </a:pPr>
            <a:r>
              <a:rPr sz="1700" b="0">
                <a:solidFill>
                  <a:srgbClr val="202830"/>
                </a:solidFill>
                <a:latin typeface="Malgun Gothic"/>
              </a:rPr>
              <a:t>파티션 키가 조건에 없다는 뜻이다</a:t>
            </a:r>
          </a:p>
          <a:p>
            <a:pPr>
              <a:spcAft>
                <a:spcPts val="600"/>
              </a:spcAft>
            </a:pPr>
            <a:r>
              <a:rPr sz="1700" b="0">
                <a:solidFill>
                  <a:srgbClr val="202830"/>
                </a:solidFill>
                <a:latin typeface="Malgun Gothic"/>
              </a:rPr>
              <a:t>인덱스가 UNUSABLE 이라는 뜻이다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파티션 DDL 과 인덱스</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GLOBAL 파티션 인덱스가 있는 테이블에서 ALTER TABLE ... DROP PARTITION 을 실행했다. 인덱스는?</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해당 파티션에 대응하는 인덱스 파티션만 UNUSABLE 이 된다</a:t>
            </a:r>
          </a:p>
          <a:p>
            <a:pPr>
              <a:spcAft>
                <a:spcPts val="600"/>
              </a:spcAft>
            </a:pPr>
            <a:r>
              <a:rPr sz="1700" b="0">
                <a:solidFill>
                  <a:srgbClr val="202830"/>
                </a:solidFill>
                <a:latin typeface="Malgun Gothic"/>
              </a:rPr>
              <a:t>인덱스 전체(모든 파티션) 가 UNUSABLE 이 된다</a:t>
            </a:r>
          </a:p>
          <a:p>
            <a:pPr>
              <a:spcAft>
                <a:spcPts val="600"/>
              </a:spcAft>
            </a:pPr>
            <a:r>
              <a:rPr sz="1700" b="0">
                <a:solidFill>
                  <a:srgbClr val="202830"/>
                </a:solidFill>
                <a:latin typeface="Malgun Gothic"/>
              </a:rPr>
              <a:t>아무 영향이 없다</a:t>
            </a:r>
          </a:p>
          <a:p>
            <a:pPr>
              <a:spcAft>
                <a:spcPts val="600"/>
              </a:spcAft>
            </a:pPr>
            <a:r>
              <a:rPr sz="1700" b="0">
                <a:solidFill>
                  <a:srgbClr val="202830"/>
                </a:solidFill>
                <a:latin typeface="Malgun Gothic"/>
              </a:rPr>
              <a:t>오류가 발생하고 DROP 이 취소된다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파티션 공간</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TRUNCATE PARTITION 후 한 건만 INSERT 한 파티션의 통계 blocks 가 1006 으로 나온다. 원인은?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통계가 낡았다. 다시 수집하면 정상값이 된다</a:t>
            </a:r>
          </a:p>
          <a:p>
            <a:pPr>
              <a:spcAft>
                <a:spcPts val="600"/>
              </a:spcAft>
            </a:pPr>
            <a:r>
              <a:rPr sz="1700" b="0">
                <a:solidFill>
                  <a:srgbClr val="202830"/>
                </a:solidFill>
                <a:latin typeface="Malgun Gothic"/>
              </a:rPr>
              <a:t>파티션이 손상됐다. MOVE 로 재작성해야 한다</a:t>
            </a:r>
          </a:p>
          <a:p>
            <a:pPr>
              <a:spcAft>
                <a:spcPts val="600"/>
              </a:spcAft>
            </a:pPr>
            <a:r>
              <a:rPr sz="1700" b="0">
                <a:solidFill>
                  <a:srgbClr val="202830"/>
                </a:solidFill>
                <a:latin typeface="Malgun Gothic"/>
              </a:rPr>
              <a:t>ASSM 이 8MB 익스텐트 전체를 포맷해 HWM 이 끝까지 올라갔다</a:t>
            </a:r>
          </a:p>
          <a:p>
            <a:pPr>
              <a:spcAft>
                <a:spcPts val="600"/>
              </a:spcAft>
            </a:pPr>
            <a:r>
              <a:rPr sz="1700" b="0">
                <a:solidFill>
                  <a:srgbClr val="202830"/>
                </a:solidFill>
                <a:latin typeface="Malgun Gothic"/>
              </a:rPr>
              <a:t>다른 파티션의 블록이 잘못 집계됐다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파티셔닝은 하나의 테이블을 여러 세그먼트로 나눈다. 애플리케이션 코드는 그대로다</a:t>
            </a:r>
          </a:p>
          <a:p>
            <a:pPr>
              <a:spcAft>
                <a:spcPts val="600"/>
              </a:spcAft>
            </a:pPr>
            <a:r>
              <a:rPr sz="1800" b="0">
                <a:solidFill>
                  <a:srgbClr val="202830"/>
                </a:solidFill>
                <a:latin typeface="Malgun Gothic"/>
              </a:rPr>
              <a:t>•  이득의 순서는 관리성 &gt; 성능이다. DROP PARTITION 이 대용량 DELETE 를 대체한다</a:t>
            </a:r>
          </a:p>
          <a:p>
            <a:pPr>
              <a:spcAft>
                <a:spcPts val="600"/>
              </a:spcAft>
            </a:pPr>
            <a:r>
              <a:rPr sz="1800" b="0">
                <a:solidFill>
                  <a:srgbClr val="202830"/>
                </a:solidFill>
                <a:latin typeface="Malgun Gothic"/>
              </a:rPr>
              <a:t>•  방식 선택 기준은 "무엇으로 조회하는가" 다. HASH 는 범위 조회에서 프루닝이 없다</a:t>
            </a:r>
          </a:p>
          <a:p>
            <a:pPr>
              <a:spcAft>
                <a:spcPts val="600"/>
              </a:spcAft>
            </a:pPr>
            <a:r>
              <a:rPr sz="1800" b="0">
                <a:solidFill>
                  <a:srgbClr val="202830"/>
                </a:solidFill>
                <a:latin typeface="Malgun Gothic"/>
              </a:rPr>
              <a:t>•  파티션 하나 = 세그먼트 하나이고 기본 8MB 를 먼저 잡는다 (파티션 100개 = 800MB)</a:t>
            </a:r>
          </a:p>
          <a:p>
            <a:pPr>
              <a:spcAft>
                <a:spcPts val="600"/>
              </a:spcAft>
            </a:pPr>
            <a:r>
              <a:rPr sz="1800" b="0">
                <a:solidFill>
                  <a:srgbClr val="202830"/>
                </a:solidFill>
                <a:latin typeface="Malgun Gothic"/>
              </a:rPr>
              <a:t>•  TRUNCATE 뒤 한 건만 넣어도 HWM 이 8MB 끝까지 올라간다 → SHRINK SPACE</a:t>
            </a:r>
          </a:p>
          <a:p>
            <a:pPr>
              <a:spcAft>
                <a:spcPts val="600"/>
              </a:spcAft>
            </a:pPr>
            <a:r>
              <a:rPr sz="1800" b="0">
                <a:solidFill>
                  <a:srgbClr val="202830"/>
                </a:solidFill>
                <a:latin typeface="Malgun Gothic"/>
              </a:rPr>
              <a:t>•  프루닝 판정은 연산 이름 · Pstart/Pstop · Starts 세 값이다. KEY 는 실패가 아니다</a:t>
            </a:r>
          </a:p>
          <a:p>
            <a:pPr>
              <a:spcAft>
                <a:spcPts val="600"/>
              </a:spcAft>
            </a:pPr>
            <a:r>
              <a:rPr sz="1800" b="0">
                <a:solidFill>
                  <a:srgbClr val="202830"/>
                </a:solidFill>
                <a:latin typeface="Malgun Gothic"/>
              </a:rPr>
              <a:t>•  프루닝을 깨는 것은 키 연산 · 형 변환 · 키 없는 조건 · OR 네 가지다</a:t>
            </a:r>
          </a:p>
          <a:p>
            <a:pPr>
              <a:spcAft>
                <a:spcPts val="600"/>
              </a:spcAft>
            </a:pPr>
            <a:r>
              <a:rPr sz="1800" b="0">
                <a:solidFill>
                  <a:srgbClr val="202830"/>
                </a:solidFill>
                <a:latin typeface="Malgun Gothic"/>
              </a:rPr>
              <a:t>•  특별한 이유가 없으면 LOCAL PREFIXED 인덱스. GLOBAL 은 DROP 한 번에 전체가 죽는다</a:t>
            </a:r>
          </a:p>
          <a:p>
            <a:pPr>
              <a:spcAft>
                <a:spcPts val="600"/>
              </a:spcAft>
            </a:pPr>
            <a:r>
              <a:rPr sz="1800" b="0">
                <a:solidFill>
                  <a:srgbClr val="202830"/>
                </a:solidFill>
                <a:latin typeface="Malgun Gothic"/>
              </a:rPr>
              <a:t>•  UNUSABLE 은 오류를 내지 않는다. UPDATE INDEXES 와 점검 쿼리 두 개가 대책이다</a:t>
            </a:r>
          </a:p>
          <a:p>
            <a:pPr>
              <a:spcAft>
                <a:spcPts val="600"/>
              </a:spcAft>
            </a:pPr>
            <a:r>
              <a:rPr sz="1800" b="0">
                <a:solidFill>
                  <a:srgbClr val="202830"/>
                </a:solidFill>
                <a:latin typeface="Malgun Gothic"/>
              </a:rPr>
              <a:t>•  구조 변경 DDL 뒤에는 반드시 통계를 재수집한다 (SPLIT·MERGE 는 통계를 지운다)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실습 개요 (11종)</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01 파티션 뷰의 한계  ·  02 RANGE 파티션과 딕셔너리  ·  03 INTERVAL 파티션</a:t>
            </a:r>
          </a:p>
          <a:p>
            <a:pPr>
              <a:spcAft>
                <a:spcPts val="600"/>
              </a:spcAft>
            </a:pPr>
            <a:r>
              <a:rPr sz="1800" b="0">
                <a:solidFill>
                  <a:srgbClr val="202830"/>
                </a:solidFill>
                <a:latin typeface="Malgun Gothic"/>
              </a:rPr>
              <a:t>•  04 HASH 와 LIST 파티션  ·  05 COMPOSITE 파티션</a:t>
            </a:r>
          </a:p>
          <a:p>
            <a:pPr>
              <a:spcAft>
                <a:spcPts val="600"/>
              </a:spcAft>
            </a:pPr>
            <a:r>
              <a:rPr sz="1800" b="0">
                <a:solidFill>
                  <a:srgbClr val="202830"/>
                </a:solidFill>
                <a:latin typeface="Malgun Gothic"/>
              </a:rPr>
              <a:t>•  06 파티션 관리 — 구조 변경  ·  07 공간 · EXCHANGE · 통계</a:t>
            </a:r>
          </a:p>
          <a:p>
            <a:pPr>
              <a:spcAft>
                <a:spcPts val="600"/>
              </a:spcAft>
            </a:pPr>
            <a:r>
              <a:rPr sz="1800" b="0">
                <a:solidFill>
                  <a:srgbClr val="202830"/>
                </a:solidFill>
                <a:latin typeface="Malgun Gothic"/>
              </a:rPr>
              <a:t>•  08 파티션 프루닝  ·  09 로컬 파티션 인덱스  ·  10 글로벌 파티션 인덱스</a:t>
            </a:r>
          </a:p>
          <a:p>
            <a:pPr>
              <a:spcAft>
                <a:spcPts val="600"/>
              </a:spcAft>
            </a:pPr>
            <a:r>
              <a:rPr sz="1800" b="0">
                <a:solidFill>
                  <a:srgbClr val="202830"/>
                </a:solidFill>
                <a:latin typeface="Malgun Gothic"/>
              </a:rPr>
              <a:t>•  11 Data Pump 파티션 이관</a:t>
            </a:r>
          </a:p>
          <a:p>
            <a:pPr>
              <a:spcAft>
                <a:spcPts val="600"/>
              </a:spcAft>
            </a:pPr>
            <a:r>
              <a:rPr sz="1800" b="0">
                <a:solidFill>
                  <a:srgbClr val="202830"/>
                </a:solidFill>
                <a:latin typeface="Malgun Gothic"/>
              </a:rPr>
              <a:t>•  진행 방식</a:t>
            </a:r>
          </a:p>
          <a:p>
            <a:pPr>
              <a:spcAft>
                <a:spcPts val="600"/>
              </a:spcAft>
            </a:pPr>
            <a:r>
              <a:rPr sz="1600" b="0">
                <a:solidFill>
                  <a:srgbClr val="202830"/>
                </a:solidFill>
                <a:latin typeface="Malgun Gothic"/>
              </a:rPr>
              <a:t>    –  순서대로 진행한다. 06 이 만든 구조를 07 이 이어 쓰고 07 의 테이블스페이스를 09 가 쓴다</a:t>
            </a:r>
          </a:p>
          <a:p>
            <a:pPr>
              <a:spcAft>
                <a:spcPts val="600"/>
              </a:spcAft>
            </a:pPr>
            <a:r>
              <a:rPr sz="1600" b="0">
                <a:solidFill>
                  <a:srgbClr val="202830"/>
                </a:solidFill>
                <a:latin typeface="Malgun Gothic"/>
              </a:rPr>
              <a:t>    –  각 실습은 8단계 구성이며 최소 한 번 "오류 → 원인 → 수정" 흐름이 들어 있다</a:t>
            </a:r>
          </a:p>
          <a:p>
            <a:pPr>
              <a:spcAft>
                <a:spcPts val="600"/>
              </a:spcAft>
            </a:pPr>
            <a:r>
              <a:rPr sz="1600" b="0">
                <a:solidFill>
                  <a:srgbClr val="202830"/>
                </a:solidFill>
                <a:latin typeface="Malgun Gothic"/>
              </a:rPr>
              <a:t>    –  08~10 은 53만/10만 건 테이블을 만든다. USERS 에 300MB 이상 여유가 필요하다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600"/>
              </a:spcAft>
            </a:pPr>
            <a:r>
              <a:rPr sz="1300" b="1">
                <a:solidFill>
                  <a:srgbClr val="B88600"/>
                </a:solidFill>
                <a:latin typeface="Malgun Gothic"/>
              </a:rPr>
              <a:t>실습 준비:</a:t>
            </a:r>
          </a:p>
          <a:p>
            <a:pPr>
              <a:spcAft>
                <a:spcPts val="600"/>
              </a:spcAft>
            </a:pPr>
            <a:r>
              <a:rPr sz="1300" b="0">
                <a:solidFill>
                  <a:srgbClr val="202830"/>
                </a:solidFill>
                <a:latin typeface="Malgun Gothic"/>
              </a:rPr>
              <a:t>Partitioning 옵션 확인(v$option), HR 샘플 스키마, USERS 300MB 여유, /home/oracle/datapump 와 디렉터리 객체 dirpump(실습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
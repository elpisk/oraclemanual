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제8장은 Chapter 1에서 다룬 IN·EXISTS·JOIN 비교의 후속편이다. 같은 서브쿼리라도 SELECT 절에 놓이는지, FROM 절에 놓이는지, WHERE 절에서 바깥 값을 참조하는지에 따라 옵티마이저가 서로 다른 실행 구조를 만들어 낸다. 이 장이 전하려는 메시지는 하나다. 서브쿼리 성능을 결정하는 것은 문법의 모양이 아니라 옵티마이저가 만들어 낸 물리적 실행 구조라는 점이다. 첫 시간에 스칼라 서브쿼리가 행마다 실행될 것 같은지 손을 들어 보게 하고, 뒤에서 실측 결과와 대조하면 몰입도가 크게 올라간다.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학습 목표는 이 장이 끝났을 때 학습자가 말이나 글로 설명할 수 있어야 하는 항목을 나열한 것이다. 이번 장의 핵심 동사는 설명한다와 판단한다이며, SQL을 새로 짜는 능력보다 실행계획을 읽고 근거를 대는 능력을 요구한다. 특히 Starts 컬럼을 읽는 항목은 이번 장에서 처음 본격적으로 등장하므로 미리 짚어 둔다. 목표를 읽고 넘어가기보다 각 항목이 뒤의 어느 절에서 다뤄지는지 한 번씩 연결해 주면 학습자가 전체 지도를 갖고 출발할 수 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장은 세 개의 실측 사례로 구성된다. 8.4와 8.5는 스칼라 서브쿼리와 조인이 거의 같은 비용으로 수렴한 사례, 8.6은 상관 서브쿼리가 오히려 더 비쌌던 사례, 8.7은 인라인 뷰와 HAVING이 완전히 같았던 사례다. 세 사례의 결론이 서로 다르다는 점이 중요하다. 어느 문법이 좋다는 결론이 아니라 매번 실행계획으로 확인해야 한다는 결론으로 모이기 때문이다. 진도를 나가기 전에 세 사례의 결론이 다르다는 사실만 미리 예고해 두면 학습자가 성급한 일반화를 하지 않는다.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1에서 IN과 EXISTS를 이미 다뤘기 때문에 학습자가 서브쿼리는 끝난 주제라고 생각하기 쉽다. 이 절의 목적은 그 오해를 먼저 깨는 것이다. Chapter 1에서 본 것은 존재 여부 확인이라는 한 가지 쓰임새였고, 서브쿼리에는 값 하나를 붙여 오는 용도, 중간 결과 집합을 만드는 용도, 바깥 행마다 기준값을 계산하는 용도가 더 있다. 세 가지 쓰임새를 먼저 나열해 두면 뒤에 나오는 세 실측 사례가 각각 어디에 대응하는지 학습자가 스스로 연결한다.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1의 결론을 한 줄로 복기시키는 슬라이드다. 학습자가 흔히 오해하는 지점은 실측으로 고른다는 원칙을 한 번 배우면 끝나는 지식으로 여기는 것이다. 실제로는 사례마다 결론이 달라지기 때문에 매번 다시 적용해야 하는 절차에 가깝다. IN과 EXISTS가 같은 세미조인으로 변환됐다는 사실을 여기서 다시 꺼내 두면, 뒤에서 상관 서브쿼리가 VW_SQ_1이라는 뷰로 변환되는 장면을 볼 때 학습자가 낯설어하지 않는다. 변환은 예외가 아니라 기본 동작이라는 점을 강조한다.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서브쿼리를 위치로 분류하면 학습자가 훨씬 쉽게 정리한다. SELECT 절은 값 하나, FROM 절은 집합 하나, WHERE 절은 참과 거짓 하나를 만들어 낸다고 설명하면 세 가지가 한 번에 구분된다. 실무에서 사고가 나는 지점은 SELECT 절 서브쿼리가 값 하나만 반환해야 한다는 제약을 잊고 여러 행이 나오는 서브쿼리를 넣는 경우다. 이때는 성능 문제가 아니라 실행 오류가 난다. 분류를 세워 두면 뒤에 나오는 세 실측 사례가 각각 어디에 속하는지 학습자가 스스로 짚어 낼 수 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실습 전 전제를 분명히 해 두는 슬라이드다. 다른 챕터에서 인덱스를 추가한 상태로 이 장의 예제를 실행하면 계획이 달라져 교안과 대조가 불가능해진다. 스키마를 원래 상태로 되돌려 두라고 미리 안내한다. 또 하나 강조할 것은 Starts 컬럼이다. 지금까지는 Buffers 위주로 봤지만 이번 장의 핵심 증거는 Starts에 있다. 각 단계가 몇 번 실행됐는지를 보여 주는 값이며, 스칼라 서브쿼리 캐싱이 실제로 작동했는지 여부가 바로 이 숫자 하나로 드러난다.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개념 정의 절이다. 세 용어가 서로 배타적인 분류가 아니라는 점을 미리 알려 주는 것이 좋다. 예를 들어 스칼라 서브쿼리이면서 동시에 상관 서브쿼리인 경우가 흔하고, 이번 장의 Q1이 정확히 그런 사례다. 학습자가 용어를 서랍처럼 나누려 하면 오히려 혼란스러워지므로, 위치로 부르는 이름과 참조 관계로 부르는 이름이 겹쳐 쓰인다고 설명한다. 용어 자체를 외우는 것보다 각각이 무엇을 반환하는지를 기억하게 하는 편이 실무에 훨씬 유용하다.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스칼라 서브쿼리는 개발 현장에서 가장 자주 쓰이면서 동시에 가장 자주 의심받는 문법이다. 코드 리뷰에서 조인으로 바꾸라는 지적을 받아 본 학습자가 많을 것이다. 여기서는 아직 판단하지 말고 문법과 반환 규칙만 정확히 잡아 둔다. 실무에서 사고가 나는 지점은 값 하나라는 제약이다. 개발 데이터에서는 한 건만 나오던 서브쿼리가 운영 데이터에서 두 건이 되는 순간 실행 오류로 터진다. 성능 문제가 아니라 정합성 문제로 먼저 드러난다는 점을 알려 두면 좋다.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인라인 뷰에 대해 학습자가 흔히 갖는 오해는 괄호 안의 결과가 임시 테이블처럼 통째로 만들어진 다음에 바깥 조건이 적용된다는 그림이다. 실제로는 옵티마이저가 많은 경우 두 단계를 한 덩어리로 합쳐 처리한다. 이 오해가 남아 있으면 인라인 뷰를 무조건 피하려는 습관으로 이어지고, 결과적으로 읽기 어려운 SQL을 쓰게 된다. 8.7절의 실측이 바로 그 오해를 깨는 자료이므로 여기서는 의문만 던져 두고 결론은 미뤄 두는 편이 강의 흐름상 낫다.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상관이라는 말이 어렵게 들리므로 바깥 값을 입력으로 받는 함수라고 비유하면 쉽게 전달된다. 학습자가 자주 혼동하는 지점은 상관 서브쿼리와 스칼라 서브쿼리를 대립 개념으로 이해하는 것이다. 위치로 나눈 이름과 참조 관계로 나눈 이름이라 서로 겹칠 수 있다는 점을 Q1을 예로 들어 확인시킨다. 또 하나 강조할 것은 문법이 그리는 실행 그림과 실제 실행이 다르다는 사실이다. 이 간극이 이번 장 전체를 관통하는 주제이므로 여기서 미리 못을 박아 둔다.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unnesting은 이번 장 전체의 열쇠다. 학습자에게 계획에서 원본 SQL에 없던 이름을 찾아보라고 시키면 변환 여부를 스스로 판별하게 된다. VW로 시작하는 이름은 대부분 옵티마이저가 만든 것이다. 실무에서 흔한 오해는 서브쿼리를 조인으로 직접 바꿔 쓰면 항상 빨라진다는 것인데, 옵티마이저가 이미 같은 변환을 해 놓았다면 손으로 바꿔 봐야 계획이 그대로인 경우가 많다. 8.5절의 실측이 정확히 그 상황을 보여 주므로 여기서 예고해 두면 연결이 매끄럽다.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절이 이번 장에서 개념적으로 가장 중요한 부분이다. 캐싱이라는 단어를 들으면 학습자는 보통 버퍼 캐시나 결과 캐시를 떠올리는데, 여기서 말하는 캐싱은 한 SQL이 실행되는 동안에만 유지되는 내부 메모리 구조다. 다른 세션이나 다음 실행과는 무관하다. 이 차이를 먼저 못 박아 두지 않으면 뒤의 Starts 해석이 엉뚱한 방향으로 흐른다. 개념을 먼저 설명하고 실측으로 확인하는 순서이므로, 여기서는 결과를 미리 말하지 말고 예측만 시켜 두는 편이 좋다.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캐싱이라는 단어의 범위를 정확히 잡아 주는 것이 이 슬라이드의 목적이다. 학습자가 흔히 오해하는 지점은 이 캐시가 다음 실행에도 남아 있을 것이라고 생각하는 것이다. 한 SQL의 실행이 끝나면 사라지므로, 같은 쿼리를 다시 돌려도 캐싱 효과는 매번 처음부터 다시 쌓인다. Starts 컬럼은 지금까지 잘 보지 않던 열이므로 여기서 손가락으로 짚어 가며 읽는 법을 연습시킨다. 결과 행 수와 Starts를 나란히 비교하는 습관을 들이면 이후 챕터에서도 계속 쓸모가 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여기서 학습자에게 던질 질문은 우리 시스템의 어떤 컬럼이 이 조건에 맞는지다. 병원 코드, 진료과, 상태 코드처럼 종류가 적은 컬럼은 거의 항상 유리하고, 환자 번호나 청구 번호처럼 값이 거의 유일한 컬럼은 캐싱 효과를 기대하기 어렵다. 실습문제 3번이 정확히 이 지점을 예측하게 만드는 문항이므로 미리 연결해 두면 좋다. 다만 500종류일 때의 실제 값은 교안에 측정되어 있지 않으므로, 방향만 예측하고 확정된 수치를 말하지 않도록 주의시켜야 한다.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통념을 다루는 방식이 이 과정의 특징이다. 무조건 틀렸다고 가르치면 학습자는 새로운 통념을 하나 더 얻을 뿐이다. 조건이 빠져 있다고 설명해야 판단 능력이 생긴다. 여기서 학습자에게 이 통념이 성립하려면 어떤 조건이 필요한지 말해 보게 하면 좋다. 참조 값의 종류가 행 수에 가까울 때라는 답이 나오면 개념을 제대로 잡은 것이다. 실습문제 2번이 이 논리를 그대로 서술하게 만드는 문항이므로 답의 뼈대를 여기서 함께 세워 두면 채점 편차가 줄어든다.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슬라이드는 8.6절의 예고편이다. 학습자에게 미리 예측을 시켜 보는 것이 효과적이다. 그룹 평균을 미리 한 번에 계산하는 변환이 좋아 보이는가라고 물으면 대부분 그렇다고 답한다. 그다음 그 평균을 구하려면 테이블을 한 번 읽어야 하고 비교 대상 행도 따로 읽어야 한다는 점을 짚어 주면 스스로 문제를 발견한다. 옵티마이저가 똑똑하게 변환해 주는 것과 그 결과가 가장 저렴한 것은 별개라는 이 장의 메시지가 여기서 처음 등장한다.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개념에서 실측으로 넘어가는 구간이다. 여기서 강의 속도를 한 번 늦추는 것이 좋다. SQL 두 개를 먼저 보여 주고 어느 쪽이 쌀 것 같은지 손을 들어 예측하게 한 다음, 실행계획을 열어 대조하는 순서로 진행하면 학습 효과가 크다. 예측을 기록해 두지 않으면 학습자는 결과를 본 뒤 자신은 원래 알고 있었다고 느끼기 쉽다. 칠판에 표를 그려 두고 예측 인원을 적어 두면 8.5절 마지막의 결론이 훨씬 강하게 남는다.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소재를 설명할 때 조건 절의 의미를 정확히 짚어 준다. HOSP_ID가 5 이하라는 조건은 결과를 줄이려는 목적도 있지만, 스칼라 서브쿼리가 참조하는 값의 종류를 5로 고정하려는 의도적 설계다. 이 설계를 알려 주지 않으면 학습자는 뒤의 결과를 일반적인 결론으로 받아들이기 쉽다. 결과 행이 15,029건으로 같다는 사실도 미리 확인시켜야 한다. 결과가 같아야 비용 비교가 성립한다는 Chapter 1의 전제가 여기서도 그대로 적용되기 때문이다.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SQL을 보여 준 직후 학습자에게 서브쿼리가 몇 번 실행될 것 같은지 숫자로 답하게 한다. 대부분 결과 행 수와 같은 값을 말한다. 그 예측을 칠판에 적어 두고 잠시 후 실행계획과 대조하면 캐싱의 효과가 극적으로 전달된다. 여기서 짚어 둘 문법 포인트는 서브쿼리가 값 하나만 반환해야 한다는 점이다. hosp_id가 HOSPITALS의 기본키이므로 이 쿼리는 안전하다. 기본키가 아닌 컬럼으로 연결했다면 여러 행이 나와 실행 오류가 날 수 있다는 점을 함께 알려 준다.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Q2는 대부분의 코드 리뷰에서 권장되는 형태다. 여기서 학습자에게 왜 이 형태가 권장된다고 생각하는지 물어보면 반복 실행이 없어서라는 답이 나온다. 그 답이 곧 우리가 검증할 가설이다. 문법 관점에서 짚어 둘 것은 조인으로 바꾸는 순간 결과 행 수가 달라질 위험이 생긴다는 점이다. HOSP_ID가 기본키라 여기서는 안전하지만, 일대다 관계였다면 조인은 행을 불려 놓고 스칼라 서브쿼리는 그렇지 않다. 같은 결과라는 전제를 항상 먼저 확인해야 하는 이유다.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실행계획은 들여쓰기가 깊은 쪽부터 읽는 것이 원칙이지만, 이 계획은 먼저 Starts 열만 세로로 훑게 하는 편이 효과적이다. 1, 5, 5, 1이라는 네 숫자가 이 슬라이드의 전부다. 학습자가 조금 전에 예측한 숫자와 대조시키면 반응이 확실하게 온다. 여기서 성급하게 이유를 설명하지 말고, 왜 5인지 먼저 생각할 시간을 주는 것이 좋다. 8.3절의 캐싱 개념을 기억하는 학습자라면 스스로 연결해 낸다. 실습문제 1번이 정확히 이 장면을 설명하게 하는 문항이다.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계획을 읽을 때 Starts와 A-Rows를 짝으로 보는 습관을 강조한다. Starts가 5이고 A-Rows가 5라는 것은 다섯 번 실행해서 각각 한 건씩 가져왔다는 뜻이며, 스칼라 서브쿼리가 값 하나를 반환한다는 문법 제약과 정확히 일치한다. Buffers 배분을 함께 보게 하는 것도 중요하다. 학습자는 서브쿼리라는 단어만 보면 그쪽이 비용의 주범이라고 짐작하는데, 실제로는 원본 테이블 전체 스캔이 비용의 대부분이다. 어디를 손봐야 하는지 판단하려면 반드시 배분을 봐야 한다.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Q2의 계획은 반복이라는 요소가 전혀 없는 전형적인 해시 조인이다. 작은 쪽인 HOSPITALS를 먼저 읽어 해시 테이블을 만들고 MEDICAL_CLAIMS를 훑으면서 대조한다. 여기서 눈여겨볼 값은 Id 1의 E-Rows가 72라는 점이다. 실제 15,029건과 크게 어긋난 추정인데, 조인 결과 건수 추정이 얼마나 빗나갈 수 있는지 보여 주는 사례로 짚어 두면 좋다. 추정이 틀려도 이 사례에서는 조인 방식 선택이 나쁘지 않았다는 점까지 함께 설명하면 균형이 맞는다.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슬라이드의 핵심은 구조가 다르다는 사실과 비용이 다르다는 사실이 별개라는 점이다. 학습자는 구조가 다르면 비용도 다를 것이라고 자동으로 연결하는데, 실제로는 지배적인 비용 요인이 무엇인지에 달려 있다. 여기서는 두 쿼리 모두 MEDICAL_CLAIMS 전체 스캔이 비용의 거의 전부이므로 나머지 차이는 총량에 묻힌다. 튜닝 대상을 고를 때도 같은 원리가 적용된다. 전체에서 차지하는 비중이 큰 단계부터 손대야 효과가 있다는 원칙으로 연결해 설명하면 좋다.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슬라이드가 실습문제 1번의 정답 뼈대다. 채점 기준은 캐싱이라는 단어를 썼는지가 아니라 15,029과 5라는 두 숫자를 대비시켜 설명했는지에 두어야 한다. 학습자가 자주 놓치는 지점은 5라는 숫자의 출처다. 결과 행 수와 아무 관계가 없고 HOSP_ID의 distinct 개수에서 나온 값이라는 점을 분명히 해야 한다. 조건을 HOSP_ID가 500 이하로 바꾸면 어떻게 될지 되물어 보면 개념을 제대로 잡았는지 바로 확인할 수 있다. 실습문제 3번이 그 확장 문항이다.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결론을 내릴 때 조건을 함께 말하게 하는 훈련이 이 슬라이드의 목표다. 스칼라 서브쿼리가 조인만큼 빠르다는 문장은 위험하고, 참조 값의 종류가 적을 때는 조인과 비슷한 비용이 될 수 있다는 문장은 안전하다. 실무에서 사고가 나는 지점이 정확히 여기다. 개발 환경에서 값 종류가 적어 문제없던 SQL이 운영 데이터에서 종류가 폭발하면서 느려지는 경우다. 실습문제 2번과 3번을 이어서 풀면 이 조건 의존성을 스스로 정리하게 되므로 함께 안내한다.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앞 절에서 서브쿼리가 생각보다 괜찮다는 결론을 얻은 직후에 이 절이 온다는 순서가 중요하다. 학습자가 서브쿼리는 괜찮구나로 굳어지기 전에 반대 사례를 보여 주기 위한 배치다. 여기서도 옵티마이저는 똑똑하게 변환한다. 다만 그 변환의 결과가 더 비쌌을 뿐이다. 옵티마이저가 최선을 다한 것과 그 결과가 가장 저렴한 것은 다른 문제라는 메시지를 이 절에서 확실히 못 박는다. 실습문제 6번이 이 논지를 그대로 서술하게 만드는 문항이다.</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패턴이 실무에서 왜 그렇게 자주 등장하는지 짚어 주면 좋다. 요구사항 문장이 자기가 속한 그룹의 평균보다 큰 것이라 문법이 그 문장을 거의 그대로 옮겨 놓기 때문이다. 읽기 쉬운 SQL이라는 점에서는 분명한 장점이다. 그런데 읽기 쉬운 것과 실행이 저렴한 것이 다를 수 있다는 점이 이 절의 주제다. 학습자에게 이 쿼리가 앞 절의 Q1보다 비쌀지 쌀지 미리 예측하게 하고 그 예측을 적어 둔 다음 실행계획으로 넘어가면 대비가 선명해진다.</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SQL에서 반드시 짚어야 할 구조적 특징은 바깥과 서브쿼리가 같은 테이블을 본다는 점이다. 앞 절의 Q1은 서브쿼리가 작은 HOSPITALS를 봤지만 여기서는 30만 건짜리 원본을 다시 본다. 이 차이가 뒤의 결과를 결정한다. 학습자에게 문법만 보고 이 쿼리의 비용을 예측하게 하면 대부분 행마다 반복하니 아주 비쌀 것이라고 답한다. 실제로는 반복하지 않지만 그래도 비쌌다는 결과라서 예측과 실측이 이중으로 어긋나는 흥미로운 사례가 된다.</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계획에서 학습자가 가장 먼저 발견해야 할 것은 TABLE ACCESS FULL이 두 줄이라는 사실이다. 이름을 읽지 말고 줄만 세어 보라고 하면 금방 찾는다. 그다음 VW_SQ_1이라는 이름을 짚어 준다. 원본 SQL 어디에도 없는 이름이므로 옵티마이저가 만든 것이며, 8.2절에서 예고한 unnesting의 흔적이다. Starts가 전부 1이라는 점도 확인시킨다. 행마다 반복 실행될 것 같다던 예측이 여기서도 틀렸다는 사실을 함께 짚으면 개념이 한 번 더 강화된다.</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계획을 두 갈래로 나눠 읽히는 것이 이해에 가장 효과적이다. 왼쪽 갈래는 기준값을 만들고 오른쪽 갈래는 비교 대상을 가져오며, 마지막에 둘을 합친다. 이 그림을 손으로 그리게 하면 실습문제 4번을 그대로 풀 수 있다. Starts가 모두 1이라는 점도 반드시 짚는다. 학습자는 상관 서브쿼리라는 말만 듣고 반복 실행을 떠올리는데, 실제로는 한 번씩만 실행됐다. 옵티마이저의 변환이 실제로 작동했다는 증거이며, 그럼에도 비용이 컸다는 다음 슬라이드의 반전으로 이어진다.</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실습문제 4번의 정답 슬라이드다. 채점에서 중요한 것은 두 스캔의 목적을 구분해 서술했는지다. 그냥 두 번 읽는다고만 쓰면 절반짜리 답이다. 여기서 학습자에게 던질 좋은 질문은 한 번만 읽고 처리할 수는 없는가다. 분석 함수를 쓰면 한 번의 스캔으로 그룹 평균과 원본 행을 함께 다룰 수 있다는 방향까지 언급하면 시야가 넓어진다. 다만 이번 챕터에서는 측정하지 않았으므로 가능성만 제시하고 수치는 말하지 않는 것이 원칙에 맞다.</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실습문제 5번의 정답 슬라이드다. 여기서 강조할 것은 Buffers 값을 단계별로 분해해 더해 보는 습관이다. 전체 숫자만 보면 왜 큰지 알 수 없지만 분해하면 원인이 바로 드러난다. 3,090과 3,518을 더하면 실측값과 거의 맞아떨어진다는 계산을 학습자와 함께 해 보면 계획 읽기가 추측이 아니라 검산 가능한 작업이라는 감각이 생긴다. 실무 점검에서도 같은 테이블 이름이 계획에 여러 번 나오는지 세는 것만으로 상당수 문제를 미리 잡아낼 수 있다.</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실습문제 6번의 정답 뼈대이자 이 장의 핵심 메시지다. 학습자가 흔히 오해하는 지점은 옵티마이저를 만능으로 보거나 반대로 못 믿을 것으로 보는 양극단이다. 정확한 태도는 그 중간이다. 옵티마이저는 주어진 구조 안에서 최선을 다하지만 구조 자체를 바꿔 주지는 못한다. 그래서 개발자의 몫은 좋은 구조를 주는 것이라고 정리해 주면 좋다. 실무에서 이 원칙은 같은 테이블을 여러 번 읽는 SQL을 리뷰에서 먼저 잡아내는 습관으로 이어진다.</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앞의 두 절이 서브쿼리는 괜찮다와 서브쿼리가 비쌌다라는 상반된 결론을 냈다면, 이 절은 완전히 같다는 세 번째 결론을 낸다. 세 결론이 다르다는 점을 여기서 다시 상기시키면 학습자가 성급한 일반화를 하지 않는다. 이 절의 실용적 가치도 크다. 성능이 같다는 것이 확인되면 가독성을 기준으로 문법을 고를 수 있다는 뜻이기 때문이다. 코드 리뷰에서 근거 없이 스타일을 강요하는 일이 줄어든다는 점을 실무 연결 고리로 언급하면 좋다.</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SQL을 나란히 놓고 어느 쪽이 읽기 좋은지 먼저 물어보면 의견이 갈린다. 집계 단계가 여러 겹이면 인라인 뷰가 낫다는 쪽과 한 문장으로 끝나는 HAVING이 낫다는 쪽이 나온다. 그 논쟁을 잠시 열어 두고 성능이 같다면 이 논쟁은 취향 문제가 되고 다르다면 성능이 결론을 내린다고 정리한 뒤 실측으로 넘어간다. 문법 관점에서 짚어 둘 것은 HAVING이 집계 함수 결과에만 적용되는 조건이라는 점, 그리고 Q4의 바깥 WHERE는 이미 만들어진 컬럼 cnt를 참조한다는 점이다.</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표를 보여 주기 전에 학습자에게 예측을 시키는 것이 좋다. 인라인 뷰가 조금이라도 비쌀 것이라고 답하는 경우가 많은데 실측은 완전히 같다. 여기서 짚어야 할 핵심은 두 방식 모두 TABLE ACCESS FULL이 한 번뿐이라는 사실이다. 앞 절의 Q3가 두 번이었던 것과 대비시키면 스캔 횟수가 비용을 지배한다는 원칙이 다시 확인된다. 오퍼레이션 개수가 하나 더 많다고 해서 비용이 더 드는 것은 아니라는 점도 함께 정리해 준다.</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뷰 병합은 실무에서 인라인 뷰 사용을 꺼리게 만드는 오해를 푸는 열쇠다. 학습자가 흔히 갖는 그림은 괄호 안 결과가 임시 테이블처럼 통째로 만들어진 다음 바깥 조건이 적용된다는 것인데, 병합이 일어나면 그런 중간 단계 자체가 없다. 다만 병합이 항상 일어나지는 않고 옵티마이저가 상황에 따라 판단한다는 점, 그리고 병합을 막아야 하는 경우도 있다는 점을 예고해 둔다. 다음 슬라이드와 실습문제 9번이 그 경계를 다룬다.</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실습문제 8번의 정답 슬라이드다. 학습자가 자주 빠지는 함정이 계획의 줄 수를 비용의 척도로 삼는 것이다. 줄이 적으면 좋은 계획이라는 인상은 근거가 없다. 판단해야 할 것은 각 단계가 다루는 데이터의 양이며, 그것이 Buffers와 A-Rows에 드러난다. 여기서 앞 절의 Q3와 대비시키면 좋다. Q3는 오퍼레이션이 여섯 줄이었고 Q4는 세 단계였지만, 비용 차이를 만든 것은 줄 수가 아니라 큰 테이블을 몇 번 읽었는지였다.</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실습문제 9번을 위한 슬라이드이며 직접 실행하지 않고 원칙을 적용해 추론하는 훈련이다. 여기서 강조할 점은 위험의 성격이 다르다는 것이다. 앞의 사례들은 느려지는 문제였지만 이 경우는 결과가 달라지는 문제다. 튜닝의 대전제인 결과가 같아야 한다가 깨지는 상황이므로 훨씬 심각하다. 실무에서는 상위 N건을 뽑는 쿼리에 조건을 하나 추가했더니 엉뚱한 행이 나오더라는 형태로 드러난다. 이런 쿼리는 반드시 결과까지 대조해야 한다고 안내한다.</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마무리 구간이다. 세 사례의 결론이 서로 달랐다는 점을 다시 확인시키고, 그럼에도 공통으로 관통하는 원칙이 하나 있다는 방향으로 수렴시킨다. 학습자에게 세 사례를 한 문장씩 요약해 보라고 시키면 이해도를 바로 확인할 수 있다. 여기서 실습으로 넘어가기 전에 실행계획을 읽는 순서를 다시 정리해 주면 문제 풀이 속도가 확실히 빨라진다. 스캔 횟수를 세고, Starts를 확인하고, Buffers를 단계별로 분해하는 세 단계가 이 장의 도구 전부다.</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벤치마크 표를 볼 때 학습자에게 세 행의 결론이 서로 다르다는 점을 먼저 확인시킨다. 거의 같다, 더 비싸다, 완전히 같다라는 세 가지 결론이 나란히 있다. 어느 문법이 좋다는 결론을 뽑아낼 수 없는 구성이며 그것이 의도된 설계다. 두 번째 행의 방식 B가 비어 있는 이유도 짚어 준다. 이번 챕터에서 조인 버전을 측정하지 않았기 때문이며, 측정하지 않은 값을 추정해 채워 넣지 않는 것이 이 과정의 원칙이다. 근거 없는 숫자를 만들지 않는 태도를 함께 가르친다.</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실습문제 10번의 종합 정리 슬라이드다. 학습자에게 이 문장을 각자의 말로 다시 써 보게 하면 이해도가 그대로 드러난다. 핵심 키워드는 물리적 실행 구조와 몇 번 읽는가 두 가지다. 세 사례를 각각 한 문장으로 요약하고 그 위에 공통 원칙을 얹는 구조로 답을 쓰게 하면 채점 기준도 명확해진다. 여기서 Chapter 1의 결론과도 연결해 준다. 실측으로 고른다는 원칙이 이번 장에서 어떻게 구체화됐는지 짚으면 과정 전체의 흐름이 이어진다.</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체크리스트는 실습이 끝난 뒤 현업으로 가져갈 수 있는 형태로 정리한 것이다. 학습자에게 이 목록을 실제 담당 시스템의 SQL 하나에 적용해 보라고 과제를 주면 학습이 현장으로 이어진다. 특히 계획에서 같은 테이블 이름을 세는 항목은 별다른 도구 없이도 즉시 쓸 수 있어 효과가 좋다. 마지막 항목도 매번 강조한다. 결과가 다른 두 SQL을 비교하는 것은 튜닝이 아니라 다른 쿼리를 만든 것이며, 이 전제가 흐려지면 검증 자체가 성립하지 않는다.</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요약은 이 장의 핵심을 열 줄로 압축한 것이다. 학습자에게 이 화면을 남겨 두고 실습 중 참고하도록 권한다. 각 줄이 어느 절에서 나왔는지 짚어 주면 복습할 때 교안 본문을 찾기 쉬워진다. 특히 마지막 줄은 이 장 전체의 결론이자 앞으로도 반복해 쓰이는 원칙이므로 반드시 기억하게 한다. 요약을 읽고 끝내지 말고 각 줄에 대해 근거가 되는 실측값을 하나씩 말해 보게 하면 그 자리에서 복습이 된다. 말로 설명하지 못하는 줄이 곧 다시 봐야 할 부분이다.</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실습은 SQL을 새로 짜는 문제가 아니라 실행계획을 읽고 근거를 대는 서술형 위주다. 그래서 답을 맞혔는지보다 어떤 값을 근거로 삼았는지를 채점 기준으로 삼아야 한다고 안내한다. 3번과 9번은 직접 실행하지 않고 원칙을 적용해 추론하는 문항이므로 확정된 수치를 쓰지 말고 방향과 근거를 서술하게 지도한다. 채점 후에는 1번과 5번의 모범 답안을 함께 읽으며 추론 과정을 복기하는 시간을 따로 잡는 것을 권한다. 이 두 문항이 이 장의 핵심을 압축하고 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Rectangle 1"/>
          <p:cNvSpPr/>
          <p:nvPr/>
        </p:nvSpPr>
        <p:spPr>
          <a:xfrm>
            <a:off x="822960" y="2331720"/>
            <a:ext cx="164592" cy="201168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88720" y="1463040"/>
            <a:ext cx="10058400" cy="369332"/>
          </a:xfrm>
          <a:prstGeom prst="rect">
            <a:avLst/>
          </a:prstGeom>
          <a:noFill/>
        </p:spPr>
        <p:txBody>
          <a:bodyPr wrap="square">
            <a:spAutoFit/>
          </a:bodyPr>
          <a:lstStyle/>
          <a:p>
            <a:r>
              <a:rPr sz="1800" b="1">
                <a:solidFill>
                  <a:srgbClr val="C0392B"/>
                </a:solidFill>
                <a:latin typeface="Malgun Gothic"/>
              </a:rPr>
              <a:t>Oracle SQL 튜닝 과정  ·  제8장</a:t>
            </a:r>
          </a:p>
        </p:txBody>
      </p:sp>
      <p:sp>
        <p:nvSpPr>
          <p:cNvPr id="4" name="TextBox 3"/>
          <p:cNvSpPr txBox="1"/>
          <p:nvPr/>
        </p:nvSpPr>
        <p:spPr>
          <a:xfrm>
            <a:off x="1188720" y="2194560"/>
            <a:ext cx="10332720" cy="2011680"/>
          </a:xfrm>
          <a:prstGeom prst="rect">
            <a:avLst/>
          </a:prstGeom>
          <a:noFill/>
        </p:spPr>
        <p:txBody>
          <a:bodyPr wrap="square">
            <a:spAutoFit/>
          </a:bodyPr>
          <a:lstStyle/>
          <a:p>
            <a:r>
              <a:rPr sz="4400" b="1">
                <a:solidFill>
                  <a:srgbClr val="FFFFFF"/>
                </a:solidFill>
                <a:latin typeface="Malgun Gothic"/>
              </a:rPr>
              <a:t>Subquery / EXISTS / IN</a:t>
            </a:r>
          </a:p>
        </p:txBody>
      </p:sp>
      <p:sp>
        <p:nvSpPr>
          <p:cNvPr id="5" name="TextBox 4"/>
          <p:cNvSpPr txBox="1"/>
          <p:nvPr/>
        </p:nvSpPr>
        <p:spPr>
          <a:xfrm>
            <a:off x="1188720" y="4297680"/>
            <a:ext cx="10058400" cy="1097280"/>
          </a:xfrm>
          <a:prstGeom prst="rect">
            <a:avLst/>
          </a:prstGeom>
          <a:noFill/>
        </p:spPr>
        <p:txBody>
          <a:bodyPr wrap="square">
            <a:spAutoFit/>
          </a:bodyPr>
          <a:lstStyle/>
          <a:p>
            <a:r>
              <a:rPr sz="1800" b="0">
                <a:solidFill>
                  <a:srgbClr val="C5CED6"/>
                </a:solidFill>
                <a:latin typeface="Malgun Gothic"/>
              </a:rPr>
              <a:t>스칼라 서브쿼리 캐싱 · 인라인 뷰 · 상관 서브쿼리 · Unnesting과 View Merging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학습 목표 (Objectives)</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이 장을 마치면 다음을 수행할 수 있어야 한다.</a:t>
            </a:r>
          </a:p>
          <a:p>
            <a:r>
              <a:rPr sz="1600" b="0">
                <a:solidFill>
                  <a:srgbClr val="5A6672"/>
                </a:solidFill>
                <a:latin typeface="Malgun Gothic"/>
              </a:rPr>
              <a:t>    –  스칼라 서브쿼리·인라인 뷰·상관 서브쿼리를 구분해 설명한다</a:t>
            </a:r>
          </a:p>
          <a:p>
            <a:r>
              <a:rPr sz="1600" b="0">
                <a:solidFill>
                  <a:srgbClr val="5A6672"/>
                </a:solidFill>
                <a:latin typeface="Malgun Gothic"/>
              </a:rPr>
              <a:t>    –  실행계획의 Starts 컬럼을 그 단계가 실제로 실행된 횟수로 읽는다</a:t>
            </a:r>
          </a:p>
          <a:p>
            <a:r>
              <a:rPr sz="1600" b="0">
                <a:solidFill>
                  <a:srgbClr val="5A6672"/>
                </a:solidFill>
                <a:latin typeface="Malgun Gothic"/>
              </a:rPr>
              <a:t>    –  스칼라 서브쿼리 캐싱의 원리를 설명하고 Starts 값으로 확인한다</a:t>
            </a:r>
          </a:p>
          <a:p>
            <a:r>
              <a:rPr sz="1600" b="0">
                <a:solidFill>
                  <a:srgbClr val="5A6672"/>
                </a:solidFill>
                <a:latin typeface="Malgun Gothic"/>
              </a:rPr>
              <a:t>    –  참조 값의 distinct 개수가 캐싱 효과를 좌우한다는 점을 설명한다</a:t>
            </a:r>
          </a:p>
          <a:p>
            <a:r>
              <a:rPr sz="1600" b="0">
                <a:solidFill>
                  <a:srgbClr val="5A6672"/>
                </a:solidFill>
                <a:latin typeface="Malgun Gothic"/>
              </a:rPr>
              <a:t>    –  'SELECT 절 서브쿼리는 N+1처럼 느리다'는 통념을 실측으로 검증한다</a:t>
            </a:r>
          </a:p>
          <a:p>
            <a:r>
              <a:rPr sz="1600" b="0">
                <a:solidFill>
                  <a:srgbClr val="5A6672"/>
                </a:solidFill>
                <a:latin typeface="Malgun Gothic"/>
              </a:rPr>
              <a:t>    –  상관 서브쿼리가 VW_SQ_1 형태의 뷰와 조인으로 변환되는 과정을 읽는다</a:t>
            </a:r>
          </a:p>
          <a:p>
            <a:r>
              <a:rPr sz="1600" b="0">
                <a:solidFill>
                  <a:srgbClr val="5A6672"/>
                </a:solidFill>
                <a:latin typeface="Malgun Gothic"/>
              </a:rPr>
              <a:t>    –  변환된 계획이 원본 테이블을 몇 번 읽는지 세어 비용 차이를 설명한다</a:t>
            </a:r>
          </a:p>
          <a:p>
            <a:r>
              <a:rPr sz="1600" b="0">
                <a:solidFill>
                  <a:srgbClr val="5A6672"/>
                </a:solidFill>
                <a:latin typeface="Malgun Gothic"/>
              </a:rPr>
              <a:t>    –  인라인 뷰의 바깥 WHERE가 HAVING과 동등하게 처리되는 현상을 설명한다</a:t>
            </a:r>
          </a:p>
          <a:p>
            <a:r>
              <a:rPr sz="1600" b="0">
                <a:solidFill>
                  <a:srgbClr val="5A6672"/>
                </a:solidFill>
                <a:latin typeface="Malgun Gothic"/>
              </a:rPr>
              <a:t>    –  뷰 병합이 언제 안전하지 않을 수 있는지 판단 기준을 세운다</a:t>
            </a:r>
          </a:p>
          <a:p>
            <a:r>
              <a:rPr sz="1600" b="0">
                <a:solidFill>
                  <a:srgbClr val="5A6672"/>
                </a:solidFill>
                <a:latin typeface="Malgun Gothic"/>
              </a:rPr>
              <a:t>    –  서브쿼리 성능을 문법 형태가 아니라 물리적 실행 구조로 판단한다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이 장의 구성 (Agenda)</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8.1  Why — Chapter 1 이후, 서브쿼리의 나머지 얼굴들</a:t>
            </a:r>
          </a:p>
          <a:p>
            <a:r>
              <a:rPr sz="1800" b="0">
                <a:solidFill>
                  <a:srgbClr val="202830"/>
                </a:solidFill>
                <a:latin typeface="Malgun Gothic"/>
              </a:rPr>
              <a:t>•  8.2  Concept — 스칼라 서브쿼리 · 인라인 뷰 · 상관 서브쿼리</a:t>
            </a:r>
          </a:p>
          <a:p>
            <a:r>
              <a:rPr sz="1800" b="0">
                <a:solidFill>
                  <a:srgbClr val="202830"/>
                </a:solidFill>
                <a:latin typeface="Malgun Gothic"/>
              </a:rPr>
              <a:t>•  8.3  Oracle Internals — 스칼라 서브쿼리 캐싱과 내부 변환</a:t>
            </a:r>
          </a:p>
          <a:p>
            <a:r>
              <a:rPr sz="1800" b="0">
                <a:solidFill>
                  <a:srgbClr val="202830"/>
                </a:solidFill>
                <a:latin typeface="Malgun Gothic"/>
              </a:rPr>
              <a:t>•  8.4~8.5  Example / Execution Plan — 스칼라 서브쿼리 vs JOIN 실측</a:t>
            </a:r>
          </a:p>
          <a:p>
            <a:r>
              <a:rPr sz="1800" b="0">
                <a:solidFill>
                  <a:srgbClr val="202830"/>
                </a:solidFill>
                <a:latin typeface="Malgun Gothic"/>
              </a:rPr>
              <a:t>•  8.6  Bad SQL — 상관 서브쿼리가 항상 저렴하지는 않다</a:t>
            </a:r>
          </a:p>
          <a:p>
            <a:r>
              <a:rPr sz="1800" b="0">
                <a:solidFill>
                  <a:srgbClr val="202830"/>
                </a:solidFill>
                <a:latin typeface="Malgun Gothic"/>
              </a:rPr>
              <a:t>•  8.7  Tuning — 인라인 뷰의 WHERE는 HAVING과 같아지는가</a:t>
            </a:r>
          </a:p>
          <a:p>
            <a:r>
              <a:rPr sz="1800" b="0">
                <a:solidFill>
                  <a:srgbClr val="202830"/>
                </a:solidFill>
                <a:latin typeface="Malgun Gothic"/>
              </a:rPr>
              <a:t>•  8.8~8.9  Benchmark / Practice — 실측 요약과 실습 안내</a:t>
            </a:r>
          </a:p>
          <a:p>
            <a:r>
              <a:rPr sz="1800" b="0">
                <a:solidFill>
                  <a:srgbClr val="202830"/>
                </a:solidFill>
                <a:latin typeface="Malgun Gothic"/>
              </a:rPr>
              <a:t>•  8.10  Review — 이 장의 결론</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3896822" cy="1371600"/>
          </a:xfrm>
          <a:prstGeom prst="rect">
            <a:avLst/>
          </a:prstGeom>
          <a:noFill/>
        </p:spPr>
        <p:txBody>
          <a:bodyPr wrap="square">
            <a:spAutoFit/>
          </a:bodyPr>
          <a:lstStyle/>
          <a:p>
            <a:r>
              <a:rPr sz="6600" b="1">
                <a:solidFill>
                  <a:srgbClr val="C0392B"/>
                </a:solidFill>
                <a:latin typeface="Malgun Gothic"/>
              </a:rPr>
              <a:t>8.1</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Chapter 1 이후, 서브쿼리의 나머지 얼굴들</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Chapter 1이 세운 원칙</a:t>
            </a:r>
          </a:p>
          <a:p>
            <a:r>
              <a:rPr sz="1600" b="0">
                <a:solidFill>
                  <a:srgbClr val="C5CED6"/>
                </a:solidFill>
                <a:latin typeface="Malgun Gothic"/>
              </a:rPr>
              <a:t>•  서브쿼리는 한 가지가 아니다</a:t>
            </a:r>
          </a:p>
          <a:p>
            <a:r>
              <a:rPr sz="1600" b="0">
                <a:solidFill>
                  <a:srgbClr val="C5CED6"/>
                </a:solidFill>
                <a:latin typeface="Malgun Gothic"/>
              </a:rPr>
              <a:t>•  이 차시가 새로 다루는 세 패턴</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Chapter 1이 세운 원칙</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Chapter 1의 결론 — 결과가 같은 여러 SQL 중에서 실측으로 고른다</a:t>
            </a:r>
          </a:p>
          <a:p>
            <a:r>
              <a:rPr sz="1600" b="0">
                <a:solidFill>
                  <a:srgbClr val="5A6672"/>
                </a:solidFill>
                <a:latin typeface="Malgun Gothic"/>
              </a:rPr>
              <a:t>    –  IN·EXISTS·JOIN 세 SQL은 결과가 완전히 같았지만 비용은 같지 않았다</a:t>
            </a:r>
          </a:p>
          <a:p>
            <a:r>
              <a:rPr sz="1600" b="0">
                <a:solidFill>
                  <a:srgbClr val="5A6672"/>
                </a:solidFill>
                <a:latin typeface="Malgun Gothic"/>
              </a:rPr>
              <a:t>    –  어느 문법이 빠르다는 통념이 아니라 실행계획과 Buffers가 판단 근거였다</a:t>
            </a:r>
          </a:p>
          <a:p>
            <a:r>
              <a:rPr sz="1800" b="0">
                <a:solidFill>
                  <a:srgbClr val="202830"/>
                </a:solidFill>
                <a:latin typeface="Malgun Gothic"/>
              </a:rPr>
              <a:t>•  그때 확인한 또 하나의 사실 — 옵티마이저는 SQL을 그대로 실행하지 않는다</a:t>
            </a:r>
          </a:p>
          <a:p>
            <a:r>
              <a:rPr sz="1600" b="0">
                <a:solidFill>
                  <a:srgbClr val="5A6672"/>
                </a:solidFill>
                <a:latin typeface="Malgun Gothic"/>
              </a:rPr>
              <a:t>    –  IN과 EXISTS가 둘 다 HASH JOIN RIGHT SEMI라는 같은 형태로 변환됐다</a:t>
            </a:r>
          </a:p>
          <a:p>
            <a:r>
              <a:rPr sz="1600" b="0">
                <a:solidFill>
                  <a:srgbClr val="5A6672"/>
                </a:solidFill>
                <a:latin typeface="Malgun Gothic"/>
              </a:rPr>
              <a:t>    –  작성한 문법과 실제 실행 구조 사이에 변환 단계가 하나 끼어 있다</a:t>
            </a:r>
          </a:p>
          <a:p>
            <a:r>
              <a:rPr sz="1800" b="0">
                <a:solidFill>
                  <a:srgbClr val="202830"/>
                </a:solidFill>
                <a:latin typeface="Malgun Gothic"/>
              </a:rPr>
              <a:t>•  이 장은 그 원칙을 서브쿼리의 나머지 쓰임새로 확장한다</a:t>
            </a:r>
          </a:p>
          <a:p>
            <a:r>
              <a:rPr sz="1600" b="0">
                <a:solidFill>
                  <a:srgbClr val="5A6672"/>
                </a:solidFill>
                <a:latin typeface="Malgun Gothic"/>
              </a:rPr>
              <a:t>    –  문법이 달라도 같은 구조로 수렴하는 경우, 반대로 갈라지는 경우를 함께 본다</a:t>
            </a:r>
          </a:p>
          <a:p>
            <a:r>
              <a:rPr sz="1600" b="0">
                <a:solidFill>
                  <a:srgbClr val="5A6672"/>
                </a:solidFill>
                <a:latin typeface="Malgun Gothic"/>
              </a:rPr>
              <a:t>    –  판단 기준은 Chapter 1과 동일하다 — 실측된 실행계획과 자원 소비량</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서브쿼리는 한 가지가 아니다</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서브쿼리를 어디에 놓느냐에 따라 역할이 완전히 달라진다</a:t>
            </a:r>
          </a:p>
          <a:p>
            <a:r>
              <a:rPr sz="1600" b="0">
                <a:solidFill>
                  <a:srgbClr val="5A6672"/>
                </a:solidFill>
                <a:latin typeface="Malgun Gothic"/>
              </a:rPr>
              <a:t>    –  SELECT 절 — 이 행에 붙일 값 하나를 가져온다 (스칼라 서브쿼리)</a:t>
            </a:r>
          </a:p>
          <a:p>
            <a:r>
              <a:rPr sz="1600" b="0">
                <a:solidFill>
                  <a:srgbClr val="5A6672"/>
                </a:solidFill>
                <a:latin typeface="Malgun Gothic"/>
              </a:rPr>
              <a:t>    –  FROM 절 — 중간 결과 집합을 만들어 테이블처럼 쓴다 (인라인 뷰)</a:t>
            </a:r>
          </a:p>
          <a:p>
            <a:r>
              <a:rPr sz="1600" b="0">
                <a:solidFill>
                  <a:srgbClr val="5A6672"/>
                </a:solidFill>
                <a:latin typeface="Malgun Gothic"/>
              </a:rPr>
              <a:t>    –  WHERE 절 — 조건 판정에 쓴다 (IN·EXISTS·비교 연산자)</a:t>
            </a:r>
          </a:p>
          <a:p>
            <a:r>
              <a:rPr sz="1800" b="0">
                <a:solidFill>
                  <a:srgbClr val="202830"/>
                </a:solidFill>
                <a:latin typeface="Malgun Gothic"/>
              </a:rPr>
              <a:t>•  Chapter 1에서 다룬 것은 WHERE 절의 존재 여부 확인 한 가지였다</a:t>
            </a:r>
          </a:p>
          <a:p>
            <a:r>
              <a:rPr sz="1600" b="0">
                <a:solidFill>
                  <a:srgbClr val="5A6672"/>
                </a:solidFill>
                <a:latin typeface="Malgun Gothic"/>
              </a:rPr>
              <a:t>    –  IN·EXISTS·JOIN+DISTINCT는 모두 있느냐 없느냐를 묻는 패턴이었다</a:t>
            </a:r>
          </a:p>
          <a:p>
            <a:r>
              <a:rPr sz="1800" b="0">
                <a:solidFill>
                  <a:srgbClr val="202830"/>
                </a:solidFill>
                <a:latin typeface="Malgun Gothic"/>
              </a:rPr>
              <a:t>•  이 차시는 나머지 세 패턴을 실측으로 다룬다</a:t>
            </a:r>
          </a:p>
          <a:p>
            <a:r>
              <a:rPr sz="1600" b="0">
                <a:solidFill>
                  <a:srgbClr val="5A6672"/>
                </a:solidFill>
                <a:latin typeface="Malgun Gothic"/>
              </a:rPr>
              <a:t>    –  스칼라 서브쿼리 — SELECT 절에 값 하나를 붙이는 것</a:t>
            </a:r>
          </a:p>
          <a:p>
            <a:r>
              <a:rPr sz="1600" b="0">
                <a:solidFill>
                  <a:srgbClr val="5A6672"/>
                </a:solidFill>
                <a:latin typeface="Malgun Gothic"/>
              </a:rPr>
              <a:t>    –  인라인 뷰 — FROM 절에 서브쿼리를 넣는 것</a:t>
            </a:r>
          </a:p>
          <a:p>
            <a:r>
              <a:rPr sz="1600" b="0">
                <a:solidFill>
                  <a:srgbClr val="5A6672"/>
                </a:solidFill>
                <a:latin typeface="Malgun Gothic"/>
              </a:rPr>
              <a:t>    –  상관 서브쿼리 — 바깥 쿼리의 값을 참조하는 것</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이 차시의 범위와 전제</a:t>
            </a:r>
          </a:p>
        </p:txBody>
      </p:sp>
      <p:sp>
        <p:nvSpPr>
          <p:cNvPr id="4" name="TextBox 3"/>
          <p:cNvSpPr txBox="1"/>
          <p:nvPr/>
        </p:nvSpPr>
        <p:spPr>
          <a:xfrm>
            <a:off x="640080" y="1234440"/>
            <a:ext cx="10881360" cy="4200000"/>
          </a:xfrm>
          <a:prstGeom prst="rect">
            <a:avLst/>
          </a:prstGeom>
          <a:noFill/>
        </p:spPr>
        <p:txBody>
          <a:bodyPr wrap="square">
            <a:spAutoFit/>
          </a:bodyPr>
          <a:lstStyle/>
          <a:p>
            <a:r>
              <a:rPr sz="1800" b="0">
                <a:solidFill>
                  <a:srgbClr val="202830"/>
                </a:solidFill>
                <a:latin typeface="Malgun Gothic"/>
              </a:rPr>
              <a:t>•  이번 차시는 DDL 변경이 없다</a:t>
            </a:r>
          </a:p>
          <a:p>
            <a:r>
              <a:rPr sz="1600" b="0">
                <a:solidFill>
                  <a:srgbClr val="5A6672"/>
                </a:solidFill>
                <a:latin typeface="Malgun Gothic"/>
              </a:rPr>
              <a:t>    –  기존 PK만 사용하며 인덱스를 새로 만들지 않는다</a:t>
            </a:r>
          </a:p>
          <a:p>
            <a:r>
              <a:rPr sz="1600" b="0">
                <a:solidFill>
                  <a:srgbClr val="5A6672"/>
                </a:solidFill>
                <a:latin typeface="Malgun Gothic"/>
              </a:rPr>
              <a:t>    –  인덱스나 통계를 임의로 바꾸면 교안의 실행계획이 재현되지 않는다</a:t>
            </a:r>
          </a:p>
          <a:p>
            <a:r>
              <a:rPr sz="1800" b="0">
                <a:solidFill>
                  <a:srgbClr val="202830"/>
                </a:solidFill>
                <a:latin typeface="Malgun Gothic"/>
              </a:rPr>
              <a:t>•  다루는 세 가지 패턴과 각각의 실측 사례</a:t>
            </a:r>
          </a:p>
          <a:p>
            <a:r>
              <a:rPr sz="1600" b="0">
                <a:solidFill>
                  <a:srgbClr val="5A6672"/>
                </a:solidFill>
                <a:latin typeface="Malgun Gothic"/>
              </a:rPr>
              <a:t>    –  스칼라 서브쿼리 — 청구에 병원명을 붙이는 Q1과 조인으로 붙이는 Q2</a:t>
            </a:r>
          </a:p>
          <a:p>
            <a:r>
              <a:rPr sz="1600" b="0">
                <a:solidFill>
                  <a:srgbClr val="5A6672"/>
                </a:solidFill>
                <a:latin typeface="Malgun Gothic"/>
              </a:rPr>
              <a:t>    –  상관 서브쿼리 — 자신이 속한 병원의 평균보다 큰 청구를 찾는 Q3</a:t>
            </a:r>
          </a:p>
          <a:p>
            <a:r>
              <a:rPr sz="1600" b="0">
                <a:solidFill>
                  <a:srgbClr val="5A6672"/>
                </a:solidFill>
                <a:latin typeface="Malgun Gothic"/>
              </a:rPr>
              <a:t>    –  인라인 뷰 — 집계 결과를 걸러내는 Q4와 HAVING으로 쓴 Q5</a:t>
            </a:r>
          </a:p>
          <a:p>
            <a:r>
              <a:rPr sz="1800" b="0">
                <a:solidFill>
                  <a:srgbClr val="202830"/>
                </a:solidFill>
                <a:latin typeface="Malgun Gothic"/>
              </a:rPr>
              <a:t>•  판단 지표는 Chapter 1과 같다</a:t>
            </a:r>
          </a:p>
          <a:p>
            <a:r>
              <a:rPr sz="1600" b="0">
                <a:solidFill>
                  <a:srgbClr val="5A6672"/>
                </a:solidFill>
                <a:latin typeface="Malgun Gothic"/>
              </a:rPr>
              <a:t>    –  실행계획의 Operation 구조, Starts, A-Rows, Buffers를 함께 본다</a:t>
            </a:r>
          </a:p>
          <a:p>
            <a:r>
              <a:rPr sz="1600" b="0">
                <a:solidFill>
                  <a:srgbClr val="5A6672"/>
                </a:solidFill>
                <a:latin typeface="Malgun Gothic"/>
              </a:rPr>
              <a:t>    –  이번 장에서는 특히 Starts 컬럼이 결정적인 단서로 쓰인다</a:t>
            </a:r>
          </a:p>
        </p:txBody>
      </p:sp>
      <p:sp>
        <p:nvSpPr>
          <p:cNvPr id="5" name="Rectangle 4"/>
          <p:cNvSpPr/>
          <p:nvPr/>
        </p:nvSpPr>
        <p:spPr>
          <a:xfrm>
            <a:off x="640080" y="5623560"/>
            <a:ext cx="10908792" cy="960120"/>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5623560"/>
            <a:ext cx="109728" cy="960120"/>
          </a:xfrm>
          <a:prstGeom prst="rect">
            <a:avLst/>
          </a:prstGeom>
          <a:solidFill>
            <a:srgbClr val="B88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5696712"/>
            <a:ext cx="10515600" cy="822960"/>
          </a:xfrm>
          <a:prstGeom prst="rect">
            <a:avLst/>
          </a:prstGeom>
          <a:noFill/>
        </p:spPr>
        <p:txBody>
          <a:bodyPr wrap="square">
            <a:spAutoFit/>
          </a:bodyPr>
          <a:lstStyle/>
          <a:p>
            <a:r>
              <a:rPr sz="1300" b="1">
                <a:solidFill>
                  <a:srgbClr val="B88600"/>
                </a:solidFill>
                <a:latin typeface="Malgun Gothic"/>
              </a:rPr>
              <a:t>참고: </a:t>
            </a:r>
          </a:p>
          <a:p>
            <a:r>
              <a:rPr sz="1250" b="0">
                <a:solidFill>
                  <a:srgbClr val="202830"/>
                </a:solidFill>
                <a:latin typeface="Malgun Gothic"/>
              </a:rPr>
              <a:t>이 과정의 모든 실행계획·Starts·Buffers 값은 진료비청구심사 실습 DB에서 직접 캡처한 실측값이다.</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3896822" cy="1371600"/>
          </a:xfrm>
          <a:prstGeom prst="rect">
            <a:avLst/>
          </a:prstGeom>
          <a:noFill/>
        </p:spPr>
        <p:txBody>
          <a:bodyPr wrap="square">
            <a:spAutoFit/>
          </a:bodyPr>
          <a:lstStyle/>
          <a:p>
            <a:r>
              <a:rPr sz="6600" b="1">
                <a:solidFill>
                  <a:srgbClr val="C0392B"/>
                </a:solidFill>
                <a:latin typeface="Malgun Gothic"/>
              </a:rPr>
              <a:t>8.2</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스칼라 서브쿼리 · 인라인 뷰 · 상관 서브쿼리</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스칼라 서브쿼리란</a:t>
            </a:r>
          </a:p>
          <a:p>
            <a:r>
              <a:rPr sz="1600" b="0">
                <a:solidFill>
                  <a:srgbClr val="C5CED6"/>
                </a:solidFill>
                <a:latin typeface="Malgun Gothic"/>
              </a:rPr>
              <a:t>•  인라인 뷰란</a:t>
            </a:r>
          </a:p>
          <a:p>
            <a:r>
              <a:rPr sz="1600" b="0">
                <a:solidFill>
                  <a:srgbClr val="C5CED6"/>
                </a:solidFill>
                <a:latin typeface="Malgun Gothic"/>
              </a:rPr>
              <a:t>•  상관 서브쿼리란</a:t>
            </a:r>
          </a:p>
          <a:p>
            <a:r>
              <a:rPr sz="1600" b="0">
                <a:solidFill>
                  <a:srgbClr val="C5CED6"/>
                </a:solidFill>
                <a:latin typeface="Malgun Gothic"/>
              </a:rPr>
              <a:t>•  서브쿼리와 JOIN의 관계</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스칼라 서브쿼리 (Scalar Subquery)</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정의 — SELECT 절에서 단일 값 하나를 반환하는 서브쿼리</a:t>
            </a:r>
          </a:p>
          <a:p>
            <a:r>
              <a:rPr sz="1600" b="0">
                <a:solidFill>
                  <a:srgbClr val="5A6672"/>
                </a:solidFill>
                <a:latin typeface="Malgun Gothic"/>
              </a:rPr>
              <a:t>    –  이 행에 관련된 다른 테이블의 값 하나를 붙여 오는 용도로 흔히 쓰인다</a:t>
            </a:r>
          </a:p>
          <a:p>
            <a:r>
              <a:rPr sz="1600" b="0">
                <a:solidFill>
                  <a:srgbClr val="5A6672"/>
                </a:solidFill>
                <a:latin typeface="Malgun Gothic"/>
              </a:rPr>
              <a:t>    –  이번 장의 Q1이 청구 행에 병원명을 하나씩 붙이는 전형적인 예다</a:t>
            </a:r>
          </a:p>
          <a:p>
            <a:r>
              <a:rPr sz="1800" b="0">
                <a:solidFill>
                  <a:srgbClr val="202830"/>
                </a:solidFill>
                <a:latin typeface="Malgun Gothic"/>
              </a:rPr>
              <a:t>•  문법상의 제약</a:t>
            </a:r>
          </a:p>
          <a:p>
            <a:r>
              <a:rPr sz="1600" b="0">
                <a:solidFill>
                  <a:srgbClr val="5A6672"/>
                </a:solidFill>
                <a:latin typeface="Malgun Gothic"/>
              </a:rPr>
              <a:t>    –  반드시 값 하나를 반환해야 한다 — 여러 행이 나오면 실행 오류가 난다</a:t>
            </a:r>
          </a:p>
          <a:p>
            <a:r>
              <a:rPr sz="1600" b="0">
                <a:solidFill>
                  <a:srgbClr val="5A6672"/>
                </a:solidFill>
                <a:latin typeface="Malgun Gothic"/>
              </a:rPr>
              <a:t>    –  조건에 맞는 행이 없으면 NULL이 반환된다 — 외부 조인과 성질이 비슷하다</a:t>
            </a:r>
          </a:p>
          <a:p>
            <a:r>
              <a:rPr sz="1800" b="0">
                <a:solidFill>
                  <a:srgbClr val="202830"/>
                </a:solidFill>
                <a:latin typeface="Malgun Gothic"/>
              </a:rPr>
              <a:t>•  읽는 사람 입장에서의 장점</a:t>
            </a:r>
          </a:p>
          <a:p>
            <a:r>
              <a:rPr sz="1600" b="0">
                <a:solidFill>
                  <a:srgbClr val="5A6672"/>
                </a:solidFill>
                <a:latin typeface="Malgun Gothic"/>
              </a:rPr>
              <a:t>    –  FROM 절을 건드리지 않으므로 원본 쿼리의 골격이 흐트러지지 않는다</a:t>
            </a:r>
          </a:p>
          <a:p>
            <a:r>
              <a:rPr sz="1600" b="0">
                <a:solidFill>
                  <a:srgbClr val="5A6672"/>
                </a:solidFill>
                <a:latin typeface="Malgun Gothic"/>
              </a:rPr>
              <a:t>    –  값을 하나 더 붙이는 요구사항이 늘어도 SELECT 절만 수정하면 된다</a:t>
            </a:r>
          </a:p>
          <a:p>
            <a:r>
              <a:rPr sz="1800" b="0">
                <a:solidFill>
                  <a:srgbClr val="202830"/>
                </a:solidFill>
                <a:latin typeface="Malgun Gothic"/>
              </a:rPr>
              <a:t>•  성능에 대한 통념 — 행마다 실행되니 느릴 것이라는 예상</a:t>
            </a:r>
          </a:p>
          <a:p>
            <a:r>
              <a:rPr sz="1600" b="0">
                <a:solidFill>
                  <a:srgbClr val="5A6672"/>
                </a:solidFill>
                <a:latin typeface="Malgun Gothic"/>
              </a:rPr>
              <a:t>    –  이 예상이 왜 항상 맞지는 않은지가 8.3절과 8.5절의 주제다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인라인 뷰 (Inline View)</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정의 — FROM 절에 괄호로 감싼 서브쿼리를 테이블처럼 사용하는 것</a:t>
            </a:r>
          </a:p>
          <a:p>
            <a:r>
              <a:rPr sz="1600" b="0">
                <a:solidFill>
                  <a:srgbClr val="5A6672"/>
                </a:solidFill>
                <a:latin typeface="Malgun Gothic"/>
              </a:rPr>
              <a:t>    –  중간 결과 집합을 하나 만들어 바깥 쿼리가 그것을 다시 조회한다</a:t>
            </a:r>
          </a:p>
          <a:p>
            <a:r>
              <a:rPr sz="1600" b="0">
                <a:solidFill>
                  <a:srgbClr val="5A6672"/>
                </a:solidFill>
                <a:latin typeface="Malgun Gothic"/>
              </a:rPr>
              <a:t>    –  이번 장의 Q4가 병원별 청구 건수를 만든 뒤 바깥에서 거르는 예다</a:t>
            </a:r>
          </a:p>
          <a:p>
            <a:r>
              <a:rPr sz="1800" b="0">
                <a:solidFill>
                  <a:srgbClr val="202830"/>
                </a:solidFill>
                <a:latin typeface="Malgun Gothic"/>
              </a:rPr>
              <a:t>•  주로 쓰이는 상황</a:t>
            </a:r>
          </a:p>
          <a:p>
            <a:r>
              <a:rPr sz="1600" b="0">
                <a:solidFill>
                  <a:srgbClr val="5A6672"/>
                </a:solidFill>
                <a:latin typeface="Malgun Gothic"/>
              </a:rPr>
              <a:t>    –  집계한 결과를 다시 필터링하거나 다른 테이블과 조인해야 할 때</a:t>
            </a:r>
          </a:p>
          <a:p>
            <a:r>
              <a:rPr sz="1600" b="0">
                <a:solidFill>
                  <a:srgbClr val="5A6672"/>
                </a:solidFill>
                <a:latin typeface="Malgun Gothic"/>
              </a:rPr>
              <a:t>    –  여러 단계의 가공을 단계별로 나눠 읽기 쉽게 쓰고 싶을 때</a:t>
            </a:r>
          </a:p>
          <a:p>
            <a:r>
              <a:rPr sz="1800" b="0">
                <a:solidFill>
                  <a:srgbClr val="202830"/>
                </a:solidFill>
                <a:latin typeface="Malgun Gothic"/>
              </a:rPr>
              <a:t>•  읽는 사람 입장에서의 장점</a:t>
            </a:r>
          </a:p>
          <a:p>
            <a:r>
              <a:rPr sz="1600" b="0">
                <a:solidFill>
                  <a:srgbClr val="5A6672"/>
                </a:solidFill>
                <a:latin typeface="Malgun Gothic"/>
              </a:rPr>
              <a:t>    –  가공 단계가 괄호로 분리되어 각 단계의 의도가 눈에 보인다</a:t>
            </a:r>
          </a:p>
          <a:p>
            <a:r>
              <a:rPr sz="1600" b="0">
                <a:solidFill>
                  <a:srgbClr val="5A6672"/>
                </a:solidFill>
                <a:latin typeface="Malgun Gothic"/>
              </a:rPr>
              <a:t>    –  뷰 객체를 새로 만들지 않고도 뷰와 같은 효과를 얻는다</a:t>
            </a:r>
          </a:p>
          <a:p>
            <a:r>
              <a:rPr sz="1800" b="0">
                <a:solidFill>
                  <a:srgbClr val="202830"/>
                </a:solidFill>
                <a:latin typeface="Malgun Gothic"/>
              </a:rPr>
              <a:t>•  성능에 대한 의문 — 중간 집합을 실제로 만들어 놓고 쓰는가</a:t>
            </a:r>
          </a:p>
          <a:p>
            <a:r>
              <a:rPr sz="1600" b="0">
                <a:solidFill>
                  <a:srgbClr val="5A6672"/>
                </a:solidFill>
                <a:latin typeface="Malgun Gothic"/>
              </a:rPr>
              <a:t>    –  옵티마이저가 이를 어떻게 처리하는지가 8.7절의 주제다</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상관 서브쿼리 (Correlated Subquery)</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정의 — 서브쿼리 내부에서 바깥 쿼리의 컬럼을 참조하는 서브쿼리</a:t>
            </a:r>
          </a:p>
          <a:p>
            <a:r>
              <a:rPr sz="1600" b="0">
                <a:solidFill>
                  <a:srgbClr val="5A6672"/>
                </a:solidFill>
                <a:latin typeface="Malgun Gothic"/>
              </a:rPr>
              <a:t>    –  바깥 쿼리의 행이 바뀌면 서브쿼리 결과도 달라질 수 있다</a:t>
            </a:r>
          </a:p>
          <a:p>
            <a:r>
              <a:rPr sz="1600" b="0">
                <a:solidFill>
                  <a:srgbClr val="5A6672"/>
                </a:solidFill>
                <a:latin typeface="Malgun Gothic"/>
              </a:rPr>
              <a:t>    –  Chapter 1에서 본 EXISTS 서브쿼리도 상관 서브쿼리의 한 예였다</a:t>
            </a:r>
          </a:p>
          <a:p>
            <a:r>
              <a:rPr sz="1800" b="0">
                <a:solidFill>
                  <a:srgbClr val="202830"/>
                </a:solidFill>
                <a:latin typeface="Malgun Gothic"/>
              </a:rPr>
              <a:t>•  비상관 서브쿼리와의 차이</a:t>
            </a:r>
          </a:p>
          <a:p>
            <a:r>
              <a:rPr sz="1600" b="0">
                <a:solidFill>
                  <a:srgbClr val="5A6672"/>
                </a:solidFill>
                <a:latin typeface="Malgun Gothic"/>
              </a:rPr>
              <a:t>    –  비상관 — 바깥과 무관하게 독립적으로 한 번 계산하면 되는 서브쿼리</a:t>
            </a:r>
          </a:p>
          <a:p>
            <a:r>
              <a:rPr sz="1600" b="0">
                <a:solidFill>
                  <a:srgbClr val="5A6672"/>
                </a:solidFill>
                <a:latin typeface="Malgun Gothic"/>
              </a:rPr>
              <a:t>    –  상관 — 바깥 값이 입력으로 들어가야 계산이 완성되는 서브쿼리</a:t>
            </a:r>
          </a:p>
          <a:p>
            <a:r>
              <a:rPr sz="1800" b="0">
                <a:solidFill>
                  <a:srgbClr val="202830"/>
                </a:solidFill>
                <a:latin typeface="Malgun Gothic"/>
              </a:rPr>
              <a:t>•  위치와 무관한 분류라는 점에 주의</a:t>
            </a:r>
          </a:p>
          <a:p>
            <a:r>
              <a:rPr sz="1600" b="0">
                <a:solidFill>
                  <a:srgbClr val="5A6672"/>
                </a:solidFill>
                <a:latin typeface="Malgun Gothic"/>
              </a:rPr>
              <a:t>    –  SELECT 절에 있어도, WHERE 절에 있어도 상관 서브쿼리일 수 있다</a:t>
            </a:r>
          </a:p>
          <a:p>
            <a:r>
              <a:rPr sz="1600" b="0">
                <a:solidFill>
                  <a:srgbClr val="5A6672"/>
                </a:solidFill>
                <a:latin typeface="Malgun Gothic"/>
              </a:rPr>
              <a:t>    –  이번 장의 Q1은 스칼라 서브쿼리이면서 동시에 상관 서브쿼리다</a:t>
            </a:r>
          </a:p>
          <a:p>
            <a:r>
              <a:rPr sz="1800" b="0">
                <a:solidFill>
                  <a:srgbClr val="202830"/>
                </a:solidFill>
                <a:latin typeface="Malgun Gothic"/>
              </a:rPr>
              <a:t>•  문법이 시사하는 실행 그림 — 바깥 행마다 반복 실행</a:t>
            </a:r>
          </a:p>
          <a:p>
            <a:r>
              <a:rPr sz="1600" b="0">
                <a:solidFill>
                  <a:srgbClr val="5A6672"/>
                </a:solidFill>
                <a:latin typeface="Malgun Gothic"/>
              </a:rPr>
              <a:t>    –  이 그림이 실제 실행과 얼마나 다른지가 이 장의 관전 포인트다</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서브쿼리와 JOIN의 관계 — 내부 변환</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옵티마이저는 서브쿼리를 그 모양 그대로 실행하지 않는 경우가 많다</a:t>
            </a:r>
          </a:p>
          <a:p>
            <a:r>
              <a:rPr sz="1600" b="0">
                <a:solidFill>
                  <a:srgbClr val="5A6672"/>
                </a:solidFill>
                <a:latin typeface="Malgun Gothic"/>
              </a:rPr>
              <a:t>    –  많은 경우 조인 형태로 내부 변환한다 — 이를 unnesting이라 부른다</a:t>
            </a:r>
          </a:p>
          <a:p>
            <a:r>
              <a:rPr sz="1600" b="0">
                <a:solidFill>
                  <a:srgbClr val="5A6672"/>
                </a:solidFill>
                <a:latin typeface="Malgun Gothic"/>
              </a:rPr>
              <a:t>    –  중첩된 구조를 풀어 평평한 조인으로 만든다는 뜻이다</a:t>
            </a:r>
          </a:p>
          <a:p>
            <a:r>
              <a:rPr sz="1800" b="0">
                <a:solidFill>
                  <a:srgbClr val="202830"/>
                </a:solidFill>
                <a:latin typeface="Malgun Gothic"/>
              </a:rPr>
              <a:t>•  Chapter 1에서 이미 그 증거를 봤다</a:t>
            </a:r>
          </a:p>
          <a:p>
            <a:r>
              <a:rPr sz="1600" b="0">
                <a:solidFill>
                  <a:srgbClr val="5A6672"/>
                </a:solidFill>
                <a:latin typeface="Malgun Gothic"/>
              </a:rPr>
              <a:t>    –  IN과 EXISTS가 둘 다 HASH JOIN RIGHT SEMI로 변환됐다</a:t>
            </a:r>
          </a:p>
          <a:p>
            <a:r>
              <a:rPr sz="1600" b="0">
                <a:solidFill>
                  <a:srgbClr val="5A6672"/>
                </a:solidFill>
                <a:latin typeface="Malgun Gothic"/>
              </a:rPr>
              <a:t>    –  서로 다른 문법이 같은 물리 구조로 수렴한 사례였다</a:t>
            </a:r>
          </a:p>
          <a:p>
            <a:r>
              <a:rPr sz="1800" b="0">
                <a:solidFill>
                  <a:srgbClr val="202830"/>
                </a:solidFill>
                <a:latin typeface="Malgun Gothic"/>
              </a:rPr>
              <a:t>•  변환이 남기는 흔적 — 계획에 등장하는 내부 뷰 이름</a:t>
            </a:r>
          </a:p>
          <a:p>
            <a:r>
              <a:rPr sz="1600" b="0">
                <a:solidFill>
                  <a:srgbClr val="5A6672"/>
                </a:solidFill>
                <a:latin typeface="Malgun Gothic"/>
              </a:rPr>
              <a:t>    –  VW_NSO_1, VW_SQ_1 같은 이름은 옵티마이저가 만든 내부 뷰다</a:t>
            </a:r>
          </a:p>
          <a:p>
            <a:r>
              <a:rPr sz="1600" b="0">
                <a:solidFill>
                  <a:srgbClr val="5A6672"/>
                </a:solidFill>
                <a:latin typeface="Malgun Gothic"/>
              </a:rPr>
              <a:t>    –  원본 SQL에 없던 이름이 계획에 보이면 변환이 일어났다는 신호다</a:t>
            </a:r>
          </a:p>
          <a:p>
            <a:r>
              <a:rPr sz="1800" b="0">
                <a:solidFill>
                  <a:srgbClr val="202830"/>
                </a:solidFill>
                <a:latin typeface="Malgun Gothic"/>
              </a:rPr>
              <a:t>•  따라서 판단은 작성한 문법이 아니라 변환된 계획을 보고 해야 한다</a:t>
            </a:r>
          </a:p>
          <a:p>
            <a:r>
              <a:rPr sz="1600" b="0">
                <a:solidFill>
                  <a:srgbClr val="5A6672"/>
                </a:solidFill>
                <a:latin typeface="Malgun Gothic"/>
              </a:rPr>
              <a:t>    –  문법만 보고 비용을 예단하면 거의 항상 틀린다</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3896822" cy="1371600"/>
          </a:xfrm>
          <a:prstGeom prst="rect">
            <a:avLst/>
          </a:prstGeom>
          <a:noFill/>
        </p:spPr>
        <p:txBody>
          <a:bodyPr wrap="square">
            <a:spAutoFit/>
          </a:bodyPr>
          <a:lstStyle/>
          <a:p>
            <a:r>
              <a:rPr sz="6600" b="1">
                <a:solidFill>
                  <a:srgbClr val="C0392B"/>
                </a:solidFill>
                <a:latin typeface="Malgun Gothic"/>
              </a:rPr>
              <a:t>8.3</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Oracle Internals — 스칼라 서브쿼리 캐싱</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문법과 실행의 괴리</a:t>
            </a:r>
          </a:p>
          <a:p>
            <a:r>
              <a:rPr sz="1600" b="0">
                <a:solidFill>
                  <a:srgbClr val="C5CED6"/>
                </a:solidFill>
                <a:latin typeface="Malgun Gothic"/>
              </a:rPr>
              <a:t>•  distinct 개수가 정하는 캐싱 효과</a:t>
            </a:r>
          </a:p>
          <a:p>
            <a:r>
              <a:rPr sz="1600" b="0">
                <a:solidFill>
                  <a:srgbClr val="C5CED6"/>
                </a:solidFill>
                <a:latin typeface="Malgun Gothic"/>
              </a:rPr>
              <a:t>•  N+1 통념 점검</a:t>
            </a:r>
          </a:p>
          <a:p>
            <a:r>
              <a:rPr sz="1600" b="0">
                <a:solidFill>
                  <a:srgbClr val="C5CED6"/>
                </a:solidFill>
                <a:latin typeface="Malgun Gothic"/>
              </a:rPr>
              <a:t>•  집계 비교 상관 서브쿼리의 변환</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스칼라 서브쿼리 캐싱 — 문법과 실행의 괴리</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문법이 그리는 그림 — 행마다 한 번씩 실행</a:t>
            </a:r>
          </a:p>
          <a:p>
            <a:r>
              <a:rPr sz="1600" b="0">
                <a:solidFill>
                  <a:srgbClr val="5A6672"/>
                </a:solidFill>
                <a:latin typeface="Malgun Gothic"/>
              </a:rPr>
              <a:t>    –  SELECT 절에 있으니 결과 행 수만큼 서브쿼리가 돌 것처럼 보인다</a:t>
            </a:r>
          </a:p>
          <a:p>
            <a:r>
              <a:rPr sz="1600" b="0">
                <a:solidFill>
                  <a:srgbClr val="5A6672"/>
                </a:solidFill>
                <a:latin typeface="Malgun Gothic"/>
              </a:rPr>
              <a:t>    –  이 그림 때문에 스칼라 서브쿼리는 N+1과 같다는 통념이 생겼다</a:t>
            </a:r>
          </a:p>
          <a:p>
            <a:r>
              <a:rPr sz="1800" b="0">
                <a:solidFill>
                  <a:srgbClr val="202830"/>
                </a:solidFill>
                <a:latin typeface="Malgun Gothic"/>
              </a:rPr>
              <a:t>•  실제 동작 — 같은 입력 값의 결과를 캐시해 재사용한다</a:t>
            </a:r>
          </a:p>
          <a:p>
            <a:r>
              <a:rPr sz="1600" b="0">
                <a:solidFill>
                  <a:srgbClr val="5A6672"/>
                </a:solidFill>
                <a:latin typeface="Malgun Gothic"/>
              </a:rPr>
              <a:t>    –  이미 계산한 입력 값이 다시 들어오면 서브쿼리를 실행하지 않는다</a:t>
            </a:r>
          </a:p>
          <a:p>
            <a:r>
              <a:rPr sz="1600" b="0">
                <a:solidFill>
                  <a:srgbClr val="5A6672"/>
                </a:solidFill>
                <a:latin typeface="Malgun Gothic"/>
              </a:rPr>
              <a:t>    –  캐시에서 값을 즉시 가져오므로 테이블 접근 자체가 발생하지 않는다</a:t>
            </a:r>
          </a:p>
          <a:p>
            <a:r>
              <a:rPr sz="1800" b="0">
                <a:solidFill>
                  <a:srgbClr val="202830"/>
                </a:solidFill>
                <a:latin typeface="Malgun Gothic"/>
              </a:rPr>
              <a:t>•  실행계획에서 확인하는 방법 — Starts 컬럼</a:t>
            </a:r>
          </a:p>
          <a:p>
            <a:r>
              <a:rPr sz="1600" b="0">
                <a:solidFill>
                  <a:srgbClr val="5A6672"/>
                </a:solidFill>
                <a:latin typeface="Malgun Gothic"/>
              </a:rPr>
              <a:t>    –  Starts는 그 오퍼레이션이 실제로 시작된 횟수를 보여 준다</a:t>
            </a:r>
          </a:p>
          <a:p>
            <a:r>
              <a:rPr sz="1600" b="0">
                <a:solidFill>
                  <a:srgbClr val="5A6672"/>
                </a:solidFill>
                <a:latin typeface="Malgun Gothic"/>
              </a:rPr>
              <a:t>    –  결과 행 수보다 Starts가 훨씬 작다면 캐싱이 작동한 것이다</a:t>
            </a:r>
          </a:p>
          <a:p>
            <a:r>
              <a:rPr sz="1800" b="0">
                <a:solidFill>
                  <a:srgbClr val="202830"/>
                </a:solidFill>
                <a:latin typeface="Malgun Gothic"/>
              </a:rPr>
              <a:t>•  이 캐시는 한 SQL 실행 안에서만 유지된다</a:t>
            </a:r>
          </a:p>
          <a:p>
            <a:r>
              <a:rPr sz="1600" b="0">
                <a:solidFill>
                  <a:srgbClr val="5A6672"/>
                </a:solidFill>
                <a:latin typeface="Malgun Gothic"/>
              </a:rPr>
              <a:t>    –  버퍼 캐시나 세션을 넘나드는 결과 캐시와는 다른 개념이다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distinct 개수가 정하는 캐싱 효과</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캐싱 효과의 크기를 정하는 것은 행 수가 아니라 참조 값의 종류 수다</a:t>
            </a:r>
          </a:p>
          <a:p>
            <a:r>
              <a:rPr sz="1600" b="0">
                <a:solidFill>
                  <a:srgbClr val="5A6672"/>
                </a:solidFill>
                <a:latin typeface="Malgun Gothic"/>
              </a:rPr>
              <a:t>    –  교안의 예 — 행이 15,029개여도 그 안의 HOSP_ID가 1~5의 5종류뿐이라면</a:t>
            </a:r>
          </a:p>
          <a:p>
            <a:r>
              <a:rPr sz="1600" b="0">
                <a:solidFill>
                  <a:srgbClr val="5A6672"/>
                </a:solidFill>
                <a:latin typeface="Malgun Gothic"/>
              </a:rPr>
              <a:t>    –  서브쿼리는 이론상 최대 5번만 실제로 실행되고 나머지는 캐시에서 온다</a:t>
            </a:r>
          </a:p>
          <a:p>
            <a:r>
              <a:rPr sz="1800" b="0">
                <a:solidFill>
                  <a:srgbClr val="202830"/>
                </a:solidFill>
                <a:latin typeface="Malgun Gothic"/>
              </a:rPr>
              <a:t>•  반대로 distinct 값이 많아지면 효과는 줄어든다</a:t>
            </a:r>
          </a:p>
          <a:p>
            <a:r>
              <a:rPr sz="1600" b="0">
                <a:solidFill>
                  <a:srgbClr val="5A6672"/>
                </a:solidFill>
                <a:latin typeface="Malgun Gothic"/>
              </a:rPr>
              <a:t>    –  값의 종류가 500이면 실제 실행 횟수도 이론상 최대 500까지 늘어난다</a:t>
            </a:r>
          </a:p>
          <a:p>
            <a:r>
              <a:rPr sz="1600" b="0">
                <a:solidFill>
                  <a:srgbClr val="5A6672"/>
                </a:solidFill>
                <a:latin typeface="Malgun Gothic"/>
              </a:rPr>
              <a:t>    –  캐시 항목이 값의 종류만큼 쌓이는 구조이기 때문이다</a:t>
            </a:r>
          </a:p>
          <a:p>
            <a:r>
              <a:rPr sz="1800" b="0">
                <a:solidFill>
                  <a:srgbClr val="202830"/>
                </a:solidFill>
                <a:latin typeface="Malgun Gothic"/>
              </a:rPr>
              <a:t>•  그래서 판단 기준은 단순하다</a:t>
            </a:r>
          </a:p>
          <a:p>
            <a:r>
              <a:rPr sz="1600" b="0">
                <a:solidFill>
                  <a:srgbClr val="5A6672"/>
                </a:solidFill>
                <a:latin typeface="Malgun Gothic"/>
              </a:rPr>
              <a:t>    –  참조 컬럼의 distinct 개수가 전체 행 수에 비해 작을수록 유리하다</a:t>
            </a:r>
          </a:p>
          <a:p>
            <a:r>
              <a:rPr sz="1600" b="0">
                <a:solidFill>
                  <a:srgbClr val="5A6672"/>
                </a:solidFill>
                <a:latin typeface="Malgun Gothic"/>
              </a:rPr>
              <a:t>    –  코드 테이블·분류 코드·상태 값처럼 종류가 적은 컬럼이 가장 잘 맞는다</a:t>
            </a:r>
          </a:p>
          <a:p>
            <a:r>
              <a:rPr sz="1800" b="0">
                <a:solidFill>
                  <a:srgbClr val="202830"/>
                </a:solidFill>
                <a:latin typeface="Malgun Gothic"/>
              </a:rPr>
              <a:t>•  반대로 거의 유일한 값을 참조하면 캐싱은 사실상 도움이 되지 않는다</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'SELECT 절 서브쿼리는 느리다'는 통념 점검</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통념의 논리 구조</a:t>
            </a:r>
          </a:p>
          <a:p>
            <a:r>
              <a:rPr sz="1600" b="0">
                <a:solidFill>
                  <a:srgbClr val="5A6672"/>
                </a:solidFill>
                <a:latin typeface="Malgun Gothic"/>
              </a:rPr>
              <a:t>    –  서브쿼리가 N번 반복된다 → 반복 비용이 누적된다 → 그래서 느리다</a:t>
            </a:r>
          </a:p>
          <a:p>
            <a:r>
              <a:rPr sz="1600" b="0">
                <a:solidFill>
                  <a:srgbClr val="5A6672"/>
                </a:solidFill>
                <a:latin typeface="Malgun Gothic"/>
              </a:rPr>
              <a:t>    –  이 논리는 N이 결과 행 수와 같다는 전제 위에 서 있다</a:t>
            </a:r>
          </a:p>
          <a:p>
            <a:r>
              <a:rPr sz="1800" b="0">
                <a:solidFill>
                  <a:srgbClr val="202830"/>
                </a:solidFill>
                <a:latin typeface="Malgun Gothic"/>
              </a:rPr>
              <a:t>•  캐싱이 그 전제를 무너뜨린다</a:t>
            </a:r>
          </a:p>
          <a:p>
            <a:r>
              <a:rPr sz="1600" b="0">
                <a:solidFill>
                  <a:srgbClr val="5A6672"/>
                </a:solidFill>
                <a:latin typeface="Malgun Gothic"/>
              </a:rPr>
              <a:t>    –  실제 반복 횟수는 행 수가 아니라 distinct 참조 값의 개수로 줄어든다</a:t>
            </a:r>
          </a:p>
          <a:p>
            <a:r>
              <a:rPr sz="1600" b="0">
                <a:solidFill>
                  <a:srgbClr val="5A6672"/>
                </a:solidFill>
                <a:latin typeface="Malgun Gothic"/>
              </a:rPr>
              <a:t>    –  종류가 적으면 반복 자체가 사실상 무의미할 정도로 적어진다</a:t>
            </a:r>
          </a:p>
          <a:p>
            <a:r>
              <a:rPr sz="1800" b="0">
                <a:solidFill>
                  <a:srgbClr val="202830"/>
                </a:solidFill>
                <a:latin typeface="Malgun Gothic"/>
              </a:rPr>
              <a:t>•  따라서 통념은 틀린 것이 아니라 조건이 빠진 것이다</a:t>
            </a:r>
          </a:p>
          <a:p>
            <a:r>
              <a:rPr sz="1600" b="0">
                <a:solidFill>
                  <a:srgbClr val="5A6672"/>
                </a:solidFill>
                <a:latin typeface="Malgun Gothic"/>
              </a:rPr>
              <a:t>    –  참조 값의 종류가 많을 때는 통념이 여전히 유효할 수 있다</a:t>
            </a:r>
          </a:p>
          <a:p>
            <a:r>
              <a:rPr sz="1600" b="0">
                <a:solidFill>
                  <a:srgbClr val="5A6672"/>
                </a:solidFill>
                <a:latin typeface="Malgun Gothic"/>
              </a:rPr>
              <a:t>    –  종류가 적을 때는 성립하지 않는다 — 8.5절에서 실측으로 확인한다</a:t>
            </a:r>
          </a:p>
          <a:p>
            <a:r>
              <a:rPr sz="1800" b="0">
                <a:solidFill>
                  <a:srgbClr val="202830"/>
                </a:solidFill>
                <a:latin typeface="Malgun Gothic"/>
              </a:rPr>
              <a:t>•  결론 — 통념을 버리는 대신 통념이 성립하는 조건을 기억한다</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집계와 비교하는 상관 서브쿼리의 변환</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자주 쓰이는 패턴 — 그룹 평균보다 큰 행 찾기</a:t>
            </a:r>
          </a:p>
          <a:p>
            <a:r>
              <a:rPr sz="1600" b="0">
                <a:solidFill>
                  <a:srgbClr val="5A6672"/>
                </a:solidFill>
                <a:latin typeface="Malgun Gothic"/>
              </a:rPr>
              <a:t>    –  바깥 행의 그룹 키로 그룹 평균을 구해 그 행의 값과 비교하는 형태</a:t>
            </a:r>
          </a:p>
          <a:p>
            <a:r>
              <a:rPr sz="1600" b="0">
                <a:solidFill>
                  <a:srgbClr val="5A6672"/>
                </a:solidFill>
                <a:latin typeface="Malgun Gothic"/>
              </a:rPr>
              <a:t>    –  문법만 보면 행마다 평균을 다시 계산하는 것처럼 보인다</a:t>
            </a:r>
          </a:p>
          <a:p>
            <a:r>
              <a:rPr sz="1800" b="0">
                <a:solidFill>
                  <a:srgbClr val="202830"/>
                </a:solidFill>
                <a:latin typeface="Malgun Gothic"/>
              </a:rPr>
              <a:t>•  옵티마이저의 처리 — 미리 계산한 뷰와의 조인으로 변환</a:t>
            </a:r>
          </a:p>
          <a:p>
            <a:r>
              <a:rPr sz="1600" b="0">
                <a:solidFill>
                  <a:srgbClr val="5A6672"/>
                </a:solidFill>
                <a:latin typeface="Malgun Gothic"/>
              </a:rPr>
              <a:t>    –  그룹별 집계를 한 번에 계산해 내부 뷰로 만든 뒤 원본과 조인한다</a:t>
            </a:r>
          </a:p>
          <a:p>
            <a:r>
              <a:rPr sz="1600" b="0">
                <a:solidFill>
                  <a:srgbClr val="5A6672"/>
                </a:solidFill>
                <a:latin typeface="Malgun Gothic"/>
              </a:rPr>
              <a:t>    –  이 역시 unnesting의 한 형태다</a:t>
            </a:r>
          </a:p>
          <a:p>
            <a:r>
              <a:rPr sz="1800" b="0">
                <a:solidFill>
                  <a:srgbClr val="202830"/>
                </a:solidFill>
                <a:latin typeface="Malgun Gothic"/>
              </a:rPr>
              <a:t>•  변환의 좋은 점</a:t>
            </a:r>
          </a:p>
          <a:p>
            <a:r>
              <a:rPr sz="1600" b="0">
                <a:solidFill>
                  <a:srgbClr val="5A6672"/>
                </a:solidFill>
                <a:latin typeface="Malgun Gothic"/>
              </a:rPr>
              <a:t>    –  행마다 반복 실행하는 최악의 시나리오는 피할 수 있다</a:t>
            </a:r>
          </a:p>
          <a:p>
            <a:r>
              <a:rPr sz="1800" b="0">
                <a:solidFill>
                  <a:srgbClr val="202830"/>
                </a:solidFill>
                <a:latin typeface="Malgun Gothic"/>
              </a:rPr>
              <a:t>•  변환이 남기는 문제</a:t>
            </a:r>
          </a:p>
          <a:p>
            <a:r>
              <a:rPr sz="1600" b="0">
                <a:solidFill>
                  <a:srgbClr val="5A6672"/>
                </a:solidFill>
                <a:latin typeface="Malgun Gothic"/>
              </a:rPr>
              <a:t>    –  집계를 위한 읽기와 원본을 위한 읽기가 각각 필요해질 수 있다</a:t>
            </a:r>
          </a:p>
          <a:p>
            <a:r>
              <a:rPr sz="1600" b="0">
                <a:solidFill>
                  <a:srgbClr val="5A6672"/>
                </a:solidFill>
                <a:latin typeface="Malgun Gothic"/>
              </a:rPr>
              <a:t>    –  같은 테이블을 여러 번 읽는 구조가 되면 변환 자체가 비용이 된다</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3896822" cy="1371600"/>
          </a:xfrm>
          <a:prstGeom prst="rect">
            <a:avLst/>
          </a:prstGeom>
          <a:noFill/>
        </p:spPr>
        <p:txBody>
          <a:bodyPr wrap="square">
            <a:spAutoFit/>
          </a:bodyPr>
          <a:lstStyle/>
          <a:p>
            <a:r>
              <a:rPr sz="6600" b="1">
                <a:solidFill>
                  <a:srgbClr val="C0392B"/>
                </a:solidFill>
                <a:latin typeface="Malgun Gothic"/>
              </a:rPr>
              <a:t>8.4~8.5</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스칼라 서브쿼리 vs JOIN — 실측 비교</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실측 소재 — 청구에 병원명 붙이기</a:t>
            </a:r>
          </a:p>
          <a:p>
            <a:r>
              <a:rPr sz="1600" b="0">
                <a:solidFill>
                  <a:srgbClr val="C5CED6"/>
                </a:solidFill>
                <a:latin typeface="Malgun Gothic"/>
              </a:rPr>
              <a:t>•  Q1 스칼라 서브쿼리 / Q2 JOIN</a:t>
            </a:r>
          </a:p>
          <a:p>
            <a:r>
              <a:rPr sz="1600" b="0">
                <a:solidFill>
                  <a:srgbClr val="C5CED6"/>
                </a:solidFill>
                <a:latin typeface="Malgun Gothic"/>
              </a:rPr>
              <a:t>•  두 실행계획 읽기</a:t>
            </a:r>
          </a:p>
          <a:p>
            <a:r>
              <a:rPr sz="1600" b="0">
                <a:solidFill>
                  <a:srgbClr val="C5CED6"/>
                </a:solidFill>
                <a:latin typeface="Malgun Gothic"/>
              </a:rPr>
              <a:t>•  Starts와 Buffers가 말해 주는 것</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실측 소재 — 청구에 병원명 붙이기</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요구사항 — 청구 목록에 병원 이름을 함께 보여 준다</a:t>
            </a:r>
          </a:p>
          <a:p>
            <a:r>
              <a:rPr sz="1600" b="0">
                <a:solidFill>
                  <a:srgbClr val="5A6672"/>
                </a:solidFill>
                <a:latin typeface="Malgun Gothic"/>
              </a:rPr>
              <a:t>    –  MEDICAL_CLAIMS에서 청구 번호와 총액을 가져온다</a:t>
            </a:r>
          </a:p>
          <a:p>
            <a:r>
              <a:rPr sz="1600" b="0">
                <a:solidFill>
                  <a:srgbClr val="5A6672"/>
                </a:solidFill>
                <a:latin typeface="Malgun Gothic"/>
              </a:rPr>
              <a:t>    –  각 청구의 HOSPITALS 병원명을 한 컬럼으로 붙인다</a:t>
            </a:r>
          </a:p>
          <a:p>
            <a:r>
              <a:rPr sz="1600" b="0">
                <a:solidFill>
                  <a:srgbClr val="5A6672"/>
                </a:solidFill>
                <a:latin typeface="Malgun Gothic"/>
              </a:rPr>
              <a:t>    –  조건은 HOSP_ID가 5 이하인 청구로 한정한다</a:t>
            </a:r>
          </a:p>
          <a:p>
            <a:r>
              <a:rPr sz="1800" b="0">
                <a:solidFill>
                  <a:srgbClr val="202830"/>
                </a:solidFill>
                <a:latin typeface="Malgun Gothic"/>
              </a:rPr>
              <a:t>•  두 가지 작성 방법 — 결과는 완전히 같다</a:t>
            </a:r>
          </a:p>
          <a:p>
            <a:r>
              <a:rPr sz="1600" b="0">
                <a:solidFill>
                  <a:srgbClr val="5A6672"/>
                </a:solidFill>
                <a:latin typeface="Malgun Gothic"/>
              </a:rPr>
              <a:t>    –  Q1 — SELECT 절에 스칼라 서브쿼리를 넣어 병원명을 가져온다</a:t>
            </a:r>
          </a:p>
          <a:p>
            <a:r>
              <a:rPr sz="1600" b="0">
                <a:solidFill>
                  <a:srgbClr val="5A6672"/>
                </a:solidFill>
                <a:latin typeface="Malgun Gothic"/>
              </a:rPr>
              <a:t>    –  Q2 — FROM 절에 HOSPITALS를 넣고 조인으로 병원명을 가져온다</a:t>
            </a:r>
          </a:p>
          <a:p>
            <a:r>
              <a:rPr sz="1800" b="0">
                <a:solidFill>
                  <a:srgbClr val="202830"/>
                </a:solidFill>
                <a:latin typeface="Malgun Gothic"/>
              </a:rPr>
              <a:t>•  이 소재를 고른 이유</a:t>
            </a:r>
          </a:p>
          <a:p>
            <a:r>
              <a:rPr sz="1600" b="0">
                <a:solidFill>
                  <a:srgbClr val="5A6672"/>
                </a:solidFill>
                <a:latin typeface="Malgun Gothic"/>
              </a:rPr>
              <a:t>    –  HOSP_ID가 5 이하이므로 참조 값의 종류가 5로 매우 적다</a:t>
            </a:r>
          </a:p>
          <a:p>
            <a:r>
              <a:rPr sz="1600" b="0">
                <a:solidFill>
                  <a:srgbClr val="5A6672"/>
                </a:solidFill>
                <a:latin typeface="Malgun Gothic"/>
              </a:rPr>
              <a:t>    –  캐싱 효과가 가장 잘 드러나는 조건이다</a:t>
            </a:r>
          </a:p>
          <a:p>
            <a:r>
              <a:rPr sz="1800" b="0">
                <a:solidFill>
                  <a:srgbClr val="202830"/>
                </a:solidFill>
                <a:latin typeface="Malgun Gothic"/>
              </a:rPr>
              <a:t>•  두 쿼리의 결과 행은 15,029건으로 동일하다</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Q1. 스칼라 서브쿼리로 병원명 붙이기</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SELECT 절의 서브쿼리가 바깥 행의 hosp_id를 참조한다 — 스칼라이면서 상관 서브쿼리</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7EC699"/>
                </a:solidFill>
                <a:latin typeface="Consolas"/>
              </a:rPr>
              <a:t>-- Q1. 스칼라 서브쿼리로 병원명 붙이기</a:t>
            </a:r>
          </a:p>
          <a:p>
            <a:r>
              <a:rPr sz="1250" b="0">
                <a:solidFill>
                  <a:srgbClr val="E6E6E6"/>
                </a:solidFill>
                <a:latin typeface="Consolas"/>
              </a:rPr>
              <a:t>SELECT c.claim_id, c.total_amt,</a:t>
            </a:r>
          </a:p>
          <a:p>
            <a:r>
              <a:rPr sz="1250" b="0">
                <a:solidFill>
                  <a:srgbClr val="E6E6E6"/>
                </a:solidFill>
                <a:latin typeface="Consolas"/>
              </a:rPr>
              <a:t>       (SELECT h.hosp_name FROM hospitals h WHERE h.hosp_id = c.hosp_id) hosp_name</a:t>
            </a:r>
          </a:p>
          <a:p>
            <a:r>
              <a:rPr sz="1250" b="0">
                <a:solidFill>
                  <a:srgbClr val="E6E6E6"/>
                </a:solidFill>
                <a:latin typeface="Consolas"/>
              </a:rPr>
              <a:t>FROM medical_claims c</a:t>
            </a:r>
          </a:p>
          <a:p>
            <a:r>
              <a:rPr sz="1250" b="0">
                <a:solidFill>
                  <a:srgbClr val="E6E6E6"/>
                </a:solidFill>
                <a:latin typeface="Consolas"/>
              </a:rPr>
              <a:t>WHERE c.hosp_id &lt;= 5;</a:t>
            </a:r>
          </a:p>
          <a:p>
            <a:r>
              <a:rPr sz="1250" b="0">
                <a:solidFill>
                  <a:srgbClr val="E6E6E6"/>
                </a:solidFill>
                <a:latin typeface="Consolas"/>
              </a:rPr>
              <a:t> </a:t>
            </a:r>
          </a:p>
          <a:p>
            <a:r>
              <a:rPr sz="1250" b="0">
                <a:solidFill>
                  <a:srgbClr val="7EC699"/>
                </a:solidFill>
                <a:latin typeface="Consolas"/>
              </a:rPr>
              <a:t>-- FROM 절에는 medical_claims 하나뿐이다 — 골격이 단순하게 유지된다</a:t>
            </a:r>
          </a:p>
          <a:p>
            <a:r>
              <a:rPr sz="1250" b="0">
                <a:solidFill>
                  <a:srgbClr val="7EC699"/>
                </a:solidFill>
                <a:latin typeface="Consolas"/>
              </a:rPr>
              <a:t>-- 괄호 안 서브쿼리는 바깥의 c.hosp_id를 입력으로 받는다</a:t>
            </a:r>
          </a:p>
          <a:p>
            <a:r>
              <a:rPr sz="1250" b="0">
                <a:solidFill>
                  <a:srgbClr val="7EC699"/>
                </a:solidFill>
                <a:latin typeface="Consolas"/>
              </a:rPr>
              <a:t>-- 문법상으로는 결과 행마다 한 번씩 실행되는 것처럼 보인다</a:t>
            </a:r>
          </a:p>
          <a:p>
            <a:r>
              <a:rPr sz="1250" b="0">
                <a:solidFill>
                  <a:srgbClr val="7EC699"/>
                </a:solidFill>
                <a:latin typeface="Consolas"/>
              </a:rPr>
              <a:t>-- 실제 실행 횟수는 실행계획의 Starts 컬럼에서 확인한다</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Q2. JOIN으로 병원명 붙이기</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결과는 Q1과 완전히 같다 — 15,029건. 문법 골격만 다르다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7EC699"/>
                </a:solidFill>
                <a:latin typeface="Consolas"/>
              </a:rPr>
              <a:t>-- Q2. JOIN으로 병원명 붙이기</a:t>
            </a:r>
          </a:p>
          <a:p>
            <a:r>
              <a:rPr sz="1250" b="0">
                <a:solidFill>
                  <a:srgbClr val="E6E6E6"/>
                </a:solidFill>
                <a:latin typeface="Consolas"/>
              </a:rPr>
              <a:t>SELECT c.claim_id, c.total_amt, h.hosp_name</a:t>
            </a:r>
          </a:p>
          <a:p>
            <a:r>
              <a:rPr sz="1250" b="0">
                <a:solidFill>
                  <a:srgbClr val="E6E6E6"/>
                </a:solidFill>
                <a:latin typeface="Consolas"/>
              </a:rPr>
              <a:t>FROM medical_claims c, hospitals h</a:t>
            </a:r>
          </a:p>
          <a:p>
            <a:r>
              <a:rPr sz="1250" b="0">
                <a:solidFill>
                  <a:srgbClr val="E6E6E6"/>
                </a:solidFill>
                <a:latin typeface="Consolas"/>
              </a:rPr>
              <a:t>WHERE c.hosp_id = h.hosp_id AND c.hosp_id &lt;= 5;</a:t>
            </a:r>
          </a:p>
          <a:p>
            <a:r>
              <a:rPr sz="1250" b="0">
                <a:solidFill>
                  <a:srgbClr val="E6E6E6"/>
                </a:solidFill>
                <a:latin typeface="Consolas"/>
              </a:rPr>
              <a:t> </a:t>
            </a:r>
          </a:p>
          <a:p>
            <a:r>
              <a:rPr sz="1250" b="0">
                <a:solidFill>
                  <a:srgbClr val="7EC699"/>
                </a:solidFill>
                <a:latin typeface="Consolas"/>
              </a:rPr>
              <a:t>-- FROM 절에 두 테이블이 들어가고 조인 조건이 WHERE로 내려왔다</a:t>
            </a:r>
          </a:p>
          <a:p>
            <a:r>
              <a:rPr sz="1250" b="0">
                <a:solidFill>
                  <a:srgbClr val="7EC699"/>
                </a:solidFill>
                <a:latin typeface="Consolas"/>
              </a:rPr>
              <a:t>-- SELECT 절은 컬럼을 그대로 나열하기만 한다</a:t>
            </a:r>
          </a:p>
          <a:p>
            <a:r>
              <a:rPr sz="1250" b="0">
                <a:solidFill>
                  <a:srgbClr val="7EC699"/>
                </a:solidFill>
                <a:latin typeface="Consolas"/>
              </a:rPr>
              <a:t>-- 서브쿼리가 없으므로 반복 실행이라는 그림 자체가 없다</a:t>
            </a:r>
          </a:p>
          <a:p>
            <a:r>
              <a:rPr sz="1250" b="0">
                <a:solidFill>
                  <a:srgbClr val="7EC699"/>
                </a:solidFill>
                <a:latin typeface="Consolas"/>
              </a:rPr>
              <a:t>-- 코드 리뷰에서 Q1을 이 형태로 바꾸라고 권하는 경우가 많다</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Q1 실행계획 — 스칼라 서브쿼리</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결과 행은 15,029건. Id 1·2의 Starts 컬럼을 먼저 본다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 Id | Operation                   | Name           | Starts | E-Rows | A-Rows |   A-Time   | Buffers |</a:t>
            </a:r>
          </a:p>
          <a:p>
            <a:r>
              <a:rPr sz="1250" b="0">
                <a:solidFill>
                  <a:srgbClr val="E6E6E6"/>
                </a:solidFill>
                <a:latin typeface="Consolas"/>
              </a:rPr>
              <a:t>| 0  | SELECT STATEMENT            |                |      1 |        |  15029 |00:00:00.09 |    4081 |</a:t>
            </a:r>
          </a:p>
          <a:p>
            <a:r>
              <a:rPr sz="1250" b="0">
                <a:solidFill>
                  <a:srgbClr val="E6E6E6"/>
                </a:solidFill>
                <a:latin typeface="Consolas"/>
              </a:rPr>
              <a:t>| 1  |  TABLE ACCESS BY INDEX ROWID| HOSPITALS      |      5 |      1 |      5 |00:00:00.01 |      13 |</a:t>
            </a:r>
          </a:p>
          <a:p>
            <a:r>
              <a:rPr sz="1250" b="0">
                <a:solidFill>
                  <a:srgbClr val="E6E6E6"/>
                </a:solidFill>
                <a:latin typeface="Consolas"/>
              </a:rPr>
              <a:t>| 2  |   INDEX UNIQUE SCAN         | PK_HOSPITALS   |      5 |      1 |      5 |00:00:00.01 |       8 |</a:t>
            </a:r>
          </a:p>
          <a:p>
            <a:r>
              <a:rPr sz="1250" b="0">
                <a:solidFill>
                  <a:srgbClr val="E6E6E6"/>
                </a:solidFill>
                <a:latin typeface="Consolas"/>
              </a:rPr>
              <a:t>| 3  |  TABLE ACCESS FULL          | MEDICAL_CLAIMS |      1 |  14397 |  15029 |00:00:00.09 |    4081 |</a:t>
            </a:r>
          </a:p>
          <a:p>
            <a:r>
              <a:rPr sz="1250" b="0">
                <a:solidFill>
                  <a:srgbClr val="E6E6E6"/>
                </a:solidFill>
                <a:latin typeface="Consolas"/>
              </a:rPr>
              <a:t> </a:t>
            </a:r>
          </a:p>
          <a:p>
            <a:r>
              <a:rPr sz="1250" b="0">
                <a:solidFill>
                  <a:srgbClr val="7EC699"/>
                </a:solidFill>
                <a:latin typeface="Consolas"/>
              </a:rPr>
              <a:t>-- Id 1, 2 : HOSPITALS 접근 — Starts가 5다</a:t>
            </a:r>
          </a:p>
          <a:p>
            <a:r>
              <a:rPr sz="1250" b="0">
                <a:solidFill>
                  <a:srgbClr val="7EC699"/>
                </a:solidFill>
                <a:latin typeface="Consolas"/>
              </a:rPr>
              <a:t>-- Id 3    : MEDICAL_CLAIMS 전체 스캔 — Starts는 1이다</a:t>
            </a:r>
          </a:p>
          <a:p>
            <a:r>
              <a:rPr sz="1250" b="0">
                <a:solidFill>
                  <a:srgbClr val="7EC699"/>
                </a:solidFill>
                <a:latin typeface="Consolas"/>
              </a:rPr>
              <a:t>-- 결과가 15,029건인데 HOSPITALS 접근은 5번뿐이다</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Q1 실행계획 읽는 법</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Id 3 — MEDICAL_CLAIMS TABLE ACCESS FULL</a:t>
            </a:r>
          </a:p>
          <a:p>
            <a:r>
              <a:rPr sz="1600" b="0">
                <a:solidFill>
                  <a:srgbClr val="5A6672"/>
                </a:solidFill>
                <a:latin typeface="Malgun Gothic"/>
              </a:rPr>
              <a:t>    –  Starts 1 — 원본 테이블을 한 번 전체 스캔한다</a:t>
            </a:r>
          </a:p>
          <a:p>
            <a:r>
              <a:rPr sz="1600" b="0">
                <a:solidFill>
                  <a:srgbClr val="5A6672"/>
                </a:solidFill>
                <a:latin typeface="Malgun Gothic"/>
              </a:rPr>
              <a:t>    –  A-Rows 15029 — 조건을 통과한 청구 행이 결과 건수와 같다</a:t>
            </a:r>
          </a:p>
          <a:p>
            <a:r>
              <a:rPr sz="1600" b="0">
                <a:solidFill>
                  <a:srgbClr val="5A6672"/>
                </a:solidFill>
                <a:latin typeface="Malgun Gothic"/>
              </a:rPr>
              <a:t>    –  E-Rows 14397 — 옵티마이저의 추정치로 실제와 큰 차이는 없다</a:t>
            </a:r>
          </a:p>
          <a:p>
            <a:r>
              <a:rPr sz="1800" b="0">
                <a:solidFill>
                  <a:srgbClr val="202830"/>
                </a:solidFill>
                <a:latin typeface="Malgun Gothic"/>
              </a:rPr>
              <a:t>•  Id 1·2 — HOSPITALS 접근 (인덱스로 한 건씩 찾는 형태)</a:t>
            </a:r>
          </a:p>
          <a:p>
            <a:r>
              <a:rPr sz="1600" b="0">
                <a:solidFill>
                  <a:srgbClr val="5A6672"/>
                </a:solidFill>
                <a:latin typeface="Malgun Gothic"/>
              </a:rPr>
              <a:t>    –  INDEX UNIQUE SCAN으로 PK_HOSPITALS를 타고 한 건을 찾는다</a:t>
            </a:r>
          </a:p>
          <a:p>
            <a:r>
              <a:rPr sz="1600" b="0">
                <a:solidFill>
                  <a:srgbClr val="5A6672"/>
                </a:solidFill>
                <a:latin typeface="Malgun Gothic"/>
              </a:rPr>
              <a:t>    –  Starts 5 — 이 단계가 실제로 다섯 번만 실행됐다</a:t>
            </a:r>
          </a:p>
          <a:p>
            <a:r>
              <a:rPr sz="1600" b="0">
                <a:solidFill>
                  <a:srgbClr val="5A6672"/>
                </a:solidFill>
                <a:latin typeface="Malgun Gothic"/>
              </a:rPr>
              <a:t>    –  A-Rows 5 — 다섯 번의 실행이 각각 한 건씩을 돌려줬다</a:t>
            </a:r>
          </a:p>
          <a:p>
            <a:r>
              <a:rPr sz="1800" b="0">
                <a:solidFill>
                  <a:srgbClr val="202830"/>
                </a:solidFill>
                <a:latin typeface="Malgun Gothic"/>
              </a:rPr>
              <a:t>•  Buffers 배분 — 전체 4,081 가운데 HOSPITALS 몫은 13</a:t>
            </a:r>
          </a:p>
          <a:p>
            <a:r>
              <a:rPr sz="1600" b="0">
                <a:solidFill>
                  <a:srgbClr val="5A6672"/>
                </a:solidFill>
                <a:latin typeface="Malgun Gothic"/>
              </a:rPr>
              <a:t>    –  비용의 거의 전부가 MEDICAL_CLAIMS 전체 스캔에서 발생했다</a:t>
            </a:r>
          </a:p>
          <a:p>
            <a:r>
              <a:rPr sz="1600" b="0">
                <a:solidFill>
                  <a:srgbClr val="5A6672"/>
                </a:solidFill>
                <a:latin typeface="Malgun Gothic"/>
              </a:rPr>
              <a:t>    –  서브쿼리 쪽 비용은 전체에서 차지하는 비중이 매우 작다</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Q2 실행계획 — JOIN</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결과 행 15,029건으로 Q1과 동일. 구조는 HASH JOIN 한 덩어리다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 Id | Operation                            | Name           | Starts | E-Rows | A-Rows |   A-Time   | Buffers |</a:t>
            </a:r>
          </a:p>
          <a:p>
            <a:r>
              <a:rPr sz="1250" b="0">
                <a:solidFill>
                  <a:srgbClr val="E6E6E6"/>
                </a:solidFill>
                <a:latin typeface="Consolas"/>
              </a:rPr>
              <a:t>| 0  | SELECT STATEMENT                     |                |      1 |        |  15029 |00:00:00.02 |    4083 |</a:t>
            </a:r>
          </a:p>
          <a:p>
            <a:r>
              <a:rPr sz="1250" b="0">
                <a:solidFill>
                  <a:srgbClr val="E6E6E6"/>
                </a:solidFill>
                <a:latin typeface="Consolas"/>
              </a:rPr>
              <a:t>| 1  |  HASH JOIN                           |                |      1 |     72 |  15029 |00:00:00.02 |    4083 |</a:t>
            </a:r>
          </a:p>
          <a:p>
            <a:r>
              <a:rPr sz="1250" b="0">
                <a:solidFill>
                  <a:srgbClr val="E6E6E6"/>
                </a:solidFill>
                <a:latin typeface="Consolas"/>
              </a:rPr>
              <a:t>| 2  |   TABLE ACCESS BY INDEX ROWID BATCHED| HOSPITALS      |      1 |      5 |      5 |00:00:00.01 |       3 |</a:t>
            </a:r>
          </a:p>
          <a:p>
            <a:r>
              <a:rPr sz="1250" b="0">
                <a:solidFill>
                  <a:srgbClr val="E6E6E6"/>
                </a:solidFill>
                <a:latin typeface="Consolas"/>
              </a:rPr>
              <a:t>| 3  |    INDEX RANGE SCAN                  | PK_HOSPITALS   |      1 |      5 |      5 |00:00:00.01 |       2 |</a:t>
            </a:r>
          </a:p>
          <a:p>
            <a:r>
              <a:rPr sz="1250" b="0">
                <a:solidFill>
                  <a:srgbClr val="E6E6E6"/>
                </a:solidFill>
                <a:latin typeface="Consolas"/>
              </a:rPr>
              <a:t>| 4  |   TABLE ACCESS FULL                  | MEDICAL_CLAIMS |      1 |  14397 |  15029 |00:00:00.02 |    4080 |</a:t>
            </a:r>
          </a:p>
          <a:p>
            <a:r>
              <a:rPr sz="1250" b="0">
                <a:solidFill>
                  <a:srgbClr val="E6E6E6"/>
                </a:solidFill>
                <a:latin typeface="Consolas"/>
              </a:rPr>
              <a:t> </a:t>
            </a:r>
          </a:p>
          <a:p>
            <a:r>
              <a:rPr sz="1250" b="0">
                <a:solidFill>
                  <a:srgbClr val="7EC699"/>
                </a:solidFill>
                <a:latin typeface="Consolas"/>
              </a:rPr>
              <a:t>-- Id 2, 3 : HOSPITALS를 한 번에 훑어 해시 테이블을 만든다 — Starts 1</a:t>
            </a:r>
          </a:p>
          <a:p>
            <a:r>
              <a:rPr sz="1250" b="0">
                <a:solidFill>
                  <a:srgbClr val="7EC699"/>
                </a:solidFill>
                <a:latin typeface="Consolas"/>
              </a:rPr>
              <a:t>-- Id 4    : MEDICAL_CLAIMS 전체 스캔 — Starts 1</a:t>
            </a:r>
          </a:p>
          <a:p>
            <a:r>
              <a:rPr sz="1250" b="0">
                <a:solidFill>
                  <a:srgbClr val="7EC699"/>
                </a:solidFill>
                <a:latin typeface="Consolas"/>
              </a:rPr>
              <a:t>-- 모든 단계의 Starts가 1이다 — 반복이라는 개념 자체가 없다</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Q2 실행계획 읽는 법 — Q1과의 대비</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구조의 차이 — 반복이 있는가 없는가</a:t>
            </a:r>
          </a:p>
          <a:p>
            <a:r>
              <a:rPr sz="1600" b="0">
                <a:solidFill>
                  <a:srgbClr val="5A6672"/>
                </a:solidFill>
                <a:latin typeface="Malgun Gothic"/>
              </a:rPr>
              <a:t>    –  Q1은 HOSPITALS 접근이 다섯 번 반복된 구조였다</a:t>
            </a:r>
          </a:p>
          <a:p>
            <a:r>
              <a:rPr sz="1600" b="0">
                <a:solidFill>
                  <a:srgbClr val="5A6672"/>
                </a:solidFill>
                <a:latin typeface="Malgun Gothic"/>
              </a:rPr>
              <a:t>    –  Q2는 모든 단계의 Starts가 1인 한 번짜리 해시 조인이다</a:t>
            </a:r>
          </a:p>
          <a:p>
            <a:r>
              <a:rPr sz="1800" b="0">
                <a:solidFill>
                  <a:srgbClr val="202830"/>
                </a:solidFill>
                <a:latin typeface="Malgun Gothic"/>
              </a:rPr>
              <a:t>•  HOSPITALS를 읽는 방식도 다르다</a:t>
            </a:r>
          </a:p>
          <a:p>
            <a:r>
              <a:rPr sz="1600" b="0">
                <a:solidFill>
                  <a:srgbClr val="5A6672"/>
                </a:solidFill>
                <a:latin typeface="Malgun Gothic"/>
              </a:rPr>
              <a:t>    –  Q1 — INDEX UNIQUE SCAN으로 한 건씩 찾아 다섯 번 반복</a:t>
            </a:r>
          </a:p>
          <a:p>
            <a:r>
              <a:rPr sz="1600" b="0">
                <a:solidFill>
                  <a:srgbClr val="5A6672"/>
                </a:solidFill>
                <a:latin typeface="Malgun Gothic"/>
              </a:rPr>
              <a:t>    –  Q2 — INDEX RANGE SCAN으로 다섯 건을 한 번에 훑는다</a:t>
            </a:r>
          </a:p>
          <a:p>
            <a:r>
              <a:rPr sz="1800" b="0">
                <a:solidFill>
                  <a:srgbClr val="202830"/>
                </a:solidFill>
                <a:latin typeface="Malgun Gothic"/>
              </a:rPr>
              <a:t>•  그런데 비용은 거의 같다</a:t>
            </a:r>
          </a:p>
          <a:p>
            <a:r>
              <a:rPr sz="1600" b="0">
                <a:solidFill>
                  <a:srgbClr val="5A6672"/>
                </a:solidFill>
                <a:latin typeface="Malgun Gothic"/>
              </a:rPr>
              <a:t>    –  Q1의 HOSPITALS 몫 Buffers 13, Q2는 3 — 절대량이 둘 다 작다</a:t>
            </a:r>
          </a:p>
          <a:p>
            <a:r>
              <a:rPr sz="1600" b="0">
                <a:solidFill>
                  <a:srgbClr val="5A6672"/>
                </a:solidFill>
                <a:latin typeface="Malgun Gothic"/>
              </a:rPr>
              <a:t>    –  MEDICAL_CLAIMS 전체 스캔이 4,080 안팎으로 비용의 대부분을 차지한다</a:t>
            </a:r>
          </a:p>
          <a:p>
            <a:r>
              <a:rPr sz="1800" b="0">
                <a:solidFill>
                  <a:srgbClr val="202830"/>
                </a:solidFill>
                <a:latin typeface="Malgun Gothic"/>
              </a:rPr>
              <a:t>•  전체 Buffers는 Q1이 4,081, Q2가 4,083이다</a:t>
            </a:r>
          </a:p>
          <a:p>
            <a:r>
              <a:rPr sz="1600" b="0">
                <a:solidFill>
                  <a:srgbClr val="5A6672"/>
                </a:solidFill>
                <a:latin typeface="Malgun Gothic"/>
              </a:rPr>
              <a:t>    –  구조가 달라도 지배적인 비용 요인이 같으면 총량은 비슷해진다</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Starts=5가 말해 주는 것</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관측 사실 — 결과는 15,029건인데 HOSPITALS 접근은 5번뿐이다</a:t>
            </a:r>
          </a:p>
          <a:p>
            <a:r>
              <a:rPr sz="1600" b="0">
                <a:solidFill>
                  <a:srgbClr val="5A6672"/>
                </a:solidFill>
                <a:latin typeface="Malgun Gothic"/>
              </a:rPr>
              <a:t>    –  문법대로라면 15,029번 실행됐어야 할 자리다</a:t>
            </a:r>
          </a:p>
          <a:p>
            <a:r>
              <a:rPr sz="1600" b="0">
                <a:solidFill>
                  <a:srgbClr val="5A6672"/>
                </a:solidFill>
                <a:latin typeface="Malgun Gothic"/>
              </a:rPr>
              <a:t>    –  실제로는 HOSP_ID의 값 종류인 5만큼만 실행됐다</a:t>
            </a:r>
          </a:p>
          <a:p>
            <a:r>
              <a:rPr sz="1800" b="0">
                <a:solidFill>
                  <a:srgbClr val="202830"/>
                </a:solidFill>
                <a:latin typeface="Malgun Gothic"/>
              </a:rPr>
              <a:t>•  원인 — 8.3절의 스칼라 서브쿼리 캐싱</a:t>
            </a:r>
          </a:p>
          <a:p>
            <a:r>
              <a:rPr sz="1600" b="0">
                <a:solidFill>
                  <a:srgbClr val="5A6672"/>
                </a:solidFill>
                <a:latin typeface="Malgun Gothic"/>
              </a:rPr>
              <a:t>    –  같은 HOSP_ID가 다시 들어오면 이미 계산한 병원명을 캐시에서 꺼낸다</a:t>
            </a:r>
          </a:p>
          <a:p>
            <a:r>
              <a:rPr sz="1600" b="0">
                <a:solidFill>
                  <a:srgbClr val="5A6672"/>
                </a:solidFill>
                <a:latin typeface="Malgun Gothic"/>
              </a:rPr>
              <a:t>    –  값이 1부터 5까지 다섯 종류뿐이라 실제 실행도 다섯 번으로 끝난다</a:t>
            </a:r>
          </a:p>
          <a:p>
            <a:r>
              <a:rPr sz="1800" b="0">
                <a:solidFill>
                  <a:srgbClr val="202830"/>
                </a:solidFill>
                <a:latin typeface="Malgun Gothic"/>
              </a:rPr>
              <a:t>•  이 관측이 중요한 이유</a:t>
            </a:r>
          </a:p>
          <a:p>
            <a:r>
              <a:rPr sz="1600" b="0">
                <a:solidFill>
                  <a:srgbClr val="5A6672"/>
                </a:solidFill>
                <a:latin typeface="Malgun Gothic"/>
              </a:rPr>
              <a:t>    –  문법이 그리는 실행 그림과 실제 실행이 다르다는 직접 증거다</a:t>
            </a:r>
          </a:p>
          <a:p>
            <a:r>
              <a:rPr sz="1600" b="0">
                <a:solidFill>
                  <a:srgbClr val="5A6672"/>
                </a:solidFill>
                <a:latin typeface="Malgun Gothic"/>
              </a:rPr>
              <a:t>    –  Starts 하나만 봐도 캐싱 작동 여부를 판별할 수 있다</a:t>
            </a:r>
          </a:p>
          <a:p>
            <a:r>
              <a:rPr sz="1800" b="0">
                <a:solidFill>
                  <a:srgbClr val="202830"/>
                </a:solidFill>
                <a:latin typeface="Malgun Gothic"/>
              </a:rPr>
              <a:t>•  점검 습관 — 결과 행 수와 Starts를 나란히 놓고 본다</a:t>
            </a:r>
          </a:p>
          <a:p>
            <a:r>
              <a:rPr sz="1600" b="0">
                <a:solidFill>
                  <a:srgbClr val="5A6672"/>
                </a:solidFill>
                <a:latin typeface="Malgun Gothic"/>
              </a:rPr>
              <a:t>    –  둘의 격차가 크면 캐싱이나 다른 내부 변환이 개입한 것이다</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Buffers 4,081 vs 4,083 — 통념의 반증</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실측 결과 — 두 방식의 Buffers가 거의 같다</a:t>
            </a:r>
          </a:p>
          <a:p>
            <a:r>
              <a:rPr sz="1600" b="0">
                <a:solidFill>
                  <a:srgbClr val="5A6672"/>
                </a:solidFill>
                <a:latin typeface="Malgun Gothic"/>
              </a:rPr>
              <a:t>    –  Q1 스칼라 서브쿼리 4,081 / Q2 JOIN 4,083</a:t>
            </a:r>
          </a:p>
          <a:p>
            <a:r>
              <a:rPr sz="1600" b="0">
                <a:solidFill>
                  <a:srgbClr val="5A6672"/>
                </a:solidFill>
                <a:latin typeface="Malgun Gothic"/>
              </a:rPr>
              <a:t>    –  결과 행은 15,029건으로 완전히 동일한 상태에서의 비교다</a:t>
            </a:r>
          </a:p>
          <a:p>
            <a:r>
              <a:rPr sz="1800" b="0">
                <a:solidFill>
                  <a:srgbClr val="202830"/>
                </a:solidFill>
                <a:latin typeface="Malgun Gothic"/>
              </a:rPr>
              <a:t>•  통념이 예측한 것 — 스칼라 서브쿼리가 크게 불리할 것</a:t>
            </a:r>
          </a:p>
          <a:p>
            <a:r>
              <a:rPr sz="1600" b="0">
                <a:solidFill>
                  <a:srgbClr val="5A6672"/>
                </a:solidFill>
                <a:latin typeface="Malgun Gothic"/>
              </a:rPr>
              <a:t>    –  반복 실행이 누적되어 조인보다 훨씬 비쌀 것이라는 예측이었다</a:t>
            </a:r>
          </a:p>
          <a:p>
            <a:r>
              <a:rPr sz="1600" b="0">
                <a:solidFill>
                  <a:srgbClr val="5A6672"/>
                </a:solidFill>
                <a:latin typeface="Malgun Gothic"/>
              </a:rPr>
              <a:t>    –  실측은 그 예측을 지지하지 않는다</a:t>
            </a:r>
          </a:p>
          <a:p>
            <a:r>
              <a:rPr sz="1800" b="0">
                <a:solidFill>
                  <a:srgbClr val="202830"/>
                </a:solidFill>
                <a:latin typeface="Malgun Gothic"/>
              </a:rPr>
              <a:t>•  통념이 성립하지 않은 이유</a:t>
            </a:r>
          </a:p>
          <a:p>
            <a:r>
              <a:rPr sz="1600" b="0">
                <a:solidFill>
                  <a:srgbClr val="5A6672"/>
                </a:solidFill>
                <a:latin typeface="Malgun Gothic"/>
              </a:rPr>
              <a:t>    –  캐싱으로 실제 반복이 5회로 줄어 누적 비용이 생기지 않았다</a:t>
            </a:r>
          </a:p>
          <a:p>
            <a:r>
              <a:rPr sz="1600" b="0">
                <a:solidFill>
                  <a:srgbClr val="5A6672"/>
                </a:solidFill>
                <a:latin typeface="Malgun Gothic"/>
              </a:rPr>
              <a:t>    –  두 방식 모두 원본 테이블을 한 번만 읽는 구조로 수렴했다</a:t>
            </a:r>
          </a:p>
          <a:p>
            <a:r>
              <a:rPr sz="1800" b="0">
                <a:solidFill>
                  <a:srgbClr val="202830"/>
                </a:solidFill>
                <a:latin typeface="Malgun Gothic"/>
              </a:rPr>
              <a:t>•  올바른 결론 — 스칼라 서브쿼리가 항상 안전하다는 뜻은 아니다</a:t>
            </a:r>
          </a:p>
          <a:p>
            <a:r>
              <a:rPr sz="1600" b="0">
                <a:solidFill>
                  <a:srgbClr val="5A6672"/>
                </a:solidFill>
                <a:latin typeface="Malgun Gothic"/>
              </a:rPr>
              <a:t>    –  참조 값의 종류가 적다는 조건이 붙은 결론이다</a:t>
            </a:r>
          </a:p>
          <a:p>
            <a:r>
              <a:rPr sz="1600" b="0">
                <a:solidFill>
                  <a:srgbClr val="5A6672"/>
                </a:solidFill>
                <a:latin typeface="Malgun Gothic"/>
              </a:rPr>
              <a:t>    –  조건이 달라지면 결론도 달라질 수 있으므로 매번 실측한다</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3896822" cy="1371600"/>
          </a:xfrm>
          <a:prstGeom prst="rect">
            <a:avLst/>
          </a:prstGeom>
          <a:noFill/>
        </p:spPr>
        <p:txBody>
          <a:bodyPr wrap="square">
            <a:spAutoFit/>
          </a:bodyPr>
          <a:lstStyle/>
          <a:p>
            <a:r>
              <a:rPr sz="6600" b="1">
                <a:solidFill>
                  <a:srgbClr val="C0392B"/>
                </a:solidFill>
                <a:latin typeface="Malgun Gothic"/>
              </a:rPr>
              <a:t>8.6</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Bad SQL — 상관 서브쿼리가 항상 저렴하지는 않다</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소재 — 자기 병원 평균보다 큰 청구</a:t>
            </a:r>
          </a:p>
          <a:p>
            <a:r>
              <a:rPr sz="1600" b="0">
                <a:solidFill>
                  <a:srgbClr val="C5CED6"/>
                </a:solidFill>
                <a:latin typeface="Malgun Gothic"/>
              </a:rPr>
              <a:t>•  VW_SQ_1 변환 읽기</a:t>
            </a:r>
          </a:p>
          <a:p>
            <a:r>
              <a:rPr sz="1600" b="0">
                <a:solidFill>
                  <a:srgbClr val="C5CED6"/>
                </a:solidFill>
                <a:latin typeface="Malgun Gothic"/>
              </a:rPr>
              <a:t>•  두 번의 Full Scan</a:t>
            </a:r>
          </a:p>
          <a:p>
            <a:r>
              <a:rPr sz="1600" b="0">
                <a:solidFill>
                  <a:srgbClr val="C5CED6"/>
                </a:solidFill>
                <a:latin typeface="Malgun Gothic"/>
              </a:rPr>
              <a:t>•  Buffers 6,609이 나온 이유</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소재 — 자기 병원 평균보다 큰 청구 찾기</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요구사항 — 각 청구가 자신이 속한 병원의 평균 총액보다 큰지 판정한다</a:t>
            </a:r>
          </a:p>
          <a:p>
            <a:r>
              <a:rPr sz="1600" b="0">
                <a:solidFill>
                  <a:srgbClr val="5A6672"/>
                </a:solidFill>
                <a:latin typeface="Malgun Gothic"/>
              </a:rPr>
              <a:t>    –  비교 기준이 행마다 다르다 — 병원이 다르면 평균도 다르다</a:t>
            </a:r>
          </a:p>
          <a:p>
            <a:r>
              <a:rPr sz="1600" b="0">
                <a:solidFill>
                  <a:srgbClr val="5A6672"/>
                </a:solidFill>
                <a:latin typeface="Malgun Gothic"/>
              </a:rPr>
              <a:t>    –  조건은 앞 절과 같이 HOSP_ID가 5 이하로 한정한다</a:t>
            </a:r>
          </a:p>
          <a:p>
            <a:r>
              <a:rPr sz="1800" b="0">
                <a:solidFill>
                  <a:srgbClr val="202830"/>
                </a:solidFill>
                <a:latin typeface="Malgun Gothic"/>
              </a:rPr>
              <a:t>•  자연스러운 작성 방식 — WHERE 절의 상관 서브쿼리</a:t>
            </a:r>
          </a:p>
          <a:p>
            <a:r>
              <a:rPr sz="1600" b="0">
                <a:solidFill>
                  <a:srgbClr val="5A6672"/>
                </a:solidFill>
                <a:latin typeface="Malgun Gothic"/>
              </a:rPr>
              <a:t>    –  서브쿼리가 바깥 행의 HOSP_ID를 받아 그 병원의 평균을 구한다</a:t>
            </a:r>
          </a:p>
          <a:p>
            <a:r>
              <a:rPr sz="1600" b="0">
                <a:solidFill>
                  <a:srgbClr val="5A6672"/>
                </a:solidFill>
                <a:latin typeface="Malgun Gothic"/>
              </a:rPr>
              <a:t>    –  바깥 행의 총액과 그 평균을 비교한다</a:t>
            </a:r>
          </a:p>
          <a:p>
            <a:r>
              <a:rPr sz="1800" b="0">
                <a:solidFill>
                  <a:srgbClr val="202830"/>
                </a:solidFill>
                <a:latin typeface="Malgun Gothic"/>
              </a:rPr>
              <a:t>•  실무에서 매우 흔한 패턴</a:t>
            </a:r>
          </a:p>
          <a:p>
            <a:r>
              <a:rPr sz="1600" b="0">
                <a:solidFill>
                  <a:srgbClr val="5A6672"/>
                </a:solidFill>
                <a:latin typeface="Malgun Gothic"/>
              </a:rPr>
              <a:t>    –  평균 이상, 최댓값과 동일, 그룹 상위 등 여러 요구사항이 같은 모양이다</a:t>
            </a:r>
          </a:p>
          <a:p>
            <a:r>
              <a:rPr sz="1600" b="0">
                <a:solidFill>
                  <a:srgbClr val="5A6672"/>
                </a:solidFill>
                <a:latin typeface="Malgun Gothic"/>
              </a:rPr>
              <a:t>    –  문법이 요구사항을 거의 그대로 옮겨 놓아 읽기도 쉽다</a:t>
            </a:r>
          </a:p>
          <a:p>
            <a:r>
              <a:rPr sz="1800" b="0">
                <a:solidFill>
                  <a:srgbClr val="202830"/>
                </a:solidFill>
                <a:latin typeface="Malgun Gothic"/>
              </a:rPr>
              <a:t>•  관전 포인트 — 옵티마이저는 이 문법을 어떤 구조로 바꾸는가</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Q3. 그룹 평균과 비교하는 상관 서브쿼리</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서브쿼리가 바깥 행의 hosp_id를 참조해 그 병원의 평균 총액을 구한다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7EC699"/>
                </a:solidFill>
                <a:latin typeface="Consolas"/>
              </a:rPr>
              <a:t>-- Q3. 자신이 속한 병원의 평균보다 총액이 큰 청구</a:t>
            </a:r>
          </a:p>
          <a:p>
            <a:r>
              <a:rPr sz="1250" b="0">
                <a:solidFill>
                  <a:srgbClr val="E6E6E6"/>
                </a:solidFill>
                <a:latin typeface="Consolas"/>
              </a:rPr>
              <a:t>SELECT c.claim_id, c.hosp_id, c.total_amt</a:t>
            </a:r>
          </a:p>
          <a:p>
            <a:r>
              <a:rPr sz="1250" b="0">
                <a:solidFill>
                  <a:srgbClr val="E6E6E6"/>
                </a:solidFill>
                <a:latin typeface="Consolas"/>
              </a:rPr>
              <a:t>FROM medical_claims c</a:t>
            </a:r>
          </a:p>
          <a:p>
            <a:r>
              <a:rPr sz="1250" b="0">
                <a:solidFill>
                  <a:srgbClr val="E6E6E6"/>
                </a:solidFill>
                <a:latin typeface="Consolas"/>
              </a:rPr>
              <a:t>WHERE c.hosp_id &lt;= 5</a:t>
            </a:r>
          </a:p>
          <a:p>
            <a:r>
              <a:rPr sz="1250" b="0">
                <a:solidFill>
                  <a:srgbClr val="E6E6E6"/>
                </a:solidFill>
                <a:latin typeface="Consolas"/>
              </a:rPr>
              <a:t>AND   c.total_amt &gt; (SELECT AVG(c2.total_amt) FROM medical_claims c2 WHERE c2.hosp_id = c.hosp_id);</a:t>
            </a:r>
          </a:p>
          <a:p>
            <a:r>
              <a:rPr sz="1250" b="0">
                <a:solidFill>
                  <a:srgbClr val="E6E6E6"/>
                </a:solidFill>
                <a:latin typeface="Consolas"/>
              </a:rPr>
              <a:t> </a:t>
            </a:r>
          </a:p>
          <a:p>
            <a:r>
              <a:rPr sz="1250" b="0">
                <a:solidFill>
                  <a:srgbClr val="7EC699"/>
                </a:solidFill>
                <a:latin typeface="Consolas"/>
              </a:rPr>
              <a:t>-- 서브쿼리가 참조하는 테이블이 바깥과 같은 medical_claims다</a:t>
            </a:r>
          </a:p>
          <a:p>
            <a:r>
              <a:rPr sz="1250" b="0">
                <a:solidFill>
                  <a:srgbClr val="7EC699"/>
                </a:solidFill>
                <a:latin typeface="Consolas"/>
              </a:rPr>
              <a:t>-- 바깥 행의 c.hosp_id가 서브쿼리의 입력으로 들어간다</a:t>
            </a:r>
          </a:p>
          <a:p>
            <a:r>
              <a:rPr sz="1250" b="0">
                <a:solidFill>
                  <a:srgbClr val="7EC699"/>
                </a:solidFill>
                <a:latin typeface="Consolas"/>
              </a:rPr>
              <a:t>-- 문법상으로는 행마다 평균을 다시 계산하는 것처럼 보인다</a:t>
            </a:r>
          </a:p>
          <a:p>
            <a:r>
              <a:rPr sz="1250" b="0">
                <a:solidFill>
                  <a:srgbClr val="7EC699"/>
                </a:solidFill>
                <a:latin typeface="Consolas"/>
              </a:rPr>
              <a:t>-- 실제로는 옵티마이저가 이 구조를 다른 형태로 변환한다</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Q3 실행계획 — 상관 서브쿼리</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원본 SQL에 없던 VW_SQ_1이 등장한다 — 옵티마이저가 만든 내부 뷰</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 Id | Operation            | Name           | Starts | E-Rows | A-Rows |   A-Time   | Buffers |</a:t>
            </a:r>
          </a:p>
          <a:p>
            <a:r>
              <a:rPr sz="1250" b="0">
                <a:solidFill>
                  <a:srgbClr val="E6E6E6"/>
                </a:solidFill>
                <a:latin typeface="Consolas"/>
              </a:rPr>
              <a:t>| 0  | SELECT STATEMENT     |                |      1 |        |   6462 |00:00:00.03 |    6609 |</a:t>
            </a:r>
          </a:p>
          <a:p>
            <a:r>
              <a:rPr sz="1250" b="0">
                <a:solidFill>
                  <a:srgbClr val="E6E6E6"/>
                </a:solidFill>
                <a:latin typeface="Consolas"/>
              </a:rPr>
              <a:t>| 1  |  HASH JOIN           |                |      1 |   6922 |   6462 |00:00:00.03 |    6609 |</a:t>
            </a:r>
          </a:p>
          <a:p>
            <a:r>
              <a:rPr sz="1250" b="0">
                <a:solidFill>
                  <a:srgbClr val="E6E6E6"/>
                </a:solidFill>
                <a:latin typeface="Consolas"/>
              </a:rPr>
              <a:t>| 2  |   VIEW               | VW_SQ_1        |      1 |     48 |      5 |00:00:00.01 |    3090 |</a:t>
            </a:r>
          </a:p>
          <a:p>
            <a:r>
              <a:rPr sz="1250" b="0">
                <a:solidFill>
                  <a:srgbClr val="E6E6E6"/>
                </a:solidFill>
                <a:latin typeface="Consolas"/>
              </a:rPr>
              <a:t>| 3  |    HASH GROUP BY     |                |      1 |     48 |      5 |00:00:00.01 |    3090 |</a:t>
            </a:r>
          </a:p>
          <a:p>
            <a:r>
              <a:rPr sz="1250" b="0">
                <a:solidFill>
                  <a:srgbClr val="E6E6E6"/>
                </a:solidFill>
                <a:latin typeface="Consolas"/>
              </a:rPr>
              <a:t>| 4  |     TABLE ACCESS FULL| MEDICAL_CLAIMS |      1 |  14397 |  15029 |00:00:00.01 |    3090 |</a:t>
            </a:r>
          </a:p>
          <a:p>
            <a:r>
              <a:rPr sz="1250" b="0">
                <a:solidFill>
                  <a:srgbClr val="E6E6E6"/>
                </a:solidFill>
                <a:latin typeface="Consolas"/>
              </a:rPr>
              <a:t>| 5  |   TABLE ACCESS FULL  | MEDICAL_CLAIMS |      1 |  14397 |  15029 |00:00:00.01 |    3518 |</a:t>
            </a:r>
          </a:p>
          <a:p>
            <a:r>
              <a:rPr sz="1250" b="0">
                <a:solidFill>
                  <a:srgbClr val="E6E6E6"/>
                </a:solidFill>
                <a:latin typeface="Consolas"/>
              </a:rPr>
              <a:t> </a:t>
            </a:r>
          </a:p>
          <a:p>
            <a:r>
              <a:rPr sz="1250" b="0">
                <a:solidFill>
                  <a:srgbClr val="7EC699"/>
                </a:solidFill>
                <a:latin typeface="Consolas"/>
              </a:rPr>
              <a:t>-- Id 4 : MEDICAL_CLAIMS 전체 스캔 -&gt; HASH GROUP BY -&gt; VW_SQ_1</a:t>
            </a:r>
          </a:p>
          <a:p>
            <a:r>
              <a:rPr sz="1250" b="0">
                <a:solidFill>
                  <a:srgbClr val="7EC699"/>
                </a:solidFill>
                <a:latin typeface="Consolas"/>
              </a:rPr>
              <a:t>-- Id 5 : MEDICAL_CLAIMS 전체 스캔 (원본 행 확보)</a:t>
            </a:r>
          </a:p>
          <a:p>
            <a:r>
              <a:rPr sz="1250" b="0">
                <a:solidFill>
                  <a:srgbClr val="7EC699"/>
                </a:solidFill>
                <a:latin typeface="Consolas"/>
              </a:rPr>
              <a:t>-- 같은 테이블에 대한 TABLE ACCESS FULL이 두 번 나타난다</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Q3 실행계획 읽는 법</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Id 4 → Id 3 → Id 2 — 기준값을 만드는 갈래</a:t>
            </a:r>
          </a:p>
          <a:p>
            <a:r>
              <a:rPr sz="1600" b="0">
                <a:solidFill>
                  <a:srgbClr val="5A6672"/>
                </a:solidFill>
                <a:latin typeface="Malgun Gothic"/>
              </a:rPr>
              <a:t>    –  MEDICAL_CLAIMS를 전체 스캔해 15,029건을 읽는다</a:t>
            </a:r>
          </a:p>
          <a:p>
            <a:r>
              <a:rPr sz="1600" b="0">
                <a:solidFill>
                  <a:srgbClr val="5A6672"/>
                </a:solidFill>
                <a:latin typeface="Malgun Gothic"/>
              </a:rPr>
              <a:t>    –  HASH GROUP BY로 HOSP_ID별 평균을 계산해 5건으로 줄인다</a:t>
            </a:r>
          </a:p>
          <a:p>
            <a:r>
              <a:rPr sz="1600" b="0">
                <a:solidFill>
                  <a:srgbClr val="5A6672"/>
                </a:solidFill>
                <a:latin typeface="Malgun Gothic"/>
              </a:rPr>
              <a:t>    –  그 결과를 VW_SQ_1이라는 내부 뷰로 감싼다 — Buffers 3,090</a:t>
            </a:r>
          </a:p>
          <a:p>
            <a:r>
              <a:rPr sz="1800" b="0">
                <a:solidFill>
                  <a:srgbClr val="202830"/>
                </a:solidFill>
                <a:latin typeface="Malgun Gothic"/>
              </a:rPr>
              <a:t>•  Id 5 — 비교 대상 행을 가져오는 갈래</a:t>
            </a:r>
          </a:p>
          <a:p>
            <a:r>
              <a:rPr sz="1600" b="0">
                <a:solidFill>
                  <a:srgbClr val="5A6672"/>
                </a:solidFill>
                <a:latin typeface="Malgun Gothic"/>
              </a:rPr>
              <a:t>    –  MEDICAL_CLAIMS를 다시 전체 스캔해 15,029건을 읽는다 — Buffers 3,518</a:t>
            </a:r>
          </a:p>
          <a:p>
            <a:r>
              <a:rPr sz="1800" b="0">
                <a:solidFill>
                  <a:srgbClr val="202830"/>
                </a:solidFill>
                <a:latin typeface="Malgun Gothic"/>
              </a:rPr>
              <a:t>•  Id 1 — 두 갈래를 HASH JOIN으로 결합한다</a:t>
            </a:r>
          </a:p>
          <a:p>
            <a:r>
              <a:rPr sz="1600" b="0">
                <a:solidFill>
                  <a:srgbClr val="5A6672"/>
                </a:solidFill>
                <a:latin typeface="Malgun Gothic"/>
              </a:rPr>
              <a:t>    –  HOSP_ID를 연결 고리로 각 행에 자기 병원 평균을 붙인다</a:t>
            </a:r>
          </a:p>
          <a:p>
            <a:r>
              <a:rPr sz="1600" b="0">
                <a:solidFill>
                  <a:srgbClr val="5A6672"/>
                </a:solidFill>
                <a:latin typeface="Malgun Gothic"/>
              </a:rPr>
              <a:t>    –  조건을 통과한 6,462건이 최종 결과가 된다</a:t>
            </a:r>
          </a:p>
          <a:p>
            <a:r>
              <a:rPr sz="1800" b="0">
                <a:solidFill>
                  <a:srgbClr val="202830"/>
                </a:solidFill>
                <a:latin typeface="Malgun Gothic"/>
              </a:rPr>
              <a:t>•  모든 단계의 Starts가 1이다 — 반복 실행은 일어나지 않았다</a:t>
            </a:r>
          </a:p>
          <a:p>
            <a:r>
              <a:rPr sz="1600" b="0">
                <a:solidFill>
                  <a:srgbClr val="5A6672"/>
                </a:solidFill>
                <a:latin typeface="Malgun Gothic"/>
              </a:rPr>
              <a:t>    –  옵티마이저가 상관 서브쿼리를 조인 구조로 풀어냈다는 뜻이다</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두 번의 Full Scan은 각각 무엇을 하나</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Id 4의 Full Scan — 비교 기준을 만들기 위한 스캔</a:t>
            </a:r>
          </a:p>
          <a:p>
            <a:r>
              <a:rPr sz="1600" b="0">
                <a:solidFill>
                  <a:srgbClr val="5A6672"/>
                </a:solidFill>
                <a:latin typeface="Malgun Gothic"/>
              </a:rPr>
              <a:t>    –  HOSP_ID별 AVG(total_amt)를 미리 한 번에 계산하려고 읽는다</a:t>
            </a:r>
          </a:p>
          <a:p>
            <a:r>
              <a:rPr sz="1600" b="0">
                <a:solidFill>
                  <a:srgbClr val="5A6672"/>
                </a:solidFill>
                <a:latin typeface="Malgun Gothic"/>
              </a:rPr>
              <a:t>    –  상관 서브쿼리를 그룹별 평균 미리 계산 형태로 변환한 결과다</a:t>
            </a:r>
          </a:p>
          <a:p>
            <a:r>
              <a:rPr sz="1600" b="0">
                <a:solidFill>
                  <a:srgbClr val="5A6672"/>
                </a:solidFill>
                <a:latin typeface="Malgun Gothic"/>
              </a:rPr>
              <a:t>    –  읽은 15,029건이 집계를 거쳐 5건으로 압축된다</a:t>
            </a:r>
          </a:p>
          <a:p>
            <a:r>
              <a:rPr sz="1800" b="0">
                <a:solidFill>
                  <a:srgbClr val="202830"/>
                </a:solidFill>
                <a:latin typeface="Malgun Gothic"/>
              </a:rPr>
              <a:t>•  Id 5의 Full Scan — 비교 대상 행을 가져오기 위한 스캔</a:t>
            </a:r>
          </a:p>
          <a:p>
            <a:r>
              <a:rPr sz="1600" b="0">
                <a:solidFill>
                  <a:srgbClr val="5A6672"/>
                </a:solidFill>
                <a:latin typeface="Malgun Gothic"/>
              </a:rPr>
              <a:t>    –  원래 바깥 쿼리가 필요로 하던 청구 행 자체를 읽는다</a:t>
            </a:r>
          </a:p>
          <a:p>
            <a:r>
              <a:rPr sz="1600" b="0">
                <a:solidFill>
                  <a:srgbClr val="5A6672"/>
                </a:solidFill>
                <a:latin typeface="Malgun Gothic"/>
              </a:rPr>
              <a:t>    –  조건 HOSP_ID &lt;= 5에 해당하는 15,029건을 확보한다</a:t>
            </a:r>
          </a:p>
          <a:p>
            <a:r>
              <a:rPr sz="1800" b="0">
                <a:solidFill>
                  <a:srgbClr val="202830"/>
                </a:solidFill>
                <a:latin typeface="Malgun Gothic"/>
              </a:rPr>
              <a:t>•  두 스캔은 목적이 서로 다르다</a:t>
            </a:r>
          </a:p>
          <a:p>
            <a:r>
              <a:rPr sz="1600" b="0">
                <a:solidFill>
                  <a:srgbClr val="5A6672"/>
                </a:solidFill>
                <a:latin typeface="Malgun Gothic"/>
              </a:rPr>
              <a:t>    –  하나는 기준값을 구하기 위한 것, 다른 하나는 대상을 얻기 위한 것</a:t>
            </a:r>
          </a:p>
          <a:p>
            <a:r>
              <a:rPr sz="1600" b="0">
                <a:solidFill>
                  <a:srgbClr val="5A6672"/>
                </a:solidFill>
                <a:latin typeface="Malgun Gothic"/>
              </a:rPr>
              <a:t>    –  그래서 하나로 합칠 수 없고 각각 읽어야 한다</a:t>
            </a:r>
          </a:p>
          <a:p>
            <a:r>
              <a:rPr sz="1800" b="0">
                <a:solidFill>
                  <a:srgbClr val="202830"/>
                </a:solidFill>
                <a:latin typeface="Malgun Gothic"/>
              </a:rPr>
              <a:t>•  결과적으로 같은 테이블을 두 번 읽는 구조가 만들어진다</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Buffers 6,609의 분해</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실측된 전체 Buffers는 6,609다</a:t>
            </a:r>
          </a:p>
          <a:p>
            <a:r>
              <a:rPr sz="1600" b="0">
                <a:solidFill>
                  <a:srgbClr val="5A6672"/>
                </a:solidFill>
                <a:latin typeface="Malgun Gothic"/>
              </a:rPr>
              <a:t>    –  Id 4 계열(평균 계산용 스캔) — 3,090</a:t>
            </a:r>
          </a:p>
          <a:p>
            <a:r>
              <a:rPr sz="1600" b="0">
                <a:solidFill>
                  <a:srgbClr val="5A6672"/>
                </a:solidFill>
                <a:latin typeface="Malgun Gothic"/>
              </a:rPr>
              <a:t>    –  Id 5(원본 조회용 스캔) — 3,518</a:t>
            </a:r>
          </a:p>
          <a:p>
            <a:r>
              <a:rPr sz="1600" b="0">
                <a:solidFill>
                  <a:srgbClr val="5A6672"/>
                </a:solidFill>
                <a:latin typeface="Malgun Gothic"/>
              </a:rPr>
              <a:t>    –  두 값을 더하면 약 6,608로 실측 6,609와 거의 일치한다</a:t>
            </a:r>
          </a:p>
          <a:p>
            <a:r>
              <a:rPr sz="1800" b="0">
                <a:solidFill>
                  <a:srgbClr val="202830"/>
                </a:solidFill>
                <a:latin typeface="Malgun Gothic"/>
              </a:rPr>
              <a:t>•  앞 절과의 비교</a:t>
            </a:r>
          </a:p>
          <a:p>
            <a:r>
              <a:rPr sz="1600" b="0">
                <a:solidFill>
                  <a:srgbClr val="5A6672"/>
                </a:solidFill>
                <a:latin typeface="Malgun Gothic"/>
              </a:rPr>
              <a:t>    –  Q1 4,081 / Q2 4,083 — 두 방식 모두 원본을 한 번만 읽었다</a:t>
            </a:r>
          </a:p>
          <a:p>
            <a:r>
              <a:rPr sz="1600" b="0">
                <a:solidFill>
                  <a:srgbClr val="5A6672"/>
                </a:solidFill>
                <a:latin typeface="Malgun Gothic"/>
              </a:rPr>
              <a:t>    –  Q3 6,609 — 원본을 두 번 읽는 구조라 그만큼 커졌다</a:t>
            </a:r>
          </a:p>
          <a:p>
            <a:r>
              <a:rPr sz="1800" b="0">
                <a:solidFill>
                  <a:srgbClr val="202830"/>
                </a:solidFill>
                <a:latin typeface="Malgun Gothic"/>
              </a:rPr>
              <a:t>•  해석 — 비용의 차이는 문법이 아니라 스캔 횟수에서 나왔다</a:t>
            </a:r>
          </a:p>
          <a:p>
            <a:r>
              <a:rPr sz="1600" b="0">
                <a:solidFill>
                  <a:srgbClr val="5A6672"/>
                </a:solidFill>
                <a:latin typeface="Malgun Gothic"/>
              </a:rPr>
              <a:t>    –  테이블 스캔이 비용의 대부분을 차지하는 상황이었다</a:t>
            </a:r>
          </a:p>
          <a:p>
            <a:r>
              <a:rPr sz="1600" b="0">
                <a:solidFill>
                  <a:srgbClr val="5A6672"/>
                </a:solidFill>
                <a:latin typeface="Malgun Gothic"/>
              </a:rPr>
              <a:t>    –  그 스캔이 두 번 필요한 구조는 한 번짜리보다 비쌀 수밖에 없다</a:t>
            </a:r>
          </a:p>
          <a:p>
            <a:r>
              <a:rPr sz="1800" b="0">
                <a:solidFill>
                  <a:srgbClr val="202830"/>
                </a:solidFill>
                <a:latin typeface="Malgun Gothic"/>
              </a:rPr>
              <a:t>•  점검 습관 — 계획에서 같은 테이블 이름이 몇 번 나오는지 센다</a:t>
            </a:r>
          </a:p>
          <a:p>
            <a:r>
              <a:rPr sz="1600" b="0">
                <a:solidFill>
                  <a:srgbClr val="5A6672"/>
                </a:solidFill>
                <a:latin typeface="Malgun Gothic"/>
              </a:rPr>
              <a:t>    –  가장 빠르고 확실한 비용 예측 단서 가운데 하나다</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'옵티마이저가 알아서 해준다'의 한계</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흔한 주장 — 상관 서브쿼리는 옵티마이저가 최적화하니 안심해도 된다</a:t>
            </a:r>
          </a:p>
          <a:p>
            <a:r>
              <a:rPr sz="1800" b="0">
                <a:solidFill>
                  <a:srgbClr val="202830"/>
                </a:solidFill>
                <a:latin typeface="Malgun Gothic"/>
              </a:rPr>
              <a:t>•  Q3가 그 주장의 반례다</a:t>
            </a:r>
          </a:p>
          <a:p>
            <a:r>
              <a:rPr sz="1600" b="0">
                <a:solidFill>
                  <a:srgbClr val="5A6672"/>
                </a:solidFill>
                <a:latin typeface="Malgun Gothic"/>
              </a:rPr>
              <a:t>    –  옵티마이저는 실제로 최적화했다 — 행마다 반복 실행을 피했다</a:t>
            </a:r>
          </a:p>
          <a:p>
            <a:r>
              <a:rPr sz="1600" b="0">
                <a:solidFill>
                  <a:srgbClr val="5A6672"/>
                </a:solidFill>
                <a:latin typeface="Malgun Gothic"/>
              </a:rPr>
              <a:t>    –  그룹 집계를 미리 계산하는 영리한 형태로 변환했다</a:t>
            </a:r>
          </a:p>
          <a:p>
            <a:r>
              <a:rPr sz="1600" b="0">
                <a:solidFill>
                  <a:srgbClr val="5A6672"/>
                </a:solidFill>
                <a:latin typeface="Malgun Gothic"/>
              </a:rPr>
              <a:t>    –  그런데도 Q1·Q2보다 비쌌다</a:t>
            </a:r>
          </a:p>
          <a:p>
            <a:r>
              <a:rPr sz="1800" b="0">
                <a:solidFill>
                  <a:srgbClr val="202830"/>
                </a:solidFill>
                <a:latin typeface="Malgun Gothic"/>
              </a:rPr>
              <a:t>•  두 문장을 구분해야 한다</a:t>
            </a:r>
          </a:p>
          <a:p>
            <a:r>
              <a:rPr sz="1600" b="0">
                <a:solidFill>
                  <a:srgbClr val="5A6672"/>
                </a:solidFill>
                <a:latin typeface="Malgun Gothic"/>
              </a:rPr>
              <a:t>    –  옵티마이저가 알아서 최적화해 준다 — 대체로 맞다</a:t>
            </a:r>
          </a:p>
          <a:p>
            <a:r>
              <a:rPr sz="1600" b="0">
                <a:solidFill>
                  <a:srgbClr val="5A6672"/>
                </a:solidFill>
                <a:latin typeface="Malgun Gothic"/>
              </a:rPr>
              <a:t>    –  그 결과가 항상 가장 저렴하다 — 보장되지 않는다</a:t>
            </a:r>
          </a:p>
          <a:p>
            <a:r>
              <a:rPr sz="1800" b="0">
                <a:solidFill>
                  <a:srgbClr val="202830"/>
                </a:solidFill>
                <a:latin typeface="Malgun Gothic"/>
              </a:rPr>
              <a:t>•  이유 — 옵티마이저는 주어진 SQL 구조 안에서만 최선을 다한다</a:t>
            </a:r>
          </a:p>
          <a:p>
            <a:r>
              <a:rPr sz="1600" b="0">
                <a:solidFill>
                  <a:srgbClr val="5A6672"/>
                </a:solidFill>
                <a:latin typeface="Malgun Gothic"/>
              </a:rPr>
              <a:t>    –  SQL 자체가 같은 테이블을 두 번 읽어야 하는 구조라면</a:t>
            </a:r>
          </a:p>
          <a:p>
            <a:r>
              <a:rPr sz="1600" b="0">
                <a:solidFill>
                  <a:srgbClr val="5A6672"/>
                </a:solidFill>
                <a:latin typeface="Malgun Gothic"/>
              </a:rPr>
              <a:t>    –  변환은 그 구조의 한계를 완전히 넘어서지 못한다</a:t>
            </a:r>
          </a:p>
          <a:p>
            <a:r>
              <a:rPr sz="1800" b="0">
                <a:solidFill>
                  <a:srgbClr val="202830"/>
                </a:solidFill>
                <a:latin typeface="Malgun Gothic"/>
              </a:rPr>
              <a:t>•  따라서 SQL을 쓸 때 데이터를 몇 번 읽게 되는지를 먼저 생각해야 한다</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3896822" cy="1371600"/>
          </a:xfrm>
          <a:prstGeom prst="rect">
            <a:avLst/>
          </a:prstGeom>
          <a:noFill/>
        </p:spPr>
        <p:txBody>
          <a:bodyPr wrap="square">
            <a:spAutoFit/>
          </a:bodyPr>
          <a:lstStyle/>
          <a:p>
            <a:r>
              <a:rPr sz="6600" b="1">
                <a:solidFill>
                  <a:srgbClr val="C0392B"/>
                </a:solidFill>
                <a:latin typeface="Malgun Gothic"/>
              </a:rPr>
              <a:t>8.7</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Tuning — 인라인 뷰의 WHERE는 HAVING과 같아지는가</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Q4 인라인 뷰 / Q5 HAVING</a:t>
            </a:r>
          </a:p>
          <a:p>
            <a:r>
              <a:rPr sz="1600" b="0">
                <a:solidFill>
                  <a:srgbClr val="C5CED6"/>
                </a:solidFill>
                <a:latin typeface="Malgun Gothic"/>
              </a:rPr>
              <a:t>•  구조와 비용 비교</a:t>
            </a:r>
          </a:p>
          <a:p>
            <a:r>
              <a:rPr sz="1600" b="0">
                <a:solidFill>
                  <a:srgbClr val="C5CED6"/>
                </a:solidFill>
                <a:latin typeface="Malgun Gothic"/>
              </a:rPr>
              <a:t>•  뷰 병합(View Merging)</a:t>
            </a:r>
          </a:p>
          <a:p>
            <a:r>
              <a:rPr sz="1600" b="0">
                <a:solidFill>
                  <a:srgbClr val="C5CED6"/>
                </a:solidFill>
                <a:latin typeface="Malgun Gothic"/>
              </a:rPr>
              <a:t>•  병합이 안전하지 않은 경우</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Q4 인라인 뷰 / Q5 HAVING</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병원별 청구 건수가 1000건을 넘는 병원만 뽑는다 — 두 방식의 결과는 같다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7EC699"/>
                </a:solidFill>
                <a:latin typeface="Consolas"/>
              </a:rPr>
              <a:t>-- Q4. 인라인 뷰 + 바깥 WHERE</a:t>
            </a:r>
          </a:p>
          <a:p>
            <a:r>
              <a:rPr sz="1250" b="0">
                <a:solidFill>
                  <a:srgbClr val="E6E6E6"/>
                </a:solidFill>
                <a:latin typeface="Consolas"/>
              </a:rPr>
              <a:t>SELECT * FROM (SELECT hosp_id, COUNT(*) cnt FROM medical_claims GROUP BY hosp_id) v</a:t>
            </a:r>
          </a:p>
          <a:p>
            <a:r>
              <a:rPr sz="1250" b="0">
                <a:solidFill>
                  <a:srgbClr val="E6E6E6"/>
                </a:solidFill>
                <a:latin typeface="Consolas"/>
              </a:rPr>
              <a:t>WHERE v.cnt &gt; 1000;</a:t>
            </a:r>
          </a:p>
          <a:p>
            <a:r>
              <a:rPr sz="1250" b="0">
                <a:solidFill>
                  <a:srgbClr val="E6E6E6"/>
                </a:solidFill>
                <a:latin typeface="Consolas"/>
              </a:rPr>
              <a:t> </a:t>
            </a:r>
          </a:p>
          <a:p>
            <a:r>
              <a:rPr sz="1250" b="0">
                <a:solidFill>
                  <a:srgbClr val="7EC699"/>
                </a:solidFill>
                <a:latin typeface="Consolas"/>
              </a:rPr>
              <a:t>-- Q5. HAVING으로 직접 작성</a:t>
            </a:r>
          </a:p>
          <a:p>
            <a:r>
              <a:rPr sz="1250" b="0">
                <a:solidFill>
                  <a:srgbClr val="E6E6E6"/>
                </a:solidFill>
                <a:latin typeface="Consolas"/>
              </a:rPr>
              <a:t>SELECT hosp_id, COUNT(*) cnt FROM medical_claims GROUP BY hosp_id HAVING COUNT(*) &gt; 1000;</a:t>
            </a:r>
          </a:p>
          <a:p>
            <a:r>
              <a:rPr sz="1250" b="0">
                <a:solidFill>
                  <a:srgbClr val="E6E6E6"/>
                </a:solidFill>
                <a:latin typeface="Consolas"/>
              </a:rPr>
              <a:t> </a:t>
            </a:r>
          </a:p>
          <a:p>
            <a:r>
              <a:rPr sz="1250" b="0">
                <a:solidFill>
                  <a:srgbClr val="7EC699"/>
                </a:solidFill>
                <a:latin typeface="Consolas"/>
              </a:rPr>
              <a:t>-- Q4 : 집계 결과 집합을 먼저 만들고 바깥에서 거르는 모양</a:t>
            </a:r>
          </a:p>
          <a:p>
            <a:r>
              <a:rPr sz="1250" b="0">
                <a:solidFill>
                  <a:srgbClr val="7EC699"/>
                </a:solidFill>
                <a:latin typeface="Consolas"/>
              </a:rPr>
              <a:t>-- Q5 : 집계와 필터가 한 문장 안에 붙어 있는 모양</a:t>
            </a:r>
          </a:p>
          <a:p>
            <a:r>
              <a:rPr sz="1250" b="0">
                <a:solidFill>
                  <a:srgbClr val="7EC699"/>
                </a:solidFill>
                <a:latin typeface="Consolas"/>
              </a:rPr>
              <a:t>-- 문법 골격은 다르지만 요구하는 결과는 완전히 같다</a:t>
            </a:r>
          </a:p>
          <a:p>
            <a:r>
              <a:rPr sz="1250" b="0">
                <a:solidFill>
                  <a:srgbClr val="7EC699"/>
                </a:solidFill>
                <a:latin typeface="Consolas"/>
              </a:rPr>
              <a:t>-- 관전 포인트 : 옵티마이저가 두 문장을 같은 구조로 만들 것인가</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Q4와 Q5 — 구조와 비용 비교</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오퍼레이션 트리는 다르지만 Buffers는 완전히 같다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a:t>
            </a:r>
          </a:p>
          <a:p>
            <a:r>
              <a:rPr sz="1250" b="0">
                <a:solidFill>
                  <a:srgbClr val="E6E6E6"/>
                </a:solidFill>
                <a:latin typeface="Consolas"/>
              </a:rPr>
              <a:t>| 쿼리             | Operation 구조                                 | Buffers |</a:t>
            </a:r>
          </a:p>
          <a:p>
            <a:r>
              <a:rPr sz="1250" b="0">
                <a:solidFill>
                  <a:srgbClr val="E6E6E6"/>
                </a:solidFill>
                <a:latin typeface="Consolas"/>
              </a:rPr>
              <a:t>+------------------+------------------------------------------------+---------+</a:t>
            </a:r>
          </a:p>
          <a:p>
            <a:r>
              <a:rPr sz="1250" b="0">
                <a:solidFill>
                  <a:srgbClr val="E6E6E6"/>
                </a:solidFill>
                <a:latin typeface="Consolas"/>
              </a:rPr>
              <a:t>| Q4 (인라인 뷰)   | FILTER -&gt; HASH GROUP BY -&gt; TABLE ACCESS FULL   |   3,090 |</a:t>
            </a:r>
          </a:p>
          <a:p>
            <a:r>
              <a:rPr sz="1250" b="0">
                <a:solidFill>
                  <a:srgbClr val="E6E6E6"/>
                </a:solidFill>
                <a:latin typeface="Consolas"/>
              </a:rPr>
              <a:t>| Q5 (HAVING)      | HASH GROUP BY(필터 내장) -&gt; TABLE ACCESS FULL  |   3,090 |</a:t>
            </a:r>
          </a:p>
          <a:p>
            <a:r>
              <a:rPr sz="1250" b="0">
                <a:solidFill>
                  <a:srgbClr val="E6E6E6"/>
                </a:solidFill>
                <a:latin typeface="Consolas"/>
              </a:rPr>
              <a:t>+------------------+------------------------------------------------+---------+</a:t>
            </a:r>
          </a:p>
          <a:p>
            <a:r>
              <a:rPr sz="1250" b="0">
                <a:solidFill>
                  <a:srgbClr val="E6E6E6"/>
                </a:solidFill>
                <a:latin typeface="Consolas"/>
              </a:rPr>
              <a:t> </a:t>
            </a:r>
          </a:p>
          <a:p>
            <a:r>
              <a:rPr sz="1250" b="0">
                <a:solidFill>
                  <a:srgbClr val="7EC699"/>
                </a:solidFill>
                <a:latin typeface="Consolas"/>
              </a:rPr>
              <a:t>-- 두 방식 모두 TABLE ACCESS FULL이 1회뿐이다</a:t>
            </a:r>
          </a:p>
          <a:p>
            <a:r>
              <a:rPr sz="1250" b="0">
                <a:solidFill>
                  <a:srgbClr val="7EC699"/>
                </a:solidFill>
                <a:latin typeface="Consolas"/>
              </a:rPr>
              <a:t>-- Q4에만 별도의 FILTER 단계가 하나 더 붙는다</a:t>
            </a:r>
          </a:p>
          <a:p>
            <a:r>
              <a:rPr sz="1250" b="0">
                <a:solidFill>
                  <a:srgbClr val="7EC699"/>
                </a:solidFill>
                <a:latin typeface="Consolas"/>
              </a:rPr>
              <a:t>-- 그럼에도 Buffers는 3,090으로 동일하다</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뷰 병합 (View Merging)이란</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옵티마이저의 또 다른 내부 변환</a:t>
            </a:r>
          </a:p>
          <a:p>
            <a:r>
              <a:rPr sz="1600" b="0">
                <a:solidFill>
                  <a:srgbClr val="5A6672"/>
                </a:solidFill>
                <a:latin typeface="Malgun Gothic"/>
              </a:rPr>
              <a:t>    –  인라인 뷰를 별도 단계로 두지 않고 바깥 쿼리와 한 덩어리로 합친다</a:t>
            </a:r>
          </a:p>
          <a:p>
            <a:r>
              <a:rPr sz="1600" b="0">
                <a:solidFill>
                  <a:srgbClr val="5A6672"/>
                </a:solidFill>
                <a:latin typeface="Malgun Gothic"/>
              </a:rPr>
              <a:t>    –  unnesting이 서브쿼리를 조인으로 푸는 것이라면, 병합은 뷰의 경계를 지우는 것이다</a:t>
            </a:r>
          </a:p>
          <a:p>
            <a:r>
              <a:rPr sz="1800" b="0">
                <a:solidFill>
                  <a:srgbClr val="202830"/>
                </a:solidFill>
                <a:latin typeface="Malgun Gothic"/>
              </a:rPr>
              <a:t>•  병합이 주는 이점</a:t>
            </a:r>
          </a:p>
          <a:p>
            <a:r>
              <a:rPr sz="1600" b="0">
                <a:solidFill>
                  <a:srgbClr val="5A6672"/>
                </a:solidFill>
                <a:latin typeface="Malgun Gothic"/>
              </a:rPr>
              <a:t>    –  중간 결과 집합을 따로 만들어 두는 부담이 사라진다</a:t>
            </a:r>
          </a:p>
          <a:p>
            <a:r>
              <a:rPr sz="1600" b="0">
                <a:solidFill>
                  <a:srgbClr val="5A6672"/>
                </a:solidFill>
                <a:latin typeface="Malgun Gothic"/>
              </a:rPr>
              <a:t>    –  바깥 조건을 안쪽으로 밀어 넣어 미리 걸러 낼 여지가 생긴다</a:t>
            </a:r>
          </a:p>
          <a:p>
            <a:r>
              <a:rPr sz="1600" b="0">
                <a:solidFill>
                  <a:srgbClr val="5A6672"/>
                </a:solidFill>
                <a:latin typeface="Malgun Gothic"/>
              </a:rPr>
              <a:t>    –  조인 순서 선택의 폭이 넓어져 더 나은 계획을 고를 수 있다</a:t>
            </a:r>
          </a:p>
          <a:p>
            <a:r>
              <a:rPr sz="1800" b="0">
                <a:solidFill>
                  <a:srgbClr val="202830"/>
                </a:solidFill>
                <a:latin typeface="Malgun Gothic"/>
              </a:rPr>
              <a:t>•  Q4에서 관측된 것</a:t>
            </a:r>
          </a:p>
          <a:p>
            <a:r>
              <a:rPr sz="1600" b="0">
                <a:solidFill>
                  <a:srgbClr val="5A6672"/>
                </a:solidFill>
                <a:latin typeface="Malgun Gothic"/>
              </a:rPr>
              <a:t>    –  테이블을 한 번만 읽고 Q5와 Buffers가 3,090으로 동일했다</a:t>
            </a:r>
          </a:p>
          <a:p>
            <a:r>
              <a:rPr sz="1600" b="0">
                <a:solidFill>
                  <a:srgbClr val="5A6672"/>
                </a:solidFill>
                <a:latin typeface="Malgun Gothic"/>
              </a:rPr>
              <a:t>    –  겉보기 SQL 스타일이 달라도 비용은 같을 수 있다는 사례다</a:t>
            </a:r>
          </a:p>
          <a:p>
            <a:r>
              <a:rPr sz="1800" b="0">
                <a:solidFill>
                  <a:srgbClr val="202830"/>
                </a:solidFill>
                <a:latin typeface="Malgun Gothic"/>
              </a:rPr>
              <a:t>•  따라서 인라인 뷰를 성능상의 이유로 무조건 피할 근거는 없다</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FILTER 단계가 붙어도 비용이 같은 이유</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관측 — Q4에는 FILTER가 있고 Q5에는 없다</a:t>
            </a:r>
          </a:p>
          <a:p>
            <a:r>
              <a:rPr sz="1600" b="0">
                <a:solidFill>
                  <a:srgbClr val="5A6672"/>
                </a:solidFill>
                <a:latin typeface="Malgun Gothic"/>
              </a:rPr>
              <a:t>    –  Q4는 인라인 뷰의 골격을 살리되 바깥 WHERE를 별도 FILTER로 적용했다</a:t>
            </a:r>
          </a:p>
          <a:p>
            <a:r>
              <a:rPr sz="1600" b="0">
                <a:solidFill>
                  <a:srgbClr val="5A6672"/>
                </a:solidFill>
                <a:latin typeface="Malgun Gothic"/>
              </a:rPr>
              <a:t>    –  Q5는 HAVING이 애초에 GROUP BY 처리와 한 단계로 묶여 표현됐다</a:t>
            </a:r>
          </a:p>
          <a:p>
            <a:r>
              <a:rPr sz="1800" b="0">
                <a:solidFill>
                  <a:srgbClr val="202830"/>
                </a:solidFill>
                <a:latin typeface="Malgun Gothic"/>
              </a:rPr>
              <a:t>•  오퍼레이션 개수는 다른데 Buffers는 같다</a:t>
            </a:r>
          </a:p>
          <a:p>
            <a:r>
              <a:rPr sz="1600" b="0">
                <a:solidFill>
                  <a:srgbClr val="5A6672"/>
                </a:solidFill>
                <a:latin typeface="Malgun Gothic"/>
              </a:rPr>
              <a:t>    –  실질적인 작업량이 동일하기 때문이다</a:t>
            </a:r>
          </a:p>
          <a:p>
            <a:r>
              <a:rPr sz="1600" b="0">
                <a:solidFill>
                  <a:srgbClr val="5A6672"/>
                </a:solidFill>
                <a:latin typeface="Malgun Gothic"/>
              </a:rPr>
              <a:t>    –  테이블을 한 번 스캔한다 → 그룹별로 집계한다 → 조건에 맞는 그룹만 남긴다</a:t>
            </a:r>
          </a:p>
          <a:p>
            <a:r>
              <a:rPr sz="1600" b="0">
                <a:solidFill>
                  <a:srgbClr val="5A6672"/>
                </a:solidFill>
                <a:latin typeface="Malgun Gothic"/>
              </a:rPr>
              <a:t>    –  두 방식 모두 이 세 가지 일을 똑같이 수행한다</a:t>
            </a:r>
          </a:p>
          <a:p>
            <a:r>
              <a:rPr sz="1800" b="0">
                <a:solidFill>
                  <a:srgbClr val="202830"/>
                </a:solidFill>
                <a:latin typeface="Malgun Gothic"/>
              </a:rPr>
              <a:t>•  FILTER가 비용을 거의 늘리지 않는 이유</a:t>
            </a:r>
          </a:p>
          <a:p>
            <a:r>
              <a:rPr sz="1600" b="0">
                <a:solidFill>
                  <a:srgbClr val="5A6672"/>
                </a:solidFill>
                <a:latin typeface="Malgun Gothic"/>
              </a:rPr>
              <a:t>    –  이미 집계가 끝난 작은 결과 집합에 대해 적용되기 때문이다</a:t>
            </a:r>
          </a:p>
          <a:p>
            <a:r>
              <a:rPr sz="1600" b="0">
                <a:solidFill>
                  <a:srgbClr val="5A6672"/>
                </a:solidFill>
                <a:latin typeface="Malgun Gothic"/>
              </a:rPr>
              <a:t>    –  큰 테이블을 다시 읽는 일이 아니므로 Buffers에 흔적이 남지 않는다</a:t>
            </a:r>
          </a:p>
          <a:p>
            <a:r>
              <a:rPr sz="1800" b="0">
                <a:solidFill>
                  <a:srgbClr val="202830"/>
                </a:solidFill>
                <a:latin typeface="Malgun Gothic"/>
              </a:rPr>
              <a:t>•  교훈 — 오퍼레이션 개수와 비용은 비례하지 않는다</a:t>
            </a:r>
          </a:p>
          <a:p>
            <a:r>
              <a:rPr sz="1600" b="0">
                <a:solidFill>
                  <a:srgbClr val="5A6672"/>
                </a:solidFill>
                <a:latin typeface="Malgun Gothic"/>
              </a:rPr>
              <a:t>    –  어떤 단계가 얼마나 많은 데이터를 다루는지를 봐야 한다</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병합이 항상 안전하지는 않다</a:t>
            </a:r>
          </a:p>
        </p:txBody>
      </p:sp>
      <p:sp>
        <p:nvSpPr>
          <p:cNvPr id="4" name="TextBox 3"/>
          <p:cNvSpPr txBox="1"/>
          <p:nvPr/>
        </p:nvSpPr>
        <p:spPr>
          <a:xfrm>
            <a:off x="640080" y="1234440"/>
            <a:ext cx="10881360" cy="4200000"/>
          </a:xfrm>
          <a:prstGeom prst="rect">
            <a:avLst/>
          </a:prstGeom>
          <a:noFill/>
        </p:spPr>
        <p:txBody>
          <a:bodyPr wrap="square">
            <a:spAutoFit/>
          </a:bodyPr>
          <a:lstStyle/>
          <a:p>
            <a:r>
              <a:rPr sz="1800" b="0">
                <a:solidFill>
                  <a:srgbClr val="202830"/>
                </a:solidFill>
                <a:latin typeface="Malgun Gothic"/>
              </a:rPr>
              <a:t>•  인라인 뷰 WHERE와 HAVING이 같아진다는 결론의 적용 범위</a:t>
            </a:r>
          </a:p>
          <a:p>
            <a:r>
              <a:rPr sz="1600" b="0">
                <a:solidFill>
                  <a:srgbClr val="5A6672"/>
                </a:solidFill>
                <a:latin typeface="Malgun Gothic"/>
              </a:rPr>
              <a:t>    –  이번 사례는 단순 집계(COUNT)만 들어 있는 인라인 뷰였다</a:t>
            </a:r>
          </a:p>
          <a:p>
            <a:r>
              <a:rPr sz="1600" b="0">
                <a:solidFill>
                  <a:srgbClr val="5A6672"/>
                </a:solidFill>
                <a:latin typeface="Malgun Gothic"/>
              </a:rPr>
              <a:t>    –  모든 인라인 뷰에 같은 결론을 그대로 옮길 수는 없다</a:t>
            </a:r>
          </a:p>
          <a:p>
            <a:r>
              <a:rPr sz="1800" b="0">
                <a:solidFill>
                  <a:srgbClr val="202830"/>
                </a:solidFill>
                <a:latin typeface="Malgun Gothic"/>
              </a:rPr>
              <a:t>•  조심해야 하는 연산 — 결과 집합 전체를 기준으로 계산되는 것들</a:t>
            </a:r>
          </a:p>
          <a:p>
            <a:r>
              <a:rPr sz="1600" b="0">
                <a:solidFill>
                  <a:srgbClr val="5A6672"/>
                </a:solidFill>
                <a:latin typeface="Malgun Gothic"/>
              </a:rPr>
              <a:t>    –  ROWNUM — 그 시점까지 만들어진 결과 집합을 기준으로 번호가 매겨진다</a:t>
            </a:r>
          </a:p>
          <a:p>
            <a:r>
              <a:rPr sz="1600" b="0">
                <a:solidFill>
                  <a:srgbClr val="5A6672"/>
                </a:solidFill>
                <a:latin typeface="Malgun Gothic"/>
              </a:rPr>
              <a:t>    –  분석 함수 RANK() OVER (...) 등 — 순위 계산에 순서와 시점이 관여한다</a:t>
            </a:r>
          </a:p>
          <a:p>
            <a:r>
              <a:rPr sz="1800" b="0">
                <a:solidFill>
                  <a:srgbClr val="202830"/>
                </a:solidFill>
                <a:latin typeface="Malgun Gothic"/>
              </a:rPr>
              <a:t>•  왜 위험한가</a:t>
            </a:r>
          </a:p>
          <a:p>
            <a:r>
              <a:rPr sz="1600" b="0">
                <a:solidFill>
                  <a:srgbClr val="5A6672"/>
                </a:solidFill>
                <a:latin typeface="Malgun Gothic"/>
              </a:rPr>
              <a:t>    –  병합으로 필터링 순서가 바뀌면 어떤 행이 뽑히는지 자체가 달라질 수 있다</a:t>
            </a:r>
          </a:p>
          <a:p>
            <a:r>
              <a:rPr sz="1600" b="0">
                <a:solidFill>
                  <a:srgbClr val="5A6672"/>
                </a:solidFill>
                <a:latin typeface="Malgun Gothic"/>
              </a:rPr>
              <a:t>    –  성능 문제가 아니라 결과가 달라지는 정합성 문제로 나타난다</a:t>
            </a:r>
          </a:p>
          <a:p>
            <a:r>
              <a:rPr sz="1800" b="0">
                <a:solidFill>
                  <a:srgbClr val="202830"/>
                </a:solidFill>
                <a:latin typeface="Malgun Gothic"/>
              </a:rPr>
              <a:t>•  실제 동작</a:t>
            </a:r>
          </a:p>
          <a:p>
            <a:r>
              <a:rPr sz="1600" b="0">
                <a:solidFill>
                  <a:srgbClr val="5A6672"/>
                </a:solidFill>
                <a:latin typeface="Malgun Gothic"/>
              </a:rPr>
              <a:t>    –  옵티마이저는 이런 경우 병합하지 않고 뷰를 별도 단계로 유지하기도 한다</a:t>
            </a:r>
          </a:p>
          <a:p>
            <a:r>
              <a:rPr sz="1600" b="0">
                <a:solidFill>
                  <a:srgbClr val="5A6672"/>
                </a:solidFill>
                <a:latin typeface="Malgun Gothic"/>
              </a:rPr>
              <a:t>    –  필요하면 개발자가 NO_MERGE 힌트로 병합을 명시적으로 막을 수 있다</a:t>
            </a:r>
          </a:p>
        </p:txBody>
      </p:sp>
      <p:sp>
        <p:nvSpPr>
          <p:cNvPr id="5" name="Rectangle 4"/>
          <p:cNvSpPr/>
          <p:nvPr/>
        </p:nvSpPr>
        <p:spPr>
          <a:xfrm>
            <a:off x="640080" y="5623560"/>
            <a:ext cx="10908792" cy="960120"/>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5623560"/>
            <a:ext cx="109728" cy="960120"/>
          </a:xfrm>
          <a:prstGeom prst="rect">
            <a:avLst/>
          </a:prstGeom>
          <a:solidFill>
            <a:srgbClr val="B88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5696712"/>
            <a:ext cx="10515600" cy="822960"/>
          </a:xfrm>
          <a:prstGeom prst="rect">
            <a:avLst/>
          </a:prstGeom>
          <a:noFill/>
        </p:spPr>
        <p:txBody>
          <a:bodyPr wrap="square">
            <a:spAutoFit/>
          </a:bodyPr>
          <a:lstStyle/>
          <a:p>
            <a:r>
              <a:rPr sz="1300" b="1">
                <a:solidFill>
                  <a:srgbClr val="B88600"/>
                </a:solidFill>
                <a:latin typeface="Malgun Gothic"/>
              </a:rPr>
              <a:t>참고: </a:t>
            </a:r>
          </a:p>
          <a:p>
            <a:r>
              <a:rPr sz="1250" b="0">
                <a:solidFill>
                  <a:srgbClr val="202830"/>
                </a:solidFill>
                <a:latin typeface="Malgun Gothic"/>
              </a:rPr>
              <a:t>이번 사례는 단순 집계 인라인 뷰에서 얻은 결론이다. 인라인 뷰의 내용이 달라지면 결론도 달라질 수 있으므로 항상 실행계획으로 확인한다.</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3896822" cy="1371600"/>
          </a:xfrm>
          <a:prstGeom prst="rect">
            <a:avLst/>
          </a:prstGeom>
          <a:noFill/>
        </p:spPr>
        <p:txBody>
          <a:bodyPr wrap="square">
            <a:spAutoFit/>
          </a:bodyPr>
          <a:lstStyle/>
          <a:p>
            <a:r>
              <a:rPr sz="6600" b="1">
                <a:solidFill>
                  <a:srgbClr val="C0392B"/>
                </a:solidFill>
                <a:latin typeface="Malgun Gothic"/>
              </a:rPr>
              <a:t>8.8~8.10</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Benchmark · Practice · Review</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세 사례 실측 요약</a:t>
            </a:r>
          </a:p>
          <a:p>
            <a:r>
              <a:rPr sz="1600" b="0">
                <a:solidFill>
                  <a:srgbClr val="C5CED6"/>
                </a:solidFill>
                <a:latin typeface="Malgun Gothic"/>
              </a:rPr>
              <a:t>•  세 사례가 공통으로 말하는 것</a:t>
            </a:r>
          </a:p>
          <a:p>
            <a:r>
              <a:rPr sz="1600" b="0">
                <a:solidFill>
                  <a:srgbClr val="C5CED6"/>
                </a:solidFill>
                <a:latin typeface="Malgun Gothic"/>
              </a:rPr>
              <a:t>•  실무 판단 체크리스트</a:t>
            </a:r>
          </a:p>
          <a:p>
            <a:r>
              <a:rPr sz="1600" b="0">
                <a:solidFill>
                  <a:srgbClr val="C5CED6"/>
                </a:solidFill>
                <a:latin typeface="Malgun Gothic"/>
              </a:rPr>
              <a:t>•  이 장의 결론</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8.8 Benchmark — 세 사례 실측 요약</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결론이 서로 다르다는 점이 이 표의 핵심이다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a:t>
            </a:r>
          </a:p>
          <a:p>
            <a:r>
              <a:rPr sz="1250" b="0">
                <a:solidFill>
                  <a:srgbClr val="E6E6E6"/>
                </a:solidFill>
                <a:latin typeface="Consolas"/>
              </a:rPr>
              <a:t>| 비교               | 방식 A           | 방식 B         | Buffers A | Buffers B |</a:t>
            </a:r>
          </a:p>
          <a:p>
            <a:r>
              <a:rPr sz="1250" b="0">
                <a:solidFill>
                  <a:srgbClr val="E6E6E6"/>
                </a:solidFill>
                <a:latin typeface="Consolas"/>
              </a:rPr>
              <a:t>+--------------------+------------------+----------------+-----------+-----------+</a:t>
            </a:r>
          </a:p>
          <a:p>
            <a:r>
              <a:rPr sz="1250" b="0">
                <a:solidFill>
                  <a:srgbClr val="E6E6E6"/>
                </a:solidFill>
                <a:latin typeface="Consolas"/>
              </a:rPr>
              <a:t>| 값 하나 붙이기     | 스칼라 서브쿼리  | JOIN           |     4,081 |     4,083 |</a:t>
            </a:r>
          </a:p>
          <a:p>
            <a:r>
              <a:rPr sz="1250" b="0">
                <a:solidFill>
                  <a:srgbClr val="E6E6E6"/>
                </a:solidFill>
                <a:latin typeface="Consolas"/>
              </a:rPr>
              <a:t>| 그룹 평균과 비교   | 상관 서브쿼리    | (JOIN 미측정)  |     6,609 |         - |</a:t>
            </a:r>
          </a:p>
          <a:p>
            <a:r>
              <a:rPr sz="1250" b="0">
                <a:solidFill>
                  <a:srgbClr val="E6E6E6"/>
                </a:solidFill>
                <a:latin typeface="Consolas"/>
              </a:rPr>
              <a:t>| 집계 결과 필터링   | 인라인 뷰+WHERE  | HAVING         |     3,090 |     3,090 |</a:t>
            </a:r>
          </a:p>
          <a:p>
            <a:r>
              <a:rPr sz="1250" b="0">
                <a:solidFill>
                  <a:srgbClr val="E6E6E6"/>
                </a:solidFill>
                <a:latin typeface="Consolas"/>
              </a:rPr>
              <a:t>+--------------------+------------------+----------------+-----------+-----------+</a:t>
            </a:r>
          </a:p>
          <a:p>
            <a:r>
              <a:rPr sz="1250" b="0">
                <a:solidFill>
                  <a:srgbClr val="E6E6E6"/>
                </a:solidFill>
                <a:latin typeface="Consolas"/>
              </a:rPr>
              <a:t> </a:t>
            </a:r>
          </a:p>
          <a:p>
            <a:r>
              <a:rPr sz="1250" b="0">
                <a:solidFill>
                  <a:srgbClr val="7EC699"/>
                </a:solidFill>
                <a:latin typeface="Consolas"/>
              </a:rPr>
              <a:t>-- 값 하나 붙이기   : distinct 값이 적어 캐싱으로 거의 동일</a:t>
            </a:r>
          </a:p>
          <a:p>
            <a:r>
              <a:rPr sz="1250" b="0">
                <a:solidFill>
                  <a:srgbClr val="7EC699"/>
                </a:solidFill>
                <a:latin typeface="Consolas"/>
              </a:rPr>
              <a:t>-- 그룹 평균과 비교 : 테이블 2회 스캔되는 구조라 오히려 비쌈</a:t>
            </a:r>
          </a:p>
          <a:p>
            <a:r>
              <a:rPr sz="1250" b="0">
                <a:solidFill>
                  <a:srgbClr val="7EC699"/>
                </a:solidFill>
                <a:latin typeface="Consolas"/>
              </a:rPr>
              <a:t>-- 집계 결과 필터링 : 뷰 병합으로 완전히 동등</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세 사례가 공통으로 말하는 것</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세 사례의 결론은 모두 달랐다</a:t>
            </a:r>
          </a:p>
          <a:p>
            <a:r>
              <a:rPr sz="1600" b="0">
                <a:solidFill>
                  <a:srgbClr val="5A6672"/>
                </a:solidFill>
                <a:latin typeface="Malgun Gothic"/>
              </a:rPr>
              <a:t>    –  스칼라 서브쿼리 — 캐싱 덕분에 조인과 거의 같은 비용으로 수렴했다</a:t>
            </a:r>
          </a:p>
          <a:p>
            <a:r>
              <a:rPr sz="1600" b="0">
                <a:solidFill>
                  <a:srgbClr val="5A6672"/>
                </a:solidFill>
                <a:latin typeface="Malgun Gothic"/>
              </a:rPr>
              <a:t>    –  상관 서브쿼리 — 조인 구조로 변환됐지만 두 번 읽는 구조라 더 비쌌다</a:t>
            </a:r>
          </a:p>
          <a:p>
            <a:r>
              <a:rPr sz="1600" b="0">
                <a:solidFill>
                  <a:srgbClr val="5A6672"/>
                </a:solidFill>
                <a:latin typeface="Malgun Gothic"/>
              </a:rPr>
              <a:t>    –  인라인 뷰 — HAVING과 물리적으로 동등한 구조로 병합되어 완전히 같았다</a:t>
            </a:r>
          </a:p>
          <a:p>
            <a:r>
              <a:rPr sz="1800" b="0">
                <a:solidFill>
                  <a:srgbClr val="202830"/>
                </a:solidFill>
                <a:latin typeface="Malgun Gothic"/>
              </a:rPr>
              <a:t>•  그런데 세 사례를 관통하는 원칙은 하나다</a:t>
            </a:r>
          </a:p>
          <a:p>
            <a:r>
              <a:rPr sz="1600" b="0">
                <a:solidFill>
                  <a:srgbClr val="5A6672"/>
                </a:solidFill>
                <a:latin typeface="Malgun Gothic"/>
              </a:rPr>
              <a:t>    –  비용을 결정한 것은 SQL이 어떻게 생겼는가가 아니었다</a:t>
            </a:r>
          </a:p>
          <a:p>
            <a:r>
              <a:rPr sz="1600" b="0">
                <a:solidFill>
                  <a:srgbClr val="5A6672"/>
                </a:solidFill>
                <a:latin typeface="Malgun Gothic"/>
              </a:rPr>
              <a:t>    –  결과적으로 데이터를 몇 번 어떻게 읽게 되는가가 비용을 결정했다</a:t>
            </a:r>
          </a:p>
          <a:p>
            <a:r>
              <a:rPr sz="1800" b="0">
                <a:solidFill>
                  <a:srgbClr val="202830"/>
                </a:solidFill>
                <a:latin typeface="Malgun Gothic"/>
              </a:rPr>
              <a:t>•  문장으로 정리하면</a:t>
            </a:r>
          </a:p>
          <a:p>
            <a:r>
              <a:rPr sz="1600" b="0">
                <a:solidFill>
                  <a:srgbClr val="5A6672"/>
                </a:solidFill>
                <a:latin typeface="Malgun Gothic"/>
              </a:rPr>
              <a:t>    –  서브쿼리 성능은 문법 형태가 아니라 옵티마이저가 만들어 낸</a:t>
            </a:r>
          </a:p>
          <a:p>
            <a:r>
              <a:rPr sz="1600" b="0">
                <a:solidFill>
                  <a:srgbClr val="5A6672"/>
                </a:solidFill>
                <a:latin typeface="Malgun Gothic"/>
              </a:rPr>
              <a:t>    –  물리적 실행 구조에 달려 있다</a:t>
            </a:r>
          </a:p>
          <a:p>
            <a:r>
              <a:rPr sz="1800" b="0">
                <a:solidFill>
                  <a:srgbClr val="202830"/>
                </a:solidFill>
                <a:latin typeface="Malgun Gothic"/>
              </a:rPr>
              <a:t>•  그래서 판단 절차도 하나로 정해진다</a:t>
            </a:r>
          </a:p>
          <a:p>
            <a:r>
              <a:rPr sz="1600" b="0">
                <a:solidFill>
                  <a:srgbClr val="5A6672"/>
                </a:solidFill>
                <a:latin typeface="Malgun Gothic"/>
              </a:rPr>
              <a:t>    –  문법을 보고 예단하지 말고 변환된 실행계획을 열어 확인한다</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실무 판단 체크리스트</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스칼라 서브쿼리를 쓸 때 확인할 것</a:t>
            </a:r>
          </a:p>
          <a:p>
            <a:r>
              <a:rPr sz="1600" b="0">
                <a:solidFill>
                  <a:srgbClr val="5A6672"/>
                </a:solidFill>
                <a:latin typeface="Malgun Gothic"/>
              </a:rPr>
              <a:t>    –  참조 컬럼의 distinct 값 개수가 전체 행 수에 비해 충분히 작은가</a:t>
            </a:r>
          </a:p>
          <a:p>
            <a:r>
              <a:rPr sz="1600" b="0">
                <a:solidFill>
                  <a:srgbClr val="5A6672"/>
                </a:solidFill>
                <a:latin typeface="Malgun Gothic"/>
              </a:rPr>
              <a:t>    –  실행계획의 Starts가 결과 행 수보다 훨씬 작게 나오는가</a:t>
            </a:r>
          </a:p>
          <a:p>
            <a:r>
              <a:rPr sz="1600" b="0">
                <a:solidFill>
                  <a:srgbClr val="5A6672"/>
                </a:solidFill>
                <a:latin typeface="Malgun Gothic"/>
              </a:rPr>
              <a:t>    –  서브쿼리가 값 하나만 반환하는 것이 데이터로 보장되는가</a:t>
            </a:r>
          </a:p>
          <a:p>
            <a:r>
              <a:rPr sz="1800" b="0">
                <a:solidFill>
                  <a:srgbClr val="202830"/>
                </a:solidFill>
                <a:latin typeface="Malgun Gothic"/>
              </a:rPr>
              <a:t>•  상관 서브쿼리를 쓸 때 확인할 것</a:t>
            </a:r>
          </a:p>
          <a:p>
            <a:r>
              <a:rPr sz="1600" b="0">
                <a:solidFill>
                  <a:srgbClr val="5A6672"/>
                </a:solidFill>
                <a:latin typeface="Malgun Gothic"/>
              </a:rPr>
              <a:t>    –  계획에 같은 테이블 이름이 몇 번 등장하는지 센다</a:t>
            </a:r>
          </a:p>
          <a:p>
            <a:r>
              <a:rPr sz="1600" b="0">
                <a:solidFill>
                  <a:srgbClr val="5A6672"/>
                </a:solidFill>
                <a:latin typeface="Malgun Gothic"/>
              </a:rPr>
              <a:t>    –  내부 뷰 이름이 보이면 어떤 변환이 일어났는지 해석한다</a:t>
            </a:r>
          </a:p>
          <a:p>
            <a:r>
              <a:rPr sz="1600" b="0">
                <a:solidFill>
                  <a:srgbClr val="5A6672"/>
                </a:solidFill>
                <a:latin typeface="Malgun Gothic"/>
              </a:rPr>
              <a:t>    –  두 번 읽는 구조라면 한 번으로 줄일 방법이 있는지 검토한다</a:t>
            </a:r>
          </a:p>
          <a:p>
            <a:r>
              <a:rPr sz="1800" b="0">
                <a:solidFill>
                  <a:srgbClr val="202830"/>
                </a:solidFill>
                <a:latin typeface="Malgun Gothic"/>
              </a:rPr>
              <a:t>•  인라인 뷰를 쓸 때 확인할 것</a:t>
            </a:r>
          </a:p>
          <a:p>
            <a:r>
              <a:rPr sz="1600" b="0">
                <a:solidFill>
                  <a:srgbClr val="5A6672"/>
                </a:solidFill>
                <a:latin typeface="Malgun Gothic"/>
              </a:rPr>
              <a:t>    –  뷰가 병합됐는지 별도 단계로 남았는지 계획에서 확인한다</a:t>
            </a:r>
          </a:p>
          <a:p>
            <a:r>
              <a:rPr sz="1600" b="0">
                <a:solidFill>
                  <a:srgbClr val="5A6672"/>
                </a:solidFill>
                <a:latin typeface="Malgun Gothic"/>
              </a:rPr>
              <a:t>    –  ROWNUM이나 분석 함수가 들어 있다면 결과까지 반드시 대조한다</a:t>
            </a:r>
          </a:p>
          <a:p>
            <a:r>
              <a:rPr sz="1800" b="0">
                <a:solidFill>
                  <a:srgbClr val="202830"/>
                </a:solidFill>
                <a:latin typeface="Malgun Gothic"/>
              </a:rPr>
              <a:t>•  공통 — 비교는 결과가 완전히 같은 상태에서만 성립한다</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요약 (Summary)</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서브쿼리는 위치에 따라 역할이 다르다 — 스칼라·인라인 뷰·상관 서브쿼리</a:t>
            </a:r>
          </a:p>
          <a:p>
            <a:r>
              <a:rPr sz="1800" b="0">
                <a:solidFill>
                  <a:srgbClr val="202830"/>
                </a:solidFill>
                <a:latin typeface="Malgun Gothic"/>
              </a:rPr>
              <a:t>•  옵티마이저는 서브쿼리를 조인 형태로 내부 변환한다 (unnesting)</a:t>
            </a:r>
          </a:p>
          <a:p>
            <a:r>
              <a:rPr sz="1800" b="0">
                <a:solidFill>
                  <a:srgbClr val="202830"/>
                </a:solidFill>
                <a:latin typeface="Malgun Gothic"/>
              </a:rPr>
              <a:t>•  스칼라 서브쿼리는 같은 입력 값의 결과를 캐시해 재사용한다</a:t>
            </a:r>
          </a:p>
          <a:p>
            <a:r>
              <a:rPr sz="1800" b="0">
                <a:solidFill>
                  <a:srgbClr val="202830"/>
                </a:solidFill>
                <a:latin typeface="Malgun Gothic"/>
              </a:rPr>
              <a:t>•  Starts가 결과 행 수보다 훨씬 작으면 캐싱이 작동한 증거다</a:t>
            </a:r>
          </a:p>
          <a:p>
            <a:r>
              <a:rPr sz="1800" b="0">
                <a:solidFill>
                  <a:srgbClr val="202830"/>
                </a:solidFill>
                <a:latin typeface="Malgun Gothic"/>
              </a:rPr>
              <a:t>•  캐싱 효과는 참조 값의 distinct 개수가 적을수록 커진다</a:t>
            </a:r>
          </a:p>
          <a:p>
            <a:r>
              <a:rPr sz="1800" b="0">
                <a:solidFill>
                  <a:srgbClr val="202830"/>
                </a:solidFill>
                <a:latin typeface="Malgun Gothic"/>
              </a:rPr>
              <a:t>•  상관 서브쿼리는 VW_SQ_1 형태의 뷰와 조인으로 변환될 수 있다</a:t>
            </a:r>
          </a:p>
          <a:p>
            <a:r>
              <a:rPr sz="1800" b="0">
                <a:solidFill>
                  <a:srgbClr val="202830"/>
                </a:solidFill>
                <a:latin typeface="Malgun Gothic"/>
              </a:rPr>
              <a:t>•  그 변환이 원본 테이블을 두 번 읽게 만들면 오히려 비싸진다</a:t>
            </a:r>
          </a:p>
          <a:p>
            <a:r>
              <a:rPr sz="1800" b="0">
                <a:solidFill>
                  <a:srgbClr val="202830"/>
                </a:solidFill>
                <a:latin typeface="Malgun Gothic"/>
              </a:rPr>
              <a:t>•  인라인 뷰의 바깥 WHERE는 뷰 병합으로 HAVING과 동등해질 수 있다</a:t>
            </a:r>
          </a:p>
          <a:p>
            <a:r>
              <a:rPr sz="1800" b="0">
                <a:solidFill>
                  <a:srgbClr val="202830"/>
                </a:solidFill>
                <a:latin typeface="Malgun Gothic"/>
              </a:rPr>
              <a:t>•  오퍼레이션 개수와 비용은 비례하지 않는다 — 다루는 데이터 양을 본다</a:t>
            </a:r>
          </a:p>
          <a:p>
            <a:r>
              <a:rPr sz="1800" b="0">
                <a:solidFill>
                  <a:srgbClr val="202830"/>
                </a:solidFill>
                <a:latin typeface="Malgun Gothic"/>
              </a:rPr>
              <a:t>•  결론 — 서브쿼리 성능은 문법이 아니라 변환된 물리 구조가 결정한다</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실습 안내</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실습문제 10문항 — SQL튜닝_Ch08_문제.md</a:t>
            </a:r>
          </a:p>
          <a:p>
            <a:r>
              <a:rPr sz="1600" b="0">
                <a:solidFill>
                  <a:srgbClr val="5A6672"/>
                </a:solidFill>
                <a:latin typeface="Malgun Gothic"/>
              </a:rPr>
              <a:t>    –  1~2번  Starts=5의 의미와 N+1 통념이 성립하지 않은 이유</a:t>
            </a:r>
          </a:p>
          <a:p>
            <a:r>
              <a:rPr sz="1600" b="0">
                <a:solidFill>
                  <a:srgbClr val="5A6672"/>
                </a:solidFill>
                <a:latin typeface="Malgun Gothic"/>
              </a:rPr>
              <a:t>    –  3번  참조 값이 500종류로 늘어날 때의 변화 예측 (캐싱 원리 적용)</a:t>
            </a:r>
          </a:p>
          <a:p>
            <a:r>
              <a:rPr sz="1600" b="0">
                <a:solidFill>
                  <a:srgbClr val="5A6672"/>
                </a:solidFill>
                <a:latin typeface="Malgun Gothic"/>
              </a:rPr>
              <a:t>    –  4~5번  두 번의 Full Scan이 하는 일과 Buffers 6,609의 근거</a:t>
            </a:r>
          </a:p>
          <a:p>
            <a:r>
              <a:rPr sz="1600" b="0">
                <a:solidFill>
                  <a:srgbClr val="5A6672"/>
                </a:solidFill>
                <a:latin typeface="Malgun Gothic"/>
              </a:rPr>
              <a:t>    –  6번  '옵티마이저가 알아서 해준다'는 주장에 대한 반박</a:t>
            </a:r>
          </a:p>
          <a:p>
            <a:r>
              <a:rPr sz="1600" b="0">
                <a:solidFill>
                  <a:srgbClr val="5A6672"/>
                </a:solidFill>
                <a:latin typeface="Malgun Gothic"/>
              </a:rPr>
              <a:t>    –  7~8번  인라인 뷰와 HAVING의 동등성, 트리가 달라도 비용이 같은 이유</a:t>
            </a:r>
          </a:p>
          <a:p>
            <a:r>
              <a:rPr sz="1600" b="0">
                <a:solidFill>
                  <a:srgbClr val="5A6672"/>
                </a:solidFill>
                <a:latin typeface="Malgun Gothic"/>
              </a:rPr>
              <a:t>    –  9번  ROWNUM·분석 함수가 있을 때 뷰 병합이 안전한지 원칙 적용</a:t>
            </a:r>
          </a:p>
          <a:p>
            <a:r>
              <a:rPr sz="1600" b="0">
                <a:solidFill>
                  <a:srgbClr val="5A6672"/>
                </a:solidFill>
                <a:latin typeface="Malgun Gothic"/>
              </a:rPr>
              <a:t>    –  10번  세 사례를 종합한 결론 문장 완성과 근거 서술</a:t>
            </a:r>
          </a:p>
          <a:p>
            <a:r>
              <a:rPr sz="1800" b="0">
                <a:solidFill>
                  <a:srgbClr val="202830"/>
                </a:solidFill>
                <a:latin typeface="Malgun Gothic"/>
              </a:rPr>
              <a:t>•  실습 전 확인 — 이번 장은 DDL 변경이 없다</a:t>
            </a:r>
          </a:p>
          <a:p>
            <a:r>
              <a:rPr sz="1600" b="0">
                <a:solidFill>
                  <a:srgbClr val="5A6672"/>
                </a:solidFill>
                <a:latin typeface="Malgun Gothic"/>
              </a:rPr>
              <a:t>    –  기존 PK만 사용하며 인덱스나 통계를 임의로 바꾸지 않는다</a:t>
            </a:r>
          </a:p>
          <a:p>
            <a:r>
              <a:rPr sz="1600" b="0">
                <a:solidFill>
                  <a:srgbClr val="5A6672"/>
                </a:solidFill>
                <a:latin typeface="Malgun Gothic"/>
              </a:rPr>
              <a:t>    –  스키마를 변경하면 교안의 실행계획이 재현되지 않는다</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
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제1장은 SQL 튜닝 과정 전체의 출발점으로, 개별 기법을 배우기 전에 성능을 무엇으로 판단할 것인지 기준을 세우는 장이다. 이 과정의 모든 실행계획과 소요 시간은 진료비청구심사 실습 DB에서 직접 캡처한 실측값이며, 강의 중에 학습자가 같은 SQL을 실행해 재현할 수 있다. 첫 시간에 강조할 메시지는 하나다. 튜닝은 문법을 화려하게 쓰는 기술이 아니라 같은 결과를 내는 여러 방법 중 자원을 덜 쓰는 쪽을 실측 근거로 고르는 작업이라는 점이다. 첫 시간에는 학습자가 알고 있는 튜닝 통념을 하나씩 말하게 해 칠판에 적어 두고, 마지막 요약에서 다시 꺼내 검증하면 몰입도가 크게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세 묶음이다. 첫째는 정의로, 성능을 시간이 아니라 자원으로 바라보는 관점을 세우는 것이다. 둘째는 도구로, 실행계획에서 Buffers와 Used-Mem을 찾아 읽는 능력이다. 셋째는 태도로, 통념을 실측으로 검증하고 측정 조건까지 의심하는 습관이다. 이 장에는 개선 기법이 하나도 나오지 않는다는 점을 미리 알려 주는 편이 좋다. 판단 기준을 세우는 데까지가 이번 차시의 범위이고, 기법은 2장 이후에 순서대로 다룬다. 목표를 읽어 준 뒤 각 항목이 몇 번 절과 대응되는지 표시해 주면 학습자가 진행 중에 자기 위치를 잃지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흐름은 '기준 세우기 → 도구 익히기 → 실측으로 검증하기'다. 1.1~1.2에서 성능을 자원으로 정의하고, 1.3에서 그 자원을 실행계획의 어느 컬럼으로 확인하는지 익힌다. 1.4~1.5는 이 장의 몸통으로, 결과가 완전히 같은 세 SQL의 실행계획을 나란히 놓고 읽는다. 1.6은 통념 하나를 실측으로 무너뜨리는 사례 분석이다. 시간이 부족하면 1.3을 축약하고 1.5와 1.6에 시간을 몰아 주는 편이 학습 효과가 크다. 각 절 사이의 연결 고리를 한 문장씩 미리 말해 주면 절이 바뀔 때마다 맥락이 끊기는 느낌을 크게 줄일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절은 동기 부여 구간이다. 학습자 대부분은 '튜닝'을 힌트를 붙이고 인덱스를 만드는 기술로 알고 오는데, 그 앞에 판단 기준이 없으면 어떤 기법도 근거 없이 적용하게 된다. 이 절에서는 기법을 하나도 알려 주지 않고, 대신 무엇을 보고 좋고 나쁨을 가릴 것인지만 합의한다. 그 합의가 서 있어야 이후 챕터의 기법들이 '언제 쓰는가'라는 질문과 연결된다는 점을 짚어 준다. 이 절은 슬라이드가 세 장뿐이지만 토론을 유도하기 좋은 구간이므로, 학습자에게 지금까지 성능을 무엇으로 판단해 왔는지 먼저 묻고 시작하면 이후 정의가 훨씬 잘 받아들여진다.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'자원을 덜 쓰는 방법을 고른다'는 정의를 반복해서 각인시킨다. 학습자가 흔히 오해하는 지점은 튜닝을 SQL 다시 쓰기와 동일시하는 것이다. 실제 현장에서는 SQL을 한 글자도 고치지 않고 통계정보를 갱신하거나 인덱스를 하나 추가해 끝나는 경우도 많다. 또 하나 강조할 것은 '같은 결과'라는 전제다. DISTINCT를 슬쩍 빼서 빨라졌다면 그것은 튜닝이 아니라 다른 쿼리를 만든 것이며, 이 구분이 흐려지면 검증 자체가 성립하지 않는다. 정의를 칠판에 적어 두고 이 장이 끝날 때까지 지우지 않는 것도 좋은 방법이다. 실습 채점 기준도 결국 이 정의로 수렴한다.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통념을 무조건 틀렸다고 말하지는 않는 편이 좋다. 대부분의 통념은 특정 버전과 특정 상황에서 실제로 관측된 사실에서 출발했고, 전파되는 과정에서 조건이 떨어져 나가 '항상'이라는 말만 남은 것이다. 강사가 짚어야 할 것은 통념의 진위가 아니라 조건이 사라졌다는 사실 자체다. 이번 장 1.6절에서 검증할 IN과 EXISTS 사례가 정확히 그런 경우이며, 학습자가 스스로 검증하는 절차를 체득하게 하는 것이 목적이다. 수업 중 학습자들이 알고 있는 통념을 서너 개 더 받아 적어 두면, 이후 챕터에서 해당 통념을 다룰 때 자연스럽게 다시 꺼내 쓸 수 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범위를 명확히 선언하는 것이 이 슬라이드의 목적이다. 학습자는 첫 시간부터 개선 기법을 기대하기 때문에, 이번 장이 기준을 세우는 장이라는 점을 분명히 해 두지 않으면 '별 내용이 없다'는 인상을 받는다. DDL 변경이 없다는 점도 실습 안내와 직결된다. 인덱스를 추가하거나 통계를 바꾸면 뒤에 나오는 실행계획이 재현되지 않으므로, 이번 실습에서는 스키마를 건드리지 말라고 미리 못을 박아 두는 편이 안전하다. 실습 환경을 각자 만들어 온 경우에는 데이터 건수와 통계 수집 여부가 교안과 같은지 먼저 확인하게 해야 뒤의 실행계획이 재현된다.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절은 이 과정 전체의 용어를 정의하는 구간이다. 여기서 '성능'이라는 단어의 뜻을 자원 소비량으로 못 박아 두면, 이후 모든 챕터에서 비교 기준이 흔들리지 않는다. 반대로 이 정의를 건너뛰면 학습자는 계속 초 단위 시간으로만 판단하려 들고, 캐시 상태나 서버 부하 같은 외부 요인에 휘둘리는 결론을 낸다. 정의 → 지표 → 원인 분류 순서로 차근차근 쌓아 올린다. 이 절의 정의는 이후 열세 개 챕터에서 계속 인용되므로, 시간이 부족하더라도 자원 소비량이라는 표현만큼은 반드시 말로 반복해 각인시키고 넘어가는 것이 좋다. 판서로 남겨 두면 더 좋다.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 장 전체에서 가장 중요한 한 장이다. 자원과 시간의 관계를 도로에 비유하면 이해가 빠르다. 차 한 대가 차선 세 개를 쓰며 달리면 혼자일 때는 가장 빠르지만, 차가 많아지는 순간 도로 전체가 막힌다. SQL도 마찬가지로 혼자 실행할 때의 소요 시간은 동시 사용자가 늘었을 때의 성능을 예측해 주지 못한다. 그래서 부하 상황을 예측하려면 그 SQL이 한 번 실행될 때 점유하는 자원의 양을 봐야 한다. 동시 사용자라는 말이 추상적으로 들린다면 같은 API가 초당 수백 번 호출되는 상황을 예로 들어 주면 이해가 훨씬 빨라진다.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학습자가 가장 많이 하는 실수가 여기 있다. 쿼리를 고친 뒤 다시 실행해 시간이 줄면 개선했다고 결론 내리는 것이다. 그런데 두 번째 실행은 첫 실행이 캐시에 올려놓은 블록을 그대로 쓰기 때문에 아무것도 고치지 않아도 빨라진다. 그래서 개선 여부는 Buffers가 실제로 줄었는지로 확인해야 한다고 못을 박는다. 이 원칙은 1.6절 사례에서 그대로 반복되므로, 여기서 미리 말해 두면 뒤에서 학습자가 스스로 원인을 맞힐 수 있다. 실습 중 학습자가 개선했다고 말하면 반드시 Buffers 값을 함께 물어보는 습관을 들이게 한다. 그 질문 하나로 캐시 효과와 실제 개선이 갈린다.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네 갈래로 나눠 두면 진단이 훨씬 빨라진다. 현장에서 '느리다'는 신고가 들어왔을 때 가장 먼저 할 일은 어느 갈래인지 가르는 것이다. 접근 경로 문제인지, 인덱스가 없는 문제인지, 추정이 틀린 문제인지에 따라 손댈 곳이 완전히 다르다. 특히 네 번째 락 경합은 SQL을 아무리 고쳐도 나아지지 않는 부류라서, 범위 밖임을 분명히 하되 이런 갈래가 존재한다는 사실은 알려 줘야 엉뚱한 곳을 파는 일을 막을 수 있다. 네 갈래를 칠판 왼쪽에 세로로 적어 두고 이후 챕터를 진행하며 해당 갈래에 표시해 나가면 과정 전체의 지도가 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7번, 9번과 직접 연결된다. 백엔드 개발자가 '결과만 같으면 아무거나'라고 판단하는 상황은 실제로 매우 흔하고, 트래픽이 적은 개발 단계에서는 아무 문제가 드러나지 않는다는 점이 함정이다. 문제는 항상 트래픽이 올라간 뒤에 터진다. 그래서 코드 리뷰 시점에 실행계획을 함께 보는 절차를 만들어 두는 것이 조직 차원의 예방책이라는 이야기까지 덧붙이면 실무 감각이 살아난다. 조직에 코드 리뷰 절차가 있다면 실행계획 첨부를 항목으로 넣는 것만으로도 상당수의 성능 사고를 사전에 막을 수 있다는 실무 이야기를 곁들이면 설득력이 커진다.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절은 앞 절에서 정의한 '자원'을 실제로 어디서 확인하는지 알려 주는 구간이다. 개념만 알고 실행계획에서 찾지 못하면 소용이 없으므로, 각 관점마다 어느 컬럼을 보면 되는지를 반드시 대응시켜 준다. CPU는 오퍼레이션 구성으로, I/O는 Buffers로, Memory는 OMem·1Mem·Used-Mem으로 본다는 세 쌍을 학습자가 외우고 나가도록 하는 것이 이 절의 목표다. 세 관점과 세 컬럼을 짝지어 판서해 두고, 이후 실행계획 슬라이드마다 해당 위치를 손으로 짚어 주면 학습자가 표를 읽는 속도가 눈에 띄게 빨라진다. 반복이 유일한 방법이다.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CPU는 실행계획에 전용 컬럼이 없어서 학습자가 가장 막연해하는 관점이다. 그래서 오퍼레이션 이름과 그 단계를 통과한 행 수로 간접 추정한다고 설명하는 편이 낫다. 정렬과 해시는 대표적인 CPU 소비 연산이고, 뒤에서 볼 세 실행계획에도 HASH JOIN과 HASH GROUP BY가 등장한다. 이 이름들이 보이면 CPU와 메모리를 함께 의심하라고 미리 연결해 두면 1.5절 실행계획을 읽을 때 학습자가 스스로 짚어 낸다. CPU 사용량을 직접 보고 싶다는 질문이 나오면 V$SQL의 통계 컬럼으로 확인할 수 있다고만 안내하고 상세한 내용은 이후 챕터로 미룬다.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Buffers는 이 과정에서 가장 자주 등장할 지표이므로 여기서 확실히 정의한다. 논리적 I/O는 블록을 만진 횟수이고, 그 블록이 메모리에 있었으면 빠르게, 없었으면 디스크에서 읽어 오느라 느리게 처리된다. 학습자가 흔히 헷갈리는 것은 Buffers를 '디스크에서 읽은 양'으로 오해하는 것이다. Buffers는 캐시 히트까지 포함한 값이며, 그래서 캐시 상태에 덜 흔들리는 안정적 지표가 된다는 점을 분명히 짚어 준다. 블록이라는 단위가 생소하면 데이터베이스가 파일을 읽어 들이는 최소 단위라고만 짚어 주고 상세한 저장 구조는 이후 챕터로 미룬다.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메모리는 Buffers에 가려 학습자가 잘 안 보는 자원이지만, 동시 사용자가 많은 환경에서는 오히려 더 치명적일 수 있다. 한 세션이 큰 작업 영역을 쓰면 서버 전체 PGA를 압박하기 때문이다. 여기서 OMem은 추정, Used-Mem은 실제라는 대응을 확실히 해 두면 1.8절 표를 읽을 때 혼동이 없다. 또 작업 영역이 모자라면 TEMP로 넘쳐 디스크를 쓰게 된다는 점을 언급해 두면 메모리와 I/O가 서로 연결된 자원임을 이해시킬 수 있다. 작업 영역이라는 표현이 어렵게 들린다면 정렬이나 해시를 하려고 잠시 빌려 쓰는 메모리라고 풀어 주면 충분하다.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체크리스트는 앞으로 모든 챕터에서 반복해 쓸 도구다. 네 항목의 순서에도 의미가 있다. 먼저 자원 총량을 보고, 그다음 그 자원이 어느 단계에서 쓰였는지 오퍼레이션을 보고, 마지막으로 추정과 실제의 차이를 확인해 옵티마이저가 왜 그 계획을 골랐는지를 역추적하는 흐름이다. 네 번째 항목은 특히 뒤 챕터의 통계정보·히스토그램 이야기로 이어지므로, 지금은 확인 습관만 심어 두고 원인 분석은 다음으로 미룬다고 안내한다. 네 항목을 인쇄물로 나눠 주고 실습 때마다 채워 넣게 하면 체크리스트가 실제로 쓰이는 도구가 된다. 습관이 되기 전까지는 강제하는 편이 낫다.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절부터가 이 장의 몸통이다. 세 SQL은 결과가 완전히 같도록 설계되어 있고, 그 전제 위에서만 자원 비교가 의미를 갖는다. 강의에서는 SQL 세 개를 먼저 다 보여 준 다음 실행계획으로 넘어가는 순서를 권한다. 학습자가 SQL만 보고 '어느 것이 빠를 것 같은가'를 먼저 예측하게 한 뒤 실측 결과를 보여 주면, 자기 예측이 빗나가는 경험이 이 장의 메시지를 가장 강하게 각인시킨다. 예측을 먼저 시키고 실측을 보여 주는 순서는 이 과정 전체에서 반복해 쓸 수 있는 수업 기법이므로, 다음 챕터에서도 같은 방식으로 진행하겠다고 미리 알려 두면 학습자가 준비하고 듣는다.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소재 선택에도 이유가 있다. 대상이 전체의 약 26%라는 점이 중요한데, 이렇게 넓은 범위를 걸러 내는 조건은 인덱스로 한 건씩 찾는 것보다 통째로 읽고 걸러 내는 편이 유리한 구간이다. 그래서 뒤에 나올 실행계획에 TABLE ACCESS FULL과 HASH JOIN이 등장하는 것이 이상한 일이 아니라는 점을 미리 예고해 두면 좋다. 또 세 버전의 결과 건수가 완전히 같다는 사실을 먼저 확인시켜야 이후 비교가 공정하다는 합의가 선다. 카테고리 값이 무엇인지 궁금해하는 학습자가 있으면 실습 DB에서 직접 조회해 확인하도록 안내한다. 교안에 없는 값을 강사가 임의로 말하지 않는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방식은 세 버전 중 가장 직관적이다. 서브쿼리가 만든 목록에 값이 들어 있는지만 보면 되기 때문이다. 여기서 반드시 짚어야 할 성질이 하나 있다. 한 청구가 주사제를 여러 건 처방받았다면 서브쿼리 결과에 같은 claim_id가 여러 번 등장하는데, IN의 의미론은 존재 여부만 보므로 결과 건수는 늘어나지 않는다. 이 성질이 실행계획에서 세미조인이라는 형태로 나타나며, 실습문제 1번이 정확히 이 지점을 묻는다. SQL을 보여 준 직후 어느 방식이 가장 빠를 것 같은지 손을 들어 보게 하고 그 결과를 기록해 두면 뒤에서 실측과 대조하기 좋다.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EXISTS는 상관 서브쿼리라는 점이 IN과의 문법적 차이다. 서브쿼리 안에서 바깥 쿼리의 mc.claim_id를 참조하기 때문에, 문법만 보면 바깥 행마다 서브쿼리를 한 번씩 도는 것처럼 읽힌다. 실제로 많은 학습자가 그렇게 실행된다고 믿고 EXISTS가 느릴 것이라 예상하거나, 반대로 조기 종료 덕에 빠를 것이라 예상한다. 뒤에서 볼 실행계획은 두 예상 모두와 다르며, SELECT 목록에 1을 쓰든 다른 값을 쓰든 결과가 같다는 점도 함께 확인시킨다. 상관 서브쿼리라는 용어는 여기서 처음 나오므로 정의를 한 번 정확히 말해 주고 넘어가는 것이 좋다.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버전은 서브쿼리를 없앤 대신 중복 제거 책임을 DISTINCT가 진다. 여기서 DISTINCT를 빼면 결과 건수가 달라지므로 '같은 결과'라는 전제가 깨진다는 점을 반드시 확인시킨다. 그리고 마지막 주석에 밑줄을 그어 두자. 이 SQL이 mc에서 실제로 필요로 하는 값은 claim_id 하나뿐이고, 그 값은 조인 조건상 cd.claim_id와 항상 같다. 이 관찰이 뒤에 나올 실행계획의 가장 놀라운 지점을 설명하는 열쇠가 되므로 미리 심어 둔다. DISTINCT를 빼고 실행해 결과 건수가 달라지는 것을 직접 보여 주면 전제가 깨진다는 말이 훨씬 구체적으로 다가온다.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실행계획 슬라이드는 한 장씩 천천히 넘긴다. 처음 보는 학습자에게 이 표는 숫자 덩어리로만 보이므로, 읽는 순서를 먼저 알려 준 뒤 값을 해석하게 해야 한다. 세 계획은 모두 DBMS_XPLAN.DISPLAY_CURSOR에 ALLSTATS LAST를 주어 실제 실행 통계까지 함께 뽑은 결과다. 추정만 담긴 EXPLAIN PLAN과 달리 A-Rows·A-Time·Buffers 같은 실측 컬럼이 있는 것이 이 방식의 핵심이라는 점을 짚어 준다. 실행계획을 뽑는 방법 자체가 궁금하다는 질문이 나오면 명령 이름만 소개하고 상세한 사용법은 다음 챕터에서 다룬다고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실행계획은 들여쓰기가 깊은 안쪽부터 읽는다. 먼저 5번과 6번에서 DRUG_MASTER와 CLAIM_DETAILS를 전부 읽어 4번 해시 조인으로 묶고, 그 결과를 3번 뷰로 감싼 뒤 7번의 인덱스 스캔 결과와 2번에서 세미조인으로 결합한다. 마지막에 1번 집계가 한 건을 만든다. 여기서 학습자에게 물어볼 지점은 7번 단계의 A-Time이다. 다른 단계는 모두 백분의 몇 초인데 이 단계만 유독 오래 걸렸다는 사실을 스스로 발견하게 한다. 처음 보는 학습자에게는 표 전체를 한꺼번에 설명하지 말고 Operation 열만 먼저 읽히는 편이 훨씬 부담이 적다.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반드시 확인시킬 것은 A-Time과 Buffers가 그 단계까지의 누적값이라는 점이다. 이걸 모르면 0번 행의 8604를 마지막 단계 혼자 쓴 양으로 오해한다. 그리고 HASH JOIN RIGHT SEMI의 SEMI가 IN의 존재 여부 판정과 정확히 대응한다는 점, 즉 옵티마이저가 문법을 조인 형태로 바꿔 놓았다는 사실을 짚는다. 5번의 추정 오차는 통계정보 이야기의 예고편이며, 실습문제 1번과 6번이 이 두 지점을 각각 묻는다. 누적값이라는 성질 때문에 상위 단계의 값에서 하위 단계 값을 빼면 그 단계가 추가로 쓴 양을 가늠할 수 있다는 점도 함께 알려 준다.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계획을 화면에 나란히 놓고 비교하는 것이 가장 효과적이다. Operation 열을 위에서 아래로 훑으면 여덟 줄이 글자 하나 다르지 않고, E-Rows와 A-Rows도 전부 같으며, Buffers 역시 단계마다 동일하다. 다른 것은 3번 행의 뷰 이름 하나뿐이다. 학습자가 EXISTS는 한 건씩 도는 방식이라고 배워 왔다면 이 결과가 상당히 충격적일 것이다. 그 반응을 그대로 다음 슬라이드의 질문으로 이어 간다. 두 계획을 종이에 인쇄해 나눠 주고 다른 곳을 찾아보게 하는 방식이 화면으로 비교하는 것보다 훨씬 효과적이다. 직접 찾아낸 사실은 오래 남는다.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학습자에게 직접 추론하게 하는 것이 좋다. 계획이 같고 논리적 I/O도 같은데 시간만 다르다면, 차이의 원인은 SQL이나 실행계획 안에 있을 수 없다. 남은 후보는 측정 환경뿐이다. 여기까지 유도한 뒤 다음 슬라이드로 넘어가면 답이 자연스럽게 이어진다. 실습문제 2번과 3번이 각각 이 구조 동일성과 시간 차이의 원인을 묻는 문항이므로, 여기서 충분히 시간을 들여 토론하는 것이 좋다. 여기서 성급하게 답을 말해 버리면 다음 슬라이드의 추론 과정이 통째로 무의미해지므로, 학습자가 스스로 후보를 좁힐 때까지 기다리는 인내가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계획은 앞의 두 개보다 줄 수가 적다. 없어진 것이 무엇인지 학습자에게 찾게 하면 금방 답이 나온다. PK_MEDICAL_CLAIMS를 읽던 단계가 통째로 사라졌고, 그 자리에 중복 제거를 담당하는 HASH GROUP BY가 들어와 있다. COUNT(DISTINCT ...)가 그룹핑 연산으로 처리된 것이다. 그리고 Buffers 총량이 A·B보다 작아졌다는 점, 그 차이가 사라진 단계의 값과 정확히 맞아떨어진다는 점을 이어서 확인시킨다. 줄 수가 줄었다는 것 자체가 처리 단계가 줄었다는 뜻이라는 점을 짚어 주면 실행계획을 보는 눈이 한 단계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결론까지 다 말해 버리지 않는 편이 좋다. 이번 장의 목표는 이런 일이 실제로 일어난다는 사실을 관찰하는 데까지다. 다만 힌트는 줄 수 있다. 이 SQL이 mc에서 필요로 하는 값은 claim_id 하나뿐이고, 조인 조건상 그 값은 cd.claim_id와 항상 같으며, 두 컬럼 사이에 참조 무결성이 보장되어 있다면 굳이 원본 테이블까지 갈 이유가 없다. 실습문제 4번과 5번이 이 추론을 단계적으로 요구하므로 여기서 생각할 재료만 충분히 남겨 둔다. 이 대목에서 나오는 질문 대부분은 Chapter 7의 내용이므로 질문 목록으로 적어 두었다가 그때 다시 꺼내는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번째 절은 이 장의 하이라이트다. 널리 퍼진 통념 하나를 실측으로 검증해 무너뜨리는 과정을 그대로 따라간다. 중요한 것은 결론 자체가 아니라 절차다. 관측된 사실을 먼저 정리하고, 사실만으로 설명되는 가설을 세우고, 그 가설을 뒷받침하는 추가 증거를 찾는 순서를 학습자가 몸에 익히도록 진행한다. 이 절차는 이후 모든 챕터의 사례 분석에서 반복해서 쓰인다. 이 절은 결론이 반직관적이라 학습자의 집중도가 가장 높은 구간이므로, 슬라이드를 빨리 넘기지 말고 사실 정리와 가설 검증 사이에서 충분히 토론 시간을 준다. 실습문제 2번과 3번이 여기서 나온다.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추론을 시작하기 전에 사실과 해석을 분리해 적어 두는 훈련이 중요하다. 이 슬라이드에는 해석이 한 줄도 없고 계획에서 그대로 읽을 수 있는 값만 있다. 네 번째 사실이 결정적인데, 시간 차이가 여덟 단계에 고르게 퍼져 있지 않고 한 단계에만 몰려 있다는 점이다. 만약 EXISTS와 IN의 구조적 차이 때문이라면 차이가 특정 한 단계에만 집중될 이유가 없다. 이 관찰을 학습자가 스스로 하도록 유도한다. 사실과 해석을 분리해 적는 훈련은 장애 분석 보고서를 쓸 때도 그대로 쓰이는 기술이므로, 실무에서 어떻게 활용되는지 한마디 덧붙여 주면 동기 부여가 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가설을 세울 때 지켜야 할 원칙을 함께 가르친다. 좋은 가설은 관측된 사실을 빠짐없이 설명하면서 새로운 예측도 내놓는다. 캐시 가설은 세 가지를 한꺼번에 설명한다. 계획이 같은 이유, Buffers가 같은 이유, 그리고 시간 차이가 한 단계에만 몰린 이유다. 반대로 EXISTS가 구조적으로 빠르다는 가설은 첫 번째 사실과 정면으로 충돌한다. 두 가설을 나란히 놓고 어느 쪽이 사실과 충돌하지 않는지 학습자에게 판정하게 하면 좋다. 가설이 관측을 얼마나 잘 설명하는가로 가설을 평가한다는 원칙은 이후 모든 사례 분석에서 반복되므로 여기서 확실히 심어 둔다.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결론을 'EXISTS와 IN은 항상 같다'로 확대 해석하지 않도록 주의시켜야 한다. 이번 실측에서 두 문장이 같은 형태로 변환됐을 뿐이며, 변환이 일어나지 못하는 상황에서는 결과가 달라질 수 있다. 즉 이 장이 가르치는 것은 새로운 통념이 아니라 검증 절차다. 마지막 체크리스트는 앞으로 학습자가 직접 벤치마크할 때 그대로 쓰는 도구이고, 실습문제 3번이 이 추론 과정을 처음부터 끝까지 재현하도록 요구한다. 벤치마크 체크리스트는 실습 시간에 실제로 적용해 보게 하는 것이 가장 좋다. 같은 SQL을 순서를 바꿔 두 번 실행해 보면 순서 효과를 직접 체감할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절은 세 버전을 한 표로 모아 놓고 지금까지의 관찰을 정리하는 구간이다. 여기서 학습자가 가져가야 할 메시지는 어느 버전이 우승했는가가 아니라, 자원 항목마다 순위가 다를 수 있다는 사실이다. 그 인식이 있어야 다음 챕터부터 나오는 기법들을 '무엇을 아끼는 기법인가'라는 질문과 함께 배우게 된다. 이후 로드맵 예고로 이 장을 닫는다. 마지막 절은 정리 구간이지만 새로운 개념이 하나 등장한다. 자원 항목마다 순위가 다를 수 있다는 사실이다. 이 인식이 없으면 학습자는 이후 챕터에서 배우는 기법을 무조건 좋은 것으로 오해하고 상황을 따지지 않은 채 적용하게 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읽는 순서를 정해 준다. 먼저 Buffers 열만 세로로 훑어 C가 가장 적고 A와 B가 같다는 점을 확인한다. 다음으로 A-Time 열을 보되, 여기에는 캐시 상태가 섞여 있으므로 순위를 그대로 믿지 말라고 다시 못을 박는다. 마지막으로 Memory 열을 보면 순위가 뒤집힌다. Buffers에서 가장 적었던 C가 Memory에서는 가장 크다. 이 뒤집힘이 다음 슬라이드의 주제이며, 실습문제 8번이 정확히 이 대목을 묻는다. 표의 A-Time 열을 두고 어느 것이 가장 빠르냐고 물으면 대부분 B나 C를 고르는데, 그 답이 왜 성급한지 되짚어 주는 것이 이 슬라이드의 목적이다.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이 장에서 두 번째로 중요한 장이다. 학습자는 지표 하나를 정해 그것만 최소화하려는 경향이 강한데, 실제 시스템에서는 어느 자원이 병목인지에 따라 정답이 바뀐다. I/O가 병목인 시스템에서는 C가 유리하고, PGA가 빠듯한 시스템에서는 A나 B가 나을 수 있다. 그래서 튜닝의 결론은 언제나 '이 환경에서는'이라는 단서를 달아야 한다. 실습문제 10번이 정답을 하나로 고정하지 않고 근거의 타당성으로 평가하는 이유가 여기에 있다. 병목이 어디냐에 따라 정답이 바뀐다는 말은 추상적이므로, 학습자가 담당하는 시스템에서 무엇이 부족한지 떠올려 보게 하면 훨씬 구체화된다.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로드맵을 보여 주는 이유는 이번 장에서 답하지 않고 남겨 둔 질문들이 방치된 것이 아니라 예약된 것임을 분명히 하기 위해서다. 특히 조인 제거는 학습자들이 가장 궁금해하는 대목이므로 어느 챕터에서 다루는지 정확히 알려 준다. 그리고 마지막 줄을 다시 강조한다. 기법을 먼저 배우면 모든 상황에 같은 기법을 적용하려 들지만, 기준을 먼저 세우면 상황마다 필요한 기법을 골라 쓸 수 있다는 점이 이 과정의 설계 의도다. 남겨 둔 질문을 슬라이드에 명시적으로 적어 두는 것은 학습자가 스스로 답을 찾아보게 만드는 장치이기도 하므로, 궁금한 사람은 미리 찾아봐도 좋다고 권한다.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 슬라이드는 이 장의 핵심을 여덟 줄로 압축한 것이다. 학습자에게 이 화면을 남겨 두고 실습 중 참고하도록 권한다. 특히 네 번째와 여덟 번째 줄은 앞으로 모든 챕터에서 반복해서 쓰이는 원칙이므로 반드시 기억하게 한다. 각 항목이 어느 절에서 나왔는지 짚어 주면 복습할 때 교안 본문을 찾기 쉬워진다. 다음 장부터는 이 기준 위에서 구체적인 진단 도구와 개선 기법을 하나씩 쌓아 올린다는 예고로 마무리한다. 요약을 읽고 끝내지 말고 각 줄에 대해 근거가 되는 실측값을 하나씩 말해 보게 하면 그 자리에서 복습이 된다. 말로 설명하지 못하는 줄이 곧 다시 봐야 할 부분이다.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실습은 SQL을 새로 짜는 문제가 아니라 실행계획을 읽고 근거를 대는 서술형 위주다. 그래서 답을 맞혔는지보다 어떤 값을 근거로 삼았는지를 채점 기준으로 삼아야 한다고 안내한다. 특히 마지막 10번은 정답이 하나가 아니며 근거의 타당성으로 평가한다. 실습 전에 스키마를 건드리지 말라는 안내도 다시 한번 강조한다. 인덱스를 추가하거나 통계를 다시 수집하면 교안의 실행계획이 재현되지 않아 문제 자체가 성립하지 않기 때문이다. 채점 후에는 3번과 5번 문항의 모범 답안을 함께 읽으며 추론 과정을 복기하는 시간을 따로 잡는 것을 권한다. 이 두 문항이 이 장의 핵심을 압축하고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제1장</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SQL 튜닝이란?</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SQL 성능의 정의 · CPU / I/O / Memory · 실행계획 실측 읽기 · IN vs EXISTS 통념 검증   |   Oracle Database 19c · 진료비청구심사 스키마 기준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SQL 튜닝을 '자원을 덜 쓰는 방법을 실측 근거로 고르는 작업'으로 정의한다</a:t>
            </a:r>
          </a:p>
          <a:p>
            <a:r>
              <a:rPr sz="1600" b="0">
                <a:solidFill>
                  <a:srgbClr val="5A6672"/>
                </a:solidFill>
                <a:latin typeface="Malgun Gothic"/>
              </a:rPr>
              <a:t>    –  SQL 성능을 '빠르다/느리다'가 아니라 자원(CPU·I/O·Memory) 소비량으로 설명한다</a:t>
            </a:r>
          </a:p>
          <a:p>
            <a:r>
              <a:rPr sz="1600" b="0">
                <a:solidFill>
                  <a:srgbClr val="5A6672"/>
                </a:solidFill>
                <a:latin typeface="Malgun Gothic"/>
              </a:rPr>
              <a:t>    –  실행계획의 Buffers를 논리적 I/O 지표로 읽고 물리적 I/O와 구분한다</a:t>
            </a:r>
          </a:p>
          <a:p>
            <a:r>
              <a:rPr sz="1600" b="0">
                <a:solidFill>
                  <a:srgbClr val="5A6672"/>
                </a:solidFill>
                <a:latin typeface="Malgun Gothic"/>
              </a:rPr>
              <a:t>    –  OMem·1Mem·Used-Mem 컬럼으로 작업 영역(PGA) 사용량을 확인한다</a:t>
            </a:r>
          </a:p>
          <a:p>
            <a:r>
              <a:rPr sz="1600" b="0">
                <a:solidFill>
                  <a:srgbClr val="5A6672"/>
                </a:solidFill>
                <a:latin typeface="Malgun Gothic"/>
              </a:rPr>
              <a:t>    –  같은 결과를 내는 IN·EXISTS·JOIN+DISTINCT 세 SQL을 작성해 비교한다</a:t>
            </a:r>
          </a:p>
          <a:p>
            <a:r>
              <a:rPr sz="1600" b="0">
                <a:solidFill>
                  <a:srgbClr val="5A6672"/>
                </a:solidFill>
                <a:latin typeface="Malgun Gothic"/>
              </a:rPr>
              <a:t>    –  세 실행계획의 오퍼레이션 구성을 읽고 자원 소비 차이가 생긴 단계를 지목한다</a:t>
            </a:r>
          </a:p>
          <a:p>
            <a:r>
              <a:rPr sz="1600" b="0">
                <a:solidFill>
                  <a:srgbClr val="5A6672"/>
                </a:solidFill>
                <a:latin typeface="Malgun Gothic"/>
              </a:rPr>
              <a:t>    –  'EXISTS가 IN보다 빠르다'류의 통념을 실측으로 검증하는 절차를 설명한다</a:t>
            </a:r>
          </a:p>
          <a:p>
            <a:r>
              <a:rPr sz="1600" b="0">
                <a:solidFill>
                  <a:srgbClr val="5A6672"/>
                </a:solidFill>
                <a:latin typeface="Malgun Gothic"/>
              </a:rPr>
              <a:t>    –  Buffers가 같은데 A-Time이 다르면 캐시 상태(물리 I/O)를 의심한다</a:t>
            </a:r>
          </a:p>
          <a:p>
            <a:r>
              <a:rPr sz="1600" b="0">
                <a:solidFill>
                  <a:srgbClr val="5A6672"/>
                </a:solidFill>
                <a:latin typeface="Malgun Gothic"/>
              </a:rPr>
              <a:t>    –  DB 성능 문제의 원인 갈래를 분류하고 SQL 튜닝의 범위를 설정한다</a:t>
            </a:r>
          </a:p>
          <a:p>
            <a:r>
              <a:rPr sz="1600" b="0">
                <a:solidFill>
                  <a:srgbClr val="5A6672"/>
                </a:solidFill>
                <a:latin typeface="Malgun Gothic"/>
              </a:rPr>
              <a:t>    –  자원 절약이 다차원적임을 이해하고 어떤 자원을 아꼈는지 구분해 판단한다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1.1  Why — SQL 튜닝을 왜 배우는가 · 통념의 위험</a:t>
            </a:r>
          </a:p>
          <a:p>
            <a:r>
              <a:rPr sz="1800" b="0">
                <a:solidFill>
                  <a:srgbClr val="202830"/>
                </a:solidFill>
                <a:latin typeface="Malgun Gothic"/>
              </a:rPr>
              <a:t>•  1.2  Concept — SQL 성능의 정의 · 성능 문제의 원인 갈래</a:t>
            </a:r>
          </a:p>
          <a:p>
            <a:r>
              <a:rPr sz="1800" b="0">
                <a:solidFill>
                  <a:srgbClr val="202830"/>
                </a:solidFill>
                <a:latin typeface="Malgun Gothic"/>
              </a:rPr>
              <a:t>•  1.3  Oracle Internals — CPU · I/O · Memory 세 관점</a:t>
            </a:r>
          </a:p>
          <a:p>
            <a:r>
              <a:rPr sz="1800" b="0">
                <a:solidFill>
                  <a:srgbClr val="202830"/>
                </a:solidFill>
                <a:latin typeface="Malgun Gothic"/>
              </a:rPr>
              <a:t>•  1.4  Example — 세 가지 동등 SQL (IN / EXISTS / JOIN+DISTINCT)</a:t>
            </a:r>
          </a:p>
          <a:p>
            <a:r>
              <a:rPr sz="1800" b="0">
                <a:solidFill>
                  <a:srgbClr val="202830"/>
                </a:solidFill>
                <a:latin typeface="Malgun Gothic"/>
              </a:rPr>
              <a:t>•  1.5  Execution Plan — 세 버전 실행계획 실측 비교</a:t>
            </a:r>
          </a:p>
          <a:p>
            <a:r>
              <a:rPr sz="1800" b="0">
                <a:solidFill>
                  <a:srgbClr val="202830"/>
                </a:solidFill>
                <a:latin typeface="Malgun Gothic"/>
              </a:rPr>
              <a:t>•  1.6  Bad SQL — 'EXISTS가 IN보다 빠르다' 통념 검증</a:t>
            </a:r>
          </a:p>
          <a:p>
            <a:r>
              <a:rPr sz="1800" b="0">
                <a:solidFill>
                  <a:srgbClr val="202830"/>
                </a:solidFill>
                <a:latin typeface="Malgun Gothic"/>
              </a:rPr>
              <a:t>•  1.7  Tuning 예고 — 조인 제거와 이후 챕터 로드맵</a:t>
            </a:r>
          </a:p>
          <a:p>
            <a:r>
              <a:rPr sz="1800" b="0">
                <a:solidFill>
                  <a:srgbClr val="202830"/>
                </a:solidFill>
                <a:latin typeface="Malgun Gothic"/>
              </a:rPr>
              <a:t>•  1.8  Benchmark — 자원 관점 종합 비교</a:t>
            </a:r>
          </a:p>
          <a:p>
            <a:r>
              <a:rPr sz="1800" b="0">
                <a:solidFill>
                  <a:srgbClr val="202830"/>
                </a:solidFill>
                <a:latin typeface="Malgun Gothic"/>
              </a:rPr>
              <a:t>•  1.9~1.10  실습 안내 · 요약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SQL 튜닝을 왜 배우는가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SQL 튜닝의 정의 — 자원과 실측</a:t>
            </a:r>
          </a:p>
          <a:p>
            <a:r>
              <a:rPr sz="1600" b="0">
                <a:solidFill>
                  <a:srgbClr val="C5CED6"/>
                </a:solidFill>
                <a:latin typeface="Malgun Gothic"/>
              </a:rPr>
              <a:t>•  통념이 위험한 이유</a:t>
            </a:r>
          </a:p>
          <a:p>
            <a:r>
              <a:rPr sz="1600" b="0">
                <a:solidFill>
                  <a:srgbClr val="C5CED6"/>
                </a:solidFill>
                <a:latin typeface="Malgun Gothic"/>
              </a:rPr>
              <a:t>•  이 차시의 목표와 범위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SQL 튜닝이란 무엇인가</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SQL 튜닝은 문법을 화려하게 쓰는 기술이 아니다</a:t>
            </a:r>
          </a:p>
          <a:p>
            <a:r>
              <a:rPr sz="1600" b="0">
                <a:solidFill>
                  <a:srgbClr val="5A6672"/>
                </a:solidFill>
                <a:latin typeface="Malgun Gothic"/>
              </a:rPr>
              <a:t>    –  같은 결과를 내는 여러 방법 중 자원을 덜 쓰는 방법을 골라내는 작업</a:t>
            </a:r>
          </a:p>
          <a:p>
            <a:r>
              <a:rPr sz="1600" b="0">
                <a:solidFill>
                  <a:srgbClr val="5A6672"/>
                </a:solidFill>
                <a:latin typeface="Malgun Gothic"/>
              </a:rPr>
              <a:t>    –  고르는 근거는 감이나 관행이 아니라 실측이다</a:t>
            </a:r>
          </a:p>
          <a:p>
            <a:r>
              <a:rPr sz="1800" b="0">
                <a:solidFill>
                  <a:srgbClr val="202830"/>
                </a:solidFill>
                <a:latin typeface="Malgun Gothic"/>
              </a:rPr>
              <a:t>•  '같은 결과'가 전제라는 점이 중요하다</a:t>
            </a:r>
          </a:p>
          <a:p>
            <a:r>
              <a:rPr sz="1600" b="0">
                <a:solidFill>
                  <a:srgbClr val="5A6672"/>
                </a:solidFill>
                <a:latin typeface="Malgun Gothic"/>
              </a:rPr>
              <a:t>    –  결과가 달라지면 그것은 튜닝이 아니라 요구사항 변경이다</a:t>
            </a:r>
          </a:p>
          <a:p>
            <a:r>
              <a:rPr sz="1600" b="0">
                <a:solidFill>
                  <a:srgbClr val="5A6672"/>
                </a:solidFill>
                <a:latin typeface="Malgun Gothic"/>
              </a:rPr>
              <a:t>    –  이번 장의 세 SQL은 결과가 완전히 같은 상태에서 자원만 비교한다</a:t>
            </a:r>
          </a:p>
          <a:p>
            <a:r>
              <a:rPr sz="1800" b="0">
                <a:solidFill>
                  <a:srgbClr val="202830"/>
                </a:solidFill>
                <a:latin typeface="Malgun Gothic"/>
              </a:rPr>
              <a:t>•  튜닝의 산출물은 '더 빠른 SQL'이 아니라 '근거가 붙은 선택'이다</a:t>
            </a:r>
          </a:p>
          <a:p>
            <a:r>
              <a:rPr sz="1600" b="0">
                <a:solidFill>
                  <a:srgbClr val="5A6672"/>
                </a:solidFill>
                <a:latin typeface="Malgun Gothic"/>
              </a:rPr>
              <a:t>    –  왜 이 방식을 골랐는지 설명할 수 없으면 재현·유지보수가 불가능하다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 과정의 모든 실행계획·소요 시간·Buffers는 진료비청구심사 실습 DB에서 직접 캡처한 실측값이다.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통념은 왜 위험한가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개발자 사이에는 '이 방식이 항상 더 빠르다'류의 통념이 널리 퍼져 있다</a:t>
            </a:r>
          </a:p>
          <a:p>
            <a:r>
              <a:rPr sz="1600" b="0">
                <a:solidFill>
                  <a:srgbClr val="5A6672"/>
                </a:solidFill>
                <a:latin typeface="Malgun Gothic"/>
              </a:rPr>
              <a:t>    –  예: EXISTS가 IN보다 빠르다 / 서브쿼리보다 조인이 좋다</a:t>
            </a:r>
          </a:p>
          <a:p>
            <a:r>
              <a:rPr sz="1600" b="0">
                <a:solidFill>
                  <a:srgbClr val="5A6672"/>
                </a:solidFill>
                <a:latin typeface="Malgun Gothic"/>
              </a:rPr>
              <a:t>    –  예: 인덱스를 타면 무조건 빠르다 / DISTINCT는 항상 비싸다</a:t>
            </a:r>
          </a:p>
          <a:p>
            <a:r>
              <a:rPr sz="1800" b="0">
                <a:solidFill>
                  <a:srgbClr val="202830"/>
                </a:solidFill>
                <a:latin typeface="Malgun Gothic"/>
              </a:rPr>
              <a:t>•  통념은 대개 '어떤 버전, 어떤 데이터, 어떤 상황'이라는 조건이 떨어져 나간 결과다</a:t>
            </a:r>
          </a:p>
          <a:p>
            <a:r>
              <a:rPr sz="1600" b="0">
                <a:solidFill>
                  <a:srgbClr val="5A6672"/>
                </a:solidFill>
                <a:latin typeface="Malgun Gothic"/>
              </a:rPr>
              <a:t>    –  버전이 바뀌면 옵티마이저의 변환 능력이 달라진다</a:t>
            </a:r>
          </a:p>
          <a:p>
            <a:r>
              <a:rPr sz="1600" b="0">
                <a:solidFill>
                  <a:srgbClr val="5A6672"/>
                </a:solidFill>
                <a:latin typeface="Malgun Gothic"/>
              </a:rPr>
              <a:t>    –  데이터 분포가 바뀌면 유리한 접근 경로가 바뀐다</a:t>
            </a:r>
          </a:p>
          <a:p>
            <a:r>
              <a:rPr sz="1800" b="0">
                <a:solidFill>
                  <a:srgbClr val="202830"/>
                </a:solidFill>
                <a:latin typeface="Malgun Gothic"/>
              </a:rPr>
              <a:t>•  1.6절에서 실측으로 통념 하나를 직접 검증한다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목표와 범위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목표 1 — SQL 성능을 판단하는 기준을 자원 관점에서 세운다</a:t>
            </a:r>
          </a:p>
          <a:p>
            <a:r>
              <a:rPr sz="1800" b="0">
                <a:solidFill>
                  <a:srgbClr val="202830"/>
                </a:solidFill>
                <a:latin typeface="Malgun Gothic"/>
              </a:rPr>
              <a:t>•  목표 2 — 판단을 감이 아니라 실측으로 하는 습관을 세운다</a:t>
            </a:r>
          </a:p>
          <a:p>
            <a:r>
              <a:rPr sz="1800" b="0">
                <a:solidFill>
                  <a:srgbClr val="202830"/>
                </a:solidFill>
                <a:latin typeface="Malgun Gothic"/>
              </a:rPr>
              <a:t>•  이 장에서 다루지 않는 것</a:t>
            </a:r>
          </a:p>
          <a:p>
            <a:r>
              <a:rPr sz="1600" b="0">
                <a:solidFill>
                  <a:srgbClr val="5A6672"/>
                </a:solidFill>
                <a:latin typeface="Malgun Gothic"/>
              </a:rPr>
              <a:t>    –  인덱스 설계, 바인드 변수, 힌트 등 구체적 개선 기법 — 이후 챕터</a:t>
            </a:r>
          </a:p>
          <a:p>
            <a:r>
              <a:rPr sz="1600" b="0">
                <a:solidFill>
                  <a:srgbClr val="5A6672"/>
                </a:solidFill>
                <a:latin typeface="Malgun Gothic"/>
              </a:rPr>
              <a:t>    –  동시성·락 경합 문제 — 본 과정 범위 밖</a:t>
            </a:r>
          </a:p>
          <a:p>
            <a:r>
              <a:rPr sz="1800" b="0">
                <a:solidFill>
                  <a:srgbClr val="202830"/>
                </a:solidFill>
                <a:latin typeface="Malgun Gothic"/>
              </a:rPr>
              <a:t>•  이 장은 DDL 변경이 없다 — 스키마를 손대지 않고 읽기만 한다</a:t>
            </a:r>
          </a:p>
          <a:p>
            <a:r>
              <a:rPr sz="1600" b="0">
                <a:solidFill>
                  <a:srgbClr val="5A6672"/>
                </a:solidFill>
                <a:latin typeface="Malgun Gothic"/>
              </a:rPr>
              <a:t>    –  같은 데이터·같은 스키마 위에서 SQL 작성 방식만 바꿔 비교한다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SQL 성능이란 무엇인가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성능의 정의 — 자원 소비량</a:t>
            </a:r>
          </a:p>
          <a:p>
            <a:r>
              <a:rPr sz="1600" b="0">
                <a:solidFill>
                  <a:srgbClr val="C5CED6"/>
                </a:solidFill>
                <a:latin typeface="Malgun Gothic"/>
              </a:rPr>
              <a:t>•  시간 지표가 불안정한 이유</a:t>
            </a:r>
          </a:p>
          <a:p>
            <a:r>
              <a:rPr sz="1600" b="0">
                <a:solidFill>
                  <a:srgbClr val="C5CED6"/>
                </a:solidFill>
                <a:latin typeface="Malgun Gothic"/>
              </a:rPr>
              <a:t>•  성능 문제의 원인 갈래</a:t>
            </a:r>
          </a:p>
          <a:p>
            <a:r>
              <a:rPr sz="1600" b="0">
                <a:solidFill>
                  <a:srgbClr val="C5CED6"/>
                </a:solidFill>
                <a:latin typeface="Malgun Gothic"/>
              </a:rPr>
              <a:t>•  SQL 튜닝과 애플리케이션 튜닝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성능의 정의 — 자원 소비량</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 성능은 '빠르다/느리다'가 아니다</a:t>
            </a:r>
          </a:p>
          <a:p>
            <a:r>
              <a:rPr sz="1600" b="0">
                <a:solidFill>
                  <a:srgbClr val="5A6672"/>
                </a:solidFill>
                <a:latin typeface="Malgun Gothic"/>
              </a:rPr>
              <a:t>    –  얼마만큼의 자원(CPU, I/O, 메모리)을 써서 결과를 만들었는가로 정의한다</a:t>
            </a:r>
          </a:p>
          <a:p>
            <a:r>
              <a:rPr sz="1800" b="0">
                <a:solidFill>
                  <a:srgbClr val="202830"/>
                </a:solidFill>
                <a:latin typeface="Malgun Gothic"/>
              </a:rPr>
              <a:t>•  왜 시간이 아니라 자원인가</a:t>
            </a:r>
          </a:p>
          <a:p>
            <a:r>
              <a:rPr sz="1600" b="0">
                <a:solidFill>
                  <a:srgbClr val="5A6672"/>
                </a:solidFill>
                <a:latin typeface="Malgun Gothic"/>
              </a:rPr>
              <a:t>    –  같은 시간이 걸려도 자원 소비량이 다르면 동시 사용자가 늘었을 때 체감 성능이 달라진다</a:t>
            </a:r>
          </a:p>
          <a:p>
            <a:r>
              <a:rPr sz="1600" b="0">
                <a:solidFill>
                  <a:srgbClr val="5A6672"/>
                </a:solidFill>
                <a:latin typeface="Malgun Gothic"/>
              </a:rPr>
              <a:t>    –  혼자 쓸 때 잘 나오던 SQL이 부하가 걸리면 무너지는 전형적인 원인</a:t>
            </a:r>
          </a:p>
          <a:p>
            <a:r>
              <a:rPr sz="1800" b="0">
                <a:solidFill>
                  <a:srgbClr val="202830"/>
                </a:solidFill>
                <a:latin typeface="Malgun Gothic"/>
              </a:rPr>
              <a:t>•  그래서 '몇 초 걸렸다'보다 자원 소비량(Buffers 등)이 더 안정적인 지표다</a:t>
            </a:r>
          </a:p>
          <a:p>
            <a:r>
              <a:rPr sz="1600" b="0">
                <a:solidFill>
                  <a:srgbClr val="5A6672"/>
                </a:solidFill>
                <a:latin typeface="Malgun Gothic"/>
              </a:rPr>
              <a:t>    –  자원 지표는 서버 상태·캐시 상태에 덜 흔들린다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시간 지표는 왜 흔들리는가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A-Time(실제 소요 시간)에 섞여 들어오는 요인들</a:t>
            </a:r>
          </a:p>
          <a:p>
            <a:r>
              <a:rPr sz="1600" b="0">
                <a:solidFill>
                  <a:srgbClr val="5A6672"/>
                </a:solidFill>
                <a:latin typeface="Malgun Gothic"/>
              </a:rPr>
              <a:t>    –  블록이 이미 버퍼 캐시에 있었는가, 디스크에서 새로 읽었는가</a:t>
            </a:r>
          </a:p>
          <a:p>
            <a:r>
              <a:rPr sz="1600" b="0">
                <a:solidFill>
                  <a:srgbClr val="5A6672"/>
                </a:solidFill>
                <a:latin typeface="Malgun Gothic"/>
              </a:rPr>
              <a:t>    –  그 순간 서버에 다른 부하가 있었는가</a:t>
            </a:r>
          </a:p>
          <a:p>
            <a:r>
              <a:rPr sz="1600" b="0">
                <a:solidFill>
                  <a:srgbClr val="5A6672"/>
                </a:solidFill>
                <a:latin typeface="Malgun Gothic"/>
              </a:rPr>
              <a:t>    –  같은 SQL을 몇 번째로 실행했는가 (실행 순서)</a:t>
            </a:r>
          </a:p>
          <a:p>
            <a:r>
              <a:rPr sz="1800" b="0">
                <a:solidFill>
                  <a:srgbClr val="202830"/>
                </a:solidFill>
                <a:latin typeface="Malgun Gothic"/>
              </a:rPr>
              <a:t>•  자원 지표는 이런 요인에 상대적으로 덜 흔들린다</a:t>
            </a:r>
          </a:p>
          <a:p>
            <a:r>
              <a:rPr sz="1600" b="0">
                <a:solidFill>
                  <a:srgbClr val="5A6672"/>
                </a:solidFill>
                <a:latin typeface="Malgun Gothic"/>
              </a:rPr>
              <a:t>    –  Buffers는 '몇 개의 블록을 만졌는가'이므로 캐시 여부와 무관하게 유사한 값이 나온다</a:t>
            </a:r>
          </a:p>
          <a:p>
            <a:r>
              <a:rPr sz="1800" b="0">
                <a:solidFill>
                  <a:srgbClr val="202830"/>
                </a:solidFill>
                <a:latin typeface="Malgun Gothic"/>
              </a:rPr>
              <a:t>•  실무 원칙 — 시간은 참고 지표, 자원은 판단 지표</a:t>
            </a:r>
          </a:p>
          <a:p>
            <a:r>
              <a:rPr sz="1600" b="0">
                <a:solidFill>
                  <a:srgbClr val="5A6672"/>
                </a:solidFill>
                <a:latin typeface="Malgun Gothic"/>
              </a:rPr>
              <a:t>    –  시간이 줄었는데 Buffers가 그대로면 개선이 아니라 캐시 효과일 수 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DB 성능 문제의 원인 갈래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 자체의 접근 경로 문제</a:t>
            </a:r>
          </a:p>
          <a:p>
            <a:r>
              <a:rPr sz="1600" b="0">
                <a:solidFill>
                  <a:srgbClr val="5A6672"/>
                </a:solidFill>
                <a:latin typeface="Malgun Gothic"/>
              </a:rPr>
              <a:t>    –  불필요한 Full Scan, 비효율적인 조인 순서·조인 방식</a:t>
            </a:r>
          </a:p>
          <a:p>
            <a:r>
              <a:rPr sz="1800" b="0">
                <a:solidFill>
                  <a:srgbClr val="202830"/>
                </a:solidFill>
                <a:latin typeface="Malgun Gothic"/>
              </a:rPr>
              <a:t>•  인덱스 설계 문제</a:t>
            </a:r>
          </a:p>
          <a:p>
            <a:r>
              <a:rPr sz="1600" b="0">
                <a:solidFill>
                  <a:srgbClr val="5A6672"/>
                </a:solidFill>
                <a:latin typeface="Malgun Gothic"/>
              </a:rPr>
              <a:t>    –  필요한 인덱스가 없거나, 있어도 선두 컬럼이 맞지 않아 쓰이지 못함</a:t>
            </a:r>
          </a:p>
          <a:p>
            <a:r>
              <a:rPr sz="1800" b="0">
                <a:solidFill>
                  <a:srgbClr val="202830"/>
                </a:solidFill>
                <a:latin typeface="Malgun Gothic"/>
              </a:rPr>
              <a:t>•  통계정보·카디널리티 추정 문제</a:t>
            </a:r>
          </a:p>
          <a:p>
            <a:r>
              <a:rPr sz="1600" b="0">
                <a:solidFill>
                  <a:srgbClr val="5A6672"/>
                </a:solidFill>
                <a:latin typeface="Malgun Gothic"/>
              </a:rPr>
              <a:t>    –  옵티마이저의 행 수 추정이 실제와 크게 어긋나면 잘못된 계획을 고른다</a:t>
            </a:r>
          </a:p>
          <a:p>
            <a:r>
              <a:rPr sz="1800" b="0">
                <a:solidFill>
                  <a:srgbClr val="202830"/>
                </a:solidFill>
                <a:latin typeface="Malgun Gothic"/>
              </a:rPr>
              <a:t>•  동시성 / 락 경합 문제 — 본 과정 범위 밖</a:t>
            </a:r>
          </a:p>
          <a:p>
            <a:r>
              <a:rPr sz="1600" b="0">
                <a:solidFill>
                  <a:srgbClr val="5A6672"/>
                </a:solidFill>
                <a:latin typeface="Malgun Gothic"/>
              </a:rPr>
              <a:t>    –  SQL 자체는 정상인데 대기(wait) 때문에 느린 경우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SQL 튜닝과 애플리케이션 튜닝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위험한 가정 — '같은 결과만 나오면 SQL 작성 방식은 상관없다'</a:t>
            </a:r>
          </a:p>
          <a:p>
            <a:r>
              <a:rPr sz="1600" b="0">
                <a:solidFill>
                  <a:srgbClr val="5A6672"/>
                </a:solidFill>
                <a:latin typeface="Malgun Gothic"/>
              </a:rPr>
              <a:t>    –  애플리케이션 코드 리뷰에서 SQL을 결과 기준으로만 보는 순간 성능은 관리 대상에서 빠진다</a:t>
            </a:r>
          </a:p>
          <a:p>
            <a:r>
              <a:rPr sz="1800" b="0">
                <a:solidFill>
                  <a:srgbClr val="202830"/>
                </a:solidFill>
                <a:latin typeface="Malgun Gothic"/>
              </a:rPr>
              <a:t>•  결과가 완전히 같아도 내부 자원 소비는 크게 달라질 수 있다</a:t>
            </a:r>
          </a:p>
          <a:p>
            <a:r>
              <a:rPr sz="1600" b="0">
                <a:solidFill>
                  <a:srgbClr val="5A6672"/>
                </a:solidFill>
                <a:latin typeface="Malgun Gothic"/>
              </a:rPr>
              <a:t>    –  1.5절·1.8절 사례에서 세 SQL의 결과 건수는 동일하지만 Buffers는 다르다</a:t>
            </a:r>
          </a:p>
          <a:p>
            <a:r>
              <a:rPr sz="1800" b="0">
                <a:solidFill>
                  <a:srgbClr val="202830"/>
                </a:solidFill>
                <a:latin typeface="Malgun Gothic"/>
              </a:rPr>
              <a:t>•  그래서 코드 리뷰에는 실행계획 확인이 함께 들어가야 한다</a:t>
            </a:r>
          </a:p>
          <a:p>
            <a:r>
              <a:rPr sz="1600" b="0">
                <a:solidFill>
                  <a:srgbClr val="5A6672"/>
                </a:solidFill>
                <a:latin typeface="Malgun Gothic"/>
              </a:rPr>
              <a:t>    –  SQL의 겉모습(길이·문법)만으로는 자원 소비를 예측할 수 없다</a:t>
            </a:r>
          </a:p>
          <a:p>
            <a:r>
              <a:rPr sz="1600" b="0">
                <a:solidFill>
                  <a:srgbClr val="5A6672"/>
                </a:solidFill>
                <a:latin typeface="Malgun Gothic"/>
              </a:rPr>
              <a:t>    –  이번 장의 세 버전 비교가 그 근거가 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자원의 세 관점 — CPU · I/O · Memory</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CPU 관점 — 연산량</a:t>
            </a:r>
          </a:p>
          <a:p>
            <a:r>
              <a:rPr sz="1600" b="0">
                <a:solidFill>
                  <a:srgbClr val="C5CED6"/>
                </a:solidFill>
                <a:latin typeface="Malgun Gothic"/>
              </a:rPr>
              <a:t>•  I/O 관점 — Buffers와 물리 I/O</a:t>
            </a:r>
          </a:p>
          <a:p>
            <a:r>
              <a:rPr sz="1600" b="0">
                <a:solidFill>
                  <a:srgbClr val="C5CED6"/>
                </a:solidFill>
                <a:latin typeface="Malgun Gothic"/>
              </a:rPr>
              <a:t>•  Memory 관점 — 작업 영역(PGA)</a:t>
            </a:r>
          </a:p>
          <a:p>
            <a:r>
              <a:rPr sz="1600" b="0">
                <a:solidFill>
                  <a:srgbClr val="C5CED6"/>
                </a:solidFill>
                <a:latin typeface="Malgun Gothic"/>
              </a:rPr>
              <a:t>•  좋은 SQL과 나쁜 SQL의 판단 기준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CPU 관점 — 연산량</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CPU는 '무엇을 얼마나 계산했는가'로 소비된다</a:t>
            </a:r>
          </a:p>
          <a:p>
            <a:r>
              <a:rPr sz="1600" b="0">
                <a:solidFill>
                  <a:srgbClr val="5A6672"/>
                </a:solidFill>
                <a:latin typeface="Malgun Gothic"/>
              </a:rPr>
              <a:t>    –  조건 비교 — WHERE 절의 필터를 행마다 평가</a:t>
            </a:r>
          </a:p>
          <a:p>
            <a:r>
              <a:rPr sz="1600" b="0">
                <a:solidFill>
                  <a:srgbClr val="5A6672"/>
                </a:solidFill>
                <a:latin typeface="Malgun Gothic"/>
              </a:rPr>
              <a:t>    –  정렬 — ORDER BY, GROUP BY, DISTINCT 등에서 발생</a:t>
            </a:r>
          </a:p>
          <a:p>
            <a:r>
              <a:rPr sz="1600" b="0">
                <a:solidFill>
                  <a:srgbClr val="5A6672"/>
                </a:solidFill>
                <a:latin typeface="Malgun Gothic"/>
              </a:rPr>
              <a:t>    –  해시 연산 — 해시 조인·해시 그룹핑에서 해시 값 계산과 탐색</a:t>
            </a:r>
          </a:p>
          <a:p>
            <a:r>
              <a:rPr sz="1800" b="0">
                <a:solidFill>
                  <a:srgbClr val="202830"/>
                </a:solidFill>
                <a:latin typeface="Malgun Gothic"/>
              </a:rPr>
              <a:t>•  실행계획에서는 오퍼레이션의 종류와 처리 행 수로 가늠한다</a:t>
            </a:r>
          </a:p>
          <a:p>
            <a:r>
              <a:rPr sz="1600" b="0">
                <a:solidFill>
                  <a:srgbClr val="5A6672"/>
                </a:solidFill>
                <a:latin typeface="Malgun Gothic"/>
              </a:rPr>
              <a:t>    –  많은 행을 통과시키는 단계일수록 연산 부담이 커진다</a:t>
            </a:r>
          </a:p>
          <a:p>
            <a:r>
              <a:rPr sz="1600" b="0">
                <a:solidFill>
                  <a:srgbClr val="5A6672"/>
                </a:solidFill>
                <a:latin typeface="Malgun Gothic"/>
              </a:rPr>
              <a:t>    –  같은 결과라도 오퍼레이션 구성이 다르면 연산량이 달라진다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I/O 관점 — Buffers와 물리 I/O</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핵심 질문 — 몇 개의 블록을 읽었는가</a:t>
            </a:r>
          </a:p>
          <a:p>
            <a:r>
              <a:rPr sz="1800" b="0">
                <a:solidFill>
                  <a:srgbClr val="202830"/>
                </a:solidFill>
                <a:latin typeface="Malgun Gothic"/>
              </a:rPr>
              <a:t>•  Buffers = 논리적 I/O</a:t>
            </a:r>
          </a:p>
          <a:p>
            <a:r>
              <a:rPr sz="1600" b="0">
                <a:solidFill>
                  <a:srgbClr val="5A6672"/>
                </a:solidFill>
                <a:latin typeface="Malgun Gothic"/>
              </a:rPr>
              <a:t>    –  버퍼 캐시에서 블록을 가져온 횟수까지 포함한 전체 블록 접근 수</a:t>
            </a:r>
          </a:p>
          <a:p>
            <a:r>
              <a:rPr sz="1600" b="0">
                <a:solidFill>
                  <a:srgbClr val="5A6672"/>
                </a:solidFill>
                <a:latin typeface="Malgun Gothic"/>
              </a:rPr>
              <a:t>    –  실행계획의 Buffers 컬럼으로 단계별·누적으로 확인</a:t>
            </a:r>
          </a:p>
          <a:p>
            <a:r>
              <a:rPr sz="1800" b="0">
                <a:solidFill>
                  <a:srgbClr val="202830"/>
                </a:solidFill>
                <a:latin typeface="Malgun Gothic"/>
              </a:rPr>
              <a:t>•  메모리에 없으면 물리적 I/O(디스크 접근)가 추가로 발생한다</a:t>
            </a:r>
          </a:p>
          <a:p>
            <a:r>
              <a:rPr sz="1600" b="0">
                <a:solidFill>
                  <a:srgbClr val="5A6672"/>
                </a:solidFill>
                <a:latin typeface="Malgun Gothic"/>
              </a:rPr>
              <a:t>    –  같은 Buffers라도 물리 I/O 여부에 따라 소요 시간은 크게 달라진다</a:t>
            </a:r>
          </a:p>
          <a:p>
            <a:r>
              <a:rPr sz="1600" b="0">
                <a:solidFill>
                  <a:srgbClr val="5A6672"/>
                </a:solidFill>
                <a:latin typeface="Malgun Gothic"/>
              </a:rPr>
              <a:t>    –  1.6절에서 정확히 이 현상을 실측 데이터로 확인한다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Memory 관점 — 작업 영역(PGA)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해시 조인·정렬 등은 세션 전용 작업 영역(PGA)을 사용한다</a:t>
            </a:r>
          </a:p>
          <a:p>
            <a:r>
              <a:rPr sz="1600" b="0">
                <a:solidFill>
                  <a:srgbClr val="5A6672"/>
                </a:solidFill>
                <a:latin typeface="Malgun Gothic"/>
              </a:rPr>
              <a:t>    –  중간 결과를 쌓아 두어야 하는 연산이 메모리를 요구한다</a:t>
            </a:r>
          </a:p>
          <a:p>
            <a:r>
              <a:rPr sz="1800" b="0">
                <a:solidFill>
                  <a:srgbClr val="202830"/>
                </a:solidFill>
                <a:latin typeface="Malgun Gothic"/>
              </a:rPr>
              <a:t>•  실행계획에서 확인하는 컬럼</a:t>
            </a:r>
          </a:p>
          <a:p>
            <a:r>
              <a:rPr sz="1600" b="0">
                <a:solidFill>
                  <a:srgbClr val="5A6672"/>
                </a:solidFill>
                <a:latin typeface="Malgun Gothic"/>
              </a:rPr>
              <a:t>    –  OMem — 옵티마이저가 추정한 필요 메모리</a:t>
            </a:r>
          </a:p>
          <a:p>
            <a:r>
              <a:rPr sz="1600" b="0">
                <a:solidFill>
                  <a:srgbClr val="5A6672"/>
                </a:solidFill>
                <a:latin typeface="Malgun Gothic"/>
              </a:rPr>
              <a:t>    –  1Mem — 한 번에 처리(one-pass)하는 데 필요한 메모리 추정</a:t>
            </a:r>
          </a:p>
          <a:p>
            <a:r>
              <a:rPr sz="1600" b="0">
                <a:solidFill>
                  <a:srgbClr val="5A6672"/>
                </a:solidFill>
                <a:latin typeface="Malgun Gothic"/>
              </a:rPr>
              <a:t>    –  Used-Mem — 실제로 사용한 작업 영역 크기</a:t>
            </a:r>
          </a:p>
          <a:p>
            <a:r>
              <a:rPr sz="1800" b="0">
                <a:solidFill>
                  <a:srgbClr val="202830"/>
                </a:solidFill>
                <a:latin typeface="Malgun Gothic"/>
              </a:rPr>
              <a:t>•  작업 영역이 부족하면 임시 공간(TEMP)으로 넘쳐 디스크 I/O가 발생한다</a:t>
            </a:r>
          </a:p>
          <a:p>
            <a:r>
              <a:rPr sz="1600" b="0">
                <a:solidFill>
                  <a:srgbClr val="5A6672"/>
                </a:solidFill>
                <a:latin typeface="Malgun Gothic"/>
              </a:rPr>
              <a:t>    –  1.8절 종합 비교에서 세 버전의 Used-Mem을 나란히 확인한다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좋은 SQL과 나쁜 SQL을 가르는 기준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문법의 길이는 기준이 아니다</a:t>
            </a:r>
          </a:p>
          <a:p>
            <a:r>
              <a:rPr sz="1600" b="0">
                <a:solidFill>
                  <a:srgbClr val="5A6672"/>
                </a:solidFill>
                <a:latin typeface="Malgun Gothic"/>
              </a:rPr>
              <a:t>    –  짧다고 좋은 SQL이 아니고, 길다고 나쁜 SQL도 아니다</a:t>
            </a:r>
          </a:p>
          <a:p>
            <a:r>
              <a:rPr sz="1800" b="0">
                <a:solidFill>
                  <a:srgbClr val="202830"/>
                </a:solidFill>
                <a:latin typeface="Malgun Gothic"/>
              </a:rPr>
              <a:t>•  판단은 실측 지표로 한다 — 체크리스트</a:t>
            </a:r>
          </a:p>
          <a:p>
            <a:r>
              <a:rPr sz="1600" b="0">
                <a:solidFill>
                  <a:srgbClr val="5A6672"/>
                </a:solidFill>
                <a:latin typeface="Malgun Gothic"/>
              </a:rPr>
              <a:t>    –  ① 실제 접근한 블록 수(Buffers)가 얼마인가</a:t>
            </a:r>
          </a:p>
          <a:p>
            <a:r>
              <a:rPr sz="1600" b="0">
                <a:solidFill>
                  <a:srgbClr val="5A6672"/>
                </a:solidFill>
                <a:latin typeface="Malgun Gothic"/>
              </a:rPr>
              <a:t>    –  ② 사용한 작업 영역(Used-Mem)이 얼마인가</a:t>
            </a:r>
          </a:p>
          <a:p>
            <a:r>
              <a:rPr sz="1600" b="0">
                <a:solidFill>
                  <a:srgbClr val="5A6672"/>
                </a:solidFill>
                <a:latin typeface="Malgun Gothic"/>
              </a:rPr>
              <a:t>    –  ③ 실행계획의 오퍼레이션 구성이 어떠한가 — 불필요한 단계가 있는가</a:t>
            </a:r>
          </a:p>
          <a:p>
            <a:r>
              <a:rPr sz="1600" b="0">
                <a:solidFill>
                  <a:srgbClr val="5A6672"/>
                </a:solidFill>
                <a:latin typeface="Malgun Gothic"/>
              </a:rPr>
              <a:t>    –  ④ 추정(E-Rows)과 실제(A-Rows)가 크게 어긋나지 않는가</a:t>
            </a:r>
          </a:p>
          <a:p>
            <a:r>
              <a:rPr sz="1800" b="0">
                <a:solidFill>
                  <a:srgbClr val="202830"/>
                </a:solidFill>
                <a:latin typeface="Malgun Gothic"/>
              </a:rPr>
              <a:t>•  '느낌'이 아니라 실측 — 이 장의 결론이자 과정 전체의 원칙</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실측 소재 — 세 가지 동등 SQL</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소재와 대상 건수</a:t>
            </a:r>
          </a:p>
          <a:p>
            <a:r>
              <a:rPr sz="1600" b="0">
                <a:solidFill>
                  <a:srgbClr val="C5CED6"/>
                </a:solidFill>
                <a:latin typeface="Malgun Gothic"/>
              </a:rPr>
              <a:t>•  A. IN 방식</a:t>
            </a:r>
          </a:p>
          <a:p>
            <a:r>
              <a:rPr sz="1600" b="0">
                <a:solidFill>
                  <a:srgbClr val="C5CED6"/>
                </a:solidFill>
                <a:latin typeface="Malgun Gothic"/>
              </a:rPr>
              <a:t>•  B. EXISTS 방식</a:t>
            </a:r>
          </a:p>
          <a:p>
            <a:r>
              <a:rPr sz="1600" b="0">
                <a:solidFill>
                  <a:srgbClr val="C5CED6"/>
                </a:solidFill>
                <a:latin typeface="Malgun Gothic"/>
              </a:rPr>
              <a:t>•  C. JOIN + DISTINCT 방식</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소재 — 주사제 처방 청구 찾기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목표 — 주사제 카테고리 약품을 하나 이상 처방받은 청구 건수 확인</a:t>
            </a:r>
          </a:p>
          <a:p>
            <a:r>
              <a:rPr sz="1600" b="0">
                <a:solidFill>
                  <a:srgbClr val="5A6672"/>
                </a:solidFill>
                <a:latin typeface="Malgun Gothic"/>
              </a:rPr>
              <a:t>    –  MEDICAL_CLAIMS 중 CLAIM_DETAILS에서 DRUG_MASTER.CATEGORY = '주사제'인 건</a:t>
            </a:r>
          </a:p>
          <a:p>
            <a:r>
              <a:rPr sz="1800" b="0">
                <a:solidFill>
                  <a:srgbClr val="202830"/>
                </a:solidFill>
                <a:latin typeface="Malgun Gothic"/>
              </a:rPr>
              <a:t>•  사전 확인 결과</a:t>
            </a:r>
          </a:p>
          <a:p>
            <a:r>
              <a:rPr sz="1600" b="0">
                <a:solidFill>
                  <a:srgbClr val="5A6672"/>
                </a:solidFill>
                <a:latin typeface="Malgun Gothic"/>
              </a:rPr>
              <a:t>    –  대상 건수 79,342건 — 전체 30만 건의 약 26%</a:t>
            </a:r>
          </a:p>
          <a:p>
            <a:r>
              <a:rPr sz="1600" b="0">
                <a:solidFill>
                  <a:srgbClr val="5A6672"/>
                </a:solidFill>
                <a:latin typeface="Malgun Gothic"/>
              </a:rPr>
              <a:t>    –  전체의 4분의 1가량을 걸러 내는, 선택도가 낮지 않은 조건</a:t>
            </a:r>
          </a:p>
          <a:p>
            <a:r>
              <a:rPr sz="1800" b="0">
                <a:solidFill>
                  <a:srgbClr val="202830"/>
                </a:solidFill>
                <a:latin typeface="Malgun Gothic"/>
              </a:rPr>
              <a:t>•  같은 목표를 세 가지 방식으로 작성해 비교한다</a:t>
            </a:r>
          </a:p>
          <a:p>
            <a:r>
              <a:rPr sz="1600" b="0">
                <a:solidFill>
                  <a:srgbClr val="5A6672"/>
                </a:solidFill>
                <a:latin typeface="Malgun Gothic"/>
              </a:rPr>
              <a:t>    –  A. IN 서브쿼리 / B. EXISTS 서브쿼리 / C. JOIN + DISTINCT</a:t>
            </a:r>
          </a:p>
          <a:p>
            <a:r>
              <a:rPr sz="1600" b="0">
                <a:solidFill>
                  <a:srgbClr val="5A6672"/>
                </a:solidFill>
                <a:latin typeface="Malgun Gothic"/>
              </a:rPr>
              <a:t>    –  세 버전의 결과 건수는 완전히 동일하다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 IN 방식</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서브쿼리 결과 집합에 존재하는지를 IN으로 확인한다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A. IN 방식</a:t>
            </a:r>
          </a:p>
          <a:p>
            <a:r>
              <a:rPr sz="1250" b="0">
                <a:solidFill>
                  <a:srgbClr val="E6E6E6"/>
                </a:solidFill>
                <a:latin typeface="Consolas"/>
              </a:rPr>
              <a:t>SELECT COUNT(*)</a:t>
            </a:r>
          </a:p>
          <a:p>
            <a:r>
              <a:rPr sz="1250" b="0">
                <a:solidFill>
                  <a:srgbClr val="E6E6E6"/>
                </a:solidFill>
                <a:latin typeface="Consolas"/>
              </a:rPr>
              <a:t>FROM medical_claims</a:t>
            </a:r>
          </a:p>
          <a:p>
            <a:r>
              <a:rPr sz="1250" b="0">
                <a:solidFill>
                  <a:srgbClr val="E6E6E6"/>
                </a:solidFill>
                <a:latin typeface="Consolas"/>
              </a:rPr>
              <a:t>WHERE claim_id IN (</a:t>
            </a:r>
          </a:p>
          <a:p>
            <a:r>
              <a:rPr sz="1250" b="0">
                <a:solidFill>
                  <a:srgbClr val="E6E6E6"/>
                </a:solidFill>
                <a:latin typeface="Consolas"/>
              </a:rPr>
              <a:t>  SELECT cd.claim_id FROM claim_details cd, drug_master dm</a:t>
            </a:r>
          </a:p>
          <a:p>
            <a:r>
              <a:rPr sz="1250" b="0">
                <a:solidFill>
                  <a:srgbClr val="E6E6E6"/>
                </a:solidFill>
                <a:latin typeface="Consolas"/>
              </a:rPr>
              <a:t>  WHERE cd.drug_code = dm.drug_code AND dm.category = '주사제'</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서브쿼리는 '주사제를 처방한 청구 번호 목록'을 만들고</a:t>
            </a:r>
          </a:p>
          <a:p>
            <a:r>
              <a:rPr sz="1250" b="0">
                <a:solidFill>
                  <a:srgbClr val="7EC699"/>
                </a:solidFill>
                <a:latin typeface="Consolas"/>
              </a:rPr>
              <a:t>-- 바깥 쿼리는 그 목록에 자기 claim_id가 들어 있는지만 확인한다</a:t>
            </a:r>
          </a:p>
          <a:p>
            <a:r>
              <a:rPr sz="1250" b="0">
                <a:solidFill>
                  <a:srgbClr val="7EC699"/>
                </a:solidFill>
                <a:latin typeface="Consolas"/>
              </a:rPr>
              <a:t>-- 목록에 같은 claim_id가 여러 번 나와도 결과 건수에는 영향이 없다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 EXISTS 방식</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바깥 행마다 조건을 만족하는 행이 존재하는지 확인한다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B. EXISTS 방식</a:t>
            </a:r>
          </a:p>
          <a:p>
            <a:r>
              <a:rPr sz="1250" b="0">
                <a:solidFill>
                  <a:srgbClr val="E6E6E6"/>
                </a:solidFill>
                <a:latin typeface="Consolas"/>
              </a:rPr>
              <a:t>SELECT COUNT(*)</a:t>
            </a:r>
          </a:p>
          <a:p>
            <a:r>
              <a:rPr sz="1250" b="0">
                <a:solidFill>
                  <a:srgbClr val="E6E6E6"/>
                </a:solidFill>
                <a:latin typeface="Consolas"/>
              </a:rPr>
              <a:t>FROM medical_claims mc</a:t>
            </a:r>
          </a:p>
          <a:p>
            <a:r>
              <a:rPr sz="1250" b="0">
                <a:solidFill>
                  <a:srgbClr val="E6E6E6"/>
                </a:solidFill>
                <a:latin typeface="Consolas"/>
              </a:rPr>
              <a:t>WHERE EXISTS (</a:t>
            </a:r>
          </a:p>
          <a:p>
            <a:r>
              <a:rPr sz="1250" b="0">
                <a:solidFill>
                  <a:srgbClr val="E6E6E6"/>
                </a:solidFill>
                <a:latin typeface="Consolas"/>
              </a:rPr>
              <a:t>  SELECT 1 FROM claim_details cd, drug_master dm</a:t>
            </a:r>
          </a:p>
          <a:p>
            <a:r>
              <a:rPr sz="1250" b="0">
                <a:solidFill>
                  <a:srgbClr val="E6E6E6"/>
                </a:solidFill>
                <a:latin typeface="Consolas"/>
              </a:rPr>
              <a:t>  WHERE cd.claim_id = mc.claim_id</a:t>
            </a:r>
          </a:p>
          <a:p>
            <a:r>
              <a:rPr sz="1250" b="0">
                <a:solidFill>
                  <a:srgbClr val="E6E6E6"/>
                </a:solidFill>
                <a:latin typeface="Consolas"/>
              </a:rPr>
              <a:t>    AND cd.drug_code = dm.drug_code</a:t>
            </a:r>
          </a:p>
          <a:p>
            <a:r>
              <a:rPr sz="1250" b="0">
                <a:solidFill>
                  <a:srgbClr val="E6E6E6"/>
                </a:solidFill>
                <a:latin typeface="Consolas"/>
              </a:rPr>
              <a:t>    AND dm.category = '주사제'</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서브쿼리가 바깥 컬럼(mc.claim_id)을 참조하는 상관 서브쿼리</a:t>
            </a:r>
          </a:p>
          <a:p>
            <a:r>
              <a:rPr sz="1250" b="0">
                <a:solidFill>
                  <a:srgbClr val="7EC699"/>
                </a:solidFill>
                <a:latin typeface="Consolas"/>
              </a:rPr>
              <a:t>-- SELECT 목록의 1은 아무 의미가 없다 — 존재 여부만 판정하기 때문</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 JOIN + DISTINCT 방식</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세 테이블을 직접 조인하고 중복을 제거해 센다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C. JOIN + DISTINCT 방식</a:t>
            </a:r>
          </a:p>
          <a:p>
            <a:r>
              <a:rPr sz="1250" b="0">
                <a:solidFill>
                  <a:srgbClr val="E6E6E6"/>
                </a:solidFill>
                <a:latin typeface="Consolas"/>
              </a:rPr>
              <a:t>SELECT COUNT(DISTINCT mc.claim_id)</a:t>
            </a:r>
          </a:p>
          <a:p>
            <a:r>
              <a:rPr sz="1250" b="0">
                <a:solidFill>
                  <a:srgbClr val="E6E6E6"/>
                </a:solidFill>
                <a:latin typeface="Consolas"/>
              </a:rPr>
              <a:t>FROM medical_claims mc, claim_details cd, drug_master dm</a:t>
            </a:r>
          </a:p>
          <a:p>
            <a:r>
              <a:rPr sz="1250" b="0">
                <a:solidFill>
                  <a:srgbClr val="E6E6E6"/>
                </a:solidFill>
                <a:latin typeface="Consolas"/>
              </a:rPr>
              <a:t>WHERE mc.claim_id = cd.claim_id</a:t>
            </a:r>
          </a:p>
          <a:p>
            <a:r>
              <a:rPr sz="1250" b="0">
                <a:solidFill>
                  <a:srgbClr val="E6E6E6"/>
                </a:solidFill>
                <a:latin typeface="Consolas"/>
              </a:rPr>
              <a:t>  AND cd.drug_code  = dm.drug_code</a:t>
            </a:r>
          </a:p>
          <a:p>
            <a:r>
              <a:rPr sz="1250" b="0">
                <a:solidFill>
                  <a:srgbClr val="E6E6E6"/>
                </a:solidFill>
                <a:latin typeface="Consolas"/>
              </a:rPr>
              <a:t>  AND dm.category   = '주사제';</a:t>
            </a:r>
          </a:p>
          <a:p>
            <a:r>
              <a:rPr sz="1250" b="0">
                <a:solidFill>
                  <a:srgbClr val="E6E6E6"/>
                </a:solidFill>
                <a:latin typeface="Consolas"/>
              </a:rPr>
              <a:t> </a:t>
            </a:r>
          </a:p>
          <a:p>
            <a:r>
              <a:rPr sz="1250" b="0">
                <a:solidFill>
                  <a:srgbClr val="7EC699"/>
                </a:solidFill>
                <a:latin typeface="Consolas"/>
              </a:rPr>
              <a:t>-- 서브쿼리 없이 세 테이블을 한 번에 조인한다</a:t>
            </a:r>
          </a:p>
          <a:p>
            <a:r>
              <a:rPr sz="1250" b="0">
                <a:solidFill>
                  <a:srgbClr val="7EC699"/>
                </a:solidFill>
                <a:latin typeface="Consolas"/>
              </a:rPr>
              <a:t>-- 조인 결과에는 한 청구가 여러 번 나올 수 있으므로</a:t>
            </a:r>
          </a:p>
          <a:p>
            <a:r>
              <a:rPr sz="1250" b="0">
                <a:solidFill>
                  <a:srgbClr val="7EC699"/>
                </a:solidFill>
                <a:latin typeface="Consolas"/>
              </a:rPr>
              <a:t>-- COUNT(DISTINCT ...)로 중복을 제거해야 결과가 A·B와 같아진다</a:t>
            </a:r>
          </a:p>
          <a:p>
            <a:r>
              <a:rPr sz="1250" b="0">
                <a:solidFill>
                  <a:srgbClr val="7EC699"/>
                </a:solidFill>
                <a:latin typeface="Consolas"/>
              </a:rPr>
              <a:t>-- SELECT 절이 실제로 필요로 하는 mc 컬럼은 claim_id 하나뿐이다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실행계획 — 세 버전 실측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A. IN 방식 실행계획과 읽는 법</a:t>
            </a:r>
          </a:p>
          <a:p>
            <a:r>
              <a:rPr sz="1600" b="0">
                <a:solidFill>
                  <a:srgbClr val="C5CED6"/>
                </a:solidFill>
                <a:latin typeface="Malgun Gothic"/>
              </a:rPr>
              <a:t>•  B. EXISTS 방식 실행계획</a:t>
            </a:r>
          </a:p>
          <a:p>
            <a:r>
              <a:rPr sz="1600" b="0">
                <a:solidFill>
                  <a:srgbClr val="C5CED6"/>
                </a:solidFill>
                <a:latin typeface="Malgun Gothic"/>
              </a:rPr>
              <a:t>•  A와 B의 구조 비교</a:t>
            </a:r>
          </a:p>
          <a:p>
            <a:r>
              <a:rPr sz="1600" b="0">
                <a:solidFill>
                  <a:srgbClr val="C5CED6"/>
                </a:solidFill>
                <a:latin typeface="Malgun Gothic"/>
              </a:rPr>
              <a:t>•  C. JOIN+DISTINCT 실행계획의 특이점</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 IN 방식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SQL_ID  7z0a37r0usf76  —  CLAIM_DETAILS 가 캐시에 없어 Reads 열이 나타난다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E-Rows | A-Rows |   A-Time   | Buffers | Reads |</a:t>
            </a:r>
          </a:p>
          <a:p>
            <a:r>
              <a:rPr sz="1250" b="0">
                <a:solidFill>
                  <a:srgbClr val="E6E6E6"/>
                </a:solidFill>
                <a:latin typeface="Consolas"/>
              </a:rPr>
              <a:t>| 0  | SELECT STATEMENT      |                    |        |      1 |00:00:00.10 |    8659 |  6709 |</a:t>
            </a:r>
          </a:p>
          <a:p>
            <a:r>
              <a:rPr sz="1250" b="0">
                <a:solidFill>
                  <a:srgbClr val="E6E6E6"/>
                </a:solidFill>
                <a:latin typeface="Consolas"/>
              </a:rPr>
              <a:t>| 1  |  SORT AGGREGATE       |                    |      1 |      1 |00:00:00.10 |    8659 |  6709 |</a:t>
            </a:r>
          </a:p>
          <a:p>
            <a:r>
              <a:rPr sz="1250" b="0">
                <a:solidFill>
                  <a:srgbClr val="E6E6E6"/>
                </a:solidFill>
                <a:latin typeface="Consolas"/>
              </a:rPr>
              <a:t>| 2  |   HASH JOIN RIGHT SEMI|                    |   296K |  79342 |00:00:00.10 |    8659 |  6709 |</a:t>
            </a:r>
          </a:p>
          <a:p>
            <a:r>
              <a:rPr sz="1250" b="0">
                <a:solidFill>
                  <a:srgbClr val="E6E6E6"/>
                </a:solidFill>
                <a:latin typeface="Consolas"/>
              </a:rPr>
              <a:t>| 3  |    VIEW                | VW_NSO_1          |   299K |  90430 |00:00:00.02 |    6768 |  6709 |</a:t>
            </a:r>
          </a:p>
          <a:p>
            <a:r>
              <a:rPr sz="1250" b="0">
                <a:solidFill>
                  <a:srgbClr val="E6E6E6"/>
                </a:solidFill>
                <a:latin typeface="Consolas"/>
              </a:rPr>
              <a:t>| 4  |     HASH JOIN          |                    |   299K |  90430 |00:00:00.02 |    6768 |  6709 |</a:t>
            </a:r>
          </a:p>
          <a:p>
            <a:r>
              <a:rPr sz="1250" b="0">
                <a:solidFill>
                  <a:srgbClr val="E6E6E6"/>
                </a:solidFill>
                <a:latin typeface="Consolas"/>
              </a:rPr>
              <a:t>| 5  |      TABLE ACCESS FULL | DRUG_MASTER        |   3333 |   1000 |00:00:00.01 |      91 |    89 |</a:t>
            </a:r>
          </a:p>
          <a:p>
            <a:r>
              <a:rPr sz="1250" b="0">
                <a:solidFill>
                  <a:srgbClr val="E6E6E6"/>
                </a:solidFill>
                <a:latin typeface="Consolas"/>
              </a:rPr>
              <a:t>| 6  |      TABLE ACCESS FULL | CLAIM_DETAILS      |   899K |   899K |00:00:00.01 |    6621 |  6613 |</a:t>
            </a:r>
          </a:p>
          <a:p>
            <a:r>
              <a:rPr sz="1250" b="0">
                <a:solidFill>
                  <a:srgbClr val="E6E6E6"/>
                </a:solidFill>
                <a:latin typeface="Consolas"/>
              </a:rPr>
              <a:t>| 7  |    INDEX FAST FULL SCAN| PK_MEDICAL_CLAIMS  |   300K |   300K |00:00:00.02 |    1891 |     0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 실행계획 읽는 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읽는 순서 — 들여쓰기가 깊은 안쪽부터, 같은 깊이는 위에서 아래로</a:t>
            </a:r>
          </a:p>
          <a:p>
            <a:r>
              <a:rPr sz="1800" b="0">
                <a:solidFill>
                  <a:srgbClr val="202830"/>
                </a:solidFill>
                <a:latin typeface="Malgun Gothic"/>
              </a:rPr>
              <a:t>•  컬럼의 의미</a:t>
            </a:r>
          </a:p>
          <a:p>
            <a:r>
              <a:rPr sz="1600" b="0">
                <a:solidFill>
                  <a:srgbClr val="5A6672"/>
                </a:solidFill>
                <a:latin typeface="Malgun Gothic"/>
              </a:rPr>
              <a:t>    –  E-Rows 옵티마이저의 추정 행 수 / A-Rows 실제 처리한 행 수</a:t>
            </a:r>
          </a:p>
          <a:p>
            <a:r>
              <a:rPr sz="1600" b="0">
                <a:solidFill>
                  <a:srgbClr val="5A6672"/>
                </a:solidFill>
                <a:latin typeface="Malgun Gothic"/>
              </a:rPr>
              <a:t>    –  A-Time 그 단계까지 누적된 실제 소요 시간</a:t>
            </a:r>
          </a:p>
          <a:p>
            <a:r>
              <a:rPr sz="1600" b="0">
                <a:solidFill>
                  <a:srgbClr val="5A6672"/>
                </a:solidFill>
                <a:latin typeface="Malgun Gothic"/>
              </a:rPr>
              <a:t>    –  Buffers 그 단계까지 누적된 논리적 I/O 블록 수</a:t>
            </a:r>
          </a:p>
          <a:p>
            <a:r>
              <a:rPr sz="1800" b="0">
                <a:solidFill>
                  <a:srgbClr val="202830"/>
                </a:solidFill>
                <a:latin typeface="Malgun Gothic"/>
              </a:rPr>
              <a:t>•  HASH JOIN RIGHT SEMI — IN 서브쿼리가 세미조인으로 변환된 형태</a:t>
            </a:r>
          </a:p>
          <a:p>
            <a:r>
              <a:rPr sz="1600" b="0">
                <a:solidFill>
                  <a:srgbClr val="5A6672"/>
                </a:solidFill>
                <a:latin typeface="Malgun Gothic"/>
              </a:rPr>
              <a:t>    –  매칭이 여러 건이어도 결과는 한 건으로만 남는다 (IN의 의미론과 일치)</a:t>
            </a:r>
          </a:p>
          <a:p>
            <a:r>
              <a:rPr sz="1800" b="0">
                <a:solidFill>
                  <a:srgbClr val="202830"/>
                </a:solidFill>
                <a:latin typeface="Malgun Gothic"/>
              </a:rPr>
              <a:t>•  5번 단계 — E-Rows 3333 vs A-Rows 1000, 추정이 실제보다 크다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 EXISTS 방식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SQL_ID  7jgu8vt9cppsb  —  구조는 A와 동일, VIEW 이름만 VW_SQ_1. Reads 열이 없다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E-Rows | A-Rows |   A-Time   | Buffers |</a:t>
            </a:r>
          </a:p>
          <a:p>
            <a:r>
              <a:rPr sz="1250" b="0">
                <a:solidFill>
                  <a:srgbClr val="E6E6E6"/>
                </a:solidFill>
                <a:latin typeface="Consolas"/>
              </a:rPr>
              <a:t>| 0  | SELECT STATEMENT      |                    |        |      1 |00:00:00.05 |    8604 |</a:t>
            </a:r>
          </a:p>
          <a:p>
            <a:r>
              <a:rPr sz="1250" b="0">
                <a:solidFill>
                  <a:srgbClr val="E6E6E6"/>
                </a:solidFill>
                <a:latin typeface="Consolas"/>
              </a:rPr>
              <a:t>| 1  |  SORT AGGREGATE       |                    |      1 |      1 |00:00:00.05 |    8604 |</a:t>
            </a:r>
          </a:p>
          <a:p>
            <a:r>
              <a:rPr sz="1250" b="0">
                <a:solidFill>
                  <a:srgbClr val="E6E6E6"/>
                </a:solidFill>
                <a:latin typeface="Consolas"/>
              </a:rPr>
              <a:t>| 2  |   HASH JOIN RIGHT SEMI|                    |   296K |  79342 |00:00:00.06 |    8604 |</a:t>
            </a:r>
          </a:p>
          <a:p>
            <a:r>
              <a:rPr sz="1250" b="0">
                <a:solidFill>
                  <a:srgbClr val="E6E6E6"/>
                </a:solidFill>
                <a:latin typeface="Consolas"/>
              </a:rPr>
              <a:t>| 3  |    VIEW                | VW_SQ_1           |   299K |  90430 |00:00:00.02 |    6713 |</a:t>
            </a:r>
          </a:p>
          <a:p>
            <a:r>
              <a:rPr sz="1250" b="0">
                <a:solidFill>
                  <a:srgbClr val="E6E6E6"/>
                </a:solidFill>
                <a:latin typeface="Consolas"/>
              </a:rPr>
              <a:t>| 4  |     HASH JOIN          |                    |   299K |  90430 |00:00:00.02 |    6713 |</a:t>
            </a:r>
          </a:p>
          <a:p>
            <a:r>
              <a:rPr sz="1250" b="0">
                <a:solidFill>
                  <a:srgbClr val="E6E6E6"/>
                </a:solidFill>
                <a:latin typeface="Consolas"/>
              </a:rPr>
              <a:t>| 5  |      TABLE ACCESS FULL | DRUG_MASTER        |   3333 |   1000 |00:00:00.01 |      91 |</a:t>
            </a:r>
          </a:p>
          <a:p>
            <a:r>
              <a:rPr sz="1250" b="0">
                <a:solidFill>
                  <a:srgbClr val="E6E6E6"/>
                </a:solidFill>
                <a:latin typeface="Consolas"/>
              </a:rPr>
              <a:t>| 6  |      TABLE ACCESS FULL | CLAIM_DETAILS      |   899K |   899K |00:00:00.01 |    6621 |</a:t>
            </a:r>
          </a:p>
          <a:p>
            <a:r>
              <a:rPr sz="1250" b="0">
                <a:solidFill>
                  <a:srgbClr val="E6E6E6"/>
                </a:solidFill>
                <a:latin typeface="Consolas"/>
              </a:rPr>
              <a:t>| 7  |    INDEX FAST FULL SCAN| PK_MEDICAL_CLAIMS  |   300K |   300K |00:00:00.01 |    1891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A와 B — 이름표만 다른 같은 계획</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실행계획에서 다른 것은 VIEW 이름 하나뿐이다</a:t>
            </a:r>
          </a:p>
          <a:p>
            <a:r>
              <a:rPr sz="1600" b="0">
                <a:solidFill>
                  <a:srgbClr val="5A6672"/>
                </a:solidFill>
                <a:latin typeface="Malgun Gothic"/>
              </a:rPr>
              <a:t>    –  A는 VW_NSO_1, B는 VW_SQ_1 — Oracle이 변환 과정에서 붙이는 내부 식별자</a:t>
            </a:r>
          </a:p>
          <a:p>
            <a:r>
              <a:rPr sz="1600" b="0">
                <a:solidFill>
                  <a:srgbClr val="5A6672"/>
                </a:solidFill>
                <a:latin typeface="Malgun Gothic"/>
              </a:rPr>
              <a:t>    –  오퍼레이션 구성, E-Rows, A-Rows, Buffers는 모두 동일</a:t>
            </a:r>
          </a:p>
          <a:p>
            <a:r>
              <a:rPr sz="1800" b="0">
                <a:solidFill>
                  <a:srgbClr val="202830"/>
                </a:solidFill>
                <a:latin typeface="Malgun Gothic"/>
              </a:rPr>
              <a:t>•  왜 같아지는가 — 옵티마이저의 쿼리 변환</a:t>
            </a:r>
          </a:p>
          <a:p>
            <a:r>
              <a:rPr sz="1600" b="0">
                <a:solidFill>
                  <a:srgbClr val="5A6672"/>
                </a:solidFill>
                <a:latin typeface="Malgun Gothic"/>
              </a:rPr>
              <a:t>    –  IN 서브쿼리와 EXISTS 서브쿼리를 같은 세미조인(HASH JOIN RIGHT SEMI) 형태로 변환</a:t>
            </a:r>
          </a:p>
          <a:p>
            <a:r>
              <a:rPr sz="1600" b="0">
                <a:solidFill>
                  <a:srgbClr val="5A6672"/>
                </a:solidFill>
                <a:latin typeface="Malgun Gothic"/>
              </a:rPr>
              <a:t>    –  변환 단계에서 두 문장의 문법적 차이가 사라진다</a:t>
            </a:r>
          </a:p>
          <a:p>
            <a:r>
              <a:rPr sz="1800" b="0">
                <a:solidFill>
                  <a:srgbClr val="202830"/>
                </a:solidFill>
                <a:latin typeface="Malgun Gothic"/>
              </a:rPr>
              <a:t>•  그런데 A-Time은 다르다 — 0.10초 vs 0.05초, Buffers는 둘 다 8,604(A 는 물리 읽기 몫 55 가 더해져 8,659)</a:t>
            </a:r>
          </a:p>
          <a:p>
            <a:r>
              <a:rPr sz="1600" b="0">
                <a:solidFill>
                  <a:srgbClr val="5A6672"/>
                </a:solidFill>
                <a:latin typeface="Malgun Gothic"/>
              </a:rPr>
              <a:t>    –  같은 계획·같은 자원인데 시간만 다르다면 원인은 계획 밖에 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 JOIN + DISTINCT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SQL_ID  dx438vv8qg166  —  MEDICAL_CLAIMS 접근이 보이지 않는다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E-Rows | A-Rows |   A-Time   | Buffers |</a:t>
            </a:r>
          </a:p>
          <a:p>
            <a:r>
              <a:rPr sz="1250" b="0">
                <a:solidFill>
                  <a:srgbClr val="E6E6E6"/>
                </a:solidFill>
                <a:latin typeface="Consolas"/>
              </a:rPr>
              <a:t>| 0  | SELECT STATEMENT    |               |        |      1 |00:00:00.04 |    6713 |</a:t>
            </a:r>
          </a:p>
          <a:p>
            <a:r>
              <a:rPr sz="1250" b="0">
                <a:solidFill>
                  <a:srgbClr val="E6E6E6"/>
                </a:solidFill>
                <a:latin typeface="Consolas"/>
              </a:rPr>
              <a:t>| 1  |  SORT AGGREGATE     |               |      1 |      1 |00:00:00.04 |    6713 |</a:t>
            </a:r>
          </a:p>
          <a:p>
            <a:r>
              <a:rPr sz="1250" b="0">
                <a:solidFill>
                  <a:srgbClr val="E6E6E6"/>
                </a:solidFill>
                <a:latin typeface="Consolas"/>
              </a:rPr>
              <a:t>| 2  |   VIEW               | VW_DAG_0     |   296K |  79342 |00:00:00.04 |    6713 |</a:t>
            </a:r>
          </a:p>
          <a:p>
            <a:r>
              <a:rPr sz="1250" b="0">
                <a:solidFill>
                  <a:srgbClr val="E6E6E6"/>
                </a:solidFill>
                <a:latin typeface="Consolas"/>
              </a:rPr>
              <a:t>| 3  |    HASH GROUP BY     |               |   296K |  79342 |00:00:00.04 |    6713 |</a:t>
            </a:r>
          </a:p>
          <a:p>
            <a:r>
              <a:rPr sz="1250" b="0">
                <a:solidFill>
                  <a:srgbClr val="E6E6E6"/>
                </a:solidFill>
                <a:latin typeface="Consolas"/>
              </a:rPr>
              <a:t>| 4  |     HASH JOIN        |               |   299K |  90430 |00:00:00.03 |    6713 |</a:t>
            </a:r>
          </a:p>
          <a:p>
            <a:r>
              <a:rPr sz="1250" b="0">
                <a:solidFill>
                  <a:srgbClr val="E6E6E6"/>
                </a:solidFill>
                <a:latin typeface="Consolas"/>
              </a:rPr>
              <a:t>| 5  |      TABLE ACCESS FULL| DRUG_MASTER  |   3333 |   1000 |00:00:00.01 |      91 |</a:t>
            </a:r>
          </a:p>
          <a:p>
            <a:r>
              <a:rPr sz="1250" b="0">
                <a:solidFill>
                  <a:srgbClr val="E6E6E6"/>
                </a:solidFill>
                <a:latin typeface="Consolas"/>
              </a:rPr>
              <a:t>| 6  |      TABLE ACCESS FULL| CLAIM_DETAILS|   899K |   899K |00:00:00.02 |    6621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C의 특이점 — 사라진 MEDICAL_CLAIMS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FROM 절에 medical_claims mc가 분명히 있는데 실행계획에 나타나지 않는다</a:t>
            </a:r>
          </a:p>
          <a:p>
            <a:r>
              <a:rPr sz="1600" b="0">
                <a:solidFill>
                  <a:srgbClr val="5A6672"/>
                </a:solidFill>
                <a:latin typeface="Malgun Gothic"/>
              </a:rPr>
              <a:t>    –  MEDICAL_CLAIMS에 대한 TABLE ACCESS도, PK_MEDICAL_CLAIMS 인덱스 접근도 없다</a:t>
            </a:r>
          </a:p>
          <a:p>
            <a:r>
              <a:rPr sz="1800" b="0">
                <a:solidFill>
                  <a:srgbClr val="202830"/>
                </a:solidFill>
                <a:latin typeface="Malgun Gothic"/>
              </a:rPr>
              <a:t>•  A·B에는 있었던 단계가 통째로 빠졌다</a:t>
            </a:r>
          </a:p>
          <a:p>
            <a:r>
              <a:rPr sz="1600" b="0">
                <a:solidFill>
                  <a:srgbClr val="5A6672"/>
                </a:solidFill>
                <a:latin typeface="Malgun Gothic"/>
              </a:rPr>
              <a:t>    –  A·B의 7번 단계 INDEX FAST FULL SCAN — Buffers 1,891</a:t>
            </a:r>
          </a:p>
          <a:p>
            <a:r>
              <a:rPr sz="1600" b="0">
                <a:solidFill>
                  <a:srgbClr val="5A6672"/>
                </a:solidFill>
                <a:latin typeface="Malgun Gothic"/>
              </a:rPr>
              <a:t>    –  총 Buffers 차이 8,604 − 6,713 = 1,891, 사라진 단계의 값과 정확히 일치</a:t>
            </a:r>
          </a:p>
          <a:p>
            <a:r>
              <a:rPr sz="1800" b="0">
                <a:solidFill>
                  <a:srgbClr val="202830"/>
                </a:solidFill>
                <a:latin typeface="Malgun Gothic"/>
              </a:rPr>
              <a:t>•  옵티마이저가 테이블 접근 자체를 제거할 수 있다는 뜻</a:t>
            </a:r>
          </a:p>
          <a:p>
            <a:r>
              <a:rPr sz="1600" b="0">
                <a:solidFill>
                  <a:srgbClr val="5A6672"/>
                </a:solidFill>
                <a:latin typeface="Malgun Gothic"/>
              </a:rPr>
              <a:t>    –  상세 원리(조인 제거)는 Chapter 7 JOIN 실행 원리에서 다룬다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통념 검증 — EXISTS가 IN보다 빠른가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관측 사실 정리</a:t>
            </a:r>
          </a:p>
          <a:p>
            <a:r>
              <a:rPr sz="1600" b="0">
                <a:solidFill>
                  <a:srgbClr val="C5CED6"/>
                </a:solidFill>
                <a:latin typeface="Malgun Gothic"/>
              </a:rPr>
              <a:t>•  원인 추론 — 캐시 상태</a:t>
            </a:r>
          </a:p>
          <a:p>
            <a:r>
              <a:rPr sz="1600" b="0">
                <a:solidFill>
                  <a:srgbClr val="C5CED6"/>
                </a:solidFill>
                <a:latin typeface="Malgun Gothic"/>
              </a:rPr>
              <a:t>•  결론과 벤치마크 방법론</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관측 사실 정리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사실 ① 실행계획 구조가 동일하다</a:t>
            </a:r>
          </a:p>
          <a:p>
            <a:r>
              <a:rPr sz="1600" b="0">
                <a:solidFill>
                  <a:srgbClr val="5A6672"/>
                </a:solidFill>
                <a:latin typeface="Malgun Gothic"/>
              </a:rPr>
              <a:t>    –  A와 B의 오퍼레이션 구성은 완전히 같고 VIEW 이름만 다르다</a:t>
            </a:r>
          </a:p>
          <a:p>
            <a:r>
              <a:rPr sz="1600" b="0">
                <a:solidFill>
                  <a:srgbClr val="5A6672"/>
                </a:solidFill>
                <a:latin typeface="Malgun Gothic"/>
              </a:rPr>
              <a:t>    –  Oracle 옵티마이저가 IN과 EXISTS를 같은 세미조인 형태로 변환했다</a:t>
            </a:r>
          </a:p>
          <a:p>
            <a:r>
              <a:rPr sz="1800" b="0">
                <a:solidFill>
                  <a:srgbClr val="202830"/>
                </a:solidFill>
                <a:latin typeface="Malgun Gothic"/>
              </a:rPr>
              <a:t>•  사실 ② Buffers가 동일하다</a:t>
            </a:r>
          </a:p>
          <a:p>
            <a:r>
              <a:rPr sz="1600" b="0">
                <a:solidFill>
                  <a:srgbClr val="5A6672"/>
                </a:solidFill>
                <a:latin typeface="Malgun Gothic"/>
              </a:rPr>
              <a:t>    –  A와 B 모두 8,604 — 논리적 I/O 총량이 같다</a:t>
            </a:r>
          </a:p>
          <a:p>
            <a:r>
              <a:rPr sz="1800" b="0">
                <a:solidFill>
                  <a:srgbClr val="202830"/>
                </a:solidFill>
                <a:latin typeface="Malgun Gothic"/>
              </a:rPr>
              <a:t>•  사실 ③ A-Time만 크게 다르다</a:t>
            </a:r>
          </a:p>
          <a:p>
            <a:r>
              <a:rPr sz="1600" b="0">
                <a:solidFill>
                  <a:srgbClr val="5A6672"/>
                </a:solidFill>
                <a:latin typeface="Malgun Gothic"/>
              </a:rPr>
              <a:t>    –  A는 0.10초, B는 0.05초 — A 의 계획에만 Reads 열(6,709)이 있다</a:t>
            </a:r>
          </a:p>
          <a:p>
            <a:r>
              <a:rPr sz="1800" b="0">
                <a:solidFill>
                  <a:srgbClr val="202830"/>
                </a:solidFill>
                <a:latin typeface="Malgun Gothic"/>
              </a:rPr>
              <a:t>•  사실 ④ 시간 차이가 특정 한 단계에 집중되어 있다</a:t>
            </a:r>
          </a:p>
          <a:p>
            <a:r>
              <a:rPr sz="1600" b="0">
                <a:solidFill>
                  <a:srgbClr val="5A6672"/>
                </a:solidFill>
                <a:latin typeface="Malgun Gothic"/>
              </a:rPr>
              <a:t>    –  A의 6번 CLAIM_DETAILS Full Scan 에 Reads 6,613 이 몰려 있다, B의 같은 단계는 Reads 없음</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원인 추론 — 캐시 상태</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Buffers가 같은데 시간이 다르다면 물리적 I/O 여부를 의심한다</a:t>
            </a:r>
          </a:p>
          <a:p>
            <a:r>
              <a:rPr sz="1600" b="0">
                <a:solidFill>
                  <a:srgbClr val="5A6672"/>
                </a:solidFill>
                <a:latin typeface="Malgun Gothic"/>
              </a:rPr>
              <a:t>    –  Buffers는 논리적 I/O — 캐시에서 읽었는지 디스크에서 읽었는지 구분하지 않는다</a:t>
            </a:r>
          </a:p>
          <a:p>
            <a:r>
              <a:rPr sz="1600" b="0">
                <a:solidFill>
                  <a:srgbClr val="5A6672"/>
                </a:solidFill>
                <a:latin typeface="Malgun Gothic"/>
              </a:rPr>
              <a:t>    –  같은 블록 수를 만졌어도 디스크에서 읽으면 훨씬 오래 걸린다</a:t>
            </a:r>
          </a:p>
          <a:p>
            <a:r>
              <a:rPr sz="1800" b="0">
                <a:solidFill>
                  <a:srgbClr val="202830"/>
                </a:solidFill>
                <a:latin typeface="Malgun Gothic"/>
              </a:rPr>
              <a:t>•  실행 순서로 설명이 된다</a:t>
            </a:r>
          </a:p>
          <a:p>
            <a:r>
              <a:rPr sz="1600" b="0">
                <a:solidFill>
                  <a:srgbClr val="5A6672"/>
                </a:solidFill>
                <a:latin typeface="Malgun Gothic"/>
              </a:rPr>
              <a:t>    –  A를 먼저 실행하며 디스크에서 블록을 읽어 버퍼 캐시에 올렸을 가능성이 크다</a:t>
            </a:r>
          </a:p>
          <a:p>
            <a:r>
              <a:rPr sz="1600" b="0">
                <a:solidFill>
                  <a:srgbClr val="5A6672"/>
                </a:solidFill>
                <a:latin typeface="Malgun Gothic"/>
              </a:rPr>
              <a:t>    –  B는 그 직후 실행되어 이미 캐시에 있는 블록을 그대로 재사용했을 가능성이 높다</a:t>
            </a:r>
          </a:p>
          <a:p>
            <a:r>
              <a:rPr sz="1800" b="0">
                <a:solidFill>
                  <a:srgbClr val="202830"/>
                </a:solidFill>
                <a:latin typeface="Malgun Gothic"/>
              </a:rPr>
              <a:t>•  시간 차이가 몰린 지점이 가설과 일치한다</a:t>
            </a:r>
          </a:p>
          <a:p>
            <a:r>
              <a:rPr sz="1600" b="0">
                <a:solidFill>
                  <a:srgbClr val="5A6672"/>
                </a:solidFill>
                <a:latin typeface="Malgun Gothic"/>
              </a:rPr>
              <a:t>    –  Reads 가 몰린 A의 6번 단계는 '처음 읽는 블록'(실습 01 이 읽지 않은 CLAIM_DETAILS)과 일치한다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결론과 벤치마크 방법론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결론 — 이번 실측에서 관측된 시간 차이는 EXISTS와 IN의 구조적 차이가 아니다</a:t>
            </a:r>
          </a:p>
          <a:p>
            <a:r>
              <a:rPr sz="1600" b="0">
                <a:solidFill>
                  <a:srgbClr val="5A6672"/>
                </a:solidFill>
                <a:latin typeface="Malgun Gothic"/>
              </a:rPr>
              <a:t>    –  캐시 상태, 즉 먼저 실행됐는지 나중에 실행됐는지에서 비롯됐다</a:t>
            </a:r>
          </a:p>
          <a:p>
            <a:r>
              <a:rPr sz="1600" b="0">
                <a:solidFill>
                  <a:srgbClr val="5A6672"/>
                </a:solidFill>
                <a:latin typeface="Malgun Gothic"/>
              </a:rPr>
              <a:t>    –  실행계획 구조 자체는 완전히 동일했다</a:t>
            </a:r>
          </a:p>
          <a:p>
            <a:r>
              <a:rPr sz="1800" b="0">
                <a:solidFill>
                  <a:srgbClr val="202830"/>
                </a:solidFill>
                <a:latin typeface="Malgun Gothic"/>
              </a:rPr>
              <a:t>•  실무 교훈 — 한 번 측정한 결과로 단정하지 않는다</a:t>
            </a:r>
          </a:p>
          <a:p>
            <a:r>
              <a:rPr sz="1600" b="0">
                <a:solidFill>
                  <a:srgbClr val="5A6672"/>
                </a:solidFill>
                <a:latin typeface="Malgun Gothic"/>
              </a:rPr>
              <a:t>    –  실행 순서를 통제하지 않은 단일 측정은 순서 효과를 그대로 결론에 섞는다</a:t>
            </a:r>
          </a:p>
          <a:p>
            <a:r>
              <a:rPr sz="1800" b="0">
                <a:solidFill>
                  <a:srgbClr val="202830"/>
                </a:solidFill>
                <a:latin typeface="Malgun Gothic"/>
              </a:rPr>
              <a:t>•  공정한 비교를 위한 체크리스트</a:t>
            </a:r>
          </a:p>
          <a:p>
            <a:r>
              <a:rPr sz="1600" b="0">
                <a:solidFill>
                  <a:srgbClr val="5A6672"/>
                </a:solidFill>
                <a:latin typeface="Malgun Gothic"/>
              </a:rPr>
              <a:t>    –  ① 순서를 바꿔 반복 측정한다  ② 캐시 상태를 맞춘다</a:t>
            </a:r>
          </a:p>
          <a:p>
            <a:r>
              <a:rPr sz="1600" b="0">
                <a:solidFill>
                  <a:srgbClr val="5A6672"/>
                </a:solidFill>
                <a:latin typeface="Malgun Gothic"/>
              </a:rPr>
              <a:t>    –  ③ Buffers처럼 캐시에 덜 흔들리는 지표를 함께 본다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1.7~1.8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자원 관점 종합 비교와 예고</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세 버전 종합 벤치마크</a:t>
            </a:r>
          </a:p>
          <a:p>
            <a:r>
              <a:rPr sz="1600" b="0">
                <a:solidFill>
                  <a:srgbClr val="C5CED6"/>
                </a:solidFill>
                <a:latin typeface="Malgun Gothic"/>
              </a:rPr>
              <a:t>•  Buffers와 Memory의 트레이드오프</a:t>
            </a:r>
          </a:p>
          <a:p>
            <a:r>
              <a:rPr sz="1600" b="0">
                <a:solidFill>
                  <a:srgbClr val="C5CED6"/>
                </a:solidFill>
                <a:latin typeface="Malgun Gothic"/>
              </a:rPr>
              <a:t>•  이후 챕터 로드맵</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자원 관점 종합 비교</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1.8절 Benchmark — 세 버전 실측 요약</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버전              | Buffers | A-Time | Memory (Used-Mem, 최대)|</a:t>
            </a:r>
          </a:p>
          <a:p>
            <a:r>
              <a:rPr sz="1250" b="0">
                <a:solidFill>
                  <a:srgbClr val="E6E6E6"/>
                </a:solidFill>
                <a:latin typeface="Consolas"/>
              </a:rPr>
              <a:t>+-------------------+---------+--------+------------------------+</a:t>
            </a:r>
          </a:p>
          <a:p>
            <a:r>
              <a:rPr sz="1250" b="0">
                <a:solidFill>
                  <a:srgbClr val="E6E6E6"/>
                </a:solidFill>
                <a:latin typeface="Consolas"/>
              </a:rPr>
              <a:t>| A. IN             |   8,659 | 0.10초 | 6,651K                 |</a:t>
            </a:r>
          </a:p>
          <a:p>
            <a:r>
              <a:rPr sz="1250" b="0">
                <a:solidFill>
                  <a:srgbClr val="E6E6E6"/>
                </a:solidFill>
                <a:latin typeface="Consolas"/>
              </a:rPr>
              <a:t>| B. EXISTS         |   8,604 | 0.05초 | 6,694K                 |</a:t>
            </a:r>
          </a:p>
          <a:p>
            <a:r>
              <a:rPr sz="1250" b="0">
                <a:solidFill>
                  <a:srgbClr val="E6E6E6"/>
                </a:solidFill>
                <a:latin typeface="Consolas"/>
              </a:rPr>
              <a:t>| C. JOIN+DISTINCT  |   6,713 | 0.04초 | 12M (HASH GROUP BY)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A : EXISTS와 구조 동일, 캐시 미보유 상태에서 측정</a:t>
            </a:r>
          </a:p>
          <a:p>
            <a:r>
              <a:rPr sz="1250" b="0">
                <a:solidFill>
                  <a:srgbClr val="7EC699"/>
                </a:solidFill>
                <a:latin typeface="Consolas"/>
              </a:rPr>
              <a:t>-- B : IN과 구조 동일, 캐시 보유 상태에서 측정</a:t>
            </a:r>
          </a:p>
          <a:p>
            <a:r>
              <a:rPr sz="1250" b="0">
                <a:solidFill>
                  <a:srgbClr val="7EC699"/>
                </a:solidFill>
                <a:latin typeface="Consolas"/>
              </a:rPr>
              <a:t>-- C : MEDICAL_CLAIMS 접근 자체가 없음</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Buffers와 Memory의 트레이드오프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Buffers만 보면 C가 가장 적고 A·B는 동일하다</a:t>
            </a:r>
          </a:p>
          <a:p>
            <a:r>
              <a:rPr sz="1600" b="0">
                <a:solidFill>
                  <a:srgbClr val="5A6672"/>
                </a:solidFill>
                <a:latin typeface="Malgun Gothic"/>
              </a:rPr>
              <a:t>    –  C는 MEDICAL_CLAIMS 접근 단계가 없어 그만큼 블록을 덜 읽었다</a:t>
            </a:r>
          </a:p>
          <a:p>
            <a:r>
              <a:rPr sz="1800" b="0">
                <a:solidFill>
                  <a:srgbClr val="202830"/>
                </a:solidFill>
                <a:latin typeface="Malgun Gothic"/>
              </a:rPr>
              <a:t>•  그런데 Memory는 C가 오히려 더 크다</a:t>
            </a:r>
          </a:p>
          <a:p>
            <a:r>
              <a:rPr sz="1600" b="0">
                <a:solidFill>
                  <a:srgbClr val="5A6672"/>
                </a:solidFill>
                <a:latin typeface="Malgun Gothic"/>
              </a:rPr>
              <a:t>    –  C는 HASH GROUP BY로 중복을 제거하느라 12M의 작업 영역을 썼다</a:t>
            </a:r>
          </a:p>
          <a:p>
            <a:r>
              <a:rPr sz="1600" b="0">
                <a:solidFill>
                  <a:srgbClr val="5A6672"/>
                </a:solidFill>
                <a:latin typeface="Malgun Gothic"/>
              </a:rPr>
              <a:t>    –  A·B는 단순 집계라 6,694K로 더 작았다</a:t>
            </a:r>
          </a:p>
          <a:p>
            <a:r>
              <a:rPr sz="1800" b="0">
                <a:solidFill>
                  <a:srgbClr val="202830"/>
                </a:solidFill>
                <a:latin typeface="Malgun Gothic"/>
              </a:rPr>
              <a:t>•  'Buffers가 적으면 항상 전방위로 유리하다'는 뜻이 아니다</a:t>
            </a:r>
          </a:p>
          <a:p>
            <a:r>
              <a:rPr sz="1600" b="0">
                <a:solidFill>
                  <a:srgbClr val="5A6672"/>
                </a:solidFill>
                <a:latin typeface="Malgun Gothic"/>
              </a:rPr>
              <a:t>    –  자원 절약은 다차원적이다 — 어떤 자원을 절약했는지 구분해서 봐야 한다</a:t>
            </a:r>
          </a:p>
          <a:p>
            <a:r>
              <a:rPr sz="1600" b="0">
                <a:solidFill>
                  <a:srgbClr val="5A6672"/>
                </a:solidFill>
                <a:latin typeface="Malgun Gothic"/>
              </a:rPr>
              <a:t>    –  동시 사용자가 많은 환경에서는 작업 영역 사용량이 더 중요한 제약이 될 수 있다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이후 챕터 로드맵</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이번 장에서 남겨 둔 질문</a:t>
            </a:r>
          </a:p>
          <a:p>
            <a:r>
              <a:rPr sz="1600" b="0">
                <a:solidFill>
                  <a:srgbClr val="5A6672"/>
                </a:solidFill>
                <a:latin typeface="Malgun Gothic"/>
              </a:rPr>
              <a:t>    –  C 버전은 왜 MEDICAL_CLAIMS 접근을 생략할 수 있었는가 → Chapter 7 JOIN 실행 원리</a:t>
            </a:r>
          </a:p>
          <a:p>
            <a:r>
              <a:rPr sz="1600" b="0">
                <a:solidFill>
                  <a:srgbClr val="5A6672"/>
                </a:solidFill>
                <a:latin typeface="Malgun Gothic"/>
              </a:rPr>
              <a:t>    –  E-Rows와 A-Rows는 왜 어긋나는가 → 통계정보·카디널리티 추정 챕터</a:t>
            </a:r>
          </a:p>
          <a:p>
            <a:r>
              <a:rPr sz="1800" b="0">
                <a:solidFill>
                  <a:srgbClr val="202830"/>
                </a:solidFill>
                <a:latin typeface="Malgun Gothic"/>
              </a:rPr>
              <a:t>•  본격적인 개선 기법은 이후 챕터에서 순서대로 다룬다</a:t>
            </a:r>
          </a:p>
          <a:p>
            <a:r>
              <a:rPr sz="1600" b="0">
                <a:solidFill>
                  <a:srgbClr val="5A6672"/>
                </a:solidFill>
                <a:latin typeface="Malgun Gothic"/>
              </a:rPr>
              <a:t>    –  바인드 변수 사용 여부, 인덱스 설계, 조인 방식 선택 등</a:t>
            </a:r>
          </a:p>
          <a:p>
            <a:r>
              <a:rPr sz="1800" b="0">
                <a:solidFill>
                  <a:srgbClr val="202830"/>
                </a:solidFill>
                <a:latin typeface="Malgun Gothic"/>
              </a:rPr>
              <a:t>•  이번 차시의 범위는 '판단 기준을 세우는 것'까지다</a:t>
            </a:r>
          </a:p>
          <a:p>
            <a:r>
              <a:rPr sz="1600" b="0">
                <a:solidFill>
                  <a:srgbClr val="5A6672"/>
                </a:solidFill>
                <a:latin typeface="Malgun Gothic"/>
              </a:rPr>
              <a:t>    –  기준 없이 기법부터 배우면 언제 써야 할지를 판단할 수 없다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 튜닝은 같은 결과를 내는 방법 중 자원을 덜 쓰는 쪽을 실측으로 고르는 작업이다</a:t>
            </a:r>
          </a:p>
          <a:p>
            <a:r>
              <a:rPr sz="1800" b="0">
                <a:solidFill>
                  <a:srgbClr val="202830"/>
                </a:solidFill>
                <a:latin typeface="Malgun Gothic"/>
              </a:rPr>
              <a:t>•  SQL 성능은 '몇 초'가 아니라 자원(CPU·I/O·Memory) 소비량으로 판단한다</a:t>
            </a:r>
          </a:p>
          <a:p>
            <a:r>
              <a:rPr sz="1800" b="0">
                <a:solidFill>
                  <a:srgbClr val="202830"/>
                </a:solidFill>
                <a:latin typeface="Malgun Gothic"/>
              </a:rPr>
              <a:t>•  I/O는 Buffers(논리적 I/O), Memory는 OMem·1Mem·Used-Mem으로 확인한다</a:t>
            </a:r>
          </a:p>
          <a:p>
            <a:r>
              <a:rPr sz="1800" b="0">
                <a:solidFill>
                  <a:srgbClr val="202830"/>
                </a:solidFill>
                <a:latin typeface="Malgun Gothic"/>
              </a:rPr>
              <a:t>•  Buffers가 같아도 A-Time이 다를 수 있다 — 캐시 상태(물리 I/O 여부)를 의심한다</a:t>
            </a:r>
          </a:p>
          <a:p>
            <a:r>
              <a:rPr sz="1800" b="0">
                <a:solidFill>
                  <a:srgbClr val="202830"/>
                </a:solidFill>
                <a:latin typeface="Malgun Gothic"/>
              </a:rPr>
              <a:t>•  IN과 EXISTS는 같은 세미조인으로 변환되어 실행계획이 완전히 동일했다</a:t>
            </a:r>
          </a:p>
          <a:p>
            <a:r>
              <a:rPr sz="1800" b="0">
                <a:solidFill>
                  <a:srgbClr val="202830"/>
                </a:solidFill>
                <a:latin typeface="Malgun Gothic"/>
              </a:rPr>
              <a:t>•  '이 방식이 항상 빠르다'는 통념은 실측 없이 신뢰하면 안 된다</a:t>
            </a:r>
          </a:p>
          <a:p>
            <a:r>
              <a:rPr sz="1800" b="0">
                <a:solidFill>
                  <a:srgbClr val="202830"/>
                </a:solidFill>
                <a:latin typeface="Malgun Gothic"/>
              </a:rPr>
              <a:t>•  같은 FROM 절이라도 옵티마이저가 불필요한 테이블 접근을 제거할 수 있다 (Chapter 7)</a:t>
            </a:r>
          </a:p>
          <a:p>
            <a:r>
              <a:rPr sz="1800" b="0">
                <a:solidFill>
                  <a:srgbClr val="202830"/>
                </a:solidFill>
                <a:latin typeface="Malgun Gothic"/>
              </a:rPr>
              <a:t>•  자원 절약은 다차원적이다 — Buffers를 아꼈다고 Memory도 아꼈다는 보장은 없다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SQL튜닝_Ch01_문제.md</a:t>
            </a:r>
          </a:p>
          <a:p>
            <a:r>
              <a:rPr sz="1600" b="0">
                <a:solidFill>
                  <a:srgbClr val="5A6672"/>
                </a:solidFill>
                <a:latin typeface="Malgun Gothic"/>
              </a:rPr>
              <a:t>    –  1~2번  HASH JOIN RIGHT SEMI의 의미와 IN·EXISTS 실행계획 동일성</a:t>
            </a:r>
          </a:p>
          <a:p>
            <a:r>
              <a:rPr sz="1600" b="0">
                <a:solidFill>
                  <a:srgbClr val="5A6672"/>
                </a:solidFill>
                <a:latin typeface="Malgun Gothic"/>
              </a:rPr>
              <a:t>    –  3번  Buffers가 같은데 A-Time이 다른 이유 추론</a:t>
            </a:r>
          </a:p>
          <a:p>
            <a:r>
              <a:rPr sz="1600" b="0">
                <a:solidFill>
                  <a:srgbClr val="5A6672"/>
                </a:solidFill>
                <a:latin typeface="Malgun Gothic"/>
              </a:rPr>
              <a:t>    –  4~5번  Buffers 차이가 발생한 단계 지목과 MEDICAL_CLAIMS 접근 생략의 근거</a:t>
            </a:r>
          </a:p>
          <a:p>
            <a:r>
              <a:rPr sz="1600" b="0">
                <a:solidFill>
                  <a:srgbClr val="5A6672"/>
                </a:solidFill>
                <a:latin typeface="Malgun Gothic"/>
              </a:rPr>
              <a:t>    –  6번  DRUG_MASTER의 E-Rows 추정이 실제와 어긋난 이유</a:t>
            </a:r>
          </a:p>
          <a:p>
            <a:r>
              <a:rPr sz="1600" b="0">
                <a:solidFill>
                  <a:srgbClr val="5A6672"/>
                </a:solidFill>
                <a:latin typeface="Malgun Gothic"/>
              </a:rPr>
              <a:t>    –  7·9번  코드 리뷰와 실무 판단 — 스타일만으로 성능을 단정할 수 없는 이유</a:t>
            </a:r>
          </a:p>
          <a:p>
            <a:r>
              <a:rPr sz="1600" b="0">
                <a:solidFill>
                  <a:srgbClr val="5A6672"/>
                </a:solidFill>
                <a:latin typeface="Malgun Gothic"/>
              </a:rPr>
              <a:t>    –  8·10번  Buffers와 Memory의 트레이드오프, 실무 채택 근거 서술</a:t>
            </a:r>
          </a:p>
          <a:p>
            <a:r>
              <a:rPr sz="1800" b="0">
                <a:solidFill>
                  <a:srgbClr val="202830"/>
                </a:solidFill>
                <a:latin typeface="Malgun Gothic"/>
              </a:rPr>
              <a:t>•  실습 전 확인 — 이번 장은 DDL 변경이 없다</a:t>
            </a:r>
          </a:p>
          <a:p>
            <a:r>
              <a:rPr sz="1600" b="0">
                <a:solidFill>
                  <a:srgbClr val="5A6672"/>
                </a:solidFill>
                <a:latin typeface="Malgun Gothic"/>
              </a:rPr>
              <a:t>    –  인덱스·통계를 임의로 바꾸면 교안의 실행계획이 재현되지 않는다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
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6장은 지금까지 배운 정적 SQL의 한계를 넘어서는 장이다. 실행 시점에 문장을 조립해 실행하는 동적 SQL의 원리와 문법을 익히고, 그것을 데이터 딕셔너리와 결합해 DBA 운영 자동화 루틴을 만드는 것이 목표다. 앞부분은 EXECUTE IMMEDIATE 와 Bind Variable, 중반은 동적 SELECT 와 DBMS_SQL, 후반은 SQL Injection 방어와 딕셔너리 뷰 활용을 다룬다. 실습 트랜스크립트 8편이 함께 제공되며 모든 편에 오류 재현과 수정 과정이 들어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목표를 읽어 주면서 이 장이 개발자 관점과 DBA 관점 두 축으로 구성되어 있음을 미리 알린다. 앞의 다섯 항목은 PL/SQL 문법 능력이고 뒤의 네 항목은 운영 자동화 능력이다. 특히 오류 코드가 목표에 직접 등장한다는 점을 강조한다. 동적 SQL은 컴파일러가 검사해 주지 않으므로 오류 메시지를 읽는 능력이 곧 실력이 되기 때문이다. 실습 8편을 모두 수행하면 이 목표를 자연스럽게 달성하도록 설계되어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흐름을 한 화면에서 보여 준다. 앞의 절반은 동적 SQL의 문법과 실행 원리, 뒤의 절반은 그것을 실제 운영에 적용하는 방법이다. 6.13 과 6.14 의 보안 부분은 시험과 실무 모두에서 가장 자주 다뤄지는 내용이므로 시간을 충분히 배분한다고 안내한다. 마지막 6.19 는 앞의 모든 내용을 결합한 종합 예제이므로, 여기까지 오면 7장의 스케줄러 자동화로 자연스럽게 이어진다는 점도 함께 언급하면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섹션에서는 동적 SQL이 무엇이고 왜 필요한지, 그리고 어떤 대가를 치르는지를 다룬다. 여기서 확립할 원칙은 하나다. 정적 SQL로 쓸 수 있으면 정적 SQL로 쓰고, 동적 SQL은 정적으로 표현할 수 없을 때만 쓴다는 것이다. 그리고 동적 SQL을 쓸 때는 값을 반드시 바인딩한다. 이 두 원칙이 이후 모든 절의 바탕이 되므로 섹션 시작에서 분명히 못 박아 둔다. 여섯 개 절을 순서대로 따라가면 동적 SQL의 문법 전체를 한 바퀴 돌게 되며, 각 절마다 대표 오류를 하나씩 재현하므로 진도를 나가면서 자연스럽게 진단 능력이 쌓인다.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정적과 동적의 본질적 차이는 "언제 검사받는가"이다. 정적 SQL은 CREATE 하는 순간 오라클이 대신 검사해 주지만 동적 SQL은 그 안전망이 없다. 특히 의존성이 기록되지 않는다는 점을 강조한다. 동적으로만 참조하는 테이블을 지워도 프로그램은 VALID 로 남아 있다가 야간 배치에서 처음 실패한다. 실습 01 에서 이 상황을 직접 재현하므로 여기서는 개념만 확실히 잡아 준다. 반대로 동적 SQL이 주는 이점도 함께 언급한다. 테이블 이름이 실행 시점에야 정해지는 작업은 정적 SQL로는 아예 작성할 수 없으므로, DBA 자동화에서는 선택이 아니라 필수 도구가 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형태로 여섯 가지 관점을 비교한다. 특히 권한 항목은 실무 사고의 단골 원인이므로 시간을 들여 설명한다. 롤로만 권한을 받은 계정이 정의자 권한 프로시저 안에서 정적 SQL을 실행하면 ORA-01031 이 나지만, 같은 문장을 동적으로 실행하면 성공한다. 반대로 이 성질에 기대어 코드를 짜면 나중에 AUTHID 를 바꾸는 순간 동작이 달라진다. 편법이 아니라 이해하고 선택해야 할 설계 요소임을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SQL의 성능 특성을 이해하려면 이 네 단계를 알아야 한다. 정적 SQL은 프로그램을 컴파일할 때 Parse 를 마쳐 두므로 실행할 때는 Execute 와 Fetch 만 남는다. 동적 SQL은 문자열을 만드는 일부터 시작해 네 단계를 매번 수행한다. 다만 다음 슬라이드에서 보듯이 실제 비용의 대부분은 동적이라는 사실 자체가 아니라 바인드 변수를 쓰지 않는 습관에서 발생한다는 점을 예고해 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파싱한 문장과 실행 계획을 라이브러리 캐시에 보관하고 같은 문장이 다시 들어오면 재사용한다. 문장 텍스트가 한 글자라도 다르면 다른 문장으로 취급되어 하드 파스가 일어난다. 앞의 방식은 캐시를 오염시키고 파싱 래치를 반복해서 잡아 동시 사용자가 많은 시스템에서 성능 장애로 이어진다. 바인드 변수는 보안 대책이기 이전에 성능 대책이라는 점을 여기서 각인시켜 둔다. V$SQL 을 조회하면 같은 형태의 문장이 값만 다르게 수십 개 쌓여 있는 모습을 직접 볼 수 있으므로, 여유가 있으면 실습 환경에서 함께 확인해 보는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Dynamic SQL 의 핵심 문장이다. 네 개의 절이 각각 어떤 역할을 하는지 확인시킨다. INTO 는 결과를 받고 USING 은 값을 넣는다는 방향의 차이를 분명히 해 두면 이후 혼동이 줄어든다. 19c 부터는 dynamic_string 으로 CLOB 을 받을 수 있어 32KB 를 넘는 긴 문장도 처리할 수 있다. 문자열 길이를 예측하기 어려운 자동화 코드에서는 처음부터 CLOB 변수를 쓰는 것이 안전한 습관이라고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초보자가 가장 자주 걸리는 함정이다. SQL*Plus 에서 치는 세미콜론은 문장을 서버로 보내라는 SQL*Plus 의 명령 종결 기호이지 SQL 문법의 일부가 아니다. 문자열 안에 들어가면 오라클은 정체불명의 문자로 보고 ORA-00911 을 던진다. 반대로 PL/SQL 블록은 END 뒤의 세미콜론이 문법의 일부이므로 반드시 있어야 한다. 두 규칙이 정반대라는 점을 나란히 보여 주면 기억에 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PL/SQL 컴파일러는 DML 과 트랜잭션 제어문만 직접 받아들인다. DDL 은 실행 시점에 객체를 만들거나 없애므로, 컴파일 시점에 존재하지 않는 객체를 참조하는 코드는 컴파일될 수 없기 때문이다. 그래서 DDL 은 반드시 동적 SQL로 감싸야 한다. PLS-00103 은 파서가 예상하지 못한 토큰을 만났다는 뜻이며 CREATE 라는 단어 자체가 그 자리에 올 수 없다는 신호다. 실습 03 에서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DDL 문을 실행하기 직전에 한 번, 직후에 한 번 커밋을 수행한다. 따라서 동적 DDL 을 한 줄 실행하는 순간 그 앞에서 수행한 모든 DML 이 확정되어 버린다. 롤백으로 되돌릴 수 있다고 믿고 짠 트랜잭션이 조용히 깨지는 사고가 여기서 나온다. 자동화 코드에서 임시 테이블을 만들거나 지우는 로직을 트랜잭션 한가운데 넣으면 안 되는 이유다. 실습 03 에서 이 동작을 눈으로 확인하게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DDL 에서 만나는 오류는 대부분 이 다섯 가지 안에 들어간다. 특히 ORA-00955 와 ORA-00942 는 "있는데 또 만들었다" 와 "없는데 지우려 했다"의 짝이므로 함께 외우게 한다. 마지막 두 항목이 중요한데, DDL 은 값이 아니라 객체 이름이 바뀌는 문장이라 바인딩 자체가 불가능하다. 그래서 6.14 절의 DBMS_ASSERT 검증이 선택이 아니라 필수가 된다는 흐름을 여기서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자주 쓰는 동적 DDL 패턴이다. 딕셔너리를 먼저 조회해 존재 여부를 확인하는 방법도 있지만, 확인과 실행 사이에 다른 세션이 객체를 지울 수 있으므로 ORA-00942 를 예외로 잡아 무시하는 방식이 더 견고하다. 주목할 점은 WHEN OTHERS 안에서 SQLCODE 를 검사해 942 만 무시하고 나머지는 RAISE 로 다시 던진다는 것이다. WHEN OTHERS 로 모든 오류를 삼키는 것은 3장에서 배운 대로 금기다.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암시적 커서 속성인 SQL%ROWCOUNT 는 동적 DML 에도 그대로 적용되어 EXECUTE IMMEDIATE 로 실행한 INSERT · UPDATE · DELETE · MERGE 의 처리 행 수를 돌려준다. 자동화 스크립트에서 몇 건을 처리했는가를 로그에 남기려면 이 값을 반드시 읽어야 한다. 다만 EXECUTE IMMEDIATE 직후에 읽어야 하며 중간에 다른 SQL 이 끼어들면 값이 덮어써진다는 점을 강조한다. 6.19 절의 로그 기록에서 그대로 활용된다.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DML 의 RETURNING 절도 동적으로 사용할 수 있다. 여기서 USING 절에 인자가 세 개 들어간 것에 주목시킨다. 앞의 두 개는 조건에 넣을 IN 값이고 마지막 하나는 결과를 받을 OUT 인자다. RETURNING INTO 뒤의 플레이스홀더도 USING 목록의 일부로 순서대로 대응된다. 여러 행을 갱신하면서 값을 받으려면 RETURNING ... BULK COLLECT INTO 형태로 컬렉션에 담아야 한다는 점도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6장 전반부의 핵심이다. SQL 문장과 PL/SQL 블록의 대응 규칙이 정반대라는 점이 혼란의 가장 큰 원인이므로 반드시 구분해서 기억하게 한다. 마지막 항목도 실무에서 자주 걸린다. USING NULL 이라고 쓰면 오라클이 그 NULL 의 자료형을 알 수 없어 컴파일 단계에서 거부하므로, v_val VARCHAR2(30) := NULL 처럼 형이 있는 변수를 선언해 넘겨야 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문장에서는 플레이스홀더와 USING 인자가 위치로 대응되므로 같은 이름이라도 등장 횟수만큼 인자를 넘겨야 한다. ORA-01008 은 문장이 요구하는 바인드 자리를 다 채우지 못했다는 뜻이다. 반대로 인자를 더 많이 넘기면 ORA-01006 이 발생한다. 두 오류를 짝으로 기억하면 진단이 빨라진다. 이 규칙은 실습 02 에서 직접 재현하며, 같은 문자열을 PL/SQL 블록으로 감싸면 인자 하나로도 동작한다는 대조 실험도 함께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섹션은 결과를 받아 오는 방법을 다룬다. 동적 SELECT 는 결과 행 수와 결과 구조를 아느냐 모르느냐에 따라 네 가지 갈래로 나뉜다. 그 갈래를 정확히 구분해 선택하는 것이 이 섹션의 목표다. 마지막 두 절의 DBMS_SQL 은 오늘날 자주 쓰이지 않지만, NDS 로 할 수 없는 일이 무엇인지 알아야 NDS 의 한계를 이해할 수 있으므로 개요 수준에서 확실히 짚고 넘어간다. 실습 04 와 실습 05 가 이 섹션에 대응하므로 슬라이드를 마친 뒤 곧바로 실습으로 이어 가면 흐름이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INTO 절에는 스칼라 변수를 여러 개 나열할 수도 있고 %ROWTYPE 레코드를 하나 넘길 수도 있다. 레코드를 쓰면 SELECT * 로 조회한 행 전체를 한 번에 받을 수 있어 코드가 짧아진다. INTO 절은 정확히 한 행을 요구하므로 행이 없으면 NO_DATA_FOUND, 두 행 이상이면 TOO_MANY_ROWS 가 발생한다. 이 동작은 정적 SELECT INTO 와 완전히 같으므로 3장에서 배운 예외 처리를 그대로 적용하면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SQL이었다면 PLS-00428 컴파일 오류로 미리 잡혔을 실수다. 그러나 동적 SQL에서는 컴파일러가 문자열의 내용을 보지 못하므로 컴파일은 성공하고 실행 시점에 ORA-24374 로 실패한다. define 은 결과 컬럼을 받을 자리를 지정하는 단계를 뜻하는 OCI 용어다. 이 오류를 만나면 SELECT 인데 INTO 나 BULK COLLECT INTO 를 붙이지 않았다는 뜻이라고 바로 연결하도록 훈련시킨다. 실습 01 의 오류 흐름이다.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SELECT 의 오류는 대부분 개수 불일치와 행 수 불일치 두 가지에서 나온다. ORA-00947 과 ORA-00913 은 방향만 다른 짝이므로 함께 외운다. 마지막 항목이 특히 중요하다. INTO 는 0건일 때 NO_DATA_FOUND 를 던지지만 BULK COLLECT INTO 는 빈 컬렉션으로 조용히 정상 종료한다. 이 차이를 모르면 아무 일도 일어나지 않았는데 성공으로 기록되는 자동화 코드를 만들게 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BULK COLLECT INTO 는 PL/SQL 엔진과 SQL 엔진 사이의 컨텍스트 스위치를 한 번으로 줄여 주므로 행이 많을수록 커서 루프보다 압도적으로 빠르다. 3장에서 배운 정적 BULK COLLECT 와 문법이 동일하고 문장만 문자열이 되었을 뿐이다. 다만 행이 수십만 건이면 컬렉션 하나가 PGA 메모리를 통째로 차지하므로 그때는 OPEN-FOR 와 FETCH LIMIT 구조로 잘라 가져와야 한다는 점을 반드시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갈래를 한 화면에 정리한다. 실무에서 판단 기준은 두 가지 질문으로 압축된다. 첫째, 결과가 몇 행인가. 둘째, 결과의 구조를 코드를 쓰는 시점에 아는가. 첫 질문이 INTO 와 BULK COLLECT 와 REF CURSOR 를 가르고, 둘째 질문이 NDS 와 DBMS_SQL 을 가른다. 이 두 질문을 반복해서 던지도록 훈련시키면 학습자가 스스로 올바른 도구를 고를 수 있게 된다. 덧붙여 EXECUTE IMMEDIATE 의 BULK COLLECT INTO 에는 LIMIT 을 붙일 수 없다는 제약도 여기서 다시 짚어 준다. 대량 처리에서 OPEN-FOR 를 선택하는 결정적 이유이기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cursor_variable FOR dynamic_string 구문으로 동적 문자열을 커서에 연결한 뒤 평소처럼 FETCH 하고 CLOSE 한다. 여기서 ORDER BY 컬럼을 문자열로 결합한 점에 주목시킨다. 정렬 컬럼은 값이 아니라 식별자라 바인딩할 수 없기 때문이다. 이런 자리는 반드시 화이트리스트로 검증해야 하며, 사용자가 넘긴 정렬 문자열을 그대로 붙이면 그 자리에 부질의를 심을 수 있다. 6.14 절에서 방어 기법을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문자열이 BEGIN 으로 시작해 END 세미콜론으로 끝나면 오라클은 PL/SQL 블록으로 처리한다. 이 기능을 쓰면 프로시저 이름 자체를 런타임에 결정해 호출할 수 있어 점검 항목을 테이블로 관리하는 자동화가 가능해진다. 값을 되돌려 받으려면 USING 인자에 OUT 또는 IN OUT 을 명시해야 하며 생략하면 IN 으로 간주된다. 또한 동적 블록은 독립된 스코프이므로 바깥 로컬 변수를 이름으로 참조하면 PLS-00201 이 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Method 는 오라클 동적 SQL의 고전적 분류로, 뒤의 것이 앞의 것을 포함하는 포함 관계를 이룬다. Method 1 에서 3 까지는 NDS 로 모두 처리할 수 있고 코드도 훨씬 짧다. 오직 Method 4 만 DBMS_SQL 이 필요하다. 실무에서 Method 4 가 필요한 대표 사례는 사용자가 화면에서 조회할 컬럼을 임의로 고르는 리포트 도구나, 임의 테이블의 내용을 덤프하는 유틸리티다.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DBMS_SQL 은 커서를 정수 ID 로 다루며 다섯 단계의 순서를 반드시 지켜야 한다. 질의라면 EXECUTE 앞에 DEFINE_COLUMN 을, 뒤에 FETCH_ROWS 와 COLUMN_VALUE 를 추가한다. NDS 한 줄로 끝나는 일을 다섯 줄로 쓰는 셈이니 왜 NDS 를 기본으로 쓰는지 실감하게 된다. 실제 코드에서는 예외 절에 IS_OPEN 검사와 CLOSE_CURSOR 를 넣어 커서 누수를 막아야 한다는 점도 함께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아직 파싱된 문장이 없는 커서에 값을 묶으려 했으므로 ORA-01001 이 발생한다. DBMS_SQL 의 두 번째 흔한 사고는 커서를 닫지 않는 것이다. 반복 호출하면 세션의 열린 커서 수가 OPEN_CURSORS 파라미터 값을 넘겨 ORA-01000 이 발생한다. 또 하나 기억할 차이가 있다. DBMS_SQL 로 DDL 을 실행하면 PARSE 하는 순간 문장이 곧바로 수행되어 EXECUTE 호출이 사실상 불필요하다. 실습 05 에서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방식을 한 프로그램 안에서 섞어 쓸 수 있다는 점이 실무에서 매우 유용하다. 전형적인 패턴은 컬럼 개수를 모르므로 DBMS_SQL 로 파싱해 DESCRIBE_COLUMNS 로 구조를 파악한 뒤, 실제 조회는 TO_REFCURSOR 로 바꿔 NDS 스타일로 편하게 처리하는 것이다. 반대로 애플리케이션이 넘겨준 REF CURSOR 의 구조를 알아내야 할 때는 TO_CURSOR_NUMBER 로 바꾼 뒤 DESCRIBE_COLUMNS 를 호출한다.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섹션은 동적 SQL을 실제 운영에 쓸 때 반드시 갖춰야 할 두 가지를 다룬다. 하나는 보안이고 다른 하나는 자동화 설계다. SQL Injection 은 개념만 아는 것과 직접 재현해 본 것의 차이가 매우 크므로 실습 08 을 반드시 수행하게 한다. 후반의 딕셔너리 뷰는 DBA 자동화의 원재료이며, 6.19 절에서 앞의 모든 내용을 결합한 완성형 루틴을 만들어 본다. 이 섹션을 마치면 7장의 DBMS_SCHEDULER 로 넘어가 지금 만든 루틴을 일정에 맞춰 자동 실행하는 단계로 확장하게 되므로, 여기서 만든 코드는 버리지 말고 보관하도록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평범해 보이는 조회 프로시저다. 정상 입력에서는 한 건이 나오지만 공격 입력에서는 107건 전체가 노출된다. 입력한 작은따옴표가 문자열을 닫아 버리고 그 뒤의 OR 조건이 WHERE 절의 일부가 되어 항상 참이 되기 때문이다. 조회라면 정보 유출로 끝나지만 같은 취약점이 UPDATE 나 DELETE 에 있으면 데이터가 통째로 사라진다. 실습에서는 반드시 복사본 테이블을 대상으로 하고 확인 즉시 ROLLBACK 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방어를 설계할 때는 어떤 조건을 끊을지 먼저 정해야 한다. 첫 조건을 끊는 것은 동적 SQL을 쓰지 않는 것인데 현실적으로 불가능한 경우가 많다. 셋째 조건을 끊는 검증은 우회 기법과의 끝없는 싸움이 된다. 그래서 실무의 표준 답은 둘째 조건을 끊는 것, 즉 값을 전부 바인딩하는 것이다. 바인딩할 수 없는 식별자 자리만 남겨 두고 그 좁은 영역에 검증을 집중하는 것이 효율적인 전략이다. 참고로 두 개의 하이픈은 SQL 주석 시작 기호로, 공격자는 이것으로 문장의 나머지를 무력화해 남은 따옴표 문제를 피해 간다는 점도 함께 설명하면 이해가 빠르다.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바인드 변수로 넘긴 값은 문장이 파싱된 뒤에 전달되므로 그 안에 무엇이 들어 있어도 문장의 구조를 바꿀 수 없다. 공격 문자열은 그저 이름이 이상한 검색어가 되어 0건을 반환한다. 앞 슬라이드의 취약한 코드와 나란히 보여 주면 차이가 극명하다. 문장 텍스트가 항상 동일해져 하드 파스도 사라지므로 보안과 성능을 동시에 얻는다는 점을 다시 한 번 연결해 강조한다. 다만 바인딩으로 막을 수 있는 것은 값 자리뿐이다. 테이블 이름이나 정렬 컬럼처럼 식별자가 들어가는 자리는 다음 슬라이드의 검증 기법이 따로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DBMS_ASSERT 는 값이 아니라 식별자를 검증하는 SYS 소유 패키지다. 통과하면 입력을 그대로 돌려주고 아니면 예외를 던지므로 조립식 코드에 자연스럽게 끼워 넣을 수 있다. 다만 이 패키지는 문법적으로 올바른 이름인가만 검사한다는 한계를 반드시 짚어 준다. DROP_ALL_TABLES 라는 이름도 문법적으로는 올바르므로 통과한다. 그래서 다음 슬라이드의 화이트리스트 검증이 함께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딕셔너리에서 확인된 이름만 문장에 결합하는 것이 가장 확실한 방어다. 사용자가 무엇을 넘기든 USER_TABLES 에 없으면 NO_DATA_FOUND 로 걸러진다. 그리고 문장에 들어가는 것은 사용자 입력이 아니라 딕셔너리에서 읽어 온 값이라는 점이 핵심이다. 허용 목록을 별도 테이블로 관리하는 방식도 같은 원리다. UPPER 와 TRIM 을 붙인 이유는 딕셔너리가 대문자로 저장하기 때문임을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 리뷰에서 그대로 쓸 수 있는 체크리스트다. 특히 네 번째 항목이 중요하다. 동적 SQL은 롤로 받은 권한도 사용하므로, 자동화 계정에 DBA 롤이나 ANY 계열 권한을 주면 주입 성공 시 피해 범위가 데이터베이스 전체로 확대된다. 마지막 항목도 실무에서 자주 놓친다. 조립한 문장을 변수에 담아 두고 예외 절에서 로그에 기록하면 ORA-00904 같은 오류의 원인을 몇 초 만에 찾을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딕셔너리는 데이터베이스가 자기 자신에 대한 정보를 담아 두는 읽기 전용 뷰의 집합이며 SYS 소유로 저장된다. 세 계열은 대개 같은 컬럼 구조를 갖고 범위만 다르다. 자동화 스크립트는 가장 좁은 범위인 USER_ 로 시작해 필요할 때만 넓히는 것이 안전하다. HR 같은 일반 계정으로 개발한 스크립트가 DBA_ 뷰를 참조하면 배포 환경에서 갑자기 실패하기 때문이다. 뷰 이름이 기억나지 않으면 DICT 에서 검색한다.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 프로그램은 참조하던 객체가 바뀌면 자동으로 INVALID 가 되고 다음 호출 때 재컴파일을 시도한다. 재컴파일이 실패하면 그때서야 ORA-04063 으로 애플리케이션이 멈추므로 야간 점검에서 미리 찾아 복구하는 것이 표준 절차다. 루프에서 PACKAGE BODY 를 제외한 이유를 반드시 설명한다. ALTER PACKAGE BODY x COMPILE 은 문법 오류이고 올바른 형태는 ALTER PACKAGE x COMPILE BODY 이므로 변환 규칙이 따로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USER_TABLES 의 NUM_ROWS 와 LAST_ANALYZED 는 통계 수집 시점의 값이며 실시간 값이 아니라는 점을 반드시 짚는다. 실제 건수를 알려면 COUNT 를 세야 한다. 통계가 오래되면 옵티마이저가 잘못된 계획을 세우므로 LAST_ANALYZED 점검도 야간 배치의 단골 항목이다. USER_INDEXES 의 STATUS 가 UNUSABLE 이면 그 인덱스는 사용되지 않으며, 유니크 제약을 지원하던 인덱스라면 DML 자체가 실패한다.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초보자가 자주 혼동하는 두 상황을 나란히 놓는다. 딕셔너리 뷰를 조회할 때 조건에 맞는 행이 없는 것은 정상 동작이며 오류가 아니다. 반면 존재하지 않는 테이블을 직접 조회하면 ORA-00942 로 실패한다. 자동화 코드는 이 차이를 이용해 존재 여부를 안전하게 확인한다. 마지막 항목의 대소문자 함정도 실무에서 매우 흔하므로 실습 06 에서 직접 재현해 확인하게 한다. 딕셔너리는 객체 이름을 대문자로 저장하므로 소문자 조건은 언제나 0건이 된다. 조건에 UPPER 를 씌우는 습관을 처음부터 들이도록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USER_PROCEDURES 는 독립 프로시저와 패키지 서브프로그램을 함께 보여 준다. 패키지 서브프로그램은 OBJECT_NAME 에 패키지 이름이, PROCEDURE_NAME 에 서브프로그램 이름이 들어가고 독립 프로시저는 PROCEDURE_NAME 이 NULL 이다. USER_ERRORS 는 SQL*Plus 의 SHOW ERRORS 가 조회하는 뷰다. 자동화 스크립트에서는 SHOW ERRORS 를 쓸 수 없으므로 이 뷰를 직접 조회해야 한다는 점이 실무적으로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 07 의 핵심이다. 권한이 없는 사용자가 DBA_ 뷰를 조회하면 권한 오류가 아니라 객체 없음 오류가 나온다. 객체의 존재 여부 자체가 정보가 되기 때문에 오라클이 의도적으로 구분하지 않는 것이다. 따라서 DBA_ 뷰에서 ORA-00942 를 만나면 가장 먼저 의심할 것은 오타가 아니라 권한이다. 교육 환경에서는 SYSTEM 계정으로 접속을 바꿔 실습을 이어 간다. 운영 환경이라면 필요한 뷰에만 GRANT SELECT 를 직접 받는 것이 정석이다. SELECT_CATALOG_ROLE 같은 롤로 받으면 정의자 권한 프로그램의 정적 SQL에서는 여전히 보이지 않는다는 점도 함께 기억하게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DBA_USERS 의 ACCOUNT_STATUS 는 OPEN · LOCKED · EXPIRED · EXPIRED(GRACE) · LOCKED(TIMED) 중 하나다. 배치 계정이 만료되어 야간 작업이 통째로 실패하는 사고가 흔하므로 만료 예정 계정을 미리 찾아내는 점검이 중요하다. 테이블스페이스 사용률은 DBA_DATA_FILES 와 DBA_FREE_SPACE 를 조인해 계산한다. 공간 부족은 ORA-01653 으로 나타나 배치를 중단시키므로 운영 자동화의 첫 번째 점검 항목이 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6장부터 7장까지 계속 사용할 교육용 운영 로그 테이블이다. 자동화 루틴이 언제 시작해서 언제 끝났고 몇 건을 처리했으며 실패했다면 어떤 오류였는지를 한 행에 담는다. 19c 의 IDENTITY 컬럼을 써서 시퀀스를 따로 만들지 않아도 되게 했다. error_message 를 VARCHAR2(4000)로 잡은 이유는 SQLERRM 이 길어질 수 있기 때문이며, 저장할 때 SUBSTR 로 잘라 넣어야 한다는 점을 미리 알려 둔다.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로그 기록 프로시저는 반드시 자율 트랜잭션으로 만든다. 본 작업이 실패해 ROLLBACK 되더라도 실패했다는 기록만은 남아야 하기 때문이다. PRAGMA AUTONOMOUS_TRANSACTION 을 선언한 블록은 호출한 트랜잭션과 독립적으로 커밋된다. 여기서 가장 흔한 실수가 COMMIT 을 빠뜨리는 것이다. 자율 트랜잭션 블록이 커밋이나 롤백 없이 끝나면 ORA-06519 가 발생하며 변경 사항은 롤백된다.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모든 요소가 결합된 완성형 예제다. 딕셔너리에서 대상 목록을 얻고, 동적 SQL로 각 대상을 처리하고, 결과를 로그에 남긴다. 구조에서 주목할 점이 둘 있다. 하나는 루프 안쪽에 예외 블록을 두어 개별 테이블의 실패가 전체를 중단시키지 않게 한 것이고, 다른 하나는 바깥 예외 절에서 FAILED 로그를 남긴 뒤 RAISE 로 다시 던져 호출자도 실패를 알 수 있게 한 것이다. 7장 스케줄러의 기초가 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자동화 코드의 품질은 정상 동작보다 실패 처리에서 갈린다. 이 원칙들은 모두 실패했을 때 무슨 일이 있었는지 알 수 있게 하려는 것이다. 특히 마지막 항목은 6.18 절의 실무 시나리오와 이어진다. 롤로 받은 권한은 정의자 권한 프로그램의 정적 SQL에서 동작하지 않으므로, 자동화 계정에는 필요한 뷰에 대한 직접 GRANT 를 받아 두어야 배포 후 사고를 피할 수 있다. 이 원칙들은 7장에서 스케줄러로 확장할 때 그대로 적용되므로 지금 습관으로 만들어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SQL은 컴파일러의 도움을 받을 수 없으므로 오류 코드를 읽는 능력이 곧 실력이 된다. 이 목록을 실습 전에 한 번, 실습 후에 다시 한 번 확인하게 하면 기억에 잘 남는다. 짝을 이루는 오류들을 함께 묶어 둔 것도 의도적이다. ORA-01008 과 ORA-01006 은 인자가 부족한 경우와 많은 경우이고, ORA-00947 과 ORA-00913 도 같은 방식의 짝이므로 하나를 알면 다른 하나도 자연히 따라온다.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세 문항은 6.1 부터 6.6 까지의 내용을 확인한다. Q1 은 의존성이 기록되지 않는다는 성질을, Q2 는 암묵적 COMMIT 을, Q3 는 위치 기반 대응 규칙을 묻는다. 특히 Q3 는 SQL 문장과 PL/SQL 블록의 규칙이 정반대라는 점을 정확히 구분해야 완전한 답이 된다. 학습자가 답하기 어려워하면 해당 슬라이드로 돌아가 코드를 다시 보여 주고 직접 실습 환경에서 확인하게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 는 ORA-24374 와 BULK COLLECT 의 무예외 성질을 함께 묻는 문항으로, 두 번째 부분에서 예외가 발생하지 않고 빈 컬렉션이 된다고 답해야 정답이다. Q5 는 결과 구조를 모를 때만 DBMS_SQL 이 필요하다는 판단 기준을 확인한다. Q6 은 이 장에서 가장 실무적인 함정이며 실습 07 에서 직접 재현한 내용이다. 정답과 해설은 실습문제 정답 파일에서 확인할 수 있다. 여섯 문항 모두 단답이 아니라 이유를 설명해야 하는 형태이므로, 학습자가 답을 말할 때 근거가 되는 슬라이드나 오류 코드를 함께 제시하도록 유도하면 이해도를 더 정확히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장으로 6장 전체를 되짚는다. 학습자에게 각 항목을 보면서 관련 슬라이드나 코드가 떠오르는지 스스로 점검하게 한다. 떠오르지 않는 항목이 있으면 해당 절로 돌아가 다시 읽도록 안내한다. 특히 마지막 두 항목은 실무에서 가장 오래 남는 습관이므로 반복해서 강조한다. 값은 예외 없이 바인딩한다는 원칙과 자동화 결과는 반드시 로그로 남긴다는 원칙이다. 이 두 가지는 7장의 스케줄러 자동화와 최종 프로젝트에서도 그대로 이어지는 기준이므로, 요약 슬라이드를 마무리하면서 다음 장의 예고와 함께 다시 한 번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8편의 순서는 본문의 절 순서와 그대로 대응된다. 실습 전에 plsql_job_log 테이블과 EMP_COPY 복사본 테이블을 미리 만들어 두면 진행이 매끄럽다. 실습 07 은 SYSTEM 계정 접속이 필요하고, 실습 08 은 데이터를 변경하는 시나리오를 포함하므로 반드시 복사본 테이블에서 수행하고 확인 후 즉시 ROLLBACK 해야 한다. 각 트랜스크립트 끝의 정리 부분을 먼저 읽고 시작하면 이해가 빠르다.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PL/SQL 7일 실무·DBA 운영자동화 과정  ·  제6장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동적 SQL과 DBA 자동화</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Dynamic SQL · EXECUTE IMMEDIATE · Bind Variable · DBMS_SQL · Data Dictionary · DBA Automation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정적 SQL과 동적 SQL의 차이를 파싱 시점·의존성·권한 관점에서 설명한다</a:t>
            </a:r>
          </a:p>
          <a:p>
            <a:r>
              <a:rPr sz="1600" b="0">
                <a:solidFill>
                  <a:srgbClr val="5A6672"/>
                </a:solidFill>
                <a:latin typeface="Malgun Gothic"/>
              </a:rPr>
              <a:t>    –  EXECUTE IMMEDIATE 의 INTO · USING · RETURNING INTO 를 정확히 사용한다</a:t>
            </a:r>
          </a:p>
          <a:p>
            <a:r>
              <a:rPr sz="1600" b="0">
                <a:solidFill>
                  <a:srgbClr val="5A6672"/>
                </a:solidFill>
                <a:latin typeface="Malgun Gothic"/>
              </a:rPr>
              <a:t>    –  DDL 을 동적으로 실행하고 암묵적 COMMIT 의 영향을 설명한다</a:t>
            </a:r>
          </a:p>
          <a:p>
            <a:r>
              <a:rPr sz="1600" b="0">
                <a:solidFill>
                  <a:srgbClr val="5A6672"/>
                </a:solidFill>
                <a:latin typeface="Malgun Gothic"/>
              </a:rPr>
              <a:t>    –  Bind Variable 의 위치 기반 대응 규칙을 이해하고 ORA-01008 을 진단한다</a:t>
            </a:r>
          </a:p>
          <a:p>
            <a:r>
              <a:rPr sz="1600" b="0">
                <a:solidFill>
                  <a:srgbClr val="5A6672"/>
                </a:solidFill>
                <a:latin typeface="Malgun Gothic"/>
              </a:rPr>
              <a:t>    –  동적 SELECT 를 INTO · BULK COLLECT INTO · REF CURSOR 로 처리한다</a:t>
            </a:r>
          </a:p>
          <a:p>
            <a:r>
              <a:rPr sz="1600" b="0">
                <a:solidFill>
                  <a:srgbClr val="5A6672"/>
                </a:solidFill>
                <a:latin typeface="Malgun Gothic"/>
              </a:rPr>
              <a:t>    –  DBMS_SQL 의 처리 순서와 Method 4 를 설명하고 NDS 와 상호 변환한다</a:t>
            </a:r>
          </a:p>
          <a:p>
            <a:r>
              <a:rPr sz="1600" b="0">
                <a:solidFill>
                  <a:srgbClr val="5A6672"/>
                </a:solidFill>
                <a:latin typeface="Malgun Gothic"/>
              </a:rPr>
              <a:t>    –  SQL Injection 을 재현하고 Bind Variable · DBMS_ASSERT 로 방어한다</a:t>
            </a:r>
          </a:p>
          <a:p>
            <a:r>
              <a:rPr sz="1600" b="0">
                <a:solidFill>
                  <a:srgbClr val="5A6672"/>
                </a:solidFill>
                <a:latin typeface="Malgun Gothic"/>
              </a:rPr>
              <a:t>    –  USER_ · ALL_ · DBA_ 딕셔너리 뷰로 스키마와 계정 상태를 점검한다</a:t>
            </a:r>
          </a:p>
          <a:p>
            <a:r>
              <a:rPr sz="1600" b="0">
                <a:solidFill>
                  <a:srgbClr val="5A6672"/>
                </a:solidFill>
                <a:latin typeface="Malgun Gothic"/>
              </a:rPr>
              <a:t>    –  동적 SQL 자동화 루틴을 만들고 plsql_job_log 에 결과를 기록한다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6.1~6.2  정적 SQL과 동적 SQL · SQL 실행 4단계와 파싱 비용</a:t>
            </a:r>
          </a:p>
          <a:p>
            <a:pPr>
              <a:spcBef>
                <a:spcPts val="600"/>
              </a:spcBef>
            </a:pPr>
            <a:r>
              <a:rPr sz="1800" b="0">
                <a:solidFill>
                  <a:srgbClr val="202830"/>
                </a:solidFill>
                <a:latin typeface="Malgun Gothic"/>
              </a:rPr>
              <a:t>•  6.3~6.5  EXECUTE IMMEDIATE 문법 · Dynamic DDL · Dynamic DML</a:t>
            </a:r>
          </a:p>
          <a:p>
            <a:pPr>
              <a:spcBef>
                <a:spcPts val="600"/>
              </a:spcBef>
            </a:pPr>
            <a:r>
              <a:rPr sz="1800" b="0">
                <a:solidFill>
                  <a:srgbClr val="202830"/>
                </a:solidFill>
                <a:latin typeface="Malgun Gothic"/>
              </a:rPr>
              <a:t>•  6.6  Bind Variable 와 USING 절의 대응 규칙</a:t>
            </a:r>
          </a:p>
          <a:p>
            <a:pPr>
              <a:spcBef>
                <a:spcPts val="600"/>
              </a:spcBef>
            </a:pPr>
            <a:r>
              <a:rPr sz="1800" b="0">
                <a:solidFill>
                  <a:srgbClr val="202830"/>
                </a:solidFill>
                <a:latin typeface="Malgun Gothic"/>
              </a:rPr>
              <a:t>•  6.7~6.9  동적 SELECT — INTO · BULK COLLECT · REF CURSOR</a:t>
            </a:r>
          </a:p>
          <a:p>
            <a:pPr>
              <a:spcBef>
                <a:spcPts val="600"/>
              </a:spcBef>
            </a:pPr>
            <a:r>
              <a:rPr sz="1800" b="0">
                <a:solidFill>
                  <a:srgbClr val="202830"/>
                </a:solidFill>
                <a:latin typeface="Malgun Gothic"/>
              </a:rPr>
              <a:t>•  6.10~6.12  동적 PL/SQL 블록 · DBMS_SQL · Method 4 와 상호 변환</a:t>
            </a:r>
          </a:p>
          <a:p>
            <a:pPr>
              <a:spcBef>
                <a:spcPts val="600"/>
              </a:spcBef>
            </a:pPr>
            <a:r>
              <a:rPr sz="1800" b="0">
                <a:solidFill>
                  <a:srgbClr val="202830"/>
                </a:solidFill>
                <a:latin typeface="Malgun Gothic"/>
              </a:rPr>
              <a:t>•  6.13~6.14  SQL Injection 재현과 방어 — Bind · DBMS_ASSERT · 화이트리스트</a:t>
            </a:r>
          </a:p>
          <a:p>
            <a:pPr>
              <a:spcBef>
                <a:spcPts val="600"/>
              </a:spcBef>
            </a:pPr>
            <a:r>
              <a:rPr sz="1800" b="0">
                <a:solidFill>
                  <a:srgbClr val="202830"/>
                </a:solidFill>
                <a:latin typeface="Malgun Gothic"/>
              </a:rPr>
              <a:t>•  6.15~6.17  Data Dictionary 구조 · 스키마 점검 · 프로그램 점검</a:t>
            </a:r>
          </a:p>
          <a:p>
            <a:pPr>
              <a:spcBef>
                <a:spcPts val="600"/>
              </a:spcBef>
            </a:pPr>
            <a:r>
              <a:rPr sz="1800" b="0">
                <a:solidFill>
                  <a:srgbClr val="202830"/>
                </a:solidFill>
                <a:latin typeface="Malgun Gothic"/>
              </a:rPr>
              <a:t>•  6.18~6.20  DBA 뷰와 권한 · plsql_job_log 자동화 · 오류 정리</a:t>
            </a:r>
          </a:p>
          <a:p>
            <a:pPr>
              <a:spcBef>
                <a:spcPts val="600"/>
              </a:spcBef>
            </a:pPr>
            <a:r>
              <a:rPr sz="1800" b="0">
                <a:solidFill>
                  <a:srgbClr val="202830"/>
                </a:solidFill>
                <a:latin typeface="Malgun Gothic"/>
              </a:rPr>
              <a:t>•  퀴즈 6문항 · 요약 · 실습 트랜스크립트 8편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6.1~6.6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동적 SQL의 기초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정적 SQL과 동적 SQL의 차이 · 파싱 시점과 의존성</a:t>
            </a:r>
          </a:p>
          <a:p>
            <a:r>
              <a:rPr sz="1600" b="0">
                <a:solidFill>
                  <a:srgbClr val="C5CED6"/>
                </a:solidFill>
                <a:latin typeface="Malgun Gothic"/>
              </a:rPr>
              <a:t>•  SQL 실행 4단계와 하드 파스 · 소프트 파스</a:t>
            </a:r>
          </a:p>
          <a:p>
            <a:r>
              <a:rPr sz="1600" b="0">
                <a:solidFill>
                  <a:srgbClr val="C5CED6"/>
                </a:solidFill>
                <a:latin typeface="Malgun Gothic"/>
              </a:rPr>
              <a:t>•  EXECUTE IMMEDIATE 문법 · Dynamic DDL · Dynamic DML</a:t>
            </a:r>
          </a:p>
          <a:p>
            <a:r>
              <a:rPr sz="1600" b="0">
                <a:solidFill>
                  <a:srgbClr val="C5CED6"/>
                </a:solidFill>
                <a:latin typeface="Malgun Gothic"/>
              </a:rPr>
              <a:t>•  Bind Variable 와 USING 절의 대응 규칙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정적 SQL과 동적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정적 SQL — 문장이 소스에 그대로 박혀 있다</a:t>
            </a:r>
          </a:p>
          <a:p>
            <a:r>
              <a:rPr sz="1600" b="0">
                <a:solidFill>
                  <a:srgbClr val="5A6672"/>
                </a:solidFill>
                <a:latin typeface="Malgun Gothic"/>
              </a:rPr>
              <a:t>    –  컴파일 시점에 문법·객체 존재·권한을 검사한다</a:t>
            </a:r>
          </a:p>
          <a:p>
            <a:r>
              <a:rPr sz="1600" b="0">
                <a:solidFill>
                  <a:srgbClr val="5A6672"/>
                </a:solidFill>
                <a:latin typeface="Malgun Gothic"/>
              </a:rPr>
              <a:t>    –  의존 관계가 USER_DEPENDENCIES 에 기록된다</a:t>
            </a:r>
          </a:p>
          <a:p>
            <a:pPr>
              <a:spcBef>
                <a:spcPts val="600"/>
              </a:spcBef>
            </a:pPr>
            <a:r>
              <a:rPr sz="1800" b="0">
                <a:solidFill>
                  <a:srgbClr val="202830"/>
                </a:solidFill>
                <a:latin typeface="Malgun Gothic"/>
              </a:rPr>
              <a:t>•  동적 SQL — 실행할 문장을 문자열로 조립한다</a:t>
            </a:r>
          </a:p>
          <a:p>
            <a:r>
              <a:rPr sz="1600" b="0">
                <a:solidFill>
                  <a:srgbClr val="5A6672"/>
                </a:solidFill>
                <a:latin typeface="Malgun Gothic"/>
              </a:rPr>
              <a:t>    –  컴파일러가 내용을 보지 못하므로 검사하지 않는다</a:t>
            </a:r>
          </a:p>
          <a:p>
            <a:r>
              <a:rPr sz="1600" b="0">
                <a:solidFill>
                  <a:srgbClr val="5A6672"/>
                </a:solidFill>
                <a:latin typeface="Malgun Gothic"/>
              </a:rPr>
              <a:t>    –  문법 오류·객체 없음·권한 부족이 전부 런타임 ORA- 예외로 나타난다</a:t>
            </a:r>
          </a:p>
          <a:p>
            <a:r>
              <a:rPr sz="1600" b="0">
                <a:solidFill>
                  <a:srgbClr val="5A6672"/>
                </a:solidFill>
                <a:latin typeface="Malgun Gothic"/>
              </a:rPr>
              <a:t>    –  의존성이 기록되지 않아 참조 테이블을 DROP 해도 VALID 로 남는다</a:t>
            </a:r>
          </a:p>
          <a:p>
            <a:pPr>
              <a:spcBef>
                <a:spcPts val="600"/>
              </a:spcBef>
            </a:pPr>
            <a:r>
              <a:rPr sz="1800" b="0">
                <a:solidFill>
                  <a:srgbClr val="202830"/>
                </a:solidFill>
                <a:latin typeface="Malgun Gothic"/>
              </a:rPr>
              <a:t>•  이것이 동적 SQL의 편리함이자 위험이다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무엇이 달라지는가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파싱 시점 — 정적은 컴파일 시점, 동적은 실행 시점</a:t>
            </a:r>
          </a:p>
          <a:p>
            <a:pPr>
              <a:spcBef>
                <a:spcPts val="600"/>
              </a:spcBef>
            </a:pPr>
            <a:r>
              <a:rPr sz="1800" b="0">
                <a:solidFill>
                  <a:srgbClr val="202830"/>
                </a:solidFill>
                <a:latin typeface="Malgun Gothic"/>
              </a:rPr>
              <a:t>•  오류 형태 — 정적은 PLS-xxxxx, 동적은 ORA-xxxxx</a:t>
            </a:r>
          </a:p>
          <a:p>
            <a:pPr>
              <a:spcBef>
                <a:spcPts val="600"/>
              </a:spcBef>
            </a:pPr>
            <a:r>
              <a:rPr sz="1800" b="0">
                <a:solidFill>
                  <a:srgbClr val="202830"/>
                </a:solidFill>
                <a:latin typeface="Malgun Gothic"/>
              </a:rPr>
              <a:t>•  의존성 — 정적만 USER_DEPENDENCIES 에 기록된다</a:t>
            </a:r>
          </a:p>
          <a:p>
            <a:pPr>
              <a:spcBef>
                <a:spcPts val="600"/>
              </a:spcBef>
            </a:pPr>
            <a:r>
              <a:rPr sz="1800" b="0">
                <a:solidFill>
                  <a:srgbClr val="202830"/>
                </a:solidFill>
                <a:latin typeface="Malgun Gothic"/>
              </a:rPr>
              <a:t>•  실행 가능 문장 — 동적만 DDL · DCL · 세션 제어까지 가능</a:t>
            </a:r>
          </a:p>
          <a:p>
            <a:pPr>
              <a:spcBef>
                <a:spcPts val="600"/>
              </a:spcBef>
            </a:pPr>
            <a:r>
              <a:rPr sz="1800" b="0">
                <a:solidFill>
                  <a:srgbClr val="202830"/>
                </a:solidFill>
                <a:latin typeface="Malgun Gothic"/>
              </a:rPr>
              <a:t>•  권한 — 정의자 권한 프로그램의 정적 SQL 은 롤 권한을 무시한다</a:t>
            </a:r>
          </a:p>
          <a:p>
            <a:r>
              <a:rPr sz="1600" b="0">
                <a:solidFill>
                  <a:srgbClr val="5A6672"/>
                </a:solidFill>
                <a:latin typeface="Malgun Gothic"/>
              </a:rPr>
              <a:t>    –  동적 SQL 은 실행 시점의 세션 권한 체계를 따르므로 롤 권한도 사용한다</a:t>
            </a:r>
          </a:p>
          <a:p>
            <a:pPr>
              <a:spcBef>
                <a:spcPts val="600"/>
              </a:spcBef>
            </a:pPr>
            <a:r>
              <a:rPr sz="1800" b="0">
                <a:solidFill>
                  <a:srgbClr val="202830"/>
                </a:solidFill>
                <a:latin typeface="Malgun Gothic"/>
              </a:rPr>
              <a:t>•  성능 — 정적이 유리. 동적은 조립과 파싱 비용이 든다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문장의 실행 4단계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Parse — 문법 검사 · 객체 확인 · 권한 확인 · 실행 계획 수립</a:t>
            </a:r>
          </a:p>
          <a:p>
            <a:r>
              <a:rPr sz="1600" b="0">
                <a:solidFill>
                  <a:srgbClr val="5A6672"/>
                </a:solidFill>
                <a:latin typeface="Malgun Gothic"/>
              </a:rPr>
              <a:t>    –  모든 문장이 반드시 거친다</a:t>
            </a:r>
          </a:p>
          <a:p>
            <a:pPr>
              <a:spcBef>
                <a:spcPts val="600"/>
              </a:spcBef>
            </a:pPr>
            <a:r>
              <a:rPr sz="1800" b="0">
                <a:solidFill>
                  <a:srgbClr val="202830"/>
                </a:solidFill>
                <a:latin typeface="Malgun Gothic"/>
              </a:rPr>
              <a:t>•  Bind — 플레이스홀더에 실제 값을 연결한다</a:t>
            </a:r>
          </a:p>
          <a:p>
            <a:r>
              <a:rPr sz="1600" b="0">
                <a:solidFill>
                  <a:srgbClr val="5A6672"/>
                </a:solidFill>
                <a:latin typeface="Malgun Gothic"/>
              </a:rPr>
              <a:t>    –  바인드 변수가 없으면 생략된다</a:t>
            </a:r>
          </a:p>
          <a:p>
            <a:pPr>
              <a:spcBef>
                <a:spcPts val="600"/>
              </a:spcBef>
            </a:pPr>
            <a:r>
              <a:rPr sz="1800" b="0">
                <a:solidFill>
                  <a:srgbClr val="202830"/>
                </a:solidFill>
                <a:latin typeface="Malgun Gothic"/>
              </a:rPr>
              <a:t>•  Execute — 문장을 실제로 수행한다</a:t>
            </a:r>
          </a:p>
          <a:p>
            <a:r>
              <a:rPr sz="1600" b="0">
                <a:solidFill>
                  <a:srgbClr val="5A6672"/>
                </a:solidFill>
                <a:latin typeface="Malgun Gothic"/>
              </a:rPr>
              <a:t>    –  질의가 아닌 문장은 여기서 끝난다</a:t>
            </a:r>
          </a:p>
          <a:p>
            <a:pPr>
              <a:spcBef>
                <a:spcPts val="600"/>
              </a:spcBef>
            </a:pPr>
            <a:r>
              <a:rPr sz="1800" b="0">
                <a:solidFill>
                  <a:srgbClr val="202830"/>
                </a:solidFill>
                <a:latin typeface="Malgun Gothic"/>
              </a:rPr>
              <a:t>•  Fetch — 결과 행을 가져온다. SELECT 에만 해당</a:t>
            </a:r>
          </a:p>
          <a:p>
            <a:pPr>
              <a:spcBef>
                <a:spcPts val="600"/>
              </a:spcBef>
            </a:pPr>
            <a:r>
              <a:rPr sz="1800" b="0">
                <a:solidFill>
                  <a:srgbClr val="202830"/>
                </a:solidFill>
                <a:latin typeface="Malgun Gothic"/>
              </a:rPr>
              <a:t>•  정적 SQL은 Parse 가 컴파일 시점에 끝나 있다</a:t>
            </a:r>
          </a:p>
          <a:p>
            <a:pPr>
              <a:spcBef>
                <a:spcPts val="600"/>
              </a:spcBef>
            </a:pPr>
            <a:r>
              <a:rPr sz="1800" b="0">
                <a:solidFill>
                  <a:srgbClr val="202830"/>
                </a:solidFill>
                <a:latin typeface="Malgun Gothic"/>
              </a:rPr>
              <a:t>•  동적 SQL은 네 단계가 전부 실행 시점에 일어난다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하드 파스와 소프트 파스</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나쁜 예 : 값을 문자열에 직접 붙였다</a:t>
            </a:r>
          </a:p>
          <a:p>
            <a:r>
              <a:rPr sz="1250" b="0">
                <a:solidFill>
                  <a:srgbClr val="E6E6E6"/>
                </a:solidFill>
                <a:latin typeface="Consolas"/>
              </a:rPr>
              <a:t>EXECUTE IMMEDIATE 'DELETE FROM emp_copy WHERE department_id = '</a:t>
            </a:r>
          </a:p>
          <a:p>
            <a:r>
              <a:rPr sz="1250" b="0">
                <a:solidFill>
                  <a:srgbClr val="E6E6E6"/>
                </a:solidFill>
                <a:latin typeface="Consolas"/>
              </a:rPr>
              <a:t>                  || v_dept;</a:t>
            </a:r>
          </a:p>
          <a:p>
            <a:r>
              <a:rPr sz="1250" b="0">
                <a:solidFill>
                  <a:srgbClr val="7EC699"/>
                </a:solidFill>
                <a:latin typeface="Consolas"/>
              </a:rPr>
              <a:t>--   부서가 27개면 서로 다른 문장 27개가 만들어진다 → 매번 하드 파스</a:t>
            </a:r>
          </a:p>
          <a:p>
            <a:r>
              <a:rPr sz="1250" b="0">
                <a:solidFill>
                  <a:srgbClr val="E6E6E6"/>
                </a:solidFill>
                <a:latin typeface="Consolas"/>
              </a:rPr>
              <a:t/>
            </a:r>
          </a:p>
          <a:p>
            <a:r>
              <a:rPr sz="1250" b="0">
                <a:solidFill>
                  <a:srgbClr val="7EC699"/>
                </a:solidFill>
                <a:latin typeface="Consolas"/>
              </a:rPr>
              <a:t>-- 좋은 예 : 문장 텍스트가 언제나 동일하다</a:t>
            </a:r>
          </a:p>
          <a:p>
            <a:r>
              <a:rPr sz="1250" b="0">
                <a:solidFill>
                  <a:srgbClr val="E6E6E6"/>
                </a:solidFill>
                <a:latin typeface="Consolas"/>
              </a:rPr>
              <a:t>EXECUTE IMMEDIATE 'DELETE FROM emp_copy WHERE department_id = :d'</a:t>
            </a:r>
          </a:p>
          <a:p>
            <a:r>
              <a:rPr sz="1250" b="0">
                <a:solidFill>
                  <a:srgbClr val="E6E6E6"/>
                </a:solidFill>
                <a:latin typeface="Consolas"/>
              </a:rPr>
              <a:t>                  USING v_dept;</a:t>
            </a:r>
          </a:p>
          <a:p>
            <a:r>
              <a:rPr sz="1250" b="0">
                <a:solidFill>
                  <a:srgbClr val="7EC699"/>
                </a:solidFill>
                <a:latin typeface="Consolas"/>
              </a:rPr>
              <a:t>--   라이브러리 캐시에 한 번만 올라가고 이후에는 값만 바뀐다 → 소프트 파스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EXECUTE IMMEDIATE 문법</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EXECUTE IMMEDIATE dynamic_string</a:t>
            </a:r>
          </a:p>
          <a:p>
            <a:r>
              <a:rPr sz="1250" b="0">
                <a:solidFill>
                  <a:srgbClr val="E6E6E6"/>
                </a:solidFill>
                <a:latin typeface="Consolas"/>
              </a:rPr>
              <a:t>   [ INTO { define_variable [, define_variable ]... | record } ]</a:t>
            </a:r>
          </a:p>
          <a:p>
            <a:r>
              <a:rPr sz="1250" b="0">
                <a:solidFill>
                  <a:srgbClr val="E6E6E6"/>
                </a:solidFill>
                <a:latin typeface="Consolas"/>
              </a:rPr>
              <a:t>   [ USING [IN | OUT | IN OUT] bind_argument [, ...] ]</a:t>
            </a:r>
          </a:p>
          <a:p>
            <a:r>
              <a:rPr sz="1250" b="0">
                <a:solidFill>
                  <a:srgbClr val="E6E6E6"/>
                </a:solidFill>
                <a:latin typeface="Consolas"/>
              </a:rPr>
              <a:t>   [ { RETURNING | RETURN } INTO bind_argument [, ...] ];</a:t>
            </a:r>
          </a:p>
          <a:p>
            <a:r>
              <a:rPr sz="1250" b="0">
                <a:solidFill>
                  <a:srgbClr val="E6E6E6"/>
                </a:solidFill>
                <a:latin typeface="Consolas"/>
              </a:rPr>
              <a:t/>
            </a:r>
          </a:p>
          <a:p>
            <a:r>
              <a:rPr sz="1250" b="0">
                <a:solidFill>
                  <a:srgbClr val="7EC699"/>
                </a:solidFill>
                <a:latin typeface="Consolas"/>
              </a:rPr>
              <a:t>-- dynamic_string : SQL 문장 또는 PL/SQL 블록 (19c 는 CLOB 도 허용)</a:t>
            </a:r>
          </a:p>
          <a:p>
            <a:r>
              <a:rPr sz="1250" b="0">
                <a:solidFill>
                  <a:srgbClr val="7EC699"/>
                </a:solidFill>
                <a:latin typeface="Consolas"/>
              </a:rPr>
              <a:t>-- INTO           : 단일 행 질의 결과를 받을 변수 또는 레코드</a:t>
            </a:r>
          </a:p>
          <a:p>
            <a:r>
              <a:rPr sz="1250" b="0">
                <a:solidFill>
                  <a:srgbClr val="7EC699"/>
                </a:solidFill>
                <a:latin typeface="Consolas"/>
              </a:rPr>
              <a:t>-- USING          : 플레이스홀더에 넘길 인자 목록 (기본 모드 IN)</a:t>
            </a:r>
          </a:p>
          <a:p>
            <a:r>
              <a:rPr sz="1250" b="0">
                <a:solidFill>
                  <a:srgbClr val="7EC699"/>
                </a:solidFill>
                <a:latin typeface="Consolas"/>
              </a:rPr>
              <a:t>-- RETURNING INTO : DML 의 RETURNING 절이 돌려주는 값을 받는다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세미콜론 규칙 — ORA-00911</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오류 재현 : SQL 문장 문자열 끝에 세미콜론을 넣었다</a:t>
            </a:r>
          </a:p>
          <a:p>
            <a:r>
              <a:rPr sz="1250" b="0">
                <a:solidFill>
                  <a:srgbClr val="E6E6E6"/>
                </a:solidFill>
                <a:latin typeface="Consolas"/>
              </a:rPr>
              <a:t>BEGIN</a:t>
            </a:r>
          </a:p>
          <a:p>
            <a:r>
              <a:rPr sz="1250" b="0">
                <a:solidFill>
                  <a:srgbClr val="E6E6E6"/>
                </a:solidFill>
                <a:latin typeface="Consolas"/>
              </a:rPr>
              <a:t>   EXECUTE IMMEDIATE 'CREATE TABLE t_demo (id NUMBER);';</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오류) ORA-00911: invalid character</a:t>
            </a:r>
          </a:p>
          <a:p>
            <a:r>
              <a:rPr sz="1250" b="0">
                <a:solidFill>
                  <a:srgbClr val="E6E6E6"/>
                </a:solidFill>
                <a:latin typeface="Consolas"/>
              </a:rPr>
              <a:t/>
            </a:r>
          </a:p>
          <a:p>
            <a:r>
              <a:rPr sz="1250" b="0">
                <a:solidFill>
                  <a:srgbClr val="7EC699"/>
                </a:solidFill>
                <a:latin typeface="Consolas"/>
              </a:rPr>
              <a:t>-- 수정 : SQL 문장이면 세미콜론을 붙이지 않는다</a:t>
            </a:r>
          </a:p>
          <a:p>
            <a:r>
              <a:rPr sz="1250" b="0">
                <a:solidFill>
                  <a:srgbClr val="E6E6E6"/>
                </a:solidFill>
                <a:latin typeface="Consolas"/>
              </a:rPr>
              <a:t>EXECUTE IMMEDIATE 'CREATE TABLE t_demo (id NUMBER)';</a:t>
            </a:r>
          </a:p>
          <a:p>
            <a:r>
              <a:rPr sz="1250" b="0">
                <a:solidFill>
                  <a:srgbClr val="E6E6E6"/>
                </a:solidFill>
                <a:latin typeface="Consolas"/>
              </a:rPr>
              <a:t/>
            </a:r>
          </a:p>
          <a:p>
            <a:r>
              <a:rPr sz="1250" b="0">
                <a:solidFill>
                  <a:srgbClr val="7EC699"/>
                </a:solidFill>
                <a:latin typeface="Consolas"/>
              </a:rPr>
              <a:t>-- PL/SQL 블록이면 반대로 END; 까지 온전히 들어가야 한다</a:t>
            </a:r>
          </a:p>
          <a:p>
            <a:r>
              <a:rPr sz="1250" b="0">
                <a:solidFill>
                  <a:srgbClr val="E6E6E6"/>
                </a:solidFill>
                <a:latin typeface="Consolas"/>
              </a:rPr>
              <a:t>EXECUTE IMMEDIATE 'BEGIN DBMS_OUTPUT.PUT_LINE(''hi''); 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DDL 은 동적으로만 실행할 수 있다</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컴파일 오류 : PL/SQL 안에 DDL 을 직접 쓸 수 없다</a:t>
            </a:r>
          </a:p>
          <a:p>
            <a:r>
              <a:rPr sz="1250" b="0">
                <a:solidFill>
                  <a:srgbClr val="E6E6E6"/>
                </a:solidFill>
                <a:latin typeface="Consolas"/>
              </a:rPr>
              <a:t>BEGIN</a:t>
            </a:r>
          </a:p>
          <a:p>
            <a:r>
              <a:rPr sz="1250" b="0">
                <a:solidFill>
                  <a:srgbClr val="E6E6E6"/>
                </a:solidFill>
                <a:latin typeface="Consolas"/>
              </a:rPr>
              <a:t>   CREATE TABLE emp_backup AS SELECT * FROM employees;</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오류) PLS-00103: Encountered the symbol "CREATE" when expecting</a:t>
            </a:r>
          </a:p>
          <a:p>
            <a:r>
              <a:rPr sz="1250" b="0">
                <a:solidFill>
                  <a:srgbClr val="9CDCFE"/>
                </a:solidFill>
                <a:latin typeface="Consolas"/>
              </a:rPr>
              <a:t>오류)   one of the following: begin case declare exit for goto ...</a:t>
            </a:r>
          </a:p>
          <a:p>
            <a:r>
              <a:rPr sz="1250" b="0">
                <a:solidFill>
                  <a:srgbClr val="E6E6E6"/>
                </a:solidFill>
                <a:latin typeface="Consolas"/>
              </a:rPr>
              <a:t/>
            </a:r>
          </a:p>
          <a:p>
            <a:r>
              <a:rPr sz="1250" b="0">
                <a:solidFill>
                  <a:srgbClr val="7EC699"/>
                </a:solidFill>
                <a:latin typeface="Consolas"/>
              </a:rPr>
              <a:t>-- 수정 : EXECUTE IMMEDIATE 로 감싼다</a:t>
            </a:r>
          </a:p>
          <a:p>
            <a:r>
              <a:rPr sz="1250" b="0">
                <a:solidFill>
                  <a:srgbClr val="E6E6E6"/>
                </a:solidFill>
                <a:latin typeface="Consolas"/>
              </a:rPr>
              <a:t>BEGIN</a:t>
            </a:r>
          </a:p>
          <a:p>
            <a:r>
              <a:rPr sz="1250" b="0">
                <a:solidFill>
                  <a:srgbClr val="E6E6E6"/>
                </a:solidFill>
                <a:latin typeface="Consolas"/>
              </a:rPr>
              <a:t>   EXECUTE IMMEDIATE</a:t>
            </a:r>
          </a:p>
          <a:p>
            <a:r>
              <a:rPr sz="1250" b="0">
                <a:solidFill>
                  <a:srgbClr val="E6E6E6"/>
                </a:solidFill>
                <a:latin typeface="Consolas"/>
              </a:rPr>
              <a:t>      'CREATE TABLE emp_backup AS SELECT * FROM employees';</a:t>
            </a:r>
          </a:p>
          <a:p>
            <a:r>
              <a:rPr sz="1250" b="0">
                <a:solidFill>
                  <a:srgbClr val="E6E6E6"/>
                </a:solidFill>
                <a:latin typeface="Consolas"/>
              </a:rPr>
              <a:t>END;</a:t>
            </a:r>
          </a:p>
          <a:p>
            <a:r>
              <a:rPr sz="1250" b="0">
                <a:solidFill>
                  <a:srgbClr val="E6E6E6"/>
                </a:solidFill>
                <a:latin typeface="Consolas"/>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DDL 과 암묵적 COMMIT</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SQL&gt; DELETE FROM emp_copy WHERE department_id = 10;</a:t>
            </a:r>
          </a:p>
          <a:p>
            <a:r>
              <a:rPr sz="1250" b="0">
                <a:solidFill>
                  <a:srgbClr val="9CDCFE"/>
                </a:solidFill>
                <a:latin typeface="Consolas"/>
              </a:rPr>
              <a:t>결과) 3 rows deleted.</a:t>
            </a:r>
          </a:p>
          <a:p>
            <a:r>
              <a:rPr sz="1250" b="0">
                <a:solidFill>
                  <a:srgbClr val="E6E6E6"/>
                </a:solidFill>
                <a:latin typeface="Consolas"/>
              </a:rPr>
              <a:t/>
            </a:r>
          </a:p>
          <a:p>
            <a:r>
              <a:rPr sz="1250" b="0">
                <a:solidFill>
                  <a:srgbClr val="E6E6E6"/>
                </a:solidFill>
                <a:latin typeface="Consolas"/>
              </a:rPr>
              <a:t>SQL&gt; BEGIN</a:t>
            </a:r>
          </a:p>
          <a:p>
            <a:r>
              <a:rPr sz="1250" b="0">
                <a:solidFill>
                  <a:srgbClr val="E6E6E6"/>
                </a:solidFill>
                <a:latin typeface="Consolas"/>
              </a:rPr>
              <a:t>  2     EXECUTE IMMEDIATE 'CREATE TABLE t_tmp (id NUMBER)';</a:t>
            </a:r>
          </a:p>
          <a:p>
            <a:r>
              <a:rPr sz="1250" b="0">
                <a:solidFill>
                  <a:srgbClr val="E6E6E6"/>
                </a:solidFill>
                <a:latin typeface="Consolas"/>
              </a:rPr>
              <a:t>  3  END;</a:t>
            </a:r>
          </a:p>
          <a:p>
            <a:r>
              <a:rPr sz="1250" b="0">
                <a:solidFill>
                  <a:srgbClr val="E6E6E6"/>
                </a:solidFill>
                <a:latin typeface="Consolas"/>
              </a:rPr>
              <a:t>  4  /</a:t>
            </a:r>
          </a:p>
          <a:p>
            <a:r>
              <a:rPr sz="1250" b="0">
                <a:solidFill>
                  <a:srgbClr val="9CDCFE"/>
                </a:solidFill>
                <a:latin typeface="Consolas"/>
              </a:rPr>
              <a:t>결과) PL/SQL procedure successfully completed.</a:t>
            </a:r>
          </a:p>
          <a:p>
            <a:r>
              <a:rPr sz="1250" b="0">
                <a:solidFill>
                  <a:srgbClr val="E6E6E6"/>
                </a:solidFill>
                <a:latin typeface="Consolas"/>
              </a:rPr>
              <a:t/>
            </a:r>
          </a:p>
          <a:p>
            <a:r>
              <a:rPr sz="1250" b="0">
                <a:solidFill>
                  <a:srgbClr val="E6E6E6"/>
                </a:solidFill>
                <a:latin typeface="Consolas"/>
              </a:rPr>
              <a:t>SQL&gt; ROLLBACK;</a:t>
            </a:r>
          </a:p>
          <a:p>
            <a:r>
              <a:rPr sz="1250" b="0">
                <a:solidFill>
                  <a:srgbClr val="9CDCFE"/>
                </a:solidFill>
                <a:latin typeface="Consolas"/>
              </a:rPr>
              <a:t>결과) Rollback complete.</a:t>
            </a:r>
          </a:p>
          <a:p>
            <a:r>
              <a:rPr sz="1250" b="0">
                <a:solidFill>
                  <a:srgbClr val="7EC699"/>
                </a:solidFill>
                <a:latin typeface="Consolas"/>
              </a:rPr>
              <a:t>--   그러나 삭제된 3건은 돌아오지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동적 DDL 이 실패하는 대표 오류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ORA-00955 — 이미 존재하는 이름으로 CREATE 했다</a:t>
            </a:r>
          </a:p>
          <a:p>
            <a:pPr>
              <a:spcBef>
                <a:spcPts val="600"/>
              </a:spcBef>
            </a:pPr>
            <a:r>
              <a:rPr sz="1800" b="0">
                <a:solidFill>
                  <a:srgbClr val="202830"/>
                </a:solidFill>
                <a:latin typeface="Malgun Gothic"/>
              </a:rPr>
              <a:t>•  ORA-00942 — 없는 객체를 DROP · ALTER 했거나 이름에 오타가 있다</a:t>
            </a:r>
          </a:p>
          <a:p>
            <a:pPr>
              <a:spcBef>
                <a:spcPts val="600"/>
              </a:spcBef>
            </a:pPr>
            <a:r>
              <a:rPr sz="1800" b="0">
                <a:solidFill>
                  <a:srgbClr val="202830"/>
                </a:solidFill>
                <a:latin typeface="Malgun Gothic"/>
              </a:rPr>
              <a:t>•  ORA-01031 — 권한이 롤로만 있고 직접 부여되지 않았다</a:t>
            </a:r>
          </a:p>
          <a:p>
            <a:pPr>
              <a:spcBef>
                <a:spcPts val="600"/>
              </a:spcBef>
            </a:pPr>
            <a:r>
              <a:rPr sz="1800" b="0">
                <a:solidFill>
                  <a:srgbClr val="202830"/>
                </a:solidFill>
                <a:latin typeface="Malgun Gothic"/>
              </a:rPr>
              <a:t>•  ORA-00922 — 컬럼 정의 문자열을 잘못 조립했다</a:t>
            </a:r>
          </a:p>
          <a:p>
            <a:pPr>
              <a:spcBef>
                <a:spcPts val="600"/>
              </a:spcBef>
            </a:pPr>
            <a:r>
              <a:rPr sz="1800" b="0">
                <a:solidFill>
                  <a:srgbClr val="202830"/>
                </a:solidFill>
                <a:latin typeface="Malgun Gothic"/>
              </a:rPr>
              <a:t>•  ORA-04043 — DESC 나 ALTER COMPILE 대상 객체가 없다</a:t>
            </a:r>
          </a:p>
          <a:p>
            <a:pPr>
              <a:spcBef>
                <a:spcPts val="600"/>
              </a:spcBef>
            </a:pPr>
            <a:r>
              <a:rPr sz="1800" b="0">
                <a:solidFill>
                  <a:srgbClr val="202830"/>
                </a:solidFill>
                <a:latin typeface="Malgun Gothic"/>
              </a:rPr>
              <a:t>•  동적 DDL 은 바인드 변수를 쓸 수 없다</a:t>
            </a:r>
          </a:p>
          <a:p>
            <a:r>
              <a:rPr sz="1600" b="0">
                <a:solidFill>
                  <a:srgbClr val="5A6672"/>
                </a:solidFill>
                <a:latin typeface="Malgun Gothic"/>
              </a:rPr>
              <a:t>    –  객체 이름 자리에는 플레이스홀더를 놓을 수 없다</a:t>
            </a:r>
          </a:p>
          <a:p>
            <a:r>
              <a:rPr sz="1600" b="0">
                <a:solidFill>
                  <a:srgbClr val="5A6672"/>
                </a:solidFill>
                <a:latin typeface="Malgun Gothic"/>
              </a:rPr>
              <a:t>    –  문자열 결합이 불가피하므로 SQL Injection 위험이 생긴다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있으면 지우는 패턴 — drop_if_exists</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PROCEDURE drop_if_exists(p_table IN VARCHAR2) IS</a:t>
            </a:r>
          </a:p>
          <a:p>
            <a:r>
              <a:rPr sz="1250" b="0">
                <a:solidFill>
                  <a:srgbClr val="E6E6E6"/>
                </a:solidFill>
                <a:latin typeface="Consolas"/>
              </a:rPr>
              <a:t>BEGIN</a:t>
            </a:r>
          </a:p>
          <a:p>
            <a:r>
              <a:rPr sz="1250" b="0">
                <a:solidFill>
                  <a:srgbClr val="E6E6E6"/>
                </a:solidFill>
                <a:latin typeface="Consolas"/>
              </a:rPr>
              <a:t>   EXECUTE IMMEDIATE 'DROP TABLE '</a:t>
            </a:r>
          </a:p>
          <a:p>
            <a:r>
              <a:rPr sz="1250" b="0">
                <a:solidFill>
                  <a:srgbClr val="E6E6E6"/>
                </a:solidFill>
                <a:latin typeface="Consolas"/>
              </a:rPr>
              <a:t>                     || DBMS_ASSERT.SIMPLE_SQL_NAME(p_table)</a:t>
            </a:r>
          </a:p>
          <a:p>
            <a:r>
              <a:rPr sz="1250" b="0">
                <a:solidFill>
                  <a:srgbClr val="E6E6E6"/>
                </a:solidFill>
                <a:latin typeface="Consolas"/>
              </a:rPr>
              <a:t>                     || ' PURGE';</a:t>
            </a:r>
          </a:p>
          <a:p>
            <a:r>
              <a:rPr sz="1250" b="0">
                <a:solidFill>
                  <a:srgbClr val="E6E6E6"/>
                </a:solidFill>
                <a:latin typeface="Consolas"/>
              </a:rPr>
              <a:t>EXCEPTION</a:t>
            </a:r>
          </a:p>
          <a:p>
            <a:r>
              <a:rPr sz="1250" b="0">
                <a:solidFill>
                  <a:srgbClr val="E6E6E6"/>
                </a:solidFill>
                <a:latin typeface="Consolas"/>
              </a:rPr>
              <a:t>   WHEN OTHERS THEN</a:t>
            </a:r>
          </a:p>
          <a:p>
            <a:r>
              <a:rPr sz="1250" b="0">
                <a:solidFill>
                  <a:srgbClr val="E6E6E6"/>
                </a:solidFill>
                <a:latin typeface="Consolas"/>
              </a:rPr>
              <a:t>      IF SQLCODE = -942 THEN NULL;   -- 객체가 없으면 정상으로 본다</a:t>
            </a:r>
          </a:p>
          <a:p>
            <a:r>
              <a:rPr sz="1250" b="0">
                <a:solidFill>
                  <a:srgbClr val="E6E6E6"/>
                </a:solidFill>
                <a:latin typeface="Consolas"/>
              </a:rPr>
              <a:t>      ELSE RAISE; END IF;</a:t>
            </a:r>
          </a:p>
          <a:p>
            <a:r>
              <a:rPr sz="1250" b="0">
                <a:solidFill>
                  <a:srgbClr val="E6E6E6"/>
                </a:solidFill>
                <a:latin typeface="Consolas"/>
              </a:rPr>
              <a:t>END drop_if_exists;</a:t>
            </a:r>
          </a:p>
          <a:p>
            <a:r>
              <a:rPr sz="1250" b="0">
                <a:solidFill>
                  <a:srgbClr val="E6E6E6"/>
                </a:solidFill>
                <a:latin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Dynamic DML 과 SQL%ROWCOUNT</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FUNCTION del_all_rows(p_table_name IN VARCHAR2)</a:t>
            </a:r>
          </a:p>
          <a:p>
            <a:r>
              <a:rPr sz="1250" b="0">
                <a:solidFill>
                  <a:srgbClr val="E6E6E6"/>
                </a:solidFill>
                <a:latin typeface="Consolas"/>
              </a:rPr>
              <a:t>   RETURN NUMBER IS</a:t>
            </a:r>
          </a:p>
          <a:p>
            <a:r>
              <a:rPr sz="1250" b="0">
                <a:solidFill>
                  <a:srgbClr val="E6E6E6"/>
                </a:solidFill>
                <a:latin typeface="Consolas"/>
              </a:rPr>
              <a:t>BEGIN</a:t>
            </a:r>
          </a:p>
          <a:p>
            <a:r>
              <a:rPr sz="1250" b="0">
                <a:solidFill>
                  <a:srgbClr val="E6E6E6"/>
                </a:solidFill>
                <a:latin typeface="Consolas"/>
              </a:rPr>
              <a:t>   EXECUTE IMMEDIATE 'DELETE FROM '</a:t>
            </a:r>
          </a:p>
          <a:p>
            <a:r>
              <a:rPr sz="1250" b="0">
                <a:solidFill>
                  <a:srgbClr val="E6E6E6"/>
                </a:solidFill>
                <a:latin typeface="Consolas"/>
              </a:rPr>
              <a:t>                     || DBMS_ASSERT.SIMPLE_SQL_NAME(p_table_name);</a:t>
            </a:r>
          </a:p>
          <a:p>
            <a:r>
              <a:rPr sz="1250" b="0">
                <a:solidFill>
                  <a:srgbClr val="E6E6E6"/>
                </a:solidFill>
                <a:latin typeface="Consolas"/>
              </a:rPr>
              <a:t>   RETURN SQL%ROWCOUNT;      -- 직전 동적 DML 의 처리 건수</a:t>
            </a:r>
          </a:p>
          <a:p>
            <a:r>
              <a:rPr sz="1250" b="0">
                <a:solidFill>
                  <a:srgbClr val="E6E6E6"/>
                </a:solidFill>
                <a:latin typeface="Consolas"/>
              </a:rPr>
              <a:t>END del_all_rows;</a:t>
            </a:r>
          </a:p>
          <a:p>
            <a:r>
              <a:rPr sz="1250" b="0">
                <a:solidFill>
                  <a:srgbClr val="E6E6E6"/>
                </a:solidFill>
                <a:latin typeface="Consolas"/>
              </a:rPr>
              <a:t>/</a:t>
            </a:r>
          </a:p>
          <a:p>
            <a:r>
              <a:rPr sz="1250" b="0">
                <a:solidFill>
                  <a:srgbClr val="E6E6E6"/>
                </a:solidFill>
                <a:latin typeface="Consolas"/>
              </a:rPr>
              <a:t/>
            </a:r>
          </a:p>
          <a:p>
            <a:r>
              <a:rPr sz="1250" b="0">
                <a:solidFill>
                  <a:srgbClr val="E6E6E6"/>
                </a:solidFill>
                <a:latin typeface="Consolas"/>
              </a:rPr>
              <a:t>SQL&gt; EXEC DBMS_OUTPUT.PUT_LINE(del_all_rows('EMP_COPY'))</a:t>
            </a:r>
          </a:p>
          <a:p>
            <a:r>
              <a:rPr sz="1250" b="0">
                <a:solidFill>
                  <a:srgbClr val="9CDCFE"/>
                </a:solidFill>
                <a:latin typeface="Consolas"/>
              </a:rPr>
              <a:t>출력) 107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RETURNING INTO 와 USING OUT</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DECLARE</a:t>
            </a:r>
          </a:p>
          <a:p>
            <a:r>
              <a:rPr sz="1250" b="0">
                <a:solidFill>
                  <a:srgbClr val="E6E6E6"/>
                </a:solidFill>
                <a:latin typeface="Consolas"/>
              </a:rPr>
              <a:t>   v_new_sal   employees.salary%TYPE;</a:t>
            </a:r>
          </a:p>
          <a:p>
            <a:r>
              <a:rPr sz="1250" b="0">
                <a:solidFill>
                  <a:srgbClr val="E6E6E6"/>
                </a:solidFill>
                <a:latin typeface="Consolas"/>
              </a:rPr>
              <a:t>BEGIN</a:t>
            </a:r>
          </a:p>
          <a:p>
            <a:r>
              <a:rPr sz="1250" b="0">
                <a:solidFill>
                  <a:srgbClr val="E6E6E6"/>
                </a:solidFill>
                <a:latin typeface="Consolas"/>
              </a:rPr>
              <a:t>   EXECUTE IMMEDIATE</a:t>
            </a:r>
          </a:p>
          <a:p>
            <a:r>
              <a:rPr sz="1250" b="0">
                <a:solidFill>
                  <a:srgbClr val="E6E6E6"/>
                </a:solidFill>
                <a:latin typeface="Consolas"/>
              </a:rPr>
              <a:t>      'UPDATE emp_copy SET salary = salary * :rate</a:t>
            </a:r>
          </a:p>
          <a:p>
            <a:r>
              <a:rPr sz="1250" b="0">
                <a:solidFill>
                  <a:srgbClr val="E6E6E6"/>
                </a:solidFill>
                <a:latin typeface="Consolas"/>
              </a:rPr>
              <a:t>        WHERE employee_id = :id</a:t>
            </a:r>
          </a:p>
          <a:p>
            <a:r>
              <a:rPr sz="1250" b="0">
                <a:solidFill>
                  <a:srgbClr val="E6E6E6"/>
                </a:solidFill>
                <a:latin typeface="Consolas"/>
              </a:rPr>
              <a:t>        RETURNING salary INTO :new_sal'</a:t>
            </a:r>
          </a:p>
          <a:p>
            <a:r>
              <a:rPr sz="1250" b="0">
                <a:solidFill>
                  <a:srgbClr val="E6E6E6"/>
                </a:solidFill>
                <a:latin typeface="Consolas"/>
              </a:rPr>
              <a:t>      USING 1.10, 100, OUT v_new_sal;</a:t>
            </a:r>
          </a:p>
          <a:p>
            <a:r>
              <a:rPr sz="1250" b="0">
                <a:solidFill>
                  <a:srgbClr val="E6E6E6"/>
                </a:solidFill>
                <a:latin typeface="Consolas"/>
              </a:rPr>
              <a:t>   DBMS_OUTPUT.PUT_LINE('인상 후 급여 : ' || v_new_sal);</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출력) 인상 후 급여 : 26400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Bind Variable 사용 규칙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값(Value) 자리에만 놓을 수 있다 — 리터럴이 올 수 있는 위치</a:t>
            </a:r>
          </a:p>
          <a:p>
            <a:pPr>
              <a:spcBef>
                <a:spcPts val="600"/>
              </a:spcBef>
            </a:pPr>
            <a:r>
              <a:rPr sz="1800" b="0">
                <a:solidFill>
                  <a:srgbClr val="202830"/>
                </a:solidFill>
                <a:latin typeface="Malgun Gothic"/>
              </a:rPr>
              <a:t>•  놓을 수 없는 자리 — 테이블명 · 컬럼명 · 스키마명 · ORDER BY 컬럼 · 키워드</a:t>
            </a:r>
          </a:p>
          <a:p>
            <a:pPr>
              <a:spcBef>
                <a:spcPts val="600"/>
              </a:spcBef>
            </a:pPr>
            <a:r>
              <a:rPr sz="1800" b="0">
                <a:solidFill>
                  <a:srgbClr val="202830"/>
                </a:solidFill>
                <a:latin typeface="Malgun Gothic"/>
              </a:rPr>
              <a:t>•  SQL 문장 — 플레이스홀더와 USING 인자는 위치(순서)로 대응된다</a:t>
            </a:r>
          </a:p>
          <a:p>
            <a:r>
              <a:rPr sz="1600" b="0">
                <a:solidFill>
                  <a:srgbClr val="5A6672"/>
                </a:solidFill>
                <a:latin typeface="Malgun Gothic"/>
              </a:rPr>
              <a:t>    –  이름은 사람이 읽기 위한 표시일 뿐이다</a:t>
            </a:r>
          </a:p>
          <a:p>
            <a:r>
              <a:rPr sz="1600" b="0">
                <a:solidFill>
                  <a:srgbClr val="5A6672"/>
                </a:solidFill>
                <a:latin typeface="Malgun Gothic"/>
              </a:rPr>
              <a:t>    –  같은 이름이 두 번 나오면 인자도 두 번 넘겨야 한다</a:t>
            </a:r>
          </a:p>
          <a:p>
            <a:pPr>
              <a:spcBef>
                <a:spcPts val="600"/>
              </a:spcBef>
            </a:pPr>
            <a:r>
              <a:rPr sz="1800" b="0">
                <a:solidFill>
                  <a:srgbClr val="202830"/>
                </a:solidFill>
                <a:latin typeface="Malgun Gothic"/>
              </a:rPr>
              <a:t>•  PL/SQL 블록 — 이름으로 대응된다. 중복 등장해도 인자는 1개</a:t>
            </a:r>
          </a:p>
          <a:p>
            <a:pPr>
              <a:spcBef>
                <a:spcPts val="600"/>
              </a:spcBef>
            </a:pPr>
            <a:r>
              <a:rPr sz="1800" b="0">
                <a:solidFill>
                  <a:srgbClr val="202830"/>
                </a:solidFill>
                <a:latin typeface="Malgun Gothic"/>
              </a:rPr>
              <a:t>•  모드 — 기본은 IN. OUT · IN OUT 은 블록과 RETURNING INTO 에서만 의미가 있다</a:t>
            </a:r>
          </a:p>
          <a:p>
            <a:pPr>
              <a:spcBef>
                <a:spcPts val="600"/>
              </a:spcBef>
            </a:pPr>
            <a:r>
              <a:rPr sz="1800" b="0">
                <a:solidFill>
                  <a:srgbClr val="202830"/>
                </a:solidFill>
                <a:latin typeface="Malgun Gothic"/>
              </a:rPr>
              <a:t>•  USING NULL 은 자료형을 알 수 없어 오류다 — 형이 있는 변수를 넘긴다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중복 플레이스홀더 — ORA-01008</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DECLARE</a:t>
            </a:r>
          </a:p>
          <a:p>
            <a:r>
              <a:rPr sz="1250" b="0">
                <a:solidFill>
                  <a:srgbClr val="E6E6E6"/>
                </a:solidFill>
                <a:latin typeface="Consolas"/>
              </a:rPr>
              <a:t>   v_dept   NUMBER := 60;</a:t>
            </a:r>
          </a:p>
          <a:p>
            <a:r>
              <a:rPr sz="1250" b="0">
                <a:solidFill>
                  <a:srgbClr val="E6E6E6"/>
                </a:solidFill>
                <a:latin typeface="Consolas"/>
              </a:rPr>
              <a:t>BEGIN</a:t>
            </a:r>
          </a:p>
          <a:p>
            <a:r>
              <a:rPr sz="1250" b="0">
                <a:solidFill>
                  <a:srgbClr val="E6E6E6"/>
                </a:solidFill>
                <a:latin typeface="Consolas"/>
              </a:rPr>
              <a:t>   EXECUTE IMMEDIATE</a:t>
            </a:r>
          </a:p>
          <a:p>
            <a:r>
              <a:rPr sz="1250" b="0">
                <a:solidFill>
                  <a:srgbClr val="E6E6E6"/>
                </a:solidFill>
                <a:latin typeface="Consolas"/>
              </a:rPr>
              <a:t>      'UPDATE emp_copy SET commission_pct = 0.1</a:t>
            </a:r>
          </a:p>
          <a:p>
            <a:r>
              <a:rPr sz="1250" b="0">
                <a:solidFill>
                  <a:srgbClr val="E6E6E6"/>
                </a:solidFill>
                <a:latin typeface="Consolas"/>
              </a:rPr>
              <a:t>        WHERE department_id = :d</a:t>
            </a:r>
          </a:p>
          <a:p>
            <a:r>
              <a:rPr sz="1250" b="0">
                <a:solidFill>
                  <a:srgbClr val="E6E6E6"/>
                </a:solidFill>
                <a:latin typeface="Consolas"/>
              </a:rPr>
              <a:t>          AND manager_id IN (SELECT employee_id FROM emp_copy</a:t>
            </a:r>
          </a:p>
          <a:p>
            <a:r>
              <a:rPr sz="1250" b="0">
                <a:solidFill>
                  <a:srgbClr val="E6E6E6"/>
                </a:solidFill>
                <a:latin typeface="Consolas"/>
              </a:rPr>
              <a:t>                              WHERE department_id = :d)'</a:t>
            </a:r>
          </a:p>
          <a:p>
            <a:r>
              <a:rPr sz="1250" b="0">
                <a:solidFill>
                  <a:srgbClr val="E6E6E6"/>
                </a:solidFill>
                <a:latin typeface="Consolas"/>
              </a:rPr>
              <a:t>      USING v_dept;              -- 인자를 하나만 넘겼다</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오류) ORA-01008: not all variables bound</a:t>
            </a:r>
          </a:p>
          <a:p>
            <a:r>
              <a:rPr sz="1250" b="0">
                <a:solidFill>
                  <a:srgbClr val="E6E6E6"/>
                </a:solidFill>
                <a:latin typeface="Consolas"/>
              </a:rPr>
              <a:t/>
            </a:r>
          </a:p>
          <a:p>
            <a:r>
              <a:rPr sz="1250" b="0">
                <a:solidFill>
                  <a:srgbClr val="7EC699"/>
                </a:solidFill>
                <a:latin typeface="Consolas"/>
              </a:rPr>
              <a:t>-- 수정 : USING v_dept, v_dept;   -- :d 가 두 번이므로 인자도 두 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6.7~6.12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동적 SELECT 와 DBMS_SQL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단일 행 INTO · 다중 행 BULK COLLECT INTO</a:t>
            </a:r>
          </a:p>
          <a:p>
            <a:r>
              <a:rPr sz="1600" b="0">
                <a:solidFill>
                  <a:srgbClr val="C5CED6"/>
                </a:solidFill>
                <a:latin typeface="Malgun Gothic"/>
              </a:rPr>
              <a:t>•  REF CURSOR 와 OPEN-FOR 로 결과 집합 반환</a:t>
            </a:r>
          </a:p>
          <a:p>
            <a:r>
              <a:rPr sz="1600" b="0">
                <a:solidFill>
                  <a:srgbClr val="C5CED6"/>
                </a:solidFill>
                <a:latin typeface="Malgun Gothic"/>
              </a:rPr>
              <a:t>•  동적 PL/SQL 블록과 OUT 바인딩</a:t>
            </a:r>
          </a:p>
          <a:p>
            <a:r>
              <a:rPr sz="1600" b="0">
                <a:solidFill>
                  <a:srgbClr val="C5CED6"/>
                </a:solidFill>
                <a:latin typeface="Malgun Gothic"/>
              </a:rPr>
              <a:t>•  DBMS_SQL 의 처리 순서 · Method 4 · NDS 와의 상호 변환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행 조회 — INTO 절</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DECLARE</a:t>
            </a:r>
          </a:p>
          <a:p>
            <a:r>
              <a:rPr sz="1250" b="0">
                <a:solidFill>
                  <a:srgbClr val="E6E6E6"/>
                </a:solidFill>
                <a:latin typeface="Consolas"/>
              </a:rPr>
              <a:t>   v_emp   employees%ROWTYPE;</a:t>
            </a:r>
          </a:p>
          <a:p>
            <a:r>
              <a:rPr sz="1250" b="0">
                <a:solidFill>
                  <a:srgbClr val="E6E6E6"/>
                </a:solidFill>
                <a:latin typeface="Consolas"/>
              </a:rPr>
              <a:t>BEGIN</a:t>
            </a:r>
          </a:p>
          <a:p>
            <a:r>
              <a:rPr sz="1250" b="0">
                <a:solidFill>
                  <a:srgbClr val="E6E6E6"/>
                </a:solidFill>
                <a:latin typeface="Consolas"/>
              </a:rPr>
              <a:t>   EXECUTE IMMEDIATE</a:t>
            </a:r>
          </a:p>
          <a:p>
            <a:r>
              <a:rPr sz="1250" b="0">
                <a:solidFill>
                  <a:srgbClr val="E6E6E6"/>
                </a:solidFill>
                <a:latin typeface="Consolas"/>
              </a:rPr>
              <a:t>      'SELECT * FROM employees WHERE employee_id = :id'</a:t>
            </a:r>
          </a:p>
          <a:p>
            <a:r>
              <a:rPr sz="1250" b="0">
                <a:solidFill>
                  <a:srgbClr val="E6E6E6"/>
                </a:solidFill>
                <a:latin typeface="Consolas"/>
              </a:rPr>
              <a:t>      INTO v_emp USING 100;</a:t>
            </a:r>
          </a:p>
          <a:p>
            <a:r>
              <a:rPr sz="1250" b="0">
                <a:solidFill>
                  <a:srgbClr val="E6E6E6"/>
                </a:solidFill>
                <a:latin typeface="Consolas"/>
              </a:rPr>
              <a:t>   DBMS_OUTPUT.PUT_LINE(v_emp.last_name || ' / ' || v_emp.job_id);</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출력) King / AD_PRES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INTO 를 빠뜨리면 — ORA-24374</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오류 재현 : SELECT 를 INTO 없이 실행한다</a:t>
            </a:r>
          </a:p>
          <a:p>
            <a:r>
              <a:rPr sz="1250" b="0">
                <a:solidFill>
                  <a:srgbClr val="E6E6E6"/>
                </a:solidFill>
                <a:latin typeface="Consolas"/>
              </a:rPr>
              <a:t>BEGIN</a:t>
            </a:r>
          </a:p>
          <a:p>
            <a:r>
              <a:rPr sz="1250" b="0">
                <a:solidFill>
                  <a:srgbClr val="E6E6E6"/>
                </a:solidFill>
                <a:latin typeface="Consolas"/>
              </a:rPr>
              <a:t>   EXECUTE IMMEDIATE 'SELECT COUNT(*) FROM employees';</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오류) ORA-24374: define not done before fetch or execute and fetch</a:t>
            </a:r>
          </a:p>
          <a:p>
            <a:r>
              <a:rPr sz="1250" b="0">
                <a:solidFill>
                  <a:srgbClr val="E6E6E6"/>
                </a:solidFill>
                <a:latin typeface="Consolas"/>
              </a:rPr>
              <a:t/>
            </a:r>
          </a:p>
          <a:p>
            <a:r>
              <a:rPr sz="1250" b="0">
                <a:solidFill>
                  <a:srgbClr val="7EC699"/>
                </a:solidFill>
                <a:latin typeface="Consolas"/>
              </a:rPr>
              <a:t>-- 원인 : 결과를 받을 정의(define) 변수가 없다</a:t>
            </a:r>
          </a:p>
          <a:p>
            <a:r>
              <a:rPr sz="1250" b="0">
                <a:solidFill>
                  <a:srgbClr val="7EC699"/>
                </a:solidFill>
                <a:latin typeface="Consolas"/>
              </a:rPr>
              <a:t>-- 수정 : INTO 를 반드시 붙인다</a:t>
            </a:r>
          </a:p>
          <a:p>
            <a:r>
              <a:rPr sz="1250" b="0">
                <a:solidFill>
                  <a:srgbClr val="E6E6E6"/>
                </a:solidFill>
                <a:latin typeface="Consolas"/>
              </a:rPr>
              <a:t>   EXECUTE IMMEDIATE 'SELECT COUNT(*) FROM employees' INTO v_cnt;</a:t>
            </a:r>
          </a:p>
          <a:p>
            <a:r>
              <a:rPr sz="1250" b="0">
                <a:solidFill>
                  <a:srgbClr val="9CDCFE"/>
                </a:solidFill>
                <a:latin typeface="Consolas"/>
              </a:rPr>
              <a:t>출력) 사원 수 : 107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INTO 변수 개수가 맞지 않으면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SELECT 목록의 개수 · 순서 · 자료형이 변수와 정확히 맞아야 한다</a:t>
            </a:r>
          </a:p>
          <a:p>
            <a:pPr>
              <a:spcBef>
                <a:spcPts val="600"/>
              </a:spcBef>
            </a:pPr>
            <a:r>
              <a:rPr sz="1800" b="0">
                <a:solidFill>
                  <a:srgbClr val="202830"/>
                </a:solidFill>
                <a:latin typeface="Malgun Gothic"/>
              </a:rPr>
              <a:t>•  변수가 부족하면 ORA-00947: not enough values</a:t>
            </a:r>
          </a:p>
          <a:p>
            <a:pPr>
              <a:spcBef>
                <a:spcPts val="600"/>
              </a:spcBef>
            </a:pPr>
            <a:r>
              <a:rPr sz="1800" b="0">
                <a:solidFill>
                  <a:srgbClr val="202830"/>
                </a:solidFill>
                <a:latin typeface="Malgun Gothic"/>
              </a:rPr>
              <a:t>•  변수가 많으면 ORA-00913: too many values</a:t>
            </a:r>
          </a:p>
          <a:p>
            <a:pPr>
              <a:spcBef>
                <a:spcPts val="600"/>
              </a:spcBef>
            </a:pPr>
            <a:r>
              <a:rPr sz="1800" b="0">
                <a:solidFill>
                  <a:srgbClr val="202830"/>
                </a:solidFill>
                <a:latin typeface="Malgun Gothic"/>
              </a:rPr>
              <a:t>•  자료형이 맞지 않으면 ORA-01722: invalid number 등이 발생한다</a:t>
            </a:r>
          </a:p>
          <a:p>
            <a:pPr>
              <a:spcBef>
                <a:spcPts val="600"/>
              </a:spcBef>
            </a:pPr>
            <a:r>
              <a:rPr sz="1800" b="0">
                <a:solidFill>
                  <a:srgbClr val="202830"/>
                </a:solidFill>
                <a:latin typeface="Malgun Gothic"/>
              </a:rPr>
              <a:t>•  결과 행이 0건이면 NO_DATA_FOUND</a:t>
            </a:r>
          </a:p>
          <a:p>
            <a:pPr>
              <a:spcBef>
                <a:spcPts val="600"/>
              </a:spcBef>
            </a:pPr>
            <a:r>
              <a:rPr sz="1800" b="0">
                <a:solidFill>
                  <a:srgbClr val="202830"/>
                </a:solidFill>
                <a:latin typeface="Malgun Gothic"/>
              </a:rPr>
              <a:t>•  결과 행이 2건 이상이면 TOO_MANY_ROWS</a:t>
            </a:r>
          </a:p>
          <a:p>
            <a:r>
              <a:rPr sz="1600" b="0">
                <a:solidFill>
                  <a:srgbClr val="5A6672"/>
                </a:solidFill>
                <a:latin typeface="Malgun Gothic"/>
              </a:rPr>
              <a:t>    –  BULK COLLECT INTO 는 0건이어도 예외를 던지지 않는다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다중 행 — BULK COLLECT INTO</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DECLARE</a:t>
            </a:r>
          </a:p>
          <a:p>
            <a:r>
              <a:rPr sz="1250" b="0">
                <a:solidFill>
                  <a:srgbClr val="E6E6E6"/>
                </a:solidFill>
                <a:latin typeface="Consolas"/>
              </a:rPr>
              <a:t>   TYPE t_name_tab IS TABLE OF employees.last_name%TYPE;</a:t>
            </a:r>
          </a:p>
          <a:p>
            <a:r>
              <a:rPr sz="1250" b="0">
                <a:solidFill>
                  <a:srgbClr val="E6E6E6"/>
                </a:solidFill>
                <a:latin typeface="Consolas"/>
              </a:rPr>
              <a:t>   v_names   t_name_tab;</a:t>
            </a:r>
          </a:p>
          <a:p>
            <a:r>
              <a:rPr sz="1250" b="0">
                <a:solidFill>
                  <a:srgbClr val="E6E6E6"/>
                </a:solidFill>
                <a:latin typeface="Consolas"/>
              </a:rPr>
              <a:t>BEGIN</a:t>
            </a:r>
          </a:p>
          <a:p>
            <a:r>
              <a:rPr sz="1250" b="0">
                <a:solidFill>
                  <a:srgbClr val="E6E6E6"/>
                </a:solidFill>
                <a:latin typeface="Consolas"/>
              </a:rPr>
              <a:t>   EXECUTE IMMEDIATE 'SELECT last_name FROM employees</a:t>
            </a:r>
          </a:p>
          <a:p>
            <a:r>
              <a:rPr sz="1250" b="0">
                <a:solidFill>
                  <a:srgbClr val="E6E6E6"/>
                </a:solidFill>
                <a:latin typeface="Consolas"/>
              </a:rPr>
              <a:t>                       WHERE department_id = :d ORDER BY last_name'</a:t>
            </a:r>
          </a:p>
          <a:p>
            <a:r>
              <a:rPr sz="1250" b="0">
                <a:solidFill>
                  <a:srgbClr val="E6E6E6"/>
                </a:solidFill>
                <a:latin typeface="Consolas"/>
              </a:rPr>
              <a:t>      BULK COLLECT INTO v_names USING 60;</a:t>
            </a:r>
          </a:p>
          <a:p>
            <a:r>
              <a:rPr sz="1250" b="0">
                <a:solidFill>
                  <a:srgbClr val="E6E6E6"/>
                </a:solidFill>
                <a:latin typeface="Consolas"/>
              </a:rPr>
              <a:t>   FOR i IN 1 .. v_names.COUNT LOOP</a:t>
            </a:r>
          </a:p>
          <a:p>
            <a:r>
              <a:rPr sz="1250" b="0">
                <a:solidFill>
                  <a:srgbClr val="E6E6E6"/>
                </a:solidFill>
                <a:latin typeface="Consolas"/>
              </a:rPr>
              <a:t>      DBMS_OUTPUT.PUT_LINE('  ' || i || '. ' || v_names(i));</a:t>
            </a:r>
          </a:p>
          <a:p>
            <a:r>
              <a:rPr sz="1250" b="0">
                <a:solidFill>
                  <a:srgbClr val="E6E6E6"/>
                </a:solidFill>
                <a:latin typeface="Consolas"/>
              </a:rPr>
              <a:t>   END LOOP;</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출력)   1. Austin   2. Ernst   3. Hunold   4. Lorentz   5. Pataballa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결과 처리 방식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결과가 정확히 1행 — EXECUTE IMMEDIATE ... INTO</a:t>
            </a:r>
          </a:p>
          <a:p>
            <a:pPr>
              <a:spcBef>
                <a:spcPts val="600"/>
              </a:spcBef>
            </a:pPr>
            <a:r>
              <a:rPr sz="1800" b="0">
                <a:solidFill>
                  <a:srgbClr val="202830"/>
                </a:solidFill>
                <a:latin typeface="Malgun Gothic"/>
              </a:rPr>
              <a:t>•  다중 행이고 건수가 관리 가능한 규모 — BULK COLLECT INTO</a:t>
            </a:r>
          </a:p>
          <a:p>
            <a:r>
              <a:rPr sz="1600" b="0">
                <a:solidFill>
                  <a:srgbClr val="5A6672"/>
                </a:solidFill>
                <a:latin typeface="Malgun Gothic"/>
              </a:rPr>
              <a:t>    –  LIMIT 을 붙일 수 없으므로 건수를 예측할 수 있어야 한다</a:t>
            </a:r>
          </a:p>
          <a:p>
            <a:pPr>
              <a:spcBef>
                <a:spcPts val="600"/>
              </a:spcBef>
            </a:pPr>
            <a:r>
              <a:rPr sz="1800" b="0">
                <a:solidFill>
                  <a:srgbClr val="202830"/>
                </a:solidFill>
                <a:latin typeface="Malgun Gothic"/>
              </a:rPr>
              <a:t>•  대량이거나 한 행씩 처리 — OPEN cur FOR 문자열 + FETCH</a:t>
            </a:r>
          </a:p>
          <a:p>
            <a:r>
              <a:rPr sz="1600" b="0">
                <a:solidFill>
                  <a:srgbClr val="5A6672"/>
                </a:solidFill>
                <a:latin typeface="Malgun Gothic"/>
              </a:rPr>
              <a:t>    –  FETCH ... BULK COLLECT INTO ... LIMIT 으로 나눠 받을 수 있다</a:t>
            </a:r>
          </a:p>
          <a:p>
            <a:pPr>
              <a:spcBef>
                <a:spcPts val="600"/>
              </a:spcBef>
            </a:pPr>
            <a:r>
              <a:rPr sz="1800" b="0">
                <a:solidFill>
                  <a:srgbClr val="202830"/>
                </a:solidFill>
                <a:latin typeface="Malgun Gothic"/>
              </a:rPr>
              <a:t>•  SELECT 목록의 개수 · 자료형이 실행 시점에야 결정 — DBMS_SQL</a:t>
            </a:r>
          </a:p>
          <a:p>
            <a:r>
              <a:rPr sz="1600" b="0">
                <a:solidFill>
                  <a:srgbClr val="5A6672"/>
                </a:solidFill>
                <a:latin typeface="Malgun Gothic"/>
              </a:rPr>
              <a:t>    –  Method 4 라고 부르며 NDS 로는 표현할 수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REF CURSOR 와 OPEN-FOR</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DECLARE</a:t>
            </a:r>
          </a:p>
          <a:p>
            <a:r>
              <a:rPr sz="1250" b="0">
                <a:solidFill>
                  <a:srgbClr val="E6E6E6"/>
                </a:solidFill>
                <a:latin typeface="Consolas"/>
              </a:rPr>
              <a:t>   c_emp    SYS_REFCURSOR;</a:t>
            </a:r>
          </a:p>
          <a:p>
            <a:r>
              <a:rPr sz="1250" b="0">
                <a:solidFill>
                  <a:srgbClr val="E6E6E6"/>
                </a:solidFill>
                <a:latin typeface="Consolas"/>
              </a:rPr>
              <a:t>   v_id     employees.employee_id%TYPE;</a:t>
            </a:r>
          </a:p>
          <a:p>
            <a:r>
              <a:rPr sz="1250" b="0">
                <a:solidFill>
                  <a:srgbClr val="E6E6E6"/>
                </a:solidFill>
                <a:latin typeface="Consolas"/>
              </a:rPr>
              <a:t>   v_name   employees.last_name%TYPE;</a:t>
            </a:r>
          </a:p>
          <a:p>
            <a:r>
              <a:rPr sz="1250" b="0">
                <a:solidFill>
                  <a:srgbClr val="E6E6E6"/>
                </a:solidFill>
                <a:latin typeface="Consolas"/>
              </a:rPr>
              <a:t>   v_salary employees.salary%TYPE;</a:t>
            </a:r>
          </a:p>
          <a:p>
            <a:r>
              <a:rPr sz="1250" b="0">
                <a:solidFill>
                  <a:srgbClr val="E6E6E6"/>
                </a:solidFill>
                <a:latin typeface="Consolas"/>
              </a:rPr>
              <a:t>   v_order  VARCHAR2(30) := 'salary DESC';  -- 정렬도 런타임 결정</a:t>
            </a:r>
          </a:p>
          <a:p>
            <a:r>
              <a:rPr sz="1250" b="0">
                <a:solidFill>
                  <a:srgbClr val="E6E6E6"/>
                </a:solidFill>
                <a:latin typeface="Consolas"/>
              </a:rPr>
              <a:t>BEGIN</a:t>
            </a:r>
          </a:p>
          <a:p>
            <a:r>
              <a:rPr sz="1250" b="0">
                <a:solidFill>
                  <a:srgbClr val="E6E6E6"/>
                </a:solidFill>
                <a:latin typeface="Consolas"/>
              </a:rPr>
              <a:t>   OPEN c_emp FOR</a:t>
            </a:r>
          </a:p>
          <a:p>
            <a:r>
              <a:rPr sz="1250" b="0">
                <a:solidFill>
                  <a:srgbClr val="E6E6E6"/>
                </a:solidFill>
                <a:latin typeface="Consolas"/>
              </a:rPr>
              <a:t>      'SELECT employee_id, last_name, salary FROM employees</a:t>
            </a:r>
          </a:p>
          <a:p>
            <a:r>
              <a:rPr sz="1250" b="0">
                <a:solidFill>
                  <a:srgbClr val="E6E6E6"/>
                </a:solidFill>
                <a:latin typeface="Consolas"/>
              </a:rPr>
              <a:t>        WHERE department_id = :d ORDER BY ' || v_order USING 80;</a:t>
            </a:r>
          </a:p>
          <a:p>
            <a:r>
              <a:rPr sz="1250" b="0">
                <a:solidFill>
                  <a:srgbClr val="E6E6E6"/>
                </a:solidFill>
                <a:latin typeface="Consolas"/>
              </a:rPr>
              <a:t>   LOOP</a:t>
            </a:r>
          </a:p>
          <a:p>
            <a:r>
              <a:rPr sz="1250" b="0">
                <a:solidFill>
                  <a:srgbClr val="E6E6E6"/>
                </a:solidFill>
                <a:latin typeface="Consolas"/>
              </a:rPr>
              <a:t>      FETCH c_emp INTO v_id, v_name, v_salary;</a:t>
            </a:r>
          </a:p>
          <a:p>
            <a:r>
              <a:rPr sz="1250" b="0">
                <a:solidFill>
                  <a:srgbClr val="E6E6E6"/>
                </a:solidFill>
                <a:latin typeface="Consolas"/>
              </a:rPr>
              <a:t>      EXIT WHEN c_emp%NOTFOUND;</a:t>
            </a:r>
          </a:p>
          <a:p>
            <a:r>
              <a:rPr sz="1250" b="0">
                <a:solidFill>
                  <a:srgbClr val="E6E6E6"/>
                </a:solidFill>
                <a:latin typeface="Consolas"/>
              </a:rPr>
              <a:t>      DBMS_OUTPUT.PUT_LINE(RPAD(v_name,12) || v_salary);</a:t>
            </a:r>
          </a:p>
          <a:p>
            <a:r>
              <a:rPr sz="1250" b="0">
                <a:solidFill>
                  <a:srgbClr val="E6E6E6"/>
                </a:solidFill>
                <a:latin typeface="Consolas"/>
              </a:rPr>
              <a:t>   END LOOP;</a:t>
            </a:r>
          </a:p>
          <a:p>
            <a:r>
              <a:rPr sz="1250" b="0">
                <a:solidFill>
                  <a:srgbClr val="E6E6E6"/>
                </a:solidFill>
                <a:latin typeface="Consolas"/>
              </a:rPr>
              <a:t>   CLOSE c_emp;</a:t>
            </a:r>
          </a:p>
          <a:p>
            <a:r>
              <a:rPr sz="1250" b="0">
                <a:solidFill>
                  <a:srgbClr val="E6E6E6"/>
                </a:solidFill>
                <a:latin typeface="Consolas"/>
              </a:rPr>
              <a:t>END;</a:t>
            </a:r>
          </a:p>
          <a:p>
            <a:r>
              <a:rPr sz="1250" b="0">
                <a:solidFill>
                  <a:srgbClr val="E6E6E6"/>
                </a:solidFill>
                <a:latin typeface="Consolas"/>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동적 PL/SQL 블록 — OUT 바인딩</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오류 상황 : OUT 모드를 빠뜨렸다</a:t>
            </a:r>
          </a:p>
          <a:p>
            <a:r>
              <a:rPr sz="1250" b="0">
                <a:solidFill>
                  <a:srgbClr val="E6E6E6"/>
                </a:solidFill>
                <a:latin typeface="Consolas"/>
              </a:rPr>
              <a:t>DECLARE</a:t>
            </a:r>
          </a:p>
          <a:p>
            <a:r>
              <a:rPr sz="1250" b="0">
                <a:solidFill>
                  <a:srgbClr val="E6E6E6"/>
                </a:solidFill>
                <a:latin typeface="Consolas"/>
              </a:rPr>
              <a:t>   v_result   NUMBER;</a:t>
            </a:r>
          </a:p>
          <a:p>
            <a:r>
              <a:rPr sz="1250" b="0">
                <a:solidFill>
                  <a:srgbClr val="E6E6E6"/>
                </a:solidFill>
                <a:latin typeface="Consolas"/>
              </a:rPr>
              <a:t>BEGIN</a:t>
            </a:r>
          </a:p>
          <a:p>
            <a:r>
              <a:rPr sz="1250" b="0">
                <a:solidFill>
                  <a:srgbClr val="E6E6E6"/>
                </a:solidFill>
                <a:latin typeface="Consolas"/>
              </a:rPr>
              <a:t>   EXECUTE IMMEDIATE 'BEGIN :r := 100 * 2; END;' USING v_result;</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오류) ORA-06537: OUT bind variable bound to an IN position</a:t>
            </a:r>
          </a:p>
          <a:p>
            <a:r>
              <a:rPr sz="1250" b="0">
                <a:solidFill>
                  <a:srgbClr val="E6E6E6"/>
                </a:solidFill>
                <a:latin typeface="Consolas"/>
              </a:rPr>
              <a:t/>
            </a:r>
          </a:p>
          <a:p>
            <a:r>
              <a:rPr sz="1250" b="0">
                <a:solidFill>
                  <a:srgbClr val="7EC699"/>
                </a:solidFill>
                <a:latin typeface="Consolas"/>
              </a:rPr>
              <a:t>-- 수정 : OUT 모드를 명시한다</a:t>
            </a:r>
          </a:p>
          <a:p>
            <a:r>
              <a:rPr sz="1250" b="0">
                <a:solidFill>
                  <a:srgbClr val="E6E6E6"/>
                </a:solidFill>
                <a:latin typeface="Consolas"/>
              </a:rPr>
              <a:t>   EXECUTE IMMEDIATE 'BEGIN :r := 100 * 2; END;' USING OUT v_result;</a:t>
            </a:r>
          </a:p>
          <a:p>
            <a:r>
              <a:rPr sz="1250" b="0">
                <a:solidFill>
                  <a:srgbClr val="9CDCFE"/>
                </a:solidFill>
                <a:latin typeface="Consolas"/>
              </a:rPr>
              <a:t>출력) 결과 : 200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동적 SQL 의 네 가지 Method</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Method 1 — 질의가 아니고 바인드 변수도 없다</a:t>
            </a:r>
          </a:p>
          <a:p>
            <a:r>
              <a:rPr sz="1600" b="0">
                <a:solidFill>
                  <a:srgbClr val="5A6672"/>
                </a:solidFill>
                <a:latin typeface="Malgun Gothic"/>
              </a:rPr>
              <a:t>    –  EXECUTE IMMEDIATE 만 사용</a:t>
            </a:r>
          </a:p>
          <a:p>
            <a:pPr>
              <a:spcBef>
                <a:spcPts val="600"/>
              </a:spcBef>
            </a:pPr>
            <a:r>
              <a:rPr sz="1800" b="0">
                <a:solidFill>
                  <a:srgbClr val="202830"/>
                </a:solidFill>
                <a:latin typeface="Malgun Gothic"/>
              </a:rPr>
              <a:t>•  Method 2 — 질의가 아니고 바인드 변수 개수를 안다</a:t>
            </a:r>
          </a:p>
          <a:p>
            <a:r>
              <a:rPr sz="1600" b="0">
                <a:solidFill>
                  <a:srgbClr val="5A6672"/>
                </a:solidFill>
                <a:latin typeface="Malgun Gothic"/>
              </a:rPr>
              <a:t>    –  EXECUTE IMMEDIATE ... USING</a:t>
            </a:r>
          </a:p>
          <a:p>
            <a:pPr>
              <a:spcBef>
                <a:spcPts val="600"/>
              </a:spcBef>
            </a:pPr>
            <a:r>
              <a:rPr sz="1800" b="0">
                <a:solidFill>
                  <a:srgbClr val="202830"/>
                </a:solidFill>
                <a:latin typeface="Malgun Gothic"/>
              </a:rPr>
              <a:t>•  Method 3 — 질의이고 SELECT 항목 수와 바인드 수를 안다</a:t>
            </a:r>
          </a:p>
          <a:p>
            <a:r>
              <a:rPr sz="1600" b="0">
                <a:solidFill>
                  <a:srgbClr val="5A6672"/>
                </a:solidFill>
                <a:latin typeface="Malgun Gothic"/>
              </a:rPr>
              <a:t>    –  INTO / BULK COLLECT INTO / OPEN-FOR</a:t>
            </a:r>
          </a:p>
          <a:p>
            <a:pPr>
              <a:spcBef>
                <a:spcPts val="600"/>
              </a:spcBef>
            </a:pPr>
            <a:r>
              <a:rPr sz="1800" b="0">
                <a:solidFill>
                  <a:srgbClr val="202830"/>
                </a:solidFill>
                <a:latin typeface="Malgun Gothic"/>
              </a:rPr>
              <a:t>•  Method 4 — SELECT 항목 수나 바인드 수를 모른다</a:t>
            </a:r>
          </a:p>
          <a:p>
            <a:r>
              <a:rPr sz="1600" b="0">
                <a:solidFill>
                  <a:srgbClr val="5A6672"/>
                </a:solidFill>
                <a:latin typeface="Malgun Gothic"/>
              </a:rPr>
              <a:t>    –  DBMS_SQL 패키지만 처리할 수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DBMS_SQL 의 처리 절차</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FUNCTION del_rows_sql(p_table VARCHAR2,</a:t>
            </a:r>
          </a:p>
          <a:p>
            <a:r>
              <a:rPr sz="1250" b="0">
                <a:solidFill>
                  <a:srgbClr val="E6E6E6"/>
                </a:solidFill>
                <a:latin typeface="Consolas"/>
              </a:rPr>
              <a:t>                                        p_dept NUMBER)</a:t>
            </a:r>
          </a:p>
          <a:p>
            <a:r>
              <a:rPr sz="1250" b="0">
                <a:solidFill>
                  <a:srgbClr val="E6E6E6"/>
                </a:solidFill>
                <a:latin typeface="Consolas"/>
              </a:rPr>
              <a:t>   RETURN NUMBER IS</a:t>
            </a:r>
          </a:p>
          <a:p>
            <a:r>
              <a:rPr sz="1250" b="0">
                <a:solidFill>
                  <a:srgbClr val="E6E6E6"/>
                </a:solidFill>
                <a:latin typeface="Consolas"/>
              </a:rPr>
              <a:t>   v_cur INTEGER;   v_rows NUMBER;</a:t>
            </a:r>
          </a:p>
          <a:p>
            <a:r>
              <a:rPr sz="1250" b="0">
                <a:solidFill>
                  <a:srgbClr val="E6E6E6"/>
                </a:solidFill>
                <a:latin typeface="Consolas"/>
              </a:rPr>
              <a:t>BEGIN</a:t>
            </a:r>
          </a:p>
          <a:p>
            <a:r>
              <a:rPr sz="1250" b="0">
                <a:solidFill>
                  <a:srgbClr val="E6E6E6"/>
                </a:solidFill>
                <a:latin typeface="Consolas"/>
              </a:rPr>
              <a:t>   v_cur := DBMS_SQL.OPEN_CURSOR;                      -- 1) 열기</a:t>
            </a:r>
          </a:p>
          <a:p>
            <a:r>
              <a:rPr sz="1250" b="0">
                <a:solidFill>
                  <a:srgbClr val="E6E6E6"/>
                </a:solidFill>
                <a:latin typeface="Consolas"/>
              </a:rPr>
              <a:t>   DBMS_SQL.PARSE(v_cur, 'DELETE FROM '</a:t>
            </a:r>
          </a:p>
          <a:p>
            <a:r>
              <a:rPr sz="1250" b="0">
                <a:solidFill>
                  <a:srgbClr val="E6E6E6"/>
                </a:solidFill>
                <a:latin typeface="Consolas"/>
              </a:rPr>
              <a:t>      || DBMS_ASSERT.SIMPLE_SQL_NAME(p_table)</a:t>
            </a:r>
          </a:p>
          <a:p>
            <a:r>
              <a:rPr sz="1250" b="0">
                <a:solidFill>
                  <a:srgbClr val="E6E6E6"/>
                </a:solidFill>
                <a:latin typeface="Consolas"/>
              </a:rPr>
              <a:t>      || ' WHERE department_id = :d', DBMS_SQL.NATIVE); -- 2) 파싱</a:t>
            </a:r>
          </a:p>
          <a:p>
            <a:r>
              <a:rPr sz="1250" b="0">
                <a:solidFill>
                  <a:srgbClr val="E6E6E6"/>
                </a:solidFill>
                <a:latin typeface="Consolas"/>
              </a:rPr>
              <a:t>   DBMS_SQL.BIND_VARIABLE(v_cur, ':d', p_dept);         -- 3) 바인딩</a:t>
            </a:r>
          </a:p>
          <a:p>
            <a:r>
              <a:rPr sz="1250" b="0">
                <a:solidFill>
                  <a:srgbClr val="E6E6E6"/>
                </a:solidFill>
                <a:latin typeface="Consolas"/>
              </a:rPr>
              <a:t>   v_rows := DBMS_SQL.EXECUTE(v_cur);                   -- 4) 실행</a:t>
            </a:r>
          </a:p>
          <a:p>
            <a:r>
              <a:rPr sz="1250" b="0">
                <a:solidFill>
                  <a:srgbClr val="E6E6E6"/>
                </a:solidFill>
                <a:latin typeface="Consolas"/>
              </a:rPr>
              <a:t>   DBMS_SQL.CLOSE_CURSOR(v_cur);                        -- 5) 닫기</a:t>
            </a:r>
          </a:p>
          <a:p>
            <a:r>
              <a:rPr sz="1250" b="0">
                <a:solidFill>
                  <a:srgbClr val="E6E6E6"/>
                </a:solidFill>
                <a:latin typeface="Consolas"/>
              </a:rPr>
              <a:t>   RETURN v_rows;</a:t>
            </a:r>
          </a:p>
          <a:p>
            <a:r>
              <a:rPr sz="1250" b="0">
                <a:solidFill>
                  <a:srgbClr val="E6E6E6"/>
                </a:solidFill>
                <a:latin typeface="Consolas"/>
              </a:rPr>
              <a:t>END;</a:t>
            </a:r>
          </a:p>
          <a:p>
            <a:r>
              <a:rPr sz="1250" b="0">
                <a:solidFill>
                  <a:srgbClr val="E6E6E6"/>
                </a:solidFill>
                <a:latin typeface="Consolas"/>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DBMS_SQL 순서 위반 — ORA-01001</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오류 재현 : PARSE 전에 BIND_VARIABLE 을 호출했다</a:t>
            </a:r>
          </a:p>
          <a:p>
            <a:r>
              <a:rPr sz="1250" b="0">
                <a:solidFill>
                  <a:srgbClr val="E6E6E6"/>
                </a:solidFill>
                <a:latin typeface="Consolas"/>
              </a:rPr>
              <a:t>DECLARE</a:t>
            </a:r>
          </a:p>
          <a:p>
            <a:r>
              <a:rPr sz="1250" b="0">
                <a:solidFill>
                  <a:srgbClr val="E6E6E6"/>
                </a:solidFill>
                <a:latin typeface="Consolas"/>
              </a:rPr>
              <a:t>   v_cur INTEGER;   v_n NUMBER;</a:t>
            </a:r>
          </a:p>
          <a:p>
            <a:r>
              <a:rPr sz="1250" b="0">
                <a:solidFill>
                  <a:srgbClr val="E6E6E6"/>
                </a:solidFill>
                <a:latin typeface="Consolas"/>
              </a:rPr>
              <a:t>BEGIN</a:t>
            </a:r>
          </a:p>
          <a:p>
            <a:r>
              <a:rPr sz="1250" b="0">
                <a:solidFill>
                  <a:srgbClr val="E6E6E6"/>
                </a:solidFill>
                <a:latin typeface="Consolas"/>
              </a:rPr>
              <a:t>   v_cur := DBMS_SQL.OPEN_CURSOR;</a:t>
            </a:r>
          </a:p>
          <a:p>
            <a:r>
              <a:rPr sz="1250" b="0">
                <a:solidFill>
                  <a:srgbClr val="E6E6E6"/>
                </a:solidFill>
                <a:latin typeface="Consolas"/>
              </a:rPr>
              <a:t>   DBMS_SQL.BIND_VARIABLE(v_cur, ':d', 60);   -- 순서 위반</a:t>
            </a:r>
          </a:p>
          <a:p>
            <a:r>
              <a:rPr sz="1250" b="0">
                <a:solidFill>
                  <a:srgbClr val="E6E6E6"/>
                </a:solidFill>
                <a:latin typeface="Consolas"/>
              </a:rPr>
              <a:t>   DBMS_SQL.PARSE(v_cur,</a:t>
            </a:r>
          </a:p>
          <a:p>
            <a:r>
              <a:rPr sz="1250" b="0">
                <a:solidFill>
                  <a:srgbClr val="E6E6E6"/>
                </a:solidFill>
                <a:latin typeface="Consolas"/>
              </a:rPr>
              <a:t>      'DELETE FROM emp_copy WHERE department_id = :d',</a:t>
            </a:r>
          </a:p>
          <a:p>
            <a:r>
              <a:rPr sz="1250" b="0">
                <a:solidFill>
                  <a:srgbClr val="E6E6E6"/>
                </a:solidFill>
                <a:latin typeface="Consolas"/>
              </a:rPr>
              <a:t>      DBMS_SQL.NATIVE);</a:t>
            </a:r>
          </a:p>
          <a:p>
            <a:r>
              <a:rPr sz="1250" b="0">
                <a:solidFill>
                  <a:srgbClr val="E6E6E6"/>
                </a:solidFill>
                <a:latin typeface="Consolas"/>
              </a:rPr>
              <a:t>END;</a:t>
            </a:r>
          </a:p>
          <a:p>
            <a:r>
              <a:rPr sz="1250" b="0">
                <a:solidFill>
                  <a:srgbClr val="E6E6E6"/>
                </a:solidFill>
                <a:latin typeface="Consolas"/>
              </a:rPr>
              <a:t>/</a:t>
            </a:r>
          </a:p>
          <a:p>
            <a:r>
              <a:rPr sz="1250" b="0">
                <a:solidFill>
                  <a:srgbClr val="9CDCFE"/>
                </a:solidFill>
                <a:latin typeface="Consolas"/>
              </a:rPr>
              <a:t>오류) ORA-01001: invalid cursor</a:t>
            </a:r>
          </a:p>
          <a:p>
            <a:r>
              <a:rPr sz="1250" b="0">
                <a:solidFill>
                  <a:srgbClr val="E6E6E6"/>
                </a:solidFill>
                <a:latin typeface="Consolas"/>
              </a:rPr>
              <a:t/>
            </a:r>
          </a:p>
          <a:p>
            <a:r>
              <a:rPr sz="1250" b="0">
                <a:solidFill>
                  <a:srgbClr val="7EC699"/>
                </a:solidFill>
                <a:latin typeface="Consolas"/>
              </a:rPr>
              <a:t>-- 수정 : OPEN_CURSOR → PARSE → BIND_VARIABLE → EXECUTE → CLOSE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NDS 와 DBMS_SQL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기본 선택은 NDS — 코드가 짧고 문맥 전환이 적어 대체로 더 빠르다</a:t>
            </a:r>
          </a:p>
          <a:p>
            <a:pPr>
              <a:spcBef>
                <a:spcPts val="600"/>
              </a:spcBef>
            </a:pPr>
            <a:r>
              <a:rPr sz="1800" b="0">
                <a:solidFill>
                  <a:srgbClr val="202830"/>
                </a:solidFill>
                <a:latin typeface="Malgun Gothic"/>
              </a:rPr>
              <a:t>•  SELECT 목록의 개수 · 자료형을 모를 때는 DBMS_SQL 만 가능하다</a:t>
            </a:r>
          </a:p>
          <a:p>
            <a:pPr>
              <a:spcBef>
                <a:spcPts val="600"/>
              </a:spcBef>
            </a:pPr>
            <a:r>
              <a:rPr sz="1800" b="0">
                <a:solidFill>
                  <a:srgbClr val="202830"/>
                </a:solidFill>
                <a:latin typeface="Malgun Gothic"/>
              </a:rPr>
              <a:t>•  바인드 변수의 개수가 실행 시점에 정해질 때도 DBMS_SQL 이 필요하다</a:t>
            </a:r>
          </a:p>
          <a:p>
            <a:pPr>
              <a:spcBef>
                <a:spcPts val="600"/>
              </a:spcBef>
            </a:pPr>
            <a:r>
              <a:rPr sz="1800" b="0">
                <a:solidFill>
                  <a:srgbClr val="202830"/>
                </a:solidFill>
                <a:latin typeface="Malgun Gothic"/>
              </a:rPr>
              <a:t>•  결과 구조 조사 — DBMS_SQL.DESCRIBE_COLUMNS</a:t>
            </a:r>
          </a:p>
          <a:p>
            <a:pPr>
              <a:spcBef>
                <a:spcPts val="600"/>
              </a:spcBef>
            </a:pPr>
            <a:r>
              <a:rPr sz="1800" b="0">
                <a:solidFill>
                  <a:srgbClr val="202830"/>
                </a:solidFill>
                <a:latin typeface="Malgun Gothic"/>
              </a:rPr>
              <a:t>•  상호 변환</a:t>
            </a:r>
          </a:p>
          <a:p>
            <a:r>
              <a:rPr sz="1600" b="0">
                <a:solidFill>
                  <a:srgbClr val="5A6672"/>
                </a:solidFill>
                <a:latin typeface="Malgun Gothic"/>
              </a:rPr>
              <a:t>    –  DBMS_SQL.TO_REFCURSOR — DBMS_SQL 커서를 SYS_REFCURSOR 로</a:t>
            </a:r>
          </a:p>
          <a:p>
            <a:r>
              <a:rPr sz="1600" b="0">
                <a:solidFill>
                  <a:srgbClr val="5A6672"/>
                </a:solidFill>
                <a:latin typeface="Malgun Gothic"/>
              </a:rPr>
              <a:t>    –  DBMS_SQL.TO_CURSOR_NUMBER — REF CURSOR 를 DBMS_SQL 커서 번호로</a:t>
            </a:r>
          </a:p>
          <a:p>
            <a:r>
              <a:rPr sz="1600" b="0">
                <a:solidFill>
                  <a:srgbClr val="5A6672"/>
                </a:solidFill>
                <a:latin typeface="Malgun Gothic"/>
              </a:rPr>
              <a:t>    –  변환 후에는 원래 방식으로 그 커서를 다룰 수 없다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bg>
    <p:bgPr>
      <a:solidFill>
        <a:srgbClr val="17202A"/>
      </a:solidFill>
      <a:effectLst/>
    </p:bgPr>
  </p:bg>
  <p:cSld>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6.13~6.20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보안과 DBA 자동화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SQL Injection 의 원리와 안전한 재현</a:t>
            </a:r>
          </a:p>
          <a:p>
            <a:r>
              <a:rPr sz="1600" b="0">
                <a:solidFill>
                  <a:srgbClr val="C5CED6"/>
                </a:solidFill>
                <a:latin typeface="Malgun Gothic"/>
              </a:rPr>
              <a:t>•  Bind Variable · DBMS_ASSERT · 화이트리스트 방어</a:t>
            </a:r>
          </a:p>
          <a:p>
            <a:r>
              <a:rPr sz="1600" b="0">
                <a:solidFill>
                  <a:srgbClr val="C5CED6"/>
                </a:solidFill>
                <a:latin typeface="Malgun Gothic"/>
              </a:rPr>
              <a:t>•  Data Dictionary — USER_ · ALL_ · DBA_ 계열</a:t>
            </a:r>
          </a:p>
          <a:p>
            <a:r>
              <a:rPr sz="1600" b="0">
                <a:solidFill>
                  <a:srgbClr val="C5CED6"/>
                </a:solidFill>
                <a:latin typeface="Malgun Gothic"/>
              </a:rPr>
              <a:t>•  plsql_job_log 를 활용한 자동화 루틴 설계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Injection — 취약한 코드</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PROCEDURE find_emp_bad(p_name IN VARCHAR2) IS</a:t>
            </a:r>
          </a:p>
          <a:p>
            <a:r>
              <a:rPr sz="1250" b="0">
                <a:solidFill>
                  <a:srgbClr val="E6E6E6"/>
                </a:solidFill>
                <a:latin typeface="Consolas"/>
              </a:rPr>
              <a:t>   TYPE t_tab IS TABLE OF VARCHAR2(100);</a:t>
            </a:r>
          </a:p>
          <a:p>
            <a:r>
              <a:rPr sz="1250" b="0">
                <a:solidFill>
                  <a:srgbClr val="E6E6E6"/>
                </a:solidFill>
                <a:latin typeface="Consolas"/>
              </a:rPr>
              <a:t>   v_rows  t_tab;   v_sql VARCHAR2(1000);</a:t>
            </a:r>
          </a:p>
          <a:p>
            <a:r>
              <a:rPr sz="1250" b="0">
                <a:solidFill>
                  <a:srgbClr val="E6E6E6"/>
                </a:solidFill>
                <a:latin typeface="Consolas"/>
              </a:rPr>
              <a:t>BEGIN</a:t>
            </a:r>
          </a:p>
          <a:p>
            <a:r>
              <a:rPr sz="1250" b="0">
                <a:solidFill>
                  <a:srgbClr val="E6E6E6"/>
                </a:solidFill>
                <a:latin typeface="Consolas"/>
              </a:rPr>
              <a:t>   v_sql := 'SELECT last_name || '' / '' || salary FROM employees</a:t>
            </a:r>
          </a:p>
          <a:p>
            <a:r>
              <a:rPr sz="1250" b="0">
                <a:solidFill>
                  <a:srgbClr val="E6E6E6"/>
                </a:solidFill>
                <a:latin typeface="Consolas"/>
              </a:rPr>
              <a:t>              WHERE last_name = ''' || p_name || '''';</a:t>
            </a:r>
          </a:p>
          <a:p>
            <a:r>
              <a:rPr sz="1250" b="0">
                <a:solidFill>
                  <a:srgbClr val="E6E6E6"/>
                </a:solidFill>
                <a:latin typeface="Consolas"/>
              </a:rPr>
              <a:t>   EXECUTE IMMEDIATE v_sql BULK COLLECT INTO v_rows;</a:t>
            </a:r>
          </a:p>
          <a:p>
            <a:r>
              <a:rPr sz="1250" b="0">
                <a:solidFill>
                  <a:srgbClr val="E6E6E6"/>
                </a:solidFill>
                <a:latin typeface="Consolas"/>
              </a:rPr>
              <a:t>   DBMS_OUTPUT.PUT_LINE('조회 건수 : ' || v_rows.COUNT);</a:t>
            </a:r>
          </a:p>
          <a:p>
            <a:r>
              <a:rPr sz="1250" b="0">
                <a:solidFill>
                  <a:srgbClr val="E6E6E6"/>
                </a:solidFill>
                <a:latin typeface="Consolas"/>
              </a:rPr>
              <a:t>END find_emp_bad;</a:t>
            </a:r>
          </a:p>
          <a:p>
            <a:r>
              <a:rPr sz="1250" b="0">
                <a:solidFill>
                  <a:srgbClr val="E6E6E6"/>
                </a:solidFill>
                <a:latin typeface="Consolas"/>
              </a:rPr>
              <a:t>/</a:t>
            </a:r>
          </a:p>
          <a:p>
            <a:r>
              <a:rPr sz="1250" b="0">
                <a:solidFill>
                  <a:srgbClr val="E6E6E6"/>
                </a:solidFill>
                <a:latin typeface="Consolas"/>
              </a:rPr>
              <a:t>SQL&gt; EXEC find_emp_bad('King')</a:t>
            </a:r>
          </a:p>
          <a:p>
            <a:r>
              <a:rPr sz="1250" b="0">
                <a:solidFill>
                  <a:srgbClr val="9CDCFE"/>
                </a:solidFill>
                <a:latin typeface="Consolas"/>
              </a:rPr>
              <a:t>출력) 조회 건수 : 1</a:t>
            </a:r>
          </a:p>
          <a:p>
            <a:r>
              <a:rPr sz="1250" b="0">
                <a:solidFill>
                  <a:srgbClr val="E6E6E6"/>
                </a:solidFill>
                <a:latin typeface="Consolas"/>
              </a:rPr>
              <a:t>SQL&gt; EXEC find_emp_bad('x'' OR ''1''=''1')</a:t>
            </a:r>
          </a:p>
          <a:p>
            <a:r>
              <a:rPr sz="1250" b="0">
                <a:solidFill>
                  <a:srgbClr val="9CDCFE"/>
                </a:solidFill>
                <a:latin typeface="Consolas"/>
              </a:rPr>
              <a:t>출력) 조회 건수 : 107      -- 전체 사원이 노출되었다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공격이 성립하는 세 가지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동적 SQL을 쓴다</a:t>
            </a:r>
          </a:p>
          <a:p>
            <a:r>
              <a:rPr sz="1600" b="0">
                <a:solidFill>
                  <a:srgbClr val="5A6672"/>
                </a:solidFill>
                <a:latin typeface="Malgun Gothic"/>
              </a:rPr>
              <a:t>    –  정적 SQL은 구조가 고정되어 있어 주입이 원천적으로 불가능하다</a:t>
            </a:r>
          </a:p>
          <a:p>
            <a:pPr>
              <a:spcBef>
                <a:spcPts val="600"/>
              </a:spcBef>
            </a:pPr>
            <a:r>
              <a:rPr sz="1800" b="0">
                <a:solidFill>
                  <a:srgbClr val="202830"/>
                </a:solidFill>
                <a:latin typeface="Malgun Gothic"/>
              </a:rPr>
              <a:t>•  사용자 입력이 문자열 결합으로 문장에 들어간다</a:t>
            </a:r>
          </a:p>
          <a:p>
            <a:r>
              <a:rPr sz="1600" b="0">
                <a:solidFill>
                  <a:srgbClr val="5A6672"/>
                </a:solidFill>
                <a:latin typeface="Malgun Gothic"/>
              </a:rPr>
              <a:t>    –  바인딩하면 값으로만 취급되어 구조를 바꿀 수 없다</a:t>
            </a:r>
          </a:p>
          <a:p>
            <a:pPr>
              <a:spcBef>
                <a:spcPts val="600"/>
              </a:spcBef>
            </a:pPr>
            <a:r>
              <a:rPr sz="1800" b="0">
                <a:solidFill>
                  <a:srgbClr val="202830"/>
                </a:solidFill>
                <a:latin typeface="Malgun Gothic"/>
              </a:rPr>
              <a:t>•  입력값에 대한 검증이 없거나 불완전하다</a:t>
            </a:r>
          </a:p>
          <a:p>
            <a:r>
              <a:rPr sz="1600" b="0">
                <a:solidFill>
                  <a:srgbClr val="5A6672"/>
                </a:solidFill>
                <a:latin typeface="Malgun Gothic"/>
              </a:rPr>
              <a:t>    –  따옴표를 두 개로 치환하는 자체 로직은 우회 기법이 많다</a:t>
            </a:r>
          </a:p>
          <a:p>
            <a:pPr>
              <a:spcBef>
                <a:spcPts val="600"/>
              </a:spcBef>
            </a:pPr>
            <a:r>
              <a:rPr sz="1800" b="0">
                <a:solidFill>
                  <a:srgbClr val="202830"/>
                </a:solidFill>
                <a:latin typeface="Malgun Gothic"/>
              </a:rPr>
              <a:t>•  세 조건 중 하나만 끊어도 공격은 성립하지 않는다</a:t>
            </a:r>
          </a:p>
          <a:p>
            <a:r>
              <a:rPr sz="1600" b="0">
                <a:solidFill>
                  <a:srgbClr val="5A6672"/>
                </a:solidFill>
                <a:latin typeface="Malgun Gothic"/>
              </a:rPr>
              <a:t>    –  가장 확실한 것은 두 번째를 끊는 것 — 값은 예외 없이 바인딩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Bind Variable 로 방어하기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PROCEDURE find_emp_safe(p_name IN VARCHAR2) IS</a:t>
            </a:r>
          </a:p>
          <a:p>
            <a:r>
              <a:rPr sz="1250" b="0">
                <a:solidFill>
                  <a:srgbClr val="E6E6E6"/>
                </a:solidFill>
                <a:latin typeface="Consolas"/>
              </a:rPr>
              <a:t>   TYPE t_tab IS TABLE OF VARCHAR2(100);</a:t>
            </a:r>
          </a:p>
          <a:p>
            <a:r>
              <a:rPr sz="1250" b="0">
                <a:solidFill>
                  <a:srgbClr val="E6E6E6"/>
                </a:solidFill>
                <a:latin typeface="Consolas"/>
              </a:rPr>
              <a:t>   v_rows  t_tab;</a:t>
            </a:r>
          </a:p>
          <a:p>
            <a:r>
              <a:rPr sz="1250" b="0">
                <a:solidFill>
                  <a:srgbClr val="E6E6E6"/>
                </a:solidFill>
                <a:latin typeface="Consolas"/>
              </a:rPr>
              <a:t>BEGIN</a:t>
            </a:r>
          </a:p>
          <a:p>
            <a:r>
              <a:rPr sz="1250" b="0">
                <a:solidFill>
                  <a:srgbClr val="E6E6E6"/>
                </a:solidFill>
                <a:latin typeface="Consolas"/>
              </a:rPr>
              <a:t>   EXECUTE IMMEDIATE 'SELECT last_name || '' / '' || salary</a:t>
            </a:r>
          </a:p>
          <a:p>
            <a:r>
              <a:rPr sz="1250" b="0">
                <a:solidFill>
                  <a:srgbClr val="E6E6E6"/>
                </a:solidFill>
                <a:latin typeface="Consolas"/>
              </a:rPr>
              <a:t>                        FROM employees WHERE last_name = :name'</a:t>
            </a:r>
          </a:p>
          <a:p>
            <a:r>
              <a:rPr sz="1250" b="0">
                <a:solidFill>
                  <a:srgbClr val="E6E6E6"/>
                </a:solidFill>
                <a:latin typeface="Consolas"/>
              </a:rPr>
              <a:t>      BULK COLLECT INTO v_rows USING p_name;</a:t>
            </a:r>
          </a:p>
          <a:p>
            <a:r>
              <a:rPr sz="1250" b="0">
                <a:solidFill>
                  <a:srgbClr val="E6E6E6"/>
                </a:solidFill>
                <a:latin typeface="Consolas"/>
              </a:rPr>
              <a:t>   DBMS_OUTPUT.PUT_LINE('조회 건수 : ' || v_rows.COUNT);</a:t>
            </a:r>
          </a:p>
          <a:p>
            <a:r>
              <a:rPr sz="1250" b="0">
                <a:solidFill>
                  <a:srgbClr val="E6E6E6"/>
                </a:solidFill>
                <a:latin typeface="Consolas"/>
              </a:rPr>
              <a:t>END find_emp_safe;</a:t>
            </a:r>
          </a:p>
          <a:p>
            <a:r>
              <a:rPr sz="1250" b="0">
                <a:solidFill>
                  <a:srgbClr val="E6E6E6"/>
                </a:solidFill>
                <a:latin typeface="Consolas"/>
              </a:rPr>
              <a:t>/</a:t>
            </a:r>
          </a:p>
          <a:p>
            <a:r>
              <a:rPr sz="1250" b="0">
                <a:solidFill>
                  <a:srgbClr val="E6E6E6"/>
                </a:solidFill>
                <a:latin typeface="Consolas"/>
              </a:rPr>
              <a:t>SQL&gt; EXEC find_emp_safe('x'' OR ''1''=''1')</a:t>
            </a:r>
          </a:p>
          <a:p>
            <a:r>
              <a:rPr sz="1250" b="0">
                <a:solidFill>
                  <a:srgbClr val="9CDCFE"/>
                </a:solidFill>
                <a:latin typeface="Consolas"/>
              </a:rPr>
              <a:t>출력) 조회 건수 : 0</a:t>
            </a:r>
          </a:p>
          <a:p>
            <a:r>
              <a:rPr sz="1250" b="0">
                <a:solidFill>
                  <a:srgbClr val="7EC699"/>
                </a:solidFill>
                <a:latin typeface="Consolas"/>
              </a:rPr>
              <a:t>--   입력 전체가 하나의 이름 값으로 취급되었다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DBMS_ASSERT — 식별자 검증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SIMPLE_SQL_NAME — 단순 식별자인지 검사</a:t>
            </a:r>
          </a:p>
          <a:p>
            <a:pPr>
              <a:spcBef>
                <a:spcPts val="600"/>
              </a:spcBef>
            </a:pPr>
            <a:r>
              <a:rPr sz="1800" b="0">
                <a:solidFill>
                  <a:srgbClr val="202830"/>
                </a:solidFill>
                <a:latin typeface="Malgun Gothic"/>
              </a:rPr>
              <a:t>•  QUALIFIED_SQL_NAME — 스키마.객체.속성 형태의 한정 이름인지 검사</a:t>
            </a:r>
          </a:p>
          <a:p>
            <a:pPr>
              <a:spcBef>
                <a:spcPts val="600"/>
              </a:spcBef>
            </a:pPr>
            <a:r>
              <a:rPr sz="1800" b="0">
                <a:solidFill>
                  <a:srgbClr val="202830"/>
                </a:solidFill>
                <a:latin typeface="Malgun Gothic"/>
              </a:rPr>
              <a:t>•  SCHEMA_NAME — 실제로 존재하는 스키마 이름인지 검사</a:t>
            </a:r>
          </a:p>
          <a:p>
            <a:pPr>
              <a:spcBef>
                <a:spcPts val="600"/>
              </a:spcBef>
            </a:pPr>
            <a:r>
              <a:rPr sz="1800" b="0">
                <a:solidFill>
                  <a:srgbClr val="202830"/>
                </a:solidFill>
                <a:latin typeface="Malgun Gothic"/>
              </a:rPr>
              <a:t>•  SQL_OBJECT_NAME — 현재 사용자가 접근 가능한 객체 이름인지 검사</a:t>
            </a:r>
          </a:p>
          <a:p>
            <a:pPr>
              <a:spcBef>
                <a:spcPts val="600"/>
              </a:spcBef>
            </a:pPr>
            <a:r>
              <a:rPr sz="1800" b="0">
                <a:solidFill>
                  <a:srgbClr val="202830"/>
                </a:solidFill>
                <a:latin typeface="Malgun Gothic"/>
              </a:rPr>
              <a:t>•  ENQUOTE_LITERAL — 문자열 리터럴로 감싸고 내부 따옴표를 이스케이프</a:t>
            </a:r>
          </a:p>
          <a:p>
            <a:pPr>
              <a:spcBef>
                <a:spcPts val="600"/>
              </a:spcBef>
            </a:pPr>
            <a:r>
              <a:rPr sz="1800" b="0">
                <a:solidFill>
                  <a:srgbClr val="202830"/>
                </a:solidFill>
                <a:latin typeface="Malgun Gothic"/>
              </a:rPr>
              <a:t>•  ENQUOTE_NAME — 큰따옴표로 감싼 식별자로 변환</a:t>
            </a:r>
          </a:p>
          <a:p>
            <a:pPr>
              <a:spcBef>
                <a:spcPts val="600"/>
              </a:spcBef>
            </a:pPr>
            <a:r>
              <a:rPr sz="1800" b="0">
                <a:solidFill>
                  <a:srgbClr val="202830"/>
                </a:solidFill>
                <a:latin typeface="Malgun Gothic"/>
              </a:rPr>
              <a:t>•  NOOP — 검사하지 않고 반환. 검토를 마쳤다는 표시 용도</a:t>
            </a:r>
          </a:p>
          <a:p>
            <a:pPr>
              <a:spcBef>
                <a:spcPts val="600"/>
              </a:spcBef>
            </a:pPr>
            <a:r>
              <a:rPr sz="1800" b="0">
                <a:solidFill>
                  <a:srgbClr val="202830"/>
                </a:solidFill>
                <a:latin typeface="Malgun Gothic"/>
              </a:rPr>
              <a:t>•  검사에 실패하면 ORA-44003 등의 예외를 던진다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화이트리스트 — 딕셔너리 대조</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PROCEDURE count_table(p_table IN VARCHAR2) IS</a:t>
            </a:r>
          </a:p>
          <a:p>
            <a:r>
              <a:rPr sz="1250" b="0">
                <a:solidFill>
                  <a:srgbClr val="E6E6E6"/>
                </a:solidFill>
                <a:latin typeface="Consolas"/>
              </a:rPr>
              <a:t>   v_name VARCHAR2(128);   v_cnt NUMBER;</a:t>
            </a:r>
          </a:p>
          <a:p>
            <a:r>
              <a:rPr sz="1250" b="0">
                <a:solidFill>
                  <a:srgbClr val="E6E6E6"/>
                </a:solidFill>
                <a:latin typeface="Consolas"/>
              </a:rPr>
              <a:t>BEGIN</a:t>
            </a:r>
          </a:p>
          <a:p>
            <a:r>
              <a:rPr sz="1250" b="0">
                <a:solidFill>
                  <a:srgbClr val="E6E6E6"/>
                </a:solidFill>
                <a:latin typeface="Consolas"/>
              </a:rPr>
              <a:t>   SELECT table_name INTO v_name        -- 실제 소유 테이블인지 확인</a:t>
            </a:r>
          </a:p>
          <a:p>
            <a:r>
              <a:rPr sz="1250" b="0">
                <a:solidFill>
                  <a:srgbClr val="E6E6E6"/>
                </a:solidFill>
                <a:latin typeface="Consolas"/>
              </a:rPr>
              <a:t>     FROM user_tables</a:t>
            </a:r>
          </a:p>
          <a:p>
            <a:r>
              <a:rPr sz="1250" b="0">
                <a:solidFill>
                  <a:srgbClr val="E6E6E6"/>
                </a:solidFill>
                <a:latin typeface="Consolas"/>
              </a:rPr>
              <a:t>    WHERE table_name = UPPER(TRIM(p_table));</a:t>
            </a:r>
          </a:p>
          <a:p>
            <a:r>
              <a:rPr sz="1250" b="0">
                <a:solidFill>
                  <a:srgbClr val="E6E6E6"/>
                </a:solidFill>
                <a:latin typeface="Consolas"/>
              </a:rPr>
              <a:t/>
            </a:r>
          </a:p>
          <a:p>
            <a:r>
              <a:rPr sz="1250" b="0">
                <a:solidFill>
                  <a:srgbClr val="E6E6E6"/>
                </a:solidFill>
                <a:latin typeface="Consolas"/>
              </a:rPr>
              <a:t>   EXECUTE IMMEDIATE</a:t>
            </a:r>
          </a:p>
          <a:p>
            <a:r>
              <a:rPr sz="1250" b="0">
                <a:solidFill>
                  <a:srgbClr val="E6E6E6"/>
                </a:solidFill>
                <a:latin typeface="Consolas"/>
              </a:rPr>
              <a:t>      'SELECT COUNT(*) FROM "' || v_name || '"' INTO v_cnt;</a:t>
            </a:r>
          </a:p>
          <a:p>
            <a:r>
              <a:rPr sz="1250" b="0">
                <a:solidFill>
                  <a:srgbClr val="E6E6E6"/>
                </a:solidFill>
                <a:latin typeface="Consolas"/>
              </a:rPr>
              <a:t>   DBMS_OUTPUT.PUT_LINE(v_name || ' : ' || v_cnt || ' 건');</a:t>
            </a:r>
          </a:p>
          <a:p>
            <a:r>
              <a:rPr sz="1250" b="0">
                <a:solidFill>
                  <a:srgbClr val="E6E6E6"/>
                </a:solidFill>
                <a:latin typeface="Consolas"/>
              </a:rPr>
              <a:t>EXCEPTION</a:t>
            </a:r>
          </a:p>
          <a:p>
            <a:r>
              <a:rPr sz="1250" b="0">
                <a:solidFill>
                  <a:srgbClr val="E6E6E6"/>
                </a:solidFill>
                <a:latin typeface="Consolas"/>
              </a:rPr>
              <a:t>   WHEN NO_DATA_FOUND THEN</a:t>
            </a:r>
          </a:p>
          <a:p>
            <a:r>
              <a:rPr sz="1250" b="0">
                <a:solidFill>
                  <a:srgbClr val="E6E6E6"/>
                </a:solidFill>
                <a:latin typeface="Consolas"/>
              </a:rPr>
              <a:t>      RAISE_APPLICATION_ERROR(-20010, '허용되지 않은 테이블');</a:t>
            </a:r>
          </a:p>
          <a:p>
            <a:r>
              <a:rPr sz="1250" b="0">
                <a:solidFill>
                  <a:srgbClr val="E6E6E6"/>
                </a:solidFill>
                <a:latin typeface="Consolas"/>
              </a:rPr>
              <a:t>END count_table;</a:t>
            </a:r>
          </a:p>
          <a:p>
            <a:r>
              <a:rPr sz="1250" b="0">
                <a:solidFill>
                  <a:srgbClr val="E6E6E6"/>
                </a:solidFill>
                <a:latin typeface="Consolas"/>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동적 SQL 보안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값은 100% 바인딩한다 — 예외를 두지 않는다</a:t>
            </a:r>
          </a:p>
          <a:p>
            <a:pPr>
              <a:spcBef>
                <a:spcPts val="600"/>
              </a:spcBef>
            </a:pPr>
            <a:r>
              <a:rPr sz="1800" b="0">
                <a:solidFill>
                  <a:srgbClr val="202830"/>
                </a:solidFill>
                <a:latin typeface="Malgun Gothic"/>
              </a:rPr>
              <a:t>•  식별자는 DBMS_ASSERT 로 문법 검증하고 딕셔너리 대조로 존재까지 확인한다</a:t>
            </a:r>
          </a:p>
          <a:p>
            <a:pPr>
              <a:spcBef>
                <a:spcPts val="600"/>
              </a:spcBef>
            </a:pPr>
            <a:r>
              <a:rPr sz="1800" b="0">
                <a:solidFill>
                  <a:srgbClr val="202830"/>
                </a:solidFill>
                <a:latin typeface="Malgun Gothic"/>
              </a:rPr>
              <a:t>•  따옴표를 두 개로 치환하는 자체 이스케이프 로직은 만들지 않는다</a:t>
            </a:r>
          </a:p>
          <a:p>
            <a:pPr>
              <a:spcBef>
                <a:spcPts val="600"/>
              </a:spcBef>
            </a:pPr>
            <a:r>
              <a:rPr sz="1800" b="0">
                <a:solidFill>
                  <a:srgbClr val="202830"/>
                </a:solidFill>
                <a:latin typeface="Malgun Gothic"/>
              </a:rPr>
              <a:t>•  자동화 계정에는 최소 권한만 부여하고 ANY 권한은 주지 않는다</a:t>
            </a:r>
          </a:p>
          <a:p>
            <a:pPr>
              <a:spcBef>
                <a:spcPts val="600"/>
              </a:spcBef>
            </a:pPr>
            <a:r>
              <a:rPr sz="1800" b="0">
                <a:solidFill>
                  <a:srgbClr val="202830"/>
                </a:solidFill>
                <a:latin typeface="Malgun Gothic"/>
              </a:rPr>
              <a:t>•  정의자 권한과 호출자 권한(AUTHID CURRENT_USER)을 의도적으로 선택한다</a:t>
            </a:r>
          </a:p>
          <a:p>
            <a:pPr>
              <a:spcBef>
                <a:spcPts val="600"/>
              </a:spcBef>
            </a:pPr>
            <a:r>
              <a:rPr sz="1800" b="0">
                <a:solidFill>
                  <a:srgbClr val="202830"/>
                </a:solidFill>
                <a:latin typeface="Malgun Gothic"/>
              </a:rPr>
              <a:t>•  조립된 문장을 로그에 남겨 사후 추적이 가능하게 한다</a:t>
            </a:r>
          </a:p>
          <a:p>
            <a:r>
              <a:rPr sz="1600" b="0">
                <a:solidFill>
                  <a:srgbClr val="5A6672"/>
                </a:solidFill>
                <a:latin typeface="Malgun Gothic"/>
              </a:rPr>
              <a:t>    –  실패했을 때 어떤 문장이 실행됐는지 알 수 없으면 원인 분석이 불가능하다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Data Dictionary 의 계열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USER_xxx — 현재 사용자가 소유한 객체만. OWNER 컬럼이 없다</a:t>
            </a:r>
          </a:p>
          <a:p>
            <a:pPr>
              <a:spcBef>
                <a:spcPts val="600"/>
              </a:spcBef>
            </a:pPr>
            <a:r>
              <a:rPr sz="1800" b="0">
                <a:solidFill>
                  <a:srgbClr val="202830"/>
                </a:solidFill>
                <a:latin typeface="Malgun Gothic"/>
              </a:rPr>
              <a:t>•  ALL_xxx — 접근 권한을 가진 모든 객체. OWNER 컬럼이 있다</a:t>
            </a:r>
          </a:p>
          <a:p>
            <a:pPr>
              <a:spcBef>
                <a:spcPts val="600"/>
              </a:spcBef>
            </a:pPr>
            <a:r>
              <a:rPr sz="1800" b="0">
                <a:solidFill>
                  <a:srgbClr val="202830"/>
                </a:solidFill>
                <a:latin typeface="Malgun Gothic"/>
              </a:rPr>
              <a:t>•  DBA_xxx — 데이터베이스 전체</a:t>
            </a:r>
          </a:p>
          <a:p>
            <a:r>
              <a:rPr sz="1600" b="0">
                <a:solidFill>
                  <a:srgbClr val="5A6672"/>
                </a:solidFill>
                <a:latin typeface="Malgun Gothic"/>
              </a:rPr>
              <a:t>    –  SELECT ANY DICTIONARY 권한 또는 SELECT_CATALOG_ROLE 이 필요하다</a:t>
            </a:r>
          </a:p>
          <a:p>
            <a:pPr>
              <a:spcBef>
                <a:spcPts val="600"/>
              </a:spcBef>
            </a:pPr>
            <a:r>
              <a:rPr sz="1800" b="0">
                <a:solidFill>
                  <a:srgbClr val="202830"/>
                </a:solidFill>
                <a:latin typeface="Malgun Gothic"/>
              </a:rPr>
              <a:t>•  CDB_xxx — 멀티테넌트 환경의 컨테이너 전체. CON_ID 컬럼이 추가된다</a:t>
            </a:r>
          </a:p>
          <a:p>
            <a:pPr>
              <a:spcBef>
                <a:spcPts val="600"/>
              </a:spcBef>
            </a:pPr>
            <a:r>
              <a:rPr sz="1800" b="0">
                <a:solidFill>
                  <a:srgbClr val="202830"/>
                </a:solidFill>
                <a:latin typeface="Malgun Gothic"/>
              </a:rPr>
              <a:t>•  V$xxx — 동적 성능 뷰. 인스턴스가 살아 있는 동안의 실시간 정보</a:t>
            </a:r>
          </a:p>
          <a:p>
            <a:pPr>
              <a:spcBef>
                <a:spcPts val="600"/>
              </a:spcBef>
            </a:pPr>
            <a:r>
              <a:rPr sz="1800" b="0">
                <a:solidFill>
                  <a:srgbClr val="202830"/>
                </a:solidFill>
                <a:latin typeface="Malgun Gothic"/>
              </a:rPr>
              <a:t>•  DICT / DICT_COLUMNS — 딕셔너리 뷰 자체의 목록과 컬럼 목록</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USER_OBJECTS 로 INVALID 탐지</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SQL&gt; SELECT object_name, object_type, status FROM user_objects</a:t>
            </a:r>
          </a:p>
          <a:p>
            <a:r>
              <a:rPr sz="1250" b="0">
                <a:solidFill>
                  <a:srgbClr val="E6E6E6"/>
                </a:solidFill>
                <a:latin typeface="Consolas"/>
              </a:rPr>
              <a:t>  2   WHERE status &lt;&gt; 'VALID' ORDER BY object_type;</a:t>
            </a:r>
          </a:p>
          <a:p>
            <a:r>
              <a:rPr sz="1250" b="0">
                <a:solidFill>
                  <a:srgbClr val="E6E6E6"/>
                </a:solidFill>
                <a:latin typeface="Consolas"/>
              </a:rPr>
              <a:t/>
            </a:r>
          </a:p>
          <a:p>
            <a:r>
              <a:rPr sz="1250" b="0">
                <a:solidFill>
                  <a:srgbClr val="E6E6E6"/>
                </a:solidFill>
                <a:latin typeface="Consolas"/>
              </a:rPr>
              <a:t>OBJECT_NAME       OBJECT_TYPE    STATUS</a:t>
            </a:r>
          </a:p>
          <a:p>
            <a:r>
              <a:rPr sz="1250" b="0">
                <a:solidFill>
                  <a:srgbClr val="7EC699"/>
                </a:solidFill>
                <a:latin typeface="Consolas"/>
              </a:rPr>
              <a:t>----------------- -------------- --------</a:t>
            </a:r>
          </a:p>
          <a:p>
            <a:r>
              <a:rPr sz="1250" b="0">
                <a:solidFill>
                  <a:srgbClr val="E6E6E6"/>
                </a:solidFill>
                <a:latin typeface="Consolas"/>
              </a:rPr>
              <a:t>EMP_PKG           PACKAGE BODY   INVALID</a:t>
            </a:r>
          </a:p>
          <a:p>
            <a:r>
              <a:rPr sz="1250" b="0">
                <a:solidFill>
                  <a:srgbClr val="E6E6E6"/>
                </a:solidFill>
                <a:latin typeface="Consolas"/>
              </a:rPr>
              <a:t>GET_EMP_INFO      PROCEDURE      INVALID</a:t>
            </a:r>
          </a:p>
          <a:p>
            <a:r>
              <a:rPr sz="1250" b="0">
                <a:solidFill>
                  <a:srgbClr val="E6E6E6"/>
                </a:solidFill>
                <a:latin typeface="Consolas"/>
              </a:rPr>
              <a:t/>
            </a:r>
          </a:p>
          <a:p>
            <a:r>
              <a:rPr sz="1250" b="0">
                <a:solidFill>
                  <a:srgbClr val="7EC699"/>
                </a:solidFill>
                <a:latin typeface="Consolas"/>
              </a:rPr>
              <a:t>-- 동적 SQL 로 일괄 재컴파일</a:t>
            </a:r>
          </a:p>
          <a:p>
            <a:r>
              <a:rPr sz="1250" b="0">
                <a:solidFill>
                  <a:srgbClr val="E6E6E6"/>
                </a:solidFill>
                <a:latin typeface="Consolas"/>
              </a:rPr>
              <a:t>BEGIN</a:t>
            </a:r>
          </a:p>
          <a:p>
            <a:r>
              <a:rPr sz="1250" b="0">
                <a:solidFill>
                  <a:srgbClr val="E6E6E6"/>
                </a:solidFill>
                <a:latin typeface="Consolas"/>
              </a:rPr>
              <a:t>   FOR r IN (SELECT object_name, object_type FROM user_objects</a:t>
            </a:r>
          </a:p>
          <a:p>
            <a:r>
              <a:rPr sz="1250" b="0">
                <a:solidFill>
                  <a:srgbClr val="E6E6E6"/>
                </a:solidFill>
                <a:latin typeface="Consolas"/>
              </a:rPr>
              <a:t>              WHERE status = 'INVALID'</a:t>
            </a:r>
          </a:p>
          <a:p>
            <a:r>
              <a:rPr sz="1250" b="0">
                <a:solidFill>
                  <a:srgbClr val="E6E6E6"/>
                </a:solidFill>
                <a:latin typeface="Consolas"/>
              </a:rPr>
              <a:t>                AND object_type IN ('PROCEDURE','FUNCTION','VIEW')) LOOP</a:t>
            </a:r>
          </a:p>
          <a:p>
            <a:r>
              <a:rPr sz="1250" b="0">
                <a:solidFill>
                  <a:srgbClr val="E6E6E6"/>
                </a:solidFill>
                <a:latin typeface="Consolas"/>
              </a:rPr>
              <a:t>      EXECUTE IMMEDIATE 'ALTER ' || r.object_type || ' "'</a:t>
            </a:r>
          </a:p>
          <a:p>
            <a:r>
              <a:rPr sz="1250" b="0">
                <a:solidFill>
                  <a:srgbClr val="E6E6E6"/>
                </a:solidFill>
                <a:latin typeface="Consolas"/>
              </a:rPr>
              <a:t>                        || r.object_name || '" COMPILE';</a:t>
            </a:r>
          </a:p>
          <a:p>
            <a:r>
              <a:rPr sz="1250" b="0">
                <a:solidFill>
                  <a:srgbClr val="E6E6E6"/>
                </a:solidFill>
                <a:latin typeface="Consolas"/>
              </a:rPr>
              <a:t>   END LOOP;</a:t>
            </a:r>
          </a:p>
          <a:p>
            <a:r>
              <a:rPr sz="1250" b="0">
                <a:solidFill>
                  <a:srgbClr val="E6E6E6"/>
                </a:solidFill>
                <a:latin typeface="Consolas"/>
              </a:rPr>
              <a:t>END;</a:t>
            </a:r>
          </a:p>
          <a:p>
            <a:r>
              <a:rPr sz="1250" b="0">
                <a:solidFill>
                  <a:srgbClr val="E6E6E6"/>
                </a:solidFill>
                <a:latin typeface="Consolas"/>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USER_TABLES · USER_INDEXES</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SQL&gt; SELECT table_name, num_rows,</a:t>
            </a:r>
          </a:p>
          <a:p>
            <a:r>
              <a:rPr sz="1250" b="0">
                <a:solidFill>
                  <a:srgbClr val="E6E6E6"/>
                </a:solidFill>
                <a:latin typeface="Consolas"/>
              </a:rPr>
              <a:t>  2         TO_CHAR(last_analyzed,'YYYY-MM-DD') AS analyzed</a:t>
            </a:r>
          </a:p>
          <a:p>
            <a:r>
              <a:rPr sz="1250" b="0">
                <a:solidFill>
                  <a:srgbClr val="E6E6E6"/>
                </a:solidFill>
                <a:latin typeface="Consolas"/>
              </a:rPr>
              <a:t>  3    FROM user_tables ORDER BY table_name;</a:t>
            </a:r>
          </a:p>
          <a:p>
            <a:r>
              <a:rPr sz="1250" b="0">
                <a:solidFill>
                  <a:srgbClr val="E6E6E6"/>
                </a:solidFill>
                <a:latin typeface="Consolas"/>
              </a:rPr>
              <a:t/>
            </a:r>
          </a:p>
          <a:p>
            <a:r>
              <a:rPr sz="1250" b="0">
                <a:solidFill>
                  <a:srgbClr val="E6E6E6"/>
                </a:solidFill>
                <a:latin typeface="Consolas"/>
              </a:rPr>
              <a:t>TABLE_NAME      NUM_ROWS ANALYZED</a:t>
            </a:r>
          </a:p>
          <a:p>
            <a:r>
              <a:rPr sz="1250" b="0">
                <a:solidFill>
                  <a:srgbClr val="7EC699"/>
                </a:solidFill>
                <a:latin typeface="Consolas"/>
              </a:rPr>
              <a:t>-------------- --------- ----------</a:t>
            </a:r>
          </a:p>
          <a:p>
            <a:r>
              <a:rPr sz="1250" b="0">
                <a:solidFill>
                  <a:srgbClr val="E6E6E6"/>
                </a:solidFill>
                <a:latin typeface="Consolas"/>
              </a:rPr>
              <a:t>DEPARTMENTS           27 2026-08-18</a:t>
            </a:r>
          </a:p>
          <a:p>
            <a:r>
              <a:rPr sz="1250" b="0">
                <a:solidFill>
                  <a:srgbClr val="E6E6E6"/>
                </a:solidFill>
                <a:latin typeface="Consolas"/>
              </a:rPr>
              <a:t>EMPLOYEES            107 2026-08-18</a:t>
            </a:r>
          </a:p>
          <a:p>
            <a:r>
              <a:rPr sz="1250" b="0">
                <a:solidFill>
                  <a:srgbClr val="E6E6E6"/>
                </a:solidFill>
                <a:latin typeface="Consolas"/>
              </a:rPr>
              <a:t/>
            </a:r>
          </a:p>
          <a:p>
            <a:r>
              <a:rPr sz="1250" b="0">
                <a:solidFill>
                  <a:srgbClr val="E6E6E6"/>
                </a:solidFill>
                <a:latin typeface="Consolas"/>
              </a:rPr>
              <a:t>SQL&gt; SELECT index_name, uniqueness, status FROM user_indexes</a:t>
            </a:r>
          </a:p>
          <a:p>
            <a:r>
              <a:rPr sz="1250" b="0">
                <a:solidFill>
                  <a:srgbClr val="E6E6E6"/>
                </a:solidFill>
                <a:latin typeface="Consolas"/>
              </a:rPr>
              <a:t>  2   WHERE table_name = 'EMPLOYEES';</a:t>
            </a:r>
          </a:p>
          <a:p>
            <a:r>
              <a:rPr sz="1250" b="0">
                <a:solidFill>
                  <a:srgbClr val="E6E6E6"/>
                </a:solidFill>
                <a:latin typeface="Consolas"/>
              </a:rPr>
              <a:t/>
            </a:r>
          </a:p>
          <a:p>
            <a:r>
              <a:rPr sz="1250" b="0">
                <a:solidFill>
                  <a:srgbClr val="E6E6E6"/>
                </a:solidFill>
                <a:latin typeface="Consolas"/>
              </a:rPr>
              <a:t>INDEX_NAME               UNIQUENESS STATUS</a:t>
            </a:r>
          </a:p>
          <a:p>
            <a:r>
              <a:rPr sz="1250" b="0">
                <a:solidFill>
                  <a:srgbClr val="7EC699"/>
                </a:solidFill>
                <a:latin typeface="Consolas"/>
              </a:rPr>
              <a:t>------------------------ ---------- --------</a:t>
            </a:r>
          </a:p>
          <a:p>
            <a:r>
              <a:rPr sz="1250" b="0">
                <a:solidFill>
                  <a:srgbClr val="E6E6E6"/>
                </a:solidFill>
                <a:latin typeface="Consolas"/>
              </a:rPr>
              <a:t>EMP_EMAIL_UK             UNIQUE     VALID</a:t>
            </a:r>
          </a:p>
          <a:p>
            <a:r>
              <a:rPr sz="1250" b="0">
                <a:solidFill>
                  <a:srgbClr val="E6E6E6"/>
                </a:solidFill>
                <a:latin typeface="Consolas"/>
              </a:rPr>
              <a:t>EMP_DEPARTMENT_IX        NONUNIQUE  VALID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없는 객체 조회는 오류가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SELECT ... FROM user_objects WHERE object_name = 'NO_SUCH'</a:t>
            </a:r>
          </a:p>
          <a:p>
            <a:r>
              <a:rPr sz="1600" b="0">
                <a:solidFill>
                  <a:srgbClr val="5A6672"/>
                </a:solidFill>
                <a:latin typeface="Malgun Gothic"/>
              </a:rPr>
              <a:t>    –  → no rows selected. 딕셔너리 뷰 자체는 존재하므로 질의는 성공한다</a:t>
            </a:r>
          </a:p>
          <a:p>
            <a:pPr>
              <a:spcBef>
                <a:spcPts val="600"/>
              </a:spcBef>
            </a:pPr>
            <a:r>
              <a:rPr sz="1800" b="0">
                <a:solidFill>
                  <a:srgbClr val="202830"/>
                </a:solidFill>
                <a:latin typeface="Malgun Gothic"/>
              </a:rPr>
              <a:t>•  SELECT ... FROM no_such_table</a:t>
            </a:r>
          </a:p>
          <a:p>
            <a:r>
              <a:rPr sz="1600" b="0">
                <a:solidFill>
                  <a:srgbClr val="5A6672"/>
                </a:solidFill>
                <a:latin typeface="Malgun Gothic"/>
              </a:rPr>
              <a:t>    –  → ORA-00942. 이때는 객체 자체가 없다</a:t>
            </a:r>
          </a:p>
          <a:p>
            <a:pPr>
              <a:spcBef>
                <a:spcPts val="600"/>
              </a:spcBef>
            </a:pPr>
            <a:r>
              <a:rPr sz="1800" b="0">
                <a:solidFill>
                  <a:srgbClr val="202830"/>
                </a:solidFill>
                <a:latin typeface="Malgun Gothic"/>
              </a:rPr>
              <a:t>•  자동화 코드에서 객체 존재 여부는 COUNT(*) = 0 으로 판정한다</a:t>
            </a:r>
          </a:p>
          <a:p>
            <a:r>
              <a:rPr sz="1600" b="0">
                <a:solidFill>
                  <a:srgbClr val="5A6672"/>
                </a:solidFill>
                <a:latin typeface="Malgun Gothic"/>
              </a:rPr>
              <a:t>    –  예외로 판정하려 하면 로직이 복잡해지고 오탐이 생긴다</a:t>
            </a:r>
          </a:p>
          <a:p>
            <a:pPr>
              <a:spcBef>
                <a:spcPts val="600"/>
              </a:spcBef>
            </a:pPr>
            <a:r>
              <a:rPr sz="1800" b="0">
                <a:solidFill>
                  <a:srgbClr val="202830"/>
                </a:solidFill>
                <a:latin typeface="Malgun Gothic"/>
              </a:rPr>
              <a:t>•  이름을 UPPER 로 변환하지 않으면 소문자 조건이 항상 0건이 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USER_PROCEDURES · USER_ERRORS</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SQL&gt; SELECT object_name, procedure_name, object_type, authid</a:t>
            </a:r>
          </a:p>
          <a:p>
            <a:r>
              <a:rPr sz="1250" b="0">
                <a:solidFill>
                  <a:srgbClr val="E6E6E6"/>
                </a:solidFill>
                <a:latin typeface="Consolas"/>
              </a:rPr>
              <a:t>  2    FROM user_procedures ORDER BY object_name;</a:t>
            </a:r>
          </a:p>
          <a:p>
            <a:r>
              <a:rPr sz="1250" b="0">
                <a:solidFill>
                  <a:srgbClr val="E6E6E6"/>
                </a:solidFill>
                <a:latin typeface="Consolas"/>
              </a:rPr>
              <a:t>OBJECT_NAME     PROCEDURE_NAME   OBJECT_TYPE  AUTHID</a:t>
            </a:r>
          </a:p>
          <a:p>
            <a:r>
              <a:rPr sz="1250" b="0">
                <a:solidFill>
                  <a:srgbClr val="7EC699"/>
                </a:solidFill>
                <a:latin typeface="Consolas"/>
              </a:rPr>
              <a:t>--------------- ---------------- ------------ ---------</a:t>
            </a:r>
          </a:p>
          <a:p>
            <a:r>
              <a:rPr sz="1250" b="0">
                <a:solidFill>
                  <a:srgbClr val="E6E6E6"/>
                </a:solidFill>
                <a:latin typeface="Consolas"/>
              </a:rPr>
              <a:t>EMP_PKG         ADD_EMPLOYEE     PACKAGE      DEFINER</a:t>
            </a:r>
          </a:p>
          <a:p>
            <a:r>
              <a:rPr sz="1250" b="0">
                <a:solidFill>
                  <a:srgbClr val="E6E6E6"/>
                </a:solidFill>
                <a:latin typeface="Consolas"/>
              </a:rPr>
              <a:t>SECURE_DML                       PROCEDURE    DEFINER</a:t>
            </a:r>
          </a:p>
          <a:p>
            <a:r>
              <a:rPr sz="1250" b="0">
                <a:solidFill>
                  <a:srgbClr val="E6E6E6"/>
                </a:solidFill>
                <a:latin typeface="Consolas"/>
              </a:rPr>
              <a:t/>
            </a:r>
          </a:p>
          <a:p>
            <a:r>
              <a:rPr sz="1250" b="0">
                <a:solidFill>
                  <a:srgbClr val="E6E6E6"/>
                </a:solidFill>
                <a:latin typeface="Consolas"/>
              </a:rPr>
              <a:t>SQL&gt; SELECT line, text FROM user_errors</a:t>
            </a:r>
          </a:p>
          <a:p>
            <a:r>
              <a:rPr sz="1250" b="0">
                <a:solidFill>
                  <a:srgbClr val="E6E6E6"/>
                </a:solidFill>
                <a:latin typeface="Consolas"/>
              </a:rPr>
              <a:t>  2   WHERE name = 'BROKEN_PROC' ORDER BY sequence;</a:t>
            </a:r>
          </a:p>
          <a:p>
            <a:r>
              <a:rPr sz="1250" b="0">
                <a:solidFill>
                  <a:srgbClr val="E6E6E6"/>
                </a:solidFill>
                <a:latin typeface="Consolas"/>
              </a:rPr>
              <a:t>      LINE TEXT</a:t>
            </a:r>
          </a:p>
          <a:p>
            <a:r>
              <a:rPr sz="1250" b="0">
                <a:solidFill>
                  <a:srgbClr val="7EC699"/>
                </a:solidFill>
                <a:latin typeface="Consolas"/>
              </a:rPr>
              <a:t>---------- -------------------------------------------------</a:t>
            </a:r>
          </a:p>
          <a:p>
            <a:r>
              <a:rPr sz="1250" b="0">
                <a:solidFill>
                  <a:srgbClr val="E6E6E6"/>
                </a:solidFill>
                <a:latin typeface="Consolas"/>
              </a:rPr>
              <a:t>         3 PLS-00201: identifier 'V_NAME' must be declared</a:t>
            </a:r>
          </a:p>
          <a:p>
            <a:r>
              <a:rPr sz="1250" b="0">
                <a:solidFill>
                  <a:srgbClr val="E6E6E6"/>
                </a:solidFill>
                <a:latin typeface="Consolas"/>
              </a:rPr>
              <a:t>         3 PL/SQL: SQL Statement ignored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DBA_ 뷰와 권한 함정 — ORA-00942</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SQL&gt; SHOW USER</a:t>
            </a:r>
          </a:p>
          <a:p>
            <a:r>
              <a:rPr sz="1250" b="0">
                <a:solidFill>
                  <a:srgbClr val="E6E6E6"/>
                </a:solidFill>
                <a:latin typeface="Consolas"/>
              </a:rPr>
              <a:t>USER is "HR"</a:t>
            </a:r>
          </a:p>
          <a:p>
            <a:r>
              <a:rPr sz="1250" b="0">
                <a:solidFill>
                  <a:srgbClr val="E6E6E6"/>
                </a:solidFill>
                <a:latin typeface="Consolas"/>
              </a:rPr>
              <a:t/>
            </a:r>
          </a:p>
          <a:p>
            <a:r>
              <a:rPr sz="1250" b="0">
                <a:solidFill>
                  <a:srgbClr val="E6E6E6"/>
                </a:solidFill>
                <a:latin typeface="Consolas"/>
              </a:rPr>
              <a:t>SQL&gt; SELECT COUNT(*) FROM dba_objects;</a:t>
            </a:r>
          </a:p>
          <a:p>
            <a:r>
              <a:rPr sz="1250" b="0">
                <a:solidFill>
                  <a:srgbClr val="E6E6E6"/>
                </a:solidFill>
                <a:latin typeface="Consolas"/>
              </a:rPr>
              <a:t>SELECT COUNT(*) FROM dba_objects</a:t>
            </a:r>
          </a:p>
          <a:p>
            <a:r>
              <a:rPr sz="1250" b="0">
                <a:solidFill>
                  <a:srgbClr val="E6E6E6"/>
                </a:solidFill>
                <a:latin typeface="Consolas"/>
              </a:rPr>
              <a:t>                     *</a:t>
            </a:r>
          </a:p>
          <a:p>
            <a:r>
              <a:rPr sz="1250" b="0">
                <a:solidFill>
                  <a:srgbClr val="E6E6E6"/>
                </a:solidFill>
                <a:latin typeface="Consolas"/>
              </a:rPr>
              <a:t>ERROR at line 1:</a:t>
            </a:r>
          </a:p>
          <a:p>
            <a:r>
              <a:rPr sz="1250" b="0">
                <a:solidFill>
                  <a:srgbClr val="9CDCFE"/>
                </a:solidFill>
                <a:latin typeface="Consolas"/>
              </a:rPr>
              <a:t>오류) ORA-00942: table or view does not exist</a:t>
            </a:r>
          </a:p>
          <a:p>
            <a:r>
              <a:rPr sz="1250" b="0">
                <a:solidFill>
                  <a:srgbClr val="E6E6E6"/>
                </a:solidFill>
                <a:latin typeface="Consolas"/>
              </a:rPr>
              <a:t/>
            </a:r>
          </a:p>
          <a:p>
            <a:r>
              <a:rPr sz="1250" b="0">
                <a:solidFill>
                  <a:srgbClr val="7EC699"/>
                </a:solidFill>
                <a:latin typeface="Consolas"/>
              </a:rPr>
              <a:t>-- DBA_OBJECTS 는 분명히 존재하지만 HR 에게는 보이지 않는다.</a:t>
            </a:r>
          </a:p>
          <a:p>
            <a:r>
              <a:rPr sz="1250" b="0">
                <a:solidFill>
                  <a:srgbClr val="7EC699"/>
                </a:solidFill>
                <a:latin typeface="Consolas"/>
              </a:rPr>
              <a:t>-- 오라클은 보안상 "존재하지만 권한 없음"과 "존재하지 않음"을</a:t>
            </a:r>
          </a:p>
          <a:p>
            <a:r>
              <a:rPr sz="1250" b="0">
                <a:solidFill>
                  <a:srgbClr val="7EC699"/>
                </a:solidFill>
                <a:latin typeface="Consolas"/>
              </a:rPr>
              <a:t>-- 구분해서 알려 주지 않는다.</a:t>
            </a:r>
          </a:p>
          <a:p>
            <a:r>
              <a:rPr sz="1250" b="0">
                <a:solidFill>
                  <a:srgbClr val="E6E6E6"/>
                </a:solidFill>
                <a:latin typeface="Consolas"/>
              </a:rPr>
              <a:t/>
            </a:r>
          </a:p>
          <a:p>
            <a:r>
              <a:rPr sz="1250" b="0">
                <a:solidFill>
                  <a:srgbClr val="E6E6E6"/>
                </a:solidFill>
                <a:latin typeface="Consolas"/>
              </a:rPr>
              <a:t>SQL&gt; CONNECT system/oracle@localhost:1521/orclpdb</a:t>
            </a:r>
          </a:p>
          <a:p>
            <a:r>
              <a:rPr sz="1250" b="0">
                <a:solidFill>
                  <a:srgbClr val="E6E6E6"/>
                </a:solidFill>
                <a:latin typeface="Consolas"/>
              </a:rPr>
              <a:t>Connected.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DBA_USERS · DBA_TABLESPACES</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SQL&gt; SELECT username, account_status,</a:t>
            </a:r>
          </a:p>
          <a:p>
            <a:r>
              <a:rPr sz="1250" b="0">
                <a:solidFill>
                  <a:srgbClr val="E6E6E6"/>
                </a:solidFill>
                <a:latin typeface="Consolas"/>
              </a:rPr>
              <a:t>  2         TO_CHAR(expiry_date,'YYYY-MM-DD') AS expiry</a:t>
            </a:r>
          </a:p>
          <a:p>
            <a:r>
              <a:rPr sz="1250" b="0">
                <a:solidFill>
                  <a:srgbClr val="E6E6E6"/>
                </a:solidFill>
                <a:latin typeface="Consolas"/>
              </a:rPr>
              <a:t>  3    FROM dba_users WHERE username IN ('HR','SCOTT');</a:t>
            </a:r>
          </a:p>
          <a:p>
            <a:r>
              <a:rPr sz="1250" b="0">
                <a:solidFill>
                  <a:srgbClr val="E6E6E6"/>
                </a:solidFill>
                <a:latin typeface="Consolas"/>
              </a:rPr>
              <a:t>USERNAME  ACCOUNT_STATUS    EXPIRY</a:t>
            </a:r>
          </a:p>
          <a:p>
            <a:r>
              <a:rPr sz="1250" b="0">
                <a:solidFill>
                  <a:srgbClr val="7EC699"/>
                </a:solidFill>
                <a:latin typeface="Consolas"/>
              </a:rPr>
              <a:t>--------- ----------------- ----------</a:t>
            </a:r>
          </a:p>
          <a:p>
            <a:r>
              <a:rPr sz="1250" b="0">
                <a:solidFill>
                  <a:srgbClr val="E6E6E6"/>
                </a:solidFill>
                <a:latin typeface="Consolas"/>
              </a:rPr>
              <a:t>HR        OPEN              2026-11-15</a:t>
            </a:r>
          </a:p>
          <a:p>
            <a:r>
              <a:rPr sz="1250" b="0">
                <a:solidFill>
                  <a:srgbClr val="E6E6E6"/>
                </a:solidFill>
                <a:latin typeface="Consolas"/>
              </a:rPr>
              <a:t>SCOTT     EXPIRED &amp; LOCKED  2025-03-02</a:t>
            </a:r>
          </a:p>
          <a:p>
            <a:r>
              <a:rPr sz="1250" b="0">
                <a:solidFill>
                  <a:srgbClr val="E6E6E6"/>
                </a:solidFill>
                <a:latin typeface="Consolas"/>
              </a:rPr>
              <a:t/>
            </a:r>
          </a:p>
          <a:p>
            <a:r>
              <a:rPr sz="1250" b="0">
                <a:solidFill>
                  <a:srgbClr val="E6E6E6"/>
                </a:solidFill>
                <a:latin typeface="Consolas"/>
              </a:rPr>
              <a:t>SQL&gt; SELECT d.tablespace_name,</a:t>
            </a:r>
          </a:p>
          <a:p>
            <a:r>
              <a:rPr sz="1250" b="0">
                <a:solidFill>
                  <a:srgbClr val="E6E6E6"/>
                </a:solidFill>
                <a:latin typeface="Consolas"/>
              </a:rPr>
              <a:t>  2         ROUND((d.bytes-NVL(f.bytes,0))/d.bytes*100,1) AS used_pct</a:t>
            </a:r>
          </a:p>
          <a:p>
            <a:r>
              <a:rPr sz="1250" b="0">
                <a:solidFill>
                  <a:srgbClr val="E6E6E6"/>
                </a:solidFill>
                <a:latin typeface="Consolas"/>
              </a:rPr>
              <a:t>  3    FROM (SELECT tablespace_name, SUM(bytes) bytes</a:t>
            </a:r>
          </a:p>
          <a:p>
            <a:r>
              <a:rPr sz="1250" b="0">
                <a:solidFill>
                  <a:srgbClr val="E6E6E6"/>
                </a:solidFill>
                <a:latin typeface="Consolas"/>
              </a:rPr>
              <a:t>  4            FROM dba_data_files GROUP BY tablespace_name) d</a:t>
            </a:r>
          </a:p>
          <a:p>
            <a:r>
              <a:rPr sz="1250" b="0">
                <a:solidFill>
                  <a:srgbClr val="E6E6E6"/>
                </a:solidFill>
                <a:latin typeface="Consolas"/>
              </a:rPr>
              <a:t>  5    LEFT JOIN (SELECT tablespace_name, SUM(bytes) bytes</a:t>
            </a:r>
          </a:p>
          <a:p>
            <a:r>
              <a:rPr sz="1250" b="0">
                <a:solidFill>
                  <a:srgbClr val="E6E6E6"/>
                </a:solidFill>
                <a:latin typeface="Consolas"/>
              </a:rPr>
              <a:t>  6            FROM dba_free_space GROUP BY tablespace_name) f</a:t>
            </a:r>
          </a:p>
          <a:p>
            <a:r>
              <a:rPr sz="1250" b="0">
                <a:solidFill>
                  <a:srgbClr val="E6E6E6"/>
                </a:solidFill>
                <a:latin typeface="Consolas"/>
              </a:rPr>
              <a:t>  7      ON d.tablespace_name = f.tablespace_name;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교육용 로그 테이블 plsql_job_log</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plsql_job_log (</a:t>
            </a:r>
          </a:p>
          <a:p>
            <a:r>
              <a:rPr sz="1250" b="0">
                <a:solidFill>
                  <a:srgbClr val="E6E6E6"/>
                </a:solidFill>
                <a:latin typeface="Consolas"/>
              </a:rPr>
              <a:t>    log_id        NUMBER GENERATED BY DEFAULT AS IDENTITY,</a:t>
            </a:r>
          </a:p>
          <a:p>
            <a:r>
              <a:rPr sz="1250" b="0">
                <a:solidFill>
                  <a:srgbClr val="E6E6E6"/>
                </a:solidFill>
                <a:latin typeface="Consolas"/>
              </a:rPr>
              <a:t>    job_name      VARCHAR2(100),</a:t>
            </a:r>
          </a:p>
          <a:p>
            <a:r>
              <a:rPr sz="1250" b="0">
                <a:solidFill>
                  <a:srgbClr val="E6E6E6"/>
                </a:solidFill>
                <a:latin typeface="Consolas"/>
              </a:rPr>
              <a:t>    start_time    TIMESTAMP,</a:t>
            </a:r>
          </a:p>
          <a:p>
            <a:r>
              <a:rPr sz="1250" b="0">
                <a:solidFill>
                  <a:srgbClr val="E6E6E6"/>
                </a:solidFill>
                <a:latin typeface="Consolas"/>
              </a:rPr>
              <a:t>    end_time      TIMESTAMP,</a:t>
            </a:r>
          </a:p>
          <a:p>
            <a:r>
              <a:rPr sz="1250" b="0">
                <a:solidFill>
                  <a:srgbClr val="E6E6E6"/>
                </a:solidFill>
                <a:latin typeface="Consolas"/>
              </a:rPr>
              <a:t>    status        VARCHAR2(20),</a:t>
            </a:r>
          </a:p>
          <a:p>
            <a:r>
              <a:rPr sz="1250" b="0">
                <a:solidFill>
                  <a:srgbClr val="E6E6E6"/>
                </a:solidFill>
                <a:latin typeface="Consolas"/>
              </a:rPr>
              <a:t>    processed_cnt NUMBER,</a:t>
            </a:r>
          </a:p>
          <a:p>
            <a:r>
              <a:rPr sz="1250" b="0">
                <a:solidFill>
                  <a:srgbClr val="E6E6E6"/>
                </a:solidFill>
                <a:latin typeface="Consolas"/>
              </a:rPr>
              <a:t>    error_code    NUMBER,</a:t>
            </a:r>
          </a:p>
          <a:p>
            <a:r>
              <a:rPr sz="1250" b="0">
                <a:solidFill>
                  <a:srgbClr val="E6E6E6"/>
                </a:solidFill>
                <a:latin typeface="Consolas"/>
              </a:rPr>
              <a:t>    error_message VARCHAR2(4000),</a:t>
            </a:r>
          </a:p>
          <a:p>
            <a:r>
              <a:rPr sz="1250" b="0">
                <a:solidFill>
                  <a:srgbClr val="E6E6E6"/>
                </a:solidFill>
                <a:latin typeface="Consolas"/>
              </a:rPr>
              <a:t>    created_by    VARCHAR2(100),</a:t>
            </a:r>
          </a:p>
          <a:p>
            <a:r>
              <a:rPr sz="1250" b="0">
                <a:solidFill>
                  <a:srgbClr val="E6E6E6"/>
                </a:solidFill>
                <a:latin typeface="Consolas"/>
              </a:rPr>
              <a:t>    created_at    TIMESTAMP DEFAULT SYSTIMESTAMP</a:t>
            </a:r>
          </a:p>
          <a:p>
            <a:r>
              <a:rPr sz="1250" b="0">
                <a:solidFill>
                  <a:srgbClr val="E6E6E6"/>
                </a:solidFill>
                <a:latin typeface="Consolas"/>
              </a:rPr>
              <a:t>);</a:t>
            </a:r>
          </a:p>
          <a:p>
            <a:r>
              <a:rPr sz="1250" b="0">
                <a:solidFill>
                  <a:srgbClr val="9CDCFE"/>
                </a:solidFill>
                <a:latin typeface="Consolas"/>
              </a:rPr>
              <a:t>결과) Table created.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자율 트랜잭션 로그 기록</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PROCEDURE write_job_log(</a:t>
            </a:r>
          </a:p>
          <a:p>
            <a:r>
              <a:rPr sz="1250" b="0">
                <a:solidFill>
                  <a:srgbClr val="E6E6E6"/>
                </a:solidFill>
                <a:latin typeface="Consolas"/>
              </a:rPr>
              <a:t>      p_job_name IN VARCHAR2, p_start IN TIMESTAMP,</a:t>
            </a:r>
          </a:p>
          <a:p>
            <a:r>
              <a:rPr sz="1250" b="0">
                <a:solidFill>
                  <a:srgbClr val="E6E6E6"/>
                </a:solidFill>
                <a:latin typeface="Consolas"/>
              </a:rPr>
              <a:t>      p_status IN VARCHAR2, p_cnt IN NUMBER DEFAULT NULL,</a:t>
            </a:r>
          </a:p>
          <a:p>
            <a:r>
              <a:rPr sz="1250" b="0">
                <a:solidFill>
                  <a:srgbClr val="E6E6E6"/>
                </a:solidFill>
                <a:latin typeface="Consolas"/>
              </a:rPr>
              <a:t>      p_err_code IN NUMBER DEFAULT NULL,</a:t>
            </a:r>
          </a:p>
          <a:p>
            <a:r>
              <a:rPr sz="1250" b="0">
                <a:solidFill>
                  <a:srgbClr val="E6E6E6"/>
                </a:solidFill>
                <a:latin typeface="Consolas"/>
              </a:rPr>
              <a:t>      p_err_msg IN VARCHAR2 DEFAULT NULL) IS</a:t>
            </a:r>
          </a:p>
          <a:p>
            <a:r>
              <a:rPr sz="1250" b="0">
                <a:solidFill>
                  <a:srgbClr val="E6E6E6"/>
                </a:solidFill>
                <a:latin typeface="Consolas"/>
              </a:rPr>
              <a:t>   PRAGMA AUTONOMOUS_TRANSACTION;   -- 본 트랜잭션과 분리</a:t>
            </a:r>
          </a:p>
          <a:p>
            <a:r>
              <a:rPr sz="1250" b="0">
                <a:solidFill>
                  <a:srgbClr val="E6E6E6"/>
                </a:solidFill>
                <a:latin typeface="Consolas"/>
              </a:rPr>
              <a:t>BEGIN</a:t>
            </a:r>
          </a:p>
          <a:p>
            <a:r>
              <a:rPr sz="1250" b="0">
                <a:solidFill>
                  <a:srgbClr val="E6E6E6"/>
                </a:solidFill>
                <a:latin typeface="Consolas"/>
              </a:rPr>
              <a:t>   INSERT INTO plsql_job_log(job_name, start_time, end_time,</a:t>
            </a:r>
          </a:p>
          <a:p>
            <a:r>
              <a:rPr sz="1250" b="0">
                <a:solidFill>
                  <a:srgbClr val="E6E6E6"/>
                </a:solidFill>
                <a:latin typeface="Consolas"/>
              </a:rPr>
              <a:t>          status, processed_cnt, error_code, error_message, created_by)</a:t>
            </a:r>
          </a:p>
          <a:p>
            <a:r>
              <a:rPr sz="1250" b="0">
                <a:solidFill>
                  <a:srgbClr val="E6E6E6"/>
                </a:solidFill>
                <a:latin typeface="Consolas"/>
              </a:rPr>
              <a:t>   VALUES (p_job_name, p_start, SYSTIMESTAMP, p_status,</a:t>
            </a:r>
          </a:p>
          <a:p>
            <a:r>
              <a:rPr sz="1250" b="0">
                <a:solidFill>
                  <a:srgbClr val="E6E6E6"/>
                </a:solidFill>
                <a:latin typeface="Consolas"/>
              </a:rPr>
              <a:t>           p_cnt, p_err_code, SUBSTR(p_err_msg,1,4000), USER);</a:t>
            </a:r>
          </a:p>
          <a:p>
            <a:r>
              <a:rPr sz="1250" b="0">
                <a:solidFill>
                  <a:srgbClr val="E6E6E6"/>
                </a:solidFill>
                <a:latin typeface="Consolas"/>
              </a:rPr>
              <a:t>   COMMIT;         -- 자율 트랜잭션은 반드시 종료해야 한다</a:t>
            </a:r>
          </a:p>
          <a:p>
            <a:r>
              <a:rPr sz="1250" b="0">
                <a:solidFill>
                  <a:srgbClr val="E6E6E6"/>
                </a:solidFill>
                <a:latin typeface="Consolas"/>
              </a:rPr>
              <a:t>END write_job_log;</a:t>
            </a:r>
          </a:p>
          <a:p>
            <a:r>
              <a:rPr sz="1250" b="0">
                <a:solidFill>
                  <a:srgbClr val="E6E6E6"/>
                </a:solidFill>
                <a:latin typeface="Consolas"/>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자동화 루틴 — count_all_tables</a:t>
            </a:r>
          </a:p>
        </p:txBody>
      </p:sp>
      <p:sp>
        <p:nvSpPr>
          <p:cNvPr id="4" name="Rectangle 3"/>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OR REPLACE PROCEDURE count_all_tables IS</a:t>
            </a:r>
          </a:p>
          <a:p>
            <a:r>
              <a:rPr sz="1250" b="0">
                <a:solidFill>
                  <a:srgbClr val="E6E6E6"/>
                </a:solidFill>
                <a:latin typeface="Consolas"/>
              </a:rPr>
              <a:t>   v_start TIMESTAMP := SYSTIMESTAMP;</a:t>
            </a:r>
          </a:p>
          <a:p>
            <a:r>
              <a:rPr sz="1250" b="0">
                <a:solidFill>
                  <a:srgbClr val="E6E6E6"/>
                </a:solidFill>
                <a:latin typeface="Consolas"/>
              </a:rPr>
              <a:t>   v_cnt NUMBER;  v_total NUMBER := 0;  v_fail NUMBER := 0;</a:t>
            </a:r>
          </a:p>
          <a:p>
            <a:r>
              <a:rPr sz="1250" b="0">
                <a:solidFill>
                  <a:srgbClr val="E6E6E6"/>
                </a:solidFill>
                <a:latin typeface="Consolas"/>
              </a:rPr>
              <a:t>BEGIN</a:t>
            </a:r>
          </a:p>
          <a:p>
            <a:r>
              <a:rPr sz="1250" b="0">
                <a:solidFill>
                  <a:srgbClr val="E6E6E6"/>
                </a:solidFill>
                <a:latin typeface="Consolas"/>
              </a:rPr>
              <a:t>   FOR r IN (SELECT table_name FROM user_tables) LOOP</a:t>
            </a:r>
          </a:p>
          <a:p>
            <a:r>
              <a:rPr sz="1250" b="0">
                <a:solidFill>
                  <a:srgbClr val="E6E6E6"/>
                </a:solidFill>
                <a:latin typeface="Consolas"/>
              </a:rPr>
              <a:t>      BEGIN</a:t>
            </a:r>
          </a:p>
          <a:p>
            <a:r>
              <a:rPr sz="1250" b="0">
                <a:solidFill>
                  <a:srgbClr val="E6E6E6"/>
                </a:solidFill>
                <a:latin typeface="Consolas"/>
              </a:rPr>
              <a:t>         EXECUTE IMMEDIATE</a:t>
            </a:r>
          </a:p>
          <a:p>
            <a:r>
              <a:rPr sz="1250" b="0">
                <a:solidFill>
                  <a:srgbClr val="E6E6E6"/>
                </a:solidFill>
                <a:latin typeface="Consolas"/>
              </a:rPr>
              <a:t>            'SELECT COUNT(*) FROM "' || r.table_name || '"' INTO v_cnt;</a:t>
            </a:r>
          </a:p>
          <a:p>
            <a:r>
              <a:rPr sz="1250" b="0">
                <a:solidFill>
                  <a:srgbClr val="E6E6E6"/>
                </a:solidFill>
                <a:latin typeface="Consolas"/>
              </a:rPr>
              <a:t>         v_total := v_total + v_cnt;</a:t>
            </a:r>
          </a:p>
          <a:p>
            <a:r>
              <a:rPr sz="1250" b="0">
                <a:solidFill>
                  <a:srgbClr val="E6E6E6"/>
                </a:solidFill>
                <a:latin typeface="Consolas"/>
              </a:rPr>
              <a:t>      EXCEPTION WHEN OTHERS THEN   -- 개별 실패는 건너뛰고 계속한다</a:t>
            </a:r>
          </a:p>
          <a:p>
            <a:r>
              <a:rPr sz="1250" b="0">
                <a:solidFill>
                  <a:srgbClr val="E6E6E6"/>
                </a:solidFill>
                <a:latin typeface="Consolas"/>
              </a:rPr>
              <a:t>         v_fail := v_fail + 1;</a:t>
            </a:r>
          </a:p>
          <a:p>
            <a:r>
              <a:rPr sz="1250" b="0">
                <a:solidFill>
                  <a:srgbClr val="E6E6E6"/>
                </a:solidFill>
                <a:latin typeface="Consolas"/>
              </a:rPr>
              <a:t>      END;</a:t>
            </a:r>
          </a:p>
          <a:p>
            <a:r>
              <a:rPr sz="1250" b="0">
                <a:solidFill>
                  <a:srgbClr val="E6E6E6"/>
                </a:solidFill>
                <a:latin typeface="Consolas"/>
              </a:rPr>
              <a:t>   END LOOP;</a:t>
            </a:r>
          </a:p>
          <a:p>
            <a:r>
              <a:rPr sz="1250" b="0">
                <a:solidFill>
                  <a:srgbClr val="E6E6E6"/>
                </a:solidFill>
                <a:latin typeface="Consolas"/>
              </a:rPr>
              <a:t>   write_job_log('COUNT_ALL_TABLES', v_start,</a:t>
            </a:r>
          </a:p>
          <a:p>
            <a:r>
              <a:rPr sz="1250" b="0">
                <a:solidFill>
                  <a:srgbClr val="E6E6E6"/>
                </a:solidFill>
                <a:latin typeface="Consolas"/>
              </a:rPr>
              <a:t>      CASE WHEN v_fail = 0 THEN 'SUCCESS' ELSE 'PARTIAL' END, v_total);</a:t>
            </a:r>
          </a:p>
          <a:p>
            <a:r>
              <a:rPr sz="1250" b="0">
                <a:solidFill>
                  <a:srgbClr val="E6E6E6"/>
                </a:solidFill>
                <a:latin typeface="Consolas"/>
              </a:rPr>
              <a:t>EXCEPTION</a:t>
            </a:r>
          </a:p>
          <a:p>
            <a:r>
              <a:rPr sz="1250" b="0">
                <a:solidFill>
                  <a:srgbClr val="E6E6E6"/>
                </a:solidFill>
                <a:latin typeface="Consolas"/>
              </a:rPr>
              <a:t>   WHEN OTHERS THEN</a:t>
            </a:r>
          </a:p>
          <a:p>
            <a:r>
              <a:rPr sz="1250" b="0">
                <a:solidFill>
                  <a:srgbClr val="E6E6E6"/>
                </a:solidFill>
                <a:latin typeface="Consolas"/>
              </a:rPr>
              <a:t>      write_job_log('COUNT_ALL_TABLES', v_start, 'FAILED',</a:t>
            </a:r>
          </a:p>
          <a:p>
            <a:r>
              <a:rPr sz="1250" b="0">
                <a:solidFill>
                  <a:srgbClr val="E6E6E6"/>
                </a:solidFill>
                <a:latin typeface="Consolas"/>
              </a:rPr>
              <a:t>                    NULL, SQLCODE, SQLERRM);</a:t>
            </a:r>
          </a:p>
          <a:p>
            <a:r>
              <a:rPr sz="1250" b="0">
                <a:solidFill>
                  <a:srgbClr val="E6E6E6"/>
                </a:solidFill>
                <a:latin typeface="Consolas"/>
              </a:rPr>
              <a:t>      RAISE;</a:t>
            </a:r>
          </a:p>
          <a:p>
            <a:r>
              <a:rPr sz="1250" b="0">
                <a:solidFill>
                  <a:srgbClr val="E6E6E6"/>
                </a:solidFill>
                <a:latin typeface="Consolas"/>
              </a:rPr>
              <a:t>END count_all_tables;</a:t>
            </a:r>
          </a:p>
          <a:p>
            <a:r>
              <a:rPr sz="1250" b="0">
                <a:solidFill>
                  <a:srgbClr val="E6E6E6"/>
                </a:solidFill>
                <a:latin typeface="Consolas"/>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자동화 루틴 설계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목록은 하드코딩하지 말고 딕셔너리에서 읽는다</a:t>
            </a:r>
          </a:p>
          <a:p>
            <a:r>
              <a:rPr sz="1600" b="0">
                <a:solidFill>
                  <a:srgbClr val="5A6672"/>
                </a:solidFill>
                <a:latin typeface="Malgun Gothic"/>
              </a:rPr>
              <a:t>    –  객체가 늘어나도 코드는 그대로 유지된다</a:t>
            </a:r>
          </a:p>
          <a:p>
            <a:pPr>
              <a:spcBef>
                <a:spcPts val="600"/>
              </a:spcBef>
            </a:pPr>
            <a:r>
              <a:rPr sz="1800" b="0">
                <a:solidFill>
                  <a:srgbClr val="202830"/>
                </a:solidFill>
                <a:latin typeface="Malgun Gothic"/>
              </a:rPr>
              <a:t>•  개별 대상의 실패가 전체를 중단시키지 않도록 루프 안쪽에 예외 블록을 둔다</a:t>
            </a:r>
          </a:p>
          <a:p>
            <a:pPr>
              <a:spcBef>
                <a:spcPts val="600"/>
              </a:spcBef>
            </a:pPr>
            <a:r>
              <a:rPr sz="1800" b="0">
                <a:solidFill>
                  <a:srgbClr val="202830"/>
                </a:solidFill>
                <a:latin typeface="Malgun Gothic"/>
              </a:rPr>
              <a:t>•  시작 · 종료 시각, 처리 건수, 오류 코드 · 메시지를 반드시 로그에 남긴다</a:t>
            </a:r>
          </a:p>
          <a:p>
            <a:pPr>
              <a:spcBef>
                <a:spcPts val="600"/>
              </a:spcBef>
            </a:pPr>
            <a:r>
              <a:rPr sz="1800" b="0">
                <a:solidFill>
                  <a:srgbClr val="202830"/>
                </a:solidFill>
                <a:latin typeface="Malgun Gothic"/>
              </a:rPr>
              <a:t>•  로그 기록은 자율 트랜잭션으로 분리한다</a:t>
            </a:r>
          </a:p>
          <a:p>
            <a:r>
              <a:rPr sz="1600" b="0">
                <a:solidFill>
                  <a:srgbClr val="5A6672"/>
                </a:solidFill>
                <a:latin typeface="Malgun Gothic"/>
              </a:rPr>
              <a:t>    –  본 작업이 롤백되어도 실패 기록은 남아야 한다</a:t>
            </a:r>
          </a:p>
          <a:p>
            <a:pPr>
              <a:spcBef>
                <a:spcPts val="600"/>
              </a:spcBef>
            </a:pPr>
            <a:r>
              <a:rPr sz="1800" b="0">
                <a:solidFill>
                  <a:srgbClr val="202830"/>
                </a:solidFill>
                <a:latin typeface="Malgun Gothic"/>
              </a:rPr>
              <a:t>•  SQLERRM 은 4000바이트를 넘을 수 있으므로 SUBSTR 로 잘라 저장한다</a:t>
            </a:r>
          </a:p>
          <a:p>
            <a:pPr>
              <a:spcBef>
                <a:spcPts val="600"/>
              </a:spcBef>
            </a:pPr>
            <a:r>
              <a:rPr sz="1800" b="0">
                <a:solidFill>
                  <a:srgbClr val="202830"/>
                </a:solidFill>
                <a:latin typeface="Malgun Gothic"/>
              </a:rPr>
              <a:t>•  실행 계정은 최소 권한으로 만들고 필요한 딕셔너리 뷰만 직접 GRANT 받는다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장에서 만난 오류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ORA-00911 / ORA-00955 — 문자열 끝의 세미콜론, 중복된 객체 이름</a:t>
            </a:r>
          </a:p>
          <a:p>
            <a:pPr>
              <a:spcBef>
                <a:spcPts val="600"/>
              </a:spcBef>
            </a:pPr>
            <a:r>
              <a:rPr sz="1800" b="0">
                <a:solidFill>
                  <a:srgbClr val="202830"/>
                </a:solidFill>
                <a:latin typeface="Malgun Gothic"/>
              </a:rPr>
              <a:t>•  ORA-00942 — 객체가 없거나 권한이 없다 (구분되지 않는다)</a:t>
            </a:r>
          </a:p>
          <a:p>
            <a:pPr>
              <a:spcBef>
                <a:spcPts val="600"/>
              </a:spcBef>
            </a:pPr>
            <a:r>
              <a:rPr sz="1800" b="0">
                <a:solidFill>
                  <a:srgbClr val="202830"/>
                </a:solidFill>
                <a:latin typeface="Malgun Gothic"/>
              </a:rPr>
              <a:t>•  ORA-00913 / ORA-00947 — INTO 변수 개수가 SELECT 목록과 맞지 않는다</a:t>
            </a:r>
          </a:p>
          <a:p>
            <a:pPr>
              <a:spcBef>
                <a:spcPts val="600"/>
              </a:spcBef>
            </a:pPr>
            <a:r>
              <a:rPr sz="1800" b="0">
                <a:solidFill>
                  <a:srgbClr val="202830"/>
                </a:solidFill>
                <a:latin typeface="Malgun Gothic"/>
              </a:rPr>
              <a:t>•  ORA-01008 / ORA-01006 — USING 인자가 플레이스홀더보다 적거나 많다</a:t>
            </a:r>
          </a:p>
          <a:p>
            <a:pPr>
              <a:spcBef>
                <a:spcPts val="600"/>
              </a:spcBef>
            </a:pPr>
            <a:r>
              <a:rPr sz="1800" b="0">
                <a:solidFill>
                  <a:srgbClr val="202830"/>
                </a:solidFill>
                <a:latin typeface="Malgun Gothic"/>
              </a:rPr>
              <a:t>•  ORA-24374 — SELECT 를 INTO 없이 실행했다</a:t>
            </a:r>
          </a:p>
          <a:p>
            <a:pPr>
              <a:spcBef>
                <a:spcPts val="600"/>
              </a:spcBef>
            </a:pPr>
            <a:r>
              <a:rPr sz="1800" b="0">
                <a:solidFill>
                  <a:srgbClr val="202830"/>
                </a:solidFill>
                <a:latin typeface="Malgun Gothic"/>
              </a:rPr>
              <a:t>•  ORA-06537 — 동적 블록에서 OUT 모드를 빠뜨렸다</a:t>
            </a:r>
          </a:p>
          <a:p>
            <a:pPr>
              <a:spcBef>
                <a:spcPts val="600"/>
              </a:spcBef>
            </a:pPr>
            <a:r>
              <a:rPr sz="1800" b="0">
                <a:solidFill>
                  <a:srgbClr val="202830"/>
                </a:solidFill>
                <a:latin typeface="Malgun Gothic"/>
              </a:rPr>
              <a:t>•  ORA-44003 — DBMS_ASSERT 검증에서 걸러졌다</a:t>
            </a:r>
          </a:p>
          <a:p>
            <a:pPr>
              <a:spcBef>
                <a:spcPts val="600"/>
              </a:spcBef>
            </a:pPr>
            <a:r>
              <a:rPr sz="1800" b="0">
                <a:solidFill>
                  <a:srgbClr val="202830"/>
                </a:solidFill>
                <a:latin typeface="Malgun Gothic"/>
              </a:rPr>
              <a:t>•  ORA-01001 / ORA-01000 — DBMS_SQL 순서 위반, 커서 누수</a:t>
            </a:r>
          </a:p>
          <a:p>
            <a:pPr>
              <a:spcBef>
                <a:spcPts val="600"/>
              </a:spcBef>
            </a:pPr>
            <a:r>
              <a:rPr sz="1800" b="0">
                <a:solidFill>
                  <a:srgbClr val="202830"/>
                </a:solidFill>
                <a:latin typeface="Malgun Gothic"/>
              </a:rPr>
              <a:t>•  ORA-06519 — 자율 트랜잭션을 커밋하지 않았다</a:t>
            </a:r>
          </a:p>
          <a:p>
            <a:pPr>
              <a:spcBef>
                <a:spcPts val="600"/>
              </a:spcBef>
            </a:pPr>
            <a:r>
              <a:rPr sz="1800" b="0">
                <a:solidFill>
                  <a:srgbClr val="202830"/>
                </a:solidFill>
                <a:latin typeface="Malgun Gothic"/>
              </a:rPr>
              <a:t>•  PLS-00103 / PLS-00201 — PL/SQL 안의 DDL, 동적 블록의 바깥 변수 참조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이해도 점검 퀴즈 (1/2)</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Q1. 동적 SQL로만 참조하는 테이블을 DROP 하면 프로그램의 STATUS 는?</a:t>
            </a:r>
          </a:p>
          <a:p>
            <a:r>
              <a:rPr sz="1600" b="0">
                <a:solidFill>
                  <a:srgbClr val="5A6672"/>
                </a:solidFill>
                <a:latin typeface="Malgun Gothic"/>
              </a:rPr>
              <a:t>    –  의존성 기록 관점에서 설명하고 정적 SQL이었다면 어떻게 달랐을지 비교하시오</a:t>
            </a:r>
          </a:p>
          <a:p>
            <a:pPr>
              <a:spcBef>
                <a:spcPts val="600"/>
              </a:spcBef>
            </a:pPr>
            <a:r>
              <a:rPr sz="1800" b="0">
                <a:solidFill>
                  <a:srgbClr val="202830"/>
                </a:solidFill>
                <a:latin typeface="Malgun Gothic"/>
              </a:rPr>
              <a:t>•  Q2. CREATE TABLE 을 동적으로 실행하기 직전의 DELETE 를 ROLLBACK 할 수 있는가?</a:t>
            </a:r>
          </a:p>
          <a:p>
            <a:r>
              <a:rPr sz="1600" b="0">
                <a:solidFill>
                  <a:srgbClr val="5A6672"/>
                </a:solidFill>
                <a:latin typeface="Malgun Gothic"/>
              </a:rPr>
              <a:t>    –  암묵적 COMMIT 개념으로 이유를 설명하시오</a:t>
            </a:r>
          </a:p>
          <a:p>
            <a:pPr>
              <a:spcBef>
                <a:spcPts val="600"/>
              </a:spcBef>
            </a:pPr>
            <a:r>
              <a:rPr sz="1800" b="0">
                <a:solidFill>
                  <a:srgbClr val="202830"/>
                </a:solidFill>
                <a:latin typeface="Malgun Gothic"/>
              </a:rPr>
              <a:t>•  Q3. 동적 문장 안에 :d 가 두 번 나온다. USING 인자는 몇 개인가?</a:t>
            </a:r>
          </a:p>
          <a:p>
            <a:r>
              <a:rPr sz="1600" b="0">
                <a:solidFill>
                  <a:srgbClr val="5A6672"/>
                </a:solidFill>
                <a:latin typeface="Malgun Gothic"/>
              </a:rPr>
              <a:t>    –  SQL 문장일 때와 PL/SQL 블록일 때의 차이를 함께 설명하시오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이해도 점검 퀴즈 (2/2)</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Q4. SELECT COUNT(*) 를 INTO 없이 실행하면 어떤 오류가 나는가?</a:t>
            </a:r>
          </a:p>
          <a:p>
            <a:r>
              <a:rPr sz="1600" b="0">
                <a:solidFill>
                  <a:srgbClr val="5A6672"/>
                </a:solidFill>
                <a:latin typeface="Malgun Gothic"/>
              </a:rPr>
              <a:t>    –  BULK COLLECT INTO 로 조회했는데 결과가 없을 때는 어떤 예외가 나는지도 답하시오</a:t>
            </a:r>
          </a:p>
          <a:p>
            <a:pPr>
              <a:spcBef>
                <a:spcPts val="600"/>
              </a:spcBef>
            </a:pPr>
            <a:r>
              <a:rPr sz="1800" b="0">
                <a:solidFill>
                  <a:srgbClr val="202830"/>
                </a:solidFill>
                <a:latin typeface="Malgun Gothic"/>
              </a:rPr>
              <a:t>•  Q5. DBMS_SQL 을 반드시 써야 하는 Method 4 상황은 무엇이며 TO_REFCURSOR 는 언제 쓰는가?</a:t>
            </a:r>
          </a:p>
          <a:p>
            <a:pPr>
              <a:spcBef>
                <a:spcPts val="600"/>
              </a:spcBef>
            </a:pPr>
            <a:r>
              <a:rPr sz="1800" b="0">
                <a:solidFill>
                  <a:srgbClr val="202830"/>
                </a:solidFill>
                <a:latin typeface="Malgun Gothic"/>
              </a:rPr>
              <a:t>•  Q6. HR 계정으로 DBA_OBJECTS 를 조회했더니 ORA-00942 가 발생했다</a:t>
            </a:r>
          </a:p>
          <a:p>
            <a:r>
              <a:rPr sz="1600" b="0">
                <a:solidFill>
                  <a:srgbClr val="5A6672"/>
                </a:solidFill>
                <a:latin typeface="Malgun Gothic"/>
              </a:rPr>
              <a:t>    –  이 오류가 객체 없음이 아니라 권한 없음일 수 있는 이유를 보안 관점에서 설명하시오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정적 SQL은 컴파일 시점에, 동적 SQL은 실행 시점에 파싱된다</a:t>
            </a:r>
          </a:p>
          <a:p>
            <a:pPr>
              <a:spcBef>
                <a:spcPts val="600"/>
              </a:spcBef>
            </a:pPr>
            <a:r>
              <a:rPr sz="1800" b="0">
                <a:solidFill>
                  <a:srgbClr val="202830"/>
                </a:solidFill>
                <a:latin typeface="Malgun Gothic"/>
              </a:rPr>
              <a:t>•  동적 SQL은 의존성을 남기지 않아 참조 객체가 사라져도 VALID 로 남는다</a:t>
            </a:r>
          </a:p>
          <a:p>
            <a:pPr>
              <a:spcBef>
                <a:spcPts val="600"/>
              </a:spcBef>
            </a:pPr>
            <a:r>
              <a:rPr sz="1800" b="0">
                <a:solidFill>
                  <a:srgbClr val="202830"/>
                </a:solidFill>
                <a:latin typeface="Malgun Gothic"/>
              </a:rPr>
              <a:t>•  SQL 문장에는 세미콜론을 붙이지 않고 PL/SQL 블록은 END; 로 끝낸다</a:t>
            </a:r>
          </a:p>
          <a:p>
            <a:pPr>
              <a:spcBef>
                <a:spcPts val="600"/>
              </a:spcBef>
            </a:pPr>
            <a:r>
              <a:rPr sz="1800" b="0">
                <a:solidFill>
                  <a:srgbClr val="202830"/>
                </a:solidFill>
                <a:latin typeface="Malgun Gothic"/>
              </a:rPr>
              <a:t>•  DDL 은 동적으로만 실행되며 실행 전후로 암묵적 COMMIT 이 일어난다</a:t>
            </a:r>
          </a:p>
          <a:p>
            <a:pPr>
              <a:spcBef>
                <a:spcPts val="600"/>
              </a:spcBef>
            </a:pPr>
            <a:r>
              <a:rPr sz="1800" b="0">
                <a:solidFill>
                  <a:srgbClr val="202830"/>
                </a:solidFill>
                <a:latin typeface="Malgun Gothic"/>
              </a:rPr>
              <a:t>•  바인드는 SQL 문장에서 위치로, PL/SQL 블록에서 이름으로 대응된다</a:t>
            </a:r>
          </a:p>
          <a:p>
            <a:pPr>
              <a:spcBef>
                <a:spcPts val="600"/>
              </a:spcBef>
            </a:pPr>
            <a:r>
              <a:rPr sz="1800" b="0">
                <a:solidFill>
                  <a:srgbClr val="202830"/>
                </a:solidFill>
                <a:latin typeface="Malgun Gothic"/>
              </a:rPr>
              <a:t>•  동적 SELECT 는 INTO · BULK COLLECT INTO · OPEN-FOR 로 나뉜다</a:t>
            </a:r>
          </a:p>
          <a:p>
            <a:pPr>
              <a:spcBef>
                <a:spcPts val="600"/>
              </a:spcBef>
            </a:pPr>
            <a:r>
              <a:rPr sz="1800" b="0">
                <a:solidFill>
                  <a:srgbClr val="202830"/>
                </a:solidFill>
                <a:latin typeface="Malgun Gothic"/>
              </a:rPr>
              <a:t>•  BULK COLLECT INTO 는 결과가 없어도 예외를 던지지 않는다</a:t>
            </a:r>
          </a:p>
          <a:p>
            <a:pPr>
              <a:spcBef>
                <a:spcPts val="600"/>
              </a:spcBef>
            </a:pPr>
            <a:r>
              <a:rPr sz="1800" b="0">
                <a:solidFill>
                  <a:srgbClr val="202830"/>
                </a:solidFill>
                <a:latin typeface="Malgun Gothic"/>
              </a:rPr>
              <a:t>•  DBMS_SQL 은 Method 4 에서만 필요하며 호출 순서와 CLOSE 가 중요하다</a:t>
            </a:r>
          </a:p>
          <a:p>
            <a:pPr>
              <a:spcBef>
                <a:spcPts val="600"/>
              </a:spcBef>
            </a:pPr>
            <a:r>
              <a:rPr sz="1800" b="0">
                <a:solidFill>
                  <a:srgbClr val="202830"/>
                </a:solidFill>
                <a:latin typeface="Malgun Gothic"/>
              </a:rPr>
              <a:t>•  값은 100% 바인딩하고 식별자는 DBMS_ASSERT 와 딕셔너리로 검증한다</a:t>
            </a:r>
          </a:p>
          <a:p>
            <a:pPr>
              <a:spcBef>
                <a:spcPts val="600"/>
              </a:spcBef>
            </a:pPr>
            <a:r>
              <a:rPr sz="1800" b="0">
                <a:solidFill>
                  <a:srgbClr val="202830"/>
                </a:solidFill>
                <a:latin typeface="Malgun Gothic"/>
              </a:rPr>
              <a:t>•  자동화 루틴은 결과를 plsql_job_log 에 자율 트랜잭션으로 기록한다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개요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 01  EXECUTE IMMEDIATE 로 정적 SQL과 동적 SQL 비교</a:t>
            </a:r>
          </a:p>
          <a:p>
            <a:pPr>
              <a:spcBef>
                <a:spcPts val="600"/>
              </a:spcBef>
            </a:pPr>
            <a:r>
              <a:rPr sz="1800" b="0">
                <a:solidFill>
                  <a:srgbClr val="202830"/>
                </a:solidFill>
                <a:latin typeface="Malgun Gothic"/>
              </a:rPr>
              <a:t>•  실습 02  Bind Variable 을 이용한 Dynamic DML</a:t>
            </a:r>
          </a:p>
          <a:p>
            <a:pPr>
              <a:spcBef>
                <a:spcPts val="600"/>
              </a:spcBef>
            </a:pPr>
            <a:r>
              <a:rPr sz="1800" b="0">
                <a:solidFill>
                  <a:srgbClr val="202830"/>
                </a:solidFill>
                <a:latin typeface="Malgun Gothic"/>
              </a:rPr>
              <a:t>•  실습 03  Dynamic DDL 실행과 암묵적 COMMIT 확인</a:t>
            </a:r>
          </a:p>
          <a:p>
            <a:pPr>
              <a:spcBef>
                <a:spcPts val="600"/>
              </a:spcBef>
            </a:pPr>
            <a:r>
              <a:rPr sz="1800" b="0">
                <a:solidFill>
                  <a:srgbClr val="202830"/>
                </a:solidFill>
                <a:latin typeface="Malgun Gothic"/>
              </a:rPr>
              <a:t>•  실습 04  Dynamic SELECT 결과 처리 (INTO · BULK COLLECT · REF CURSOR)</a:t>
            </a:r>
          </a:p>
          <a:p>
            <a:pPr>
              <a:spcBef>
                <a:spcPts val="600"/>
              </a:spcBef>
            </a:pPr>
            <a:r>
              <a:rPr sz="1800" b="0">
                <a:solidFill>
                  <a:srgbClr val="202830"/>
                </a:solidFill>
                <a:latin typeface="Malgun Gothic"/>
              </a:rPr>
              <a:t>•  실습 05  DBMS_SQL 개요 확인</a:t>
            </a:r>
          </a:p>
          <a:p>
            <a:pPr>
              <a:spcBef>
                <a:spcPts val="600"/>
              </a:spcBef>
            </a:pPr>
            <a:r>
              <a:rPr sz="1800" b="0">
                <a:solidFill>
                  <a:srgbClr val="202830"/>
                </a:solidFill>
                <a:latin typeface="Malgun Gothic"/>
              </a:rPr>
              <a:t>•  실습 06  USER_OBJECTS / USER_TABLES / USER_PROCEDURES 스키마 점검</a:t>
            </a:r>
          </a:p>
          <a:p>
            <a:pPr>
              <a:spcBef>
                <a:spcPts val="600"/>
              </a:spcBef>
            </a:pPr>
            <a:r>
              <a:rPr sz="1800" b="0">
                <a:solidFill>
                  <a:srgbClr val="202830"/>
                </a:solidFill>
                <a:latin typeface="Malgun Gothic"/>
              </a:rPr>
              <a:t>•  실습 07  DBA_OBJECTS / DBA_USERS / DBA_TABLESPACES 조회</a:t>
            </a:r>
          </a:p>
          <a:p>
            <a:pPr>
              <a:spcBef>
                <a:spcPts val="600"/>
              </a:spcBef>
            </a:pPr>
            <a:r>
              <a:rPr sz="1800" b="0">
                <a:solidFill>
                  <a:srgbClr val="202830"/>
                </a:solidFill>
                <a:latin typeface="Malgun Gothic"/>
              </a:rPr>
              <a:t>•  실습 08  SQL Injection 위험성 확인과 Bind Variable 방어</a:t>
            </a:r>
          </a:p>
          <a:p>
            <a:r>
              <a:rPr sz="1600" b="0">
                <a:solidFill>
                  <a:srgbClr val="5A6672"/>
                </a:solidFill>
                <a:latin typeface="Malgun Gothic"/>
              </a:rPr>
              <a:t>    –  모든 트랜스크립트에 오류 발생 → 원인 파악 → 수정 흐름이 포함되어 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
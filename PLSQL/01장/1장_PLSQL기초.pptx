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93339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제1장은 PL/SQL 언어의 출발점을 다루는 장이다. 이 장에서 학습자는 SQL만으로는 표현할 수 없는 절차적 로직을 PL/SQL 블록으로 작성하는 방법을 익힌다. 강의는 블록 구조에서 시작해 변수와 상수 선언, 테이블 구조에 종속되지 않는 %TYPE·%ROWTYPE 선언, 단일 행을 변수로 가져오는 SELECT INTO, 결과를 확인하는 DBMS_OUTPUT, 그리고 IF와 CASE를 이용한 흐름 제어 순으로 진행한다. 모든 예제는 Oracle Database 19c와 HR 샘플 스키마를 기준으로 하며, 실습은 SQL*Plus 세션에서 수행한다. 첫 시간이므로 학습자에게 HR 계정 접속과 SET SERVEROUTPUT ON 설정이 준비되어 있는지 먼저 확인하고 시작한다.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학습 목표는 크게 세 묶음이다. 첫째는 언어 구조에 대한 이해로 블록·익명 블록·서브프로그램의 관계를 파악하는 것이고, 둘째는 데이터 다루기로 변수·상수·%TYPE·%ROWTYPE·SELECT INTO를 사용해 값을 선언하고 채우는 것이며, 셋째는 흐름 제어와 진단으로 IF·CASE 분기와 DBMS_OUTPUT 기반 디버깅을 익히는 것이다. 각 목표는 이어지는 절과 일대일로 대응되므로, 강의 중간중간 지금 다루는 내용이 어느 목표에 해당하는지 짚어 주면 학습자가 방향을 잃지 않는다.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흐름은 '구조 → 데이터 → 제어 → 진단'의 순서다. 앞의 1.1~1.4는 PL/SQL이라는 언어의 뼈대를 세우는 부분이고, 1.5~1.9는 값을 담는 그릇인 변수와 선언 속성을 다루며, 1.10~1.11은 데이터베이스에서 값을 가져오고 화면으로 내보내는 입출력 축을 담당한다. 1.12~1.15에서 흐름 제어를 배우고 1.16에서 오류 진단으로 마무리한다. 시간이 부족하면 1.15 연산자 절을 축약하고 1.10과 1.16에 시간을 더 배분하는 것이 학습 효과가 크다.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절에서는 왜 SQL만으로 부족한지를 먼저 납득시키는 것이 중요하다. SQL은 집합을 다루는 선언형 언어라서 값을 담아 둘 변수도, 조건 분기도, 오류를 붙잡는 수단도 없다. PL/SQL은 그 빈틈을 메우기 위해 만들어진 절차적 확장 언어라는 점을 강조한다. 또한 성능 관점에서 네트워크 왕복 감소라는 실질적 이득과, PL/SQL 엔진 내부의 두 실행기 사이에서 발생하는 컨텍스트 스위치 비용을 함께 소개해 이후 장에서 다룰 벌크 처리의 필요성으로 자연스럽게 이어지도록 한다.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PL/SQL의 존재 이유를 설명한다. SQL 한 문장은 수백만 건을 처리할 만큼 강력하지만, 여러 문장을 순서대로 엮고 그 사이에 판단을 넣는 일은 할 수 없다. 예를 들어 '사원의 급여를 조회한 뒤 등급을 판정하고 등급에 따라 다른 테이블에 기록한다'는 작업은 SQL만으로는 표현하기 어렵다. PL/SQL은 이런 절차적 요구를 데이터베이스 안에서 해결하기 위해 Oracle이 SQL에 덧붙인 언어이며, 이름 자체가 'SQL의 절차적 확장'을 뜻한다는 점을 짚어 준다.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PL/SQL의 장점은 개발자 관점과 DBA 관점 양쪽에서 설명한다. 개발자에게는 SQL과 절차적 로직을 하나의 언어로 쓸 수 있다는 생산성이 가장 크고, 운영 관점에서는 네트워크 왕복 감소로 인한 성능 이득이 크다. 애플리케이션이 SQL을 한 건씩 보내면 문장 수만큼 왕복이 발생하지만, 블록으로 묶어 보내면 왕복은 한 번으로 줄어든다. 또한 DBA에게 PL/SQL은 선택이 아니라 필수인데, 19c의 자동화 기능이 전부 PL/SQL 패키지 형태로 제공되기 때문이다. 이 과정의 6~7장에서 그 부분을 본격적으로 다룬다는 예고를 함께 준다.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 아키텍처는 초급자에게 다소 어려울 수 있으므로 그림을 그리듯 설명한다. 하나의 PL/SQL 블록이 서버로 전달되면 PL/SQL 엔진이 이를 받아 위에서 아래로 읽으며, 일반 문장은 절차적 문장 실행기가 처리하고 SQL 문장을 만나면 SQL 문장 실행기에 넘긴다. 이 넘김과 되돌림이 컨텍스트 스위치이며 횟수가 많아질수록 비용이 커진다. 지금 단계에서는 '반복문 안의 단건 SQL은 비싸다'는 감각만 심어 주면 충분하고, BULK COLLECT와 FORALL 같은 해결책은 3장에서 다룬다고 예고한다.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묶음은 PL/SQL 코드를 실제로 작성하고 실행하는 데 필요한 최소 지식을 다룬다. 모든 PL/SQL 코드가 블록 단위로 작성된다는 원칙, 네 절의 역할과 필수 여부, 세미콜론과 슬래시의 차이, 그리고 익명 블록과 저장 서브프로그램의 구분이 핵심이다. 이 절을 마치면 학습자는 SQL*Plus에서 자기 손으로 첫 블록을 실행할 수 있어야 하므로, 설명 후 반드시 실습 01 트랜스크립트를 함께 따라 해 보도록 유도한다.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블록 구조는 이 장에서 가장 자주 되돌아오는 개념이므로 확실히 각인시킨다. 네 절 가운데 반드시 있어야 하는 것은 BEGIN과 END; 두 가지이며, DECLARE와 EXCEPTION은 필요할 때만 쓴다. 실행부는 최소 한 개의 문장을 요구하므로 아무 일도 하지 않는 블록을 만들려면 NULL; 문장을 넣어야 한다. 이 규칙을 모르면 BEGIN END;만 쓰고 컴파일 오류에 부딪힌다. 또한 이 네 절 구조가 익명 블록만의 것이 아니라 4장의 프로시저와 함수, 5장의 트리거에도 똑같이 적용된다는 점을 미리 알려 주면 이후 학습이 수월해진다.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코드는 블록의 골격과 최소 블록을 나란히 보여 준다. 위쪽 골격에서 학습자가 확인해야 할 것은 절의 순서다. 선언부는 반드시 실행부 앞에 오고, 예외 처리부는 실행부 뒤 END 앞에 온다. 아래쪽 예제는 실행 가능한 가장 짧은 블록으로, BEGIN과 END 사이에 NULL; 한 줄만 들어 있다. 여기서 NULL은 값이 아니라 '아무 것도 하지 않는 문장'이다. 만약 NULL;을 지우고 실행하면 PLS-00103 오류가 발생하므로, 수업 중에 실제로 지워서 실행해 보이면 규칙이 강하게 각인된다. 마지막 줄의 슬래시는 SQL*Plus에게 블록을 서버로 보내라는 지시다.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블록의 종류를 구분하는 기준은 두 가지, 즉 이름이 있는가와 데이터베이스에 저장되는가이다. 익명 블록은 둘 다 아니므로 매번 컴파일되고 사라진다. 학습 단계에서 익명 블록을 사용하는 이유는 준비 과정이 필요 없고 결과를 즉시 확인할 수 있기 때문이다. 반면 실무에서 반복 사용하는 로직은 프로시저나 함수로 만들어 저장해야 컴파일 결과를 재사용하고 EXECUTE 권한만 부여하는 보안 설계도 가능해진다. 프로시저와 함수의 결정적 차이는 반환값의 유무이며, 자세한 작성법은 4장에서 다룬다고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가지 형태를 나란히 보여 주면 차이가 한눈에 들어온다. 익명 블록은 DECLARE로 시작하거나 곧바로 BEGIN으로 시작하지만, 프로시저와 함수는 CREATE OR REPLACE로 시작하고 선언부 자리에 DECLARE 키워드 대신 IS 또는 AS를 쓴다는 점이 중요한 문법 차이다. 초급자는 프로시저 안에 DECLARE를 그대로 남겨 두어 컴파일 오류를 내는 경우가 많으므로 미리 경고한다. 또한 함수는 RETURN 절이 헤더와 본문 양쪽에 모두 필요하다는 점, 즉 헤더에서 반환 타입을 선언하고 본문에서 실제 값을 RETURN해야 한다는 점을 강조한다.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 방법 설명에서 가장 중요한 것은 슬래시의 의미다. 초급자가 '블록을 다 입력했는데 실행이 안 된다'고 말하는 상황의 대부분은 마지막 슬래시를 입력하지 않은 경우다. END; 뒤에 슬래시가 없으면 SQL*Plus는 입력이 아직 끝나지 않은 것으로 보고 줄 번호만 계속 늘린다. 반대로 단일 SELECT 문은 세미콜론만으로 즉시 실행되므로 슬래시가 필요 없다. 이 차이를 '세미콜론은 문장의 끝, 슬래시는 블록을 보내라는 명령'이라는 한 문장으로 정리해 주면 혼동이 줄어든다. 스크립트 파일 안에도 종료 슬래시가 반드시 있어야 한다는 점을 덧붙인다.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환경을 처음 다루는 학습자를 위한 슬라이드다. 접속 문자열은 사용자/비밀번호@호스트:포트/서비스명 형식이며, 실습 환경에 맞게 서비스명을 바꿔 주어야 한다. 접속 직후 SET SERVEROUTPUT ON을 실행하는 습관을 강조하는데, 이 설정은 세션 단위이므로 재접속하면 초기화된다는 점이 중요하다. 아래쪽 예는 슬래시를 빠뜨렸을 때의 화면으로, END; 뒤에도 줄 번호가 계속 증가하는 모습을 보여 준다. 이때 슬래시를 입력하면 그제서야 블록이 실행된다. 수업 중 일부러 이 상황을 재현해 보이면 학습자가 같은 문제를 겪을 때 스스로 해결할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묶음은 값을 담는 그릇을 만드는 방법을 다룬다. 먼저 코드를 구성하는 최소 단위인 어휘 단위와 이 교재의 명명 규칙을 정하고, 이어서 변수 선언 문법과 스칼라 데이터 타입, 마지막으로 값이 변하지 않아야 하는 경우에 사용하는 상수를 배운다. 명명 규칙은 단순한 취향 문제가 아니라 뒤에서 다룰 SELECT INTO의 이름 모호성 사고를 예방하는 안전장치이므로, 여기서 v_ 접두어 규칙을 반드시 약속하고 넘어가야 한다.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어휘 단위는 문법 설명의 기초 어휘를 맞추는 부분이다. 식별자 규칙에서 실무적으로 의미 있는 것은 128바이트라는 길이 제한과 예약어 사용 금지다. 특히 초급자가 변수 이름을 DATE나 NUMBER처럼 지어 컴파일 오류를 내는 일이 잦으므로 예시로 보여 준다. 리터럴에서는 문자열 안의 작은따옴표 처리 방법 두 가지를 반드시 실습시키고, 날짜 리터럴을 문자열로 쓰면 세션의 NLS_DATE_FORMAT에 의존해 다른 환경에서 오류가 난다는 점을 경고한다. 명시적으로 DATE 리터럴이나 TO_DATE를 쓰는 습관이 이식성을 만든다.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예제는 리터럴 표기법을 한 화면에 모아 놓은 참조용 코드다. v_quote와 v_quote2는 같은 결과를 서로 다른 방법으로 만든다. 작은따옴표를 두 번 쓰는 방식은 표준이지만 문자열에 따옴표가 많을수록 읽기 어려워지므로, 그런 경우 q' 대체 인용 연산자를 쓰면 가독성이 크게 좋아진다는 점을 설명한다. BOOLEAN 변수는 PL/SQL 안에서만 유효하므로 DBMS_OUTPUT으로 바로 출력할 수 없고, 출력하려면 IF로 분기해 문자열을 만들어야 한다는 점도 함께 언급하면 좋다. 주석은 무엇을 하는지가 아니라 왜 그렇게 하는지를 남긴다는 원칙을 다시 강조한다.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명명 규칙은 이 장에서 가장 실용적인 약속이다. 접두어를 붙이는 이유는 코드를 읽을 때 그 식별자가 변수인지 컬럼인지 즉시 구분하기 위해서이고, 더 결정적으로는 SELECT INTO 문에서 PL/SQL 변수 이름과 테이블 컬럼 이름이 겹칠 때 발생하는 논리 오류를 원천적으로 막기 위해서다. 이 사고는 문법 오류가 아니라서 컴파일 단계에서 잡히지 않고 잘못된 결과만 조용히 만들어 내기 때문에 매우 위험하다. 1.10절에서 실제 사례를 볼 예정이므로 여기서는 규칙만 확실히 약속하고 넘어간다. 실습과 시험 답안도 이 규칙을 따르도록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변수 선언에서 가장 자주 발생하는 실수는 초기화를 하지 않고 산술 연산을 하는 것이다. 초급자는 숫자 변수가 0에서 시작한다고 착각하지만 PL/SQL 변수의 초기값은 언제나 NULL이며, NULL에 어떤 값을 더해도 결과는 NULL이다. 누적 합계를 구하는 변수에 초기값 0을 주지 않으면 결과가 통째로 NULL이 되는 사고가 대표적이다. DEFAULT 키워드와 := 연산자는 기능적으로 동일하며 취향의 문제이지만, 파라미터 기본값을 지정할 때는 DEFAULT가 더 널리 쓰인다는 점을 덧붙인다. NOT NULL 제약은 선언 시 초기값을 강제하므로 이런 사고를 예방하는 수단이 되기도 한다.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코드는 선언 문법과 함께 초기화 누락의 결과를 직접 보여 준다. v_total은 초기값이 없으므로 NULL이고, NULL에 100을 더한 결과도 NULL이다. 출력 결과 첫 줄이 NULL로 찍히는 것을 확인시킨 뒤, NVL로 방어한 두 번째 계산에서 정상적으로 100이 나오는 것을 비교하게 한다. 근본적인 해결책은 애초에 v_total NUMBER := 0; 으로 선언하는 것이며, NVL은 사후 방어 수단이라는 점을 분명히 한다. 또한 NOT NULL 제약이 붙은 v_dept_id는 초기값 없이 선언하면 PLS-00218 오류가 발생한다는 점도 실습에서 확인하도록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데이터 타입 설명에서는 실무에서 자주 걸리는 두 가지 함정을 강조한다. 첫째, PL/SQL의 VARCHAR2는 최대 32,767바이트지만 테이블 컬럼의 VARCHAR2는 기본 4,000바이트다. MAX_STRING_SIZE를 EXTENDED로 바꾸면 컬럼도 32,767까지 늘릴 수 있지만 데이터베이스 단위 설정이므로 임의로 바꿀 수 없다. 둘째, BOOLEAN은 PL/SQL 안에서만 존재하는 타입이라 SELECT로 조회하거나 테이블 컬럼으로 만들 수 없다. 따라서 참·거짓을 저장해야 한다면 'Y'/'N' 또는 1/0으로 변환하는 것이 관례다. PLS_INTEGER는 NUMBER보다 연산이 빠르므로 반복 카운터에 적합하다는 팁도 함께 준다.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암시적 변환은 편리해 보이지만 두 가지 문제를 만든다. 하나는 성능으로, 인덱스 컬럼에 암시적 변환이 걸리면 인덱스를 사용하지 못하는 경우가 생긴다. 다른 하나는 이식성으로, 문자열을 숫자나 날짜로 변환하는 규칙이 NLS 설정에 따라 달라지기 때문에 개발 환경에서는 동작하던 코드가 운영 환경에서 실패할 수 있다. 따라서 타입이 다른 값을 다룰 때는 반드시 명시적 변환 함수를 쓰도록 지도한다. 실무에서는 레거시 시스템에서 넘어온 코드 값이 VARCHAR2인데 실제로는 숫자만 들어 있는 상황이 흔하며, 이때 문자열끼리 비교하면 '10'이 '9'보다 작게 정렬되는 함정이 생긴다는 사례를 들려주면 이해가 빠르다.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상수는 단순한 문법 항목이 아니라 코드 품질 도구다. 세율 0.085 같은 숫자가 코드 곳곳에 흩어져 있으면 정책이 바뀔 때 전부 찾아 고쳐야 하고, 하나라도 놓치면 계산이 어긋난다. c_tax_rate라는 이름을 붙여 한 곳에 모아 두면 수정 지점이 하나로 줄고 읽는 사람도 그 숫자의 의미를 즉시 이해한다. 또한 상수 위반이 런타임이 아니라 컴파일 시점에 PLS-00363으로 잡힌다는 점이 중요한데, 이는 잘못된 코드가 운영에 배포되는 것을 미리 막아 준다는 뜻이다. 여러 프로그램이 공유해야 하는 상수는 패키지 명세부에 선언해 전역 상수로 관리한다는 점을 예고한다.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예제의 학습 포인트는 두 가지다. 첫째, 상수 선언에는 반드시 초기값이 필요하며 CONSTANT 키워드는 타입 앞에 온다는 문법이다. 둘째, 주석 처리된 재할당 문장의 주석을 풀고 실행하면 블록이 아예 실행되지 않고 PLS-00363 컴파일 오류가 발생한다는 점이다. 수업에서는 반드시 주석을 풀어 실제 오류 화면을 보여 주는 것이 좋다. 이때 출력이 한 줄도 나오지 않는다는 사실이 '컴파일 오류는 실행 자체를 막는다'는 개념을 명확히 해 준다. 런타임 오류인 ORA- 계열과의 차이를 여기서 처음 대비시켜 두면 1.16절의 오류 분류가 훨씬 쉬워진다.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묶음은 PL/SQL 선언의 핵심 기술인 앵커드 선언(anchored declaration)을 다룬다. 테이블 컬럼의 타입을 코드에 하드코딩하면 컬럼 길이가 바뀔 때마다 코드가 깨지지만, %TYPE과 %ROWTYPE을 쓰면 재컴파일만으로 자동 반영된다. 이 두 속성은 이후 모든 장에서 계속 사용되는 기본기이므로, 개념 설명보다 실제 선언을 여러 번 써 보게 하는 것이 효과적이다. 특히 %ROWTYPE 레코드의 필드 접근 문법에 익숙해지도록 반복 연습시킨다.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%TYPE의 가치는 유지보수 관점에서 설명해야 와닿는다. last_name 컬럼이 VARCHAR2(25)에서 VARCHAR2(50)으로 늘어났다고 하자. 하드코딩된 VARCHAR2(25) 변수를 쓰던 코드는 값이 잘릴 때 ORA-06502로 실패하지만, %TYPE으로 선언한 코드는 재컴파일만 하면 아무 수정 없이 동작한다. 다만 %TYPE이 상속하는 범위는 타입과 길이까지이며 제약 조건은 따라오지 않는다는 점을 분명히 해야 한다. 컬럼이 NOT NULL이라고 해서 변수가 NOT NULL이 되는 것은 아니다. 또한 존재하지 않는 컬럼명을 쓰면 PLS-00302 또는 PLS-00201 오류가 나므로, 오타로 인한 오류 메시지를 미리 보여 주면 도움이 된다.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예제는 %TYPE의 두 가지 형태를 모두 보여 준다. 앞의 세 변수는 테이블 컬럼에서, v_new_salary는 이미 선언된 변수 v_salary에서 타입을 물려받는다. 두 번째 형태는 여러 변수가 같은 타입이어야 할 때 한 곳만 고치면 되도록 만들어 주므로 유용하다. SELECT INTO의 컬럼 순서와 INTO 변수 순서가 정확히 일치해야 한다는 점도 이 코드에서 함께 짚어 준다. 실행 결과에서 급여 24000이 26400으로 계산되는 것을 확인시키고, salary 컬럼이 NUMBER(8,2)이므로 v_new_salary도 같은 정밀도를 갖는다는 점을 설명한다.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%ROWTYPE은 컬럼이 많은 테이블을 다룰 때 선언량을 극적으로 줄여 준다. EMPLOYEES 테이블은 컬럼이 11개인데 이를 개별 변수로 선언하면 11줄이 필요하지만 %ROWTYPE 한 줄이면 끝난다. 게다가 테이블에 컬럼이 추가되어도 선언을 고칠 필요가 없다. 다만 SELECT * INTO로 채울 때는 SELECT 목록과 레코드 필드 구성이 정확히 일치해야 하므로 보통 SELECT *를 그대로 쓴다. 일부 컬럼만 담고 싶다면 사용자 정의 레코드 타입이나 커서 %ROWTYPE을 사용해야 하며 각각 3장과 2장에서 다룬다. 레코드를 통째로 대입하거나 INSERT VALUES에 그대로 넘길 수 있다는 점도 실무에서 자주 쓰이는 기법이다.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코드는 %ROWTYPE의 전형적인 사용 패턴을 보여 준다. 첫 SELECT로 사원 한 행을 통째로 가져온 뒤, 그 레코드의 department_id 필드를 다시 조건으로 사용해 부서 행을 가져온다. 레코드 필드를 다른 SQL의 조건으로 쓰는 이 패턴은 실무에서 매우 자주 등장한다. 출력 부분에서는 필드 접근 문법인 점 표기법에 익숙해지도록 여러 필드를 꺼내 쓰고 있다. 주의할 점은 SELECT * INTO를 쓸 때 컬럼이 하나라도 빠지면 PLS-00394 오류가 발생한다는 것이며, 그래서 %ROWTYPE에는 개별 컬럼 나열 대신 SELECT *를 짝지어 쓰는 것이 관례다.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번째 묶음은 데이터베이스와 화면을 잇는 입출력 축을 다룬다. SELECT INTO는 PL/SQL에서 값을 가져오는 가장 기본적인 수단이지만 '정확히 한 행'이라는 엄격한 제약이 있어 초급자가 가장 많은 예외를 만나는 지점이기도 하다. DBMS_OUTPUT은 결과를 확인하고 디버깅하는 유일한 기본 수단이므로 버퍼 동작 방식을 정확히 이해시켜야 한다. 두 주제 모두 실습 03과 실습 04에서 직접 손으로 확인하게 되므로 여기서는 개념과 예외 상황에 집중한다.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INTO는 SQL의 SELECT와 겉모습은 비슷하지만 동작 규칙이 다르다는 점을 반복해서 강조해야 한다. SQL*Plus에서 그냥 SELECT를 실행하면 0건이든 100건이든 결과만 보여 주지만, PL/SQL의 SELECT INTO는 값을 변수 하나에 담아야 하므로 결과가 정확히 한 행이 아니면 예외를 던진다. 따라서 SELECT INTO를 쓰는 블록에는 최소한 NO_DATA_FOUND와 TOO_MANY_ROWS 두 예외 처리를 두는 것을 원칙으로 삼는다. 예외 처리부가 없으면 오류가 호출자에게 그대로 전파되어 블록 전체가 실패한다는 점도 함께 설명한다. 여러 행이 필요한 상황이라면 애초에 커서를 써야 한다.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예제는 존재하지 않는 사번 9999를 일부러 조회해 NO_DATA_FOUND를 발생시킨다. 예외 처리부가 있으므로 블록은 실패하지 않고 안내 메시지를 출력한 뒤 정상 종료된다. 만약 EXCEPTION 절을 지우고 실행하면 ORA-01403 오류와 함께 블록이 실패하는데, 수업에서는 두 경우를 모두 실행해 비교시키는 것이 좋다. TOO_MANY_ROWS를 확인하려면 WHERE 조건을 department_id = 50처럼 여러 행이 나오는 조건으로 바꿔 실행하면 된다. 이 두 예외에 대한 방어가 SELECT INTO를 사용하는 코드의 기본 예의라는 점을 강조하고, 예외 처리의 상세한 문법은 3장에서 다룬다고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이름 모호성은 이 장에서 가장 위험한 주제다. 컴파일도 통과하고 실행도 되지만 결과만 잘못 나오기 때문이다. Oracle의 이름 해석 규칙상 SQL 문장 안에서 같은 이름의 식별자가 있으면 컬럼이 우선하므로, WHERE 절이 '컬럼 = 컬럼'이 되어 항상 참인 조건으로 바뀐다. SELECT라면 TOO_MANY_ROWS로 드러나기라도 하지만 UPDATE라면 조용히 전체 행을 수정한다. 실무에서 급여 인상 배치가 전 사원의 급여를 바꿔 버린 사고가 바로 이 패턴이다. 그래서 앞에서 약속한 v_ 접두어 규칙이 단순한 스타일이 아니라 사고 예방 장치라는 점을 여기서 다시 강조한다.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오류에서 수정까지의 전체 흐름을 한 화면에 담고 있다. 위쪽 블록에서 WHERE last_name = last_name은 문법적으로 완전히 정상이지만 두 식별자 모두 컬럼으로 해석되어 언제나 참이 된다. 그 결과 EMPLOYEES 전체 행이 반환되고 ORA-01422가 발생한다. 아래쪽 수정본은 변수 이름에 v_ 접두어를 붙인 것뿐이지만 이것만으로 문제가 완전히 사라진다. 수업에서는 학습자에게 '왜 오류 메시지가 이름 모호성을 지적하지 않는가'를 질문해 보는 것이 좋다. Oracle 입장에서는 문법에 어긋난 것이 없으므로 알려 줄 방법이 없고, 그래서 규칙으로 예방하는 수밖에 없다는 결론에 스스로 도달하게 된다.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DBMS_OUTPUT의 동작 방식을 정확히 이해시키는 것이 이 슬라이드의 목표다. PUT_LINE은 화면에 직접 쓰는 함수가 아니라 서버 메모리의 버퍼에 문자열을 쌓는 함수이며, 실제 출력은 블록이 끝난 뒤 클라이언트가 그 버퍼를 읽어 오면서 이루어진다. 이 구조 때문에 두 가지 결과가 따라온다. 첫째, 클라이언트가 버퍼를 읽도록 SET SERVEROUTPUT ON을 미리 실행해야 한다. 둘째, 오래 걸리는 작업의 진행 상황을 실시간으로 볼 수 없다. 실시간 모니터링이 필요하면 로그 테이블에 자율 트랜잭션으로 기록하는 방식을 써야 하며, 이는 3장과 7장에서 다룬다. 세션이 바뀌면 설정이 초기화된다는 점도 반드시 언급한다.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예제는 PUT과 PUT_LINE, NEW_LINE의 차이를 한 화면에서 보여 준다. PUT은 버퍼에 넣기만 하고 줄을 바꾸지 않으므로 여러 조각을 이어 붙일 때 사용하며, 마지막에 NEW_LINE이나 PUT_LINE으로 줄을 끝내야 화면에 나타난다. PUT만 쓰고 줄을 끝내지 않으면 그 줄은 출력되지 않고 남는다는 점이 초급자가 자주 겪는 함정이다. 또한 TO_CHAR에 포맷 모델을 주어 숫자를 정렬하는 기법과, RPAD로 구분선을 만드는 기법도 함께 소개한다. SIZE UNLIMITED 옵션은 버퍼 크기 제한을 없애 ORU-10027 버퍼 오버플로를 예방한다는 점을 덧붙이면 실무에 바로 도움이 된다.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묶음은 프로그램의 흐름을 제어하는 방법을 다룬다. 먼저 중첩 블록을 통해 변수의 유효 범위 개념을 잡고, 이어서 IF와 CASE로 조건 분기를 구현한다. 이 부분에서 가장 중요한 개념은 NULL의 3값 논리로, 조건식이 TRUE도 FALSE도 아닌 NULL이 될 수 있다는 사실을 이해하지 못하면 원인을 찾기 어려운 버그를 만들게 된다. IF와 CASE 중 어느 것을 언제 쓰는지에 대한 판단 기준도 함께 제시해 실무 감각을 키운다.</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스코프와 가시성은 용어가 비슷해 혼동하기 쉬우므로 예를 들어 구분한다. 바깥 블록에서 선언한 v_sal은 안쪽 블록에서도 존재한다. 즉 스코프 안에 있다. 그런데 안쪽 블록에서 같은 이름의 v_sal을 다시 선언하면 이름만으로는 바깥 것을 부를 수 없게 된다. 즉 가시성을 잃는다. 이때 바깥 블록에 레이블을 붙여 두었다면 레이블.변수명 형태로 여전히 접근할 수 있다. 이 규칙은 4장의 서브프로그램 파라미터와 5장의 패키지 변수에서도 그대로 적용되는 기초 개념이다. 중첩 블록의 또 다른 용도는 예외 처리의 국소화이며, 특정 문장의 실패만 무시하고 나머지를 계속 실행하고 싶을 때 유용하다.</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 하나로 스코프와 가시성의 네 가지 규칙을 모두 확인할 수 있다. [1]은 안쪽 선언이 우선함을, [2]는 레이블 한정자로 가려진 바깥 변수에 접근할 수 있음을, [3]은 안쪽에서 바깥 변수를 자유롭게 참조할 수 있음을 보여 준다. 그리고 15행의 주석을 풀면 PLS-00201이 발생하는데, 이는 바깥 블록이 안쪽 변수를 볼 수 없다는 규칙 때문이다. 수업에서는 반드시 이 주석을 풀어 오류를 직접 확인시킨다. 레이블은 &lt;&lt;이름&gt;&gt; 형식으로 블록 앞에 붙이며 END 뒤에 같은 이름을 적어 짝을 맞추면 가독성이 좋아진다. 다만 실무에서는 같은 이름의 변수를 중첩 선언하는 것 자체를 피하는 편이 안전하다.</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문은 문법 자체는 단순하지만 두 가지 실수가 반복적으로 발생한다. 첫째는 ELSIF의 철자로, 다른 언어 경험이 있는 학습자일수록 ELSEIF나 ELSE IF로 쓰는 경우가 많다. PL/SQL에서 ELSE IF를 쓰면 중첩 IF로 해석되어 END IF가 하나 더 필요해지므로 결국 컴파일 오류가 난다. 둘째는 END IF;를 빠뜨리거나 ENDIF로 붙여 쓰는 것이다. 또한 ELSIF 체인은 위에서부터 순서대로 평가되어 처음 참이 되는 가지에서 멈춘다는 점이 중요한데, 조건의 순서를 잘못 배치하면 뒤쪽 조건이 영원히 실행되지 않는 논리 오류가 생긴다. 급여 등급 판정처럼 범위가 겹치는 조건에서는 반드시 큰 값부터 검사하도록 지도한다.</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예제에서 강조할 점은 ELSIF 체인의 순서다. 조건을 15000, 10000, 6000 순으로 큰 값부터 검사하기 때문에 급여 9000인 사원이 MIDDLE로 정확히 분류된다. 만약 순서를 뒤집어 6000부터 검사하면 모든 고액 연봉자가 MIDDLE로 잘못 분류된다. 학습자에게 순서를 바꿔 실행해 보게 하면 이 원리가 확실히 각인된다. 두 번째 IF는 AND로 두 조건을 결합한 복합 조건의 예다. 사원 103번은 IT_PROG이고 급여가 9000이므로 두 조건을 모두 만족해 15퍼센트 보너스가 계산된다. 논리 연산자 우선순위상 NOT, AND, OR 순으로 평가되므로 복잡한 조건에는 괄호를 쓰는 것이 안전하다는 점도 함께 언급한다.</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3값 논리는 이 장에서 개념적으로 가장 까다로운 부분이므로 구체적인 예로 접근한다. HR 스키마의 commission_pct 컬럼은 영업직이 아닌 사원에게 NULL이다. 이 값을 IF v_comm &gt; 0 THEN으로 검사하면 NULL인 사원은 조건이 NULL이 되어 ELSE로 빠진다. 여기까지는 의도와 맞을 수 있다. 그런데 IF NOT (v_comm &gt; 0) THEN으로 바꿔도 역시 실행되지 않는다는 점에서 학습자가 혼란을 겪는다. NULL은 부정해도 NULL이기 때문이다. 따라서 NULL 가능성이 있는 컬럼을 다룰 때는 IS NULL로 먼저 걸러 내거나 NVL로 기본값을 주는 것이 원칙이다. 이 습관 하나가 실무 버그의 상당수를 예방한다.</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CASE는 두 종류가 있고 끝맺음이 다르다는 점이 핵심이다. 값을 만들어 내는 CASE 표현식은 END로 끝나고, 문장을 실행하는 CASE 문은 END CASE;로 끝난다. 이 둘을 혼동해 END와 END CASE를 잘못 쓰는 것이 대표적인 초급자 실수다. 또 하나 중요한 차이는 미일치 시 동작이다. CASE 표현식은 ELSE가 없으면 NULL을 반환하고 조용히 넘어가지만, CASE 문은 CASE_NOT_FOUND 예외를 던진다. 따라서 CASE 문에는 가급적 ELSE 절을 두는 것이 안전하다. 선택 기준으로는 하나의 값을 여러 상수와 비교하는 코드 매핑에는 단순 CASE가, 범위나 복합 조건 판정에는 검색 CASE나 IF-ELSIF가 적합하다.</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예제는 CASE의 세 가지 사용법을 한 블록에 담고 있다. 8~11행의 검색 CASE 표현식은 급여 범위를 판정해 등급 문자열을 만들고, 13~15행의 단순 CASE 표현식은 부서 코드를 이름으로 매핑한다. 여기서 NVL로 department_id를 -1로 바꾼 이유가 중요한데, 사원 178번은 부서가 NULL이라 NVL 없이는 어떤 WHEN에도 걸리지 않고 ELSE로 빠져 'Others'가 되기 때문이다. 18~22행은 CASE 문으로, 값을 만드는 것이 아니라 DBMS_OUTPUT 호출이라는 동작을 분기한다. 끝맺음이 END가 아니라 END CASE;라는 점을 반드시 확인시킨다. 학습자에게 ELSE 절을 지우고 커미션이 있는 사원으로 바꿔 실행해 CASE_NOT_FOUND를 경험하게 하면 효과적이다.</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연산자 자체는 SQL과 거의 같으므로 빠르게 지나가되 두 가지만 확실히 짚는다. 첫째, 거듭제곱 연산자 **는 PL/SQL에만 있고 SQL 문장에는 없으므로 SQL 안에서 쓰면 오류가 난다. 둘째, DECODE와 그룹 함수는 PL/SQL의 절차적 문장에서 직접 호출할 수 없다. 이는 DECODE와 그룹 함수가 SQL 엔진의 기능이기 때문이며, PL/SQL에서 같은 일을 하려면 DECODE 대신 CASE 표현식을 쓰고 그룹 함수 결과는 SELECT INTO로 변수에 받아야 한다. 우선순위는 외우기보다 괄호를 적극적으로 쓰는 습관을 권장한다. 특히 AND와 OR이 섞인 조건에서 괄호 없이 작성하면 의도와 다르게 평가되는 일이 흔하다.</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지금까지 배운 내용을 오류라는 관점에서 다시 정리하는 자리다. 초급자가 겪는 오류는 대부분 패턴이 정해져 있으므로, 오류 번호를 보고 원인을 즉시 떠올릴 수 있게 훈련하는 것이 목표다. 특히 컴파일 오류와 런타임 오류를 구분하는 감각이 중요한데, PLS-로 시작하면 블록이 아예 실행되지 않았다는 뜻이고 ORA-로 시작하면 실행 도중 문제가 생겼다는 뜻이다. 실습 트랜스크립트에 포함된 오류 재현 구간과 연결해 설명하면 학습 효과가 크다.</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목록은 학습자가 실습 중 실제로 만나게 될 오류를 미리 정리한 것이다. 오류 번호를 외우게 하기보다 접두어로 성격을 판단하는 훈련이 중요하다. PLS-를 보면 '내 코드의 문법이나 이름이 잘못됐다, 아직 한 줄도 실행되지 않았다'고 생각하고, ORA-를 보면 '문법은 맞았지만 데이터나 값이 예상과 달랐다'고 생각하면 된다. 이 구분이 되면 디버깅 방향이 완전히 달라진다. 컴파일 오류는 코드를 보고 고치면 되지만, 런타임 오류는 어떤 데이터가 들어왔는지를 확인해야 하기 때문이다. PLS-00201은 오타뿐 아니라 중첩 블록의 스코프를 벗어난 참조에서도 발생한다는 점을 다시 짚어 준다.</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흔한 컴파일 오류인 PLS-00201의 전형적인 형태다. 여기서 학습자가 주목해야 할 것은 오류 메시지의 구조다. Oracle은 문제가 된 줄을 다시 출력하고 별표로 위치를 표시한 뒤, ORA-06550으로 위치를 알려 주고 PLS-00201로 원인을 알려 준다. 즉 ORA-06550은 '컴파일에 실패했다'는 껍데기 메시지이고 실제 원인은 그다음 줄의 PLS- 메시지에 있다는 점을 반드시 설명해야 한다. 이 오류는 DECLARE 절 자체를 빠뜨린 경우 외에도 변수명 오타, 대소문자가 아닌 실제 철자 오류, 다른 블록에 선언된 변수를 참조한 경우에 발생한다. 메시지에 나온 식별자 이름이 대문자로 표시되는 것은 Oracle이 식별자를 대문자로 저장하기 때문이다.</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사례는 %TYPE을 써야 하는 이유를 가장 설득력 있게 보여 준다. 개발자가 직접 VARCHAR2(5)라고 정한 순간 코드는 데이터에 대한 잘못된 가정을 품게 되고, 실제 데이터가 그 가정을 넘어서면 ORA-06502로 실패한다. 이 오류는 컴파일 시점에는 전혀 드러나지 않고 특정 데이터를 만났을 때만 발생하기 때문에 더 위험하다. 수정본처럼 employees.job_id%TYPE으로 선언하면 컬럼이 VARCHAR2(10)이므로 어떤 값이 와도 안전하고, 나중에 컬럼 길이가 바뀌어도 재컴파일만 하면 된다. ORA-06512는 오류가 발생한 줄 번호를 알려 주는 보조 메시지이므로 함께 읽는 습관을 들이도록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디버깅 습관은 이 장의 마무리 메시지다. PL/SQL에는 별도의 디버거를 붙이지 않는 한 실행 중 상태를 볼 수 있는 수단이 DBMS_OUTPUT뿐이므로, 의심스러운 구간 앞뒤에 값을 출력하는 단순한 방법이 여전히 가장 실용적이다. 예외로 블록이 중단되더라도 그때까지 버퍼에 쌓인 내용은 화면에 나오므로, 마지막으로 출력된 줄이 오류 지점을 좁혀 준다는 점이 중요하다. 여기에 예외 처리부에서 SQLCODE와 SQLERRM을 출력하는 습관을 더하면 원인 파악 시간이 크게 줄어든다. 마지막으로 %TYPE 선언, 접두어 규칙, SELECT INTO 예외 처리라는 세 가지 습관만 지켜도 이 장에서 다룬 오류의 대부분을 예방할 수 있다는 점을 정리하며 마친다.</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퀴즈는 강의 흐름을 끊고 학습자가 스스로 정리하도록 만드는 장치다. 각 문항을 읽은 뒤 바로 답을 보여 주지 말고 20~30초 정도 생각할 시간을 준다. Q1은 필수와 선택의 구분을 확인하는 문항으로, BEGIN과 END만 있으면 되지만 실행부가 비어 있으면 안 된다는 조건까지 답해야 완전하다. Q2는 초기화 누락 버그의 근원을 묻는 문항이고, Q3은 %TYPE의 한계를 정확히 아는지 확인하는 문항이다. 특히 Q3에서 NOT NULL이 상속되지 않는다는 사실을 놓치는 학습자가 많으므로, 컬럼이 NOT NULL이어도 변수는 NULL을 가질 수 있다는 점을 다시 확인시킨다.</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퀴즈는 입출력과 흐름 제어를 확인한다. Q4는 SELECT INTO의 두 예외를 정확히 짝지을 수 있는지 묻는 문항으로, 오류 번호까지 말할 수 있으면 이상적이다. Q5는 실습에서 가장 자주 겪게 될 문제이므로 반드시 답을 확인시킨다. 세션 단위 설정이라는 성격까지 언급되면 완전한 답이다. Q6은 CASE의 두 형태를 구분하는지 확인하는 문항이며, 종료 키워드 차이뿐 아니라 미일치 시 동작 차이까지 답할 수 있어야 한다. 여섯 문항의 정답과 상세 해설은 실습문제 정답 문서에 수록되어 있으므로 복습 시 참고하도록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슬라이드는 이 장의 핵심을 아홉 문장으로 압축한 것이다. 학습자에게 이 슬라이드를 사진으로 남겨 두고 실습 중 참고하도록 권한다. 특히 세 가지, 즉 SELECT INTO의 단일 행 제약, 변수 초기값이 NULL이라는 사실, 그리고 이름 모호성 문제는 다음 장 이후에도 계속 등장하므로 반드시 기억해야 한다고 강조한다. 각 항목이 어느 절에서 다뤄졌는지 짚어 주면 복습 시 본문을 찾아보기 쉬워진다.</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여섯 개의 SQL*Plus 세션 트랜스크립트로 제공된다. 각 트랜스크립트에는 정상 동작뿐 아니라 오류를 일부러 발생시키고 원인을 파악해 수정하는 구간이 반드시 한 곳 이상 포함되어 있으므로, 결과가 맞았는지만 확인하고 넘어가지 말고 오류 메시지와 그 원인을 반드시 읽어 보도록 안내한다. 실습을 마친 뒤에는 객관식 50문항으로 개념과 문법을 점검하고, 추가 서술형 20문항으로 실제 코드 작성 능력을 확인한다. 다음 2장에서는 이 장에서 다루지 않은 반복문과 커서를 배우게 된다는 예고로 마무리한다.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pPr>
              <a:spcBef>
                <a:spcPts val="0"/>
              </a:spcBef>
            </a:pPr>
            <a:r>
              <a:rPr sz="1800" b="1">
                <a:solidFill>
                  <a:srgbClr val="C0392B"/>
                </a:solidFill>
                <a:latin typeface="Malgun Gothic"/>
              </a:rPr>
              <a:t>Oracle PL/SQL </a:t>
            </a:r>
            <a:r>
              <a:rPr sz="1800" b="1" dirty="0" err="1">
                <a:solidFill>
                  <a:srgbClr val="C0392B"/>
                </a:solidFill>
                <a:latin typeface="Malgun Gothic"/>
              </a:rPr>
              <a:t>실무·DBA</a:t>
            </a:r>
            <a:r>
              <a:rPr sz="1800" b="1" dirty="0">
                <a:solidFill>
                  <a:srgbClr val="C0392B"/>
                </a:solidFill>
                <a:latin typeface="Malgun Gothic"/>
              </a:rPr>
              <a:t> </a:t>
            </a:r>
            <a:r>
              <a:rPr sz="1800" b="1" dirty="0" err="1">
                <a:solidFill>
                  <a:srgbClr val="C0392B"/>
                </a:solidFill>
                <a:latin typeface="Malgun Gothic"/>
              </a:rPr>
              <a:t>운영자동화</a:t>
            </a:r>
            <a:r>
              <a:rPr sz="1800" b="1" dirty="0">
                <a:solidFill>
                  <a:srgbClr val="C0392B"/>
                </a:solidFill>
                <a:latin typeface="Malgun Gothic"/>
              </a:rPr>
              <a:t> </a:t>
            </a:r>
            <a:r>
              <a:rPr sz="1800" b="1" dirty="0" err="1">
                <a:solidFill>
                  <a:srgbClr val="C0392B"/>
                </a:solidFill>
                <a:latin typeface="Malgun Gothic"/>
              </a:rPr>
              <a:t>과정</a:t>
            </a:r>
            <a:r>
              <a:rPr sz="1800" b="1" dirty="0">
                <a:solidFill>
                  <a:srgbClr val="C0392B"/>
                </a:solidFill>
                <a:latin typeface="Malgun Gothic"/>
              </a:rPr>
              <a:t>  ·  제1장</a:t>
            </a:r>
          </a:p>
        </p:txBody>
      </p:sp>
      <p:sp>
        <p:nvSpPr>
          <p:cNvPr id="4" name="TextBox 3"/>
          <p:cNvSpPr txBox="1"/>
          <p:nvPr/>
        </p:nvSpPr>
        <p:spPr>
          <a:xfrm>
            <a:off x="1188720" y="2194560"/>
            <a:ext cx="10332720" cy="2011680"/>
          </a:xfrm>
          <a:prstGeom prst="rect">
            <a:avLst/>
          </a:prstGeom>
          <a:noFill/>
        </p:spPr>
        <p:txBody>
          <a:bodyPr wrap="square">
            <a:spAutoFit/>
          </a:bodyPr>
          <a:lstStyle/>
          <a:p>
            <a:pPr>
              <a:spcBef>
                <a:spcPts val="0"/>
              </a:spcBef>
            </a:pPr>
            <a:r>
              <a:rPr sz="4400" b="1">
                <a:solidFill>
                  <a:srgbClr val="FFFFFF"/>
                </a:solidFill>
                <a:latin typeface="Malgun Gothic"/>
              </a:rPr>
              <a:t>PL/SQL 기초</a:t>
            </a:r>
          </a:p>
        </p:txBody>
      </p:sp>
      <p:sp>
        <p:nvSpPr>
          <p:cNvPr id="5" name="TextBox 4"/>
          <p:cNvSpPr txBox="1"/>
          <p:nvPr/>
        </p:nvSpPr>
        <p:spPr>
          <a:xfrm>
            <a:off x="1188720" y="4297680"/>
            <a:ext cx="10058400" cy="1097280"/>
          </a:xfrm>
          <a:prstGeom prst="rect">
            <a:avLst/>
          </a:prstGeom>
          <a:noFill/>
        </p:spPr>
        <p:txBody>
          <a:bodyPr wrap="square">
            <a:spAutoFit/>
          </a:bodyPr>
          <a:lstStyle/>
          <a:p>
            <a:pPr>
              <a:spcBef>
                <a:spcPts val="0"/>
              </a:spcBef>
            </a:pPr>
            <a:r>
              <a:rPr sz="1800" b="0">
                <a:solidFill>
                  <a:srgbClr val="C5CED6"/>
                </a:solidFill>
                <a:latin typeface="Malgun Gothic"/>
              </a:rPr>
              <a:t>블록 구조 · 변수와 상수 · %TYPE / %ROWTYPE · SELECT INTO · DBMS_OUTPUT · IF / CASE   |   Oracle Database 19c · HR 스키마 기준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이 장을 마치면 다음을 수행할 수 있어야 한다.</a:t>
            </a:r>
          </a:p>
          <a:p>
            <a:pPr>
              <a:spcBef>
                <a:spcPts val="400"/>
              </a:spcBef>
            </a:pPr>
            <a:r>
              <a:rPr sz="1600" b="0">
                <a:solidFill>
                  <a:srgbClr val="5A6672"/>
                </a:solidFill>
                <a:latin typeface="Malgun Gothic"/>
              </a:rPr>
              <a:t>    –  PL/SQL이 필요한 이유와 SQL 대비 장점을 설명하고 PL/SQL 엔진의 실행 구조를 이해한다</a:t>
            </a:r>
          </a:p>
          <a:p>
            <a:pPr>
              <a:spcBef>
                <a:spcPts val="400"/>
              </a:spcBef>
            </a:pPr>
            <a:r>
              <a:rPr sz="1600" b="0">
                <a:solidFill>
                  <a:srgbClr val="5A6672"/>
                </a:solidFill>
                <a:latin typeface="Malgun Gothic"/>
              </a:rPr>
              <a:t>    –  블록의 네 절(DECLARE·BEGIN·EXCEPTION·END)의 역할과 필수·선택 여부를 구분한다</a:t>
            </a:r>
          </a:p>
          <a:p>
            <a:pPr>
              <a:spcBef>
                <a:spcPts val="400"/>
              </a:spcBef>
            </a:pPr>
            <a:r>
              <a:rPr sz="1600" b="0">
                <a:solidFill>
                  <a:srgbClr val="5A6672"/>
                </a:solidFill>
                <a:latin typeface="Malgun Gothic"/>
              </a:rPr>
              <a:t>    –  익명 블록·프로시저·함수의 차이를 설명하고 SQL*Plus에서 익명 블록을 실행한다</a:t>
            </a:r>
          </a:p>
          <a:p>
            <a:pPr>
              <a:spcBef>
                <a:spcPts val="400"/>
              </a:spcBef>
            </a:pPr>
            <a:r>
              <a:rPr sz="1600" b="0">
                <a:solidFill>
                  <a:srgbClr val="5A6672"/>
                </a:solidFill>
                <a:latin typeface="Malgun Gothic"/>
              </a:rPr>
              <a:t>    –  스칼라 타입으로 변수를 선언하고 CONSTANT로 상수를 선언한다</a:t>
            </a:r>
          </a:p>
          <a:p>
            <a:pPr>
              <a:spcBef>
                <a:spcPts val="400"/>
              </a:spcBef>
            </a:pPr>
            <a:r>
              <a:rPr sz="1600" b="0">
                <a:solidFill>
                  <a:srgbClr val="5A6672"/>
                </a:solidFill>
                <a:latin typeface="Malgun Gothic"/>
              </a:rPr>
              <a:t>    –  %TYPE·%ROWTYPE으로 구조 변경에 강한 선언을 작성한다</a:t>
            </a:r>
          </a:p>
          <a:p>
            <a:pPr>
              <a:spcBef>
                <a:spcPts val="400"/>
              </a:spcBef>
            </a:pPr>
            <a:r>
              <a:rPr sz="1600" b="0">
                <a:solidFill>
                  <a:srgbClr val="5A6672"/>
                </a:solidFill>
                <a:latin typeface="Malgun Gothic"/>
              </a:rPr>
              <a:t>    –  SELECT INTO로 단일 행을 조회하고 NO_DATA_FOUND·TOO_MANY_ROWS를 처리한다</a:t>
            </a:r>
          </a:p>
          <a:p>
            <a:pPr>
              <a:spcBef>
                <a:spcPts val="400"/>
              </a:spcBef>
            </a:pPr>
            <a:r>
              <a:rPr sz="1600" b="0">
                <a:solidFill>
                  <a:srgbClr val="5A6672"/>
                </a:solidFill>
                <a:latin typeface="Malgun Gothic"/>
              </a:rPr>
              <a:t>    –  SET SERVEROUTPUT ON과 DBMS_OUTPUT.PUT_LINE으로 실행 결과를 출력·디버깅한다</a:t>
            </a:r>
          </a:p>
          <a:p>
            <a:pPr>
              <a:spcBef>
                <a:spcPts val="400"/>
              </a:spcBef>
            </a:pPr>
            <a:r>
              <a:rPr sz="1600" b="0">
                <a:solidFill>
                  <a:srgbClr val="5A6672"/>
                </a:solidFill>
                <a:latin typeface="Malgun Gothic"/>
              </a:rPr>
              <a:t>    –  중첩 블록에서 스코프와 가시성을 판단하고 레이블 한정자를 사용한다</a:t>
            </a:r>
          </a:p>
          <a:p>
            <a:pPr>
              <a:spcBef>
                <a:spcPts val="400"/>
              </a:spcBef>
            </a:pPr>
            <a:r>
              <a:rPr sz="1600" b="0">
                <a:solidFill>
                  <a:srgbClr val="5A6672"/>
                </a:solidFill>
                <a:latin typeface="Malgun Gothic"/>
              </a:rPr>
              <a:t>    –  IF·ELSIF·ELSE와 CASE로 조건을 분기하고 NULL의 3값 논리를 처리한다</a:t>
            </a:r>
          </a:p>
          <a:p>
            <a:pPr>
              <a:spcBef>
                <a:spcPts val="400"/>
              </a:spcBef>
            </a:pPr>
            <a:r>
              <a:rPr sz="1600" b="0">
                <a:solidFill>
                  <a:srgbClr val="5A6672"/>
                </a:solidFill>
                <a:latin typeface="Malgun Gothic"/>
              </a:rPr>
              <a:t>    –  PLS-00201·ORA-01403·ORA-06502 등 자주 만나는 오류를 원인별로 진단·수정한다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1.1  PL/SQL이란 무엇인가 · 실행 아키텍처</a:t>
            </a:r>
          </a:p>
          <a:p>
            <a:pPr>
              <a:spcBef>
                <a:spcPts val="1000"/>
              </a:spcBef>
            </a:pPr>
            <a:r>
              <a:rPr sz="1800" b="0">
                <a:solidFill>
                  <a:srgbClr val="202830"/>
                </a:solidFill>
                <a:latin typeface="Malgun Gothic"/>
              </a:rPr>
              <a:t>•  1.2~1.4  블록 구조 · 블록의 종류와 익명 블록 · 실행 방법</a:t>
            </a:r>
          </a:p>
          <a:p>
            <a:pPr>
              <a:spcBef>
                <a:spcPts val="1000"/>
              </a:spcBef>
            </a:pPr>
            <a:r>
              <a:rPr sz="1800" b="0">
                <a:solidFill>
                  <a:srgbClr val="202830"/>
                </a:solidFill>
                <a:latin typeface="Malgun Gothic"/>
              </a:rPr>
              <a:t>•  1.5~1.7  어휘 단위와 코딩 규칙 · 변수 선언 · 상수(CONSTANT)</a:t>
            </a:r>
          </a:p>
          <a:p>
            <a:pPr>
              <a:spcBef>
                <a:spcPts val="1000"/>
              </a:spcBef>
            </a:pPr>
            <a:r>
              <a:rPr sz="1800" b="0">
                <a:solidFill>
                  <a:srgbClr val="202830"/>
                </a:solidFill>
                <a:latin typeface="Malgun Gothic"/>
              </a:rPr>
              <a:t>•  1.8~1.9  %TYPE 속성 · %ROWTYPE 속성</a:t>
            </a:r>
          </a:p>
          <a:p>
            <a:pPr>
              <a:spcBef>
                <a:spcPts val="1000"/>
              </a:spcBef>
            </a:pPr>
            <a:r>
              <a:rPr sz="1800" b="0">
                <a:solidFill>
                  <a:srgbClr val="202830"/>
                </a:solidFill>
                <a:latin typeface="Malgun Gothic"/>
              </a:rPr>
              <a:t>•  1.10~1.11  SELECT INTO로 단일 행 조회 · DBMS_OUTPUT 출력</a:t>
            </a:r>
          </a:p>
          <a:p>
            <a:pPr>
              <a:spcBef>
                <a:spcPts val="1000"/>
              </a:spcBef>
            </a:pPr>
            <a:r>
              <a:rPr sz="1800" b="0">
                <a:solidFill>
                  <a:srgbClr val="202830"/>
                </a:solidFill>
                <a:latin typeface="Malgun Gothic"/>
              </a:rPr>
              <a:t>•  1.12~1.15  중첩 블록과 스코프 · IF · CASE · 연산자와 식</a:t>
            </a:r>
          </a:p>
          <a:p>
            <a:pPr>
              <a:spcBef>
                <a:spcPts val="1000"/>
              </a:spcBef>
            </a:pPr>
            <a:r>
              <a:rPr sz="1800" b="0">
                <a:solidFill>
                  <a:srgbClr val="202830"/>
                </a:solidFill>
                <a:latin typeface="Malgun Gothic"/>
              </a:rPr>
              <a:t>•  1.16~1.19  자주 만나는 오류와 디버깅 · 퀴즈 · 요약 · 실습 개요</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2743200" cy="1371600"/>
          </a:xfrm>
          <a:prstGeom prst="rect">
            <a:avLst/>
          </a:prstGeom>
          <a:noFill/>
        </p:spPr>
        <p:txBody>
          <a:bodyPr wrap="square">
            <a:spAutoFit/>
          </a:bodyPr>
          <a:lstStyle/>
          <a:p>
            <a:pPr>
              <a:spcBef>
                <a:spcPts val="0"/>
              </a:spcBef>
            </a:pPr>
            <a:r>
              <a:rPr sz="6600" b="1">
                <a:solidFill>
                  <a:srgbClr val="C0392B"/>
                </a:solidFill>
                <a:latin typeface="Malgun Gothic"/>
              </a:rPr>
              <a:t>1.1</a:t>
            </a:r>
          </a:p>
        </p:txBody>
      </p:sp>
      <p:sp>
        <p:nvSpPr>
          <p:cNvPr id="3" name="TextBox 2"/>
          <p:cNvSpPr txBox="1"/>
          <p:nvPr/>
        </p:nvSpPr>
        <p:spPr>
          <a:xfrm>
            <a:off x="822960" y="2743200"/>
            <a:ext cx="10515600" cy="1097280"/>
          </a:xfrm>
          <a:prstGeom prst="rect">
            <a:avLst/>
          </a:prstGeom>
          <a:noFill/>
        </p:spPr>
        <p:txBody>
          <a:bodyPr wrap="square">
            <a:spAutoFit/>
          </a:bodyPr>
          <a:lstStyle/>
          <a:p>
            <a:pPr>
              <a:spcBef>
                <a:spcPts val="0"/>
              </a:spcBef>
            </a:pPr>
            <a:r>
              <a:rPr sz="3400" b="1">
                <a:solidFill>
                  <a:srgbClr val="FFFFFF"/>
                </a:solidFill>
                <a:latin typeface="Malgun Gothic"/>
              </a:rPr>
              <a:t>PL/SQL이란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Bef>
                <a:spcPts val="600"/>
              </a:spcBef>
            </a:pPr>
            <a:r>
              <a:rPr sz="1600" b="0">
                <a:solidFill>
                  <a:srgbClr val="C5CED6"/>
                </a:solidFill>
                <a:latin typeface="Malgun Gothic"/>
              </a:rPr>
              <a:t>•  SQL의 한계와 PL/SQL의 등장 배경</a:t>
            </a:r>
          </a:p>
          <a:p>
            <a:pPr>
              <a:spcBef>
                <a:spcPts val="600"/>
              </a:spcBef>
            </a:pPr>
            <a:r>
              <a:rPr sz="1600" b="0">
                <a:solidFill>
                  <a:srgbClr val="C5CED6"/>
                </a:solidFill>
                <a:latin typeface="Malgun Gothic"/>
              </a:rPr>
              <a:t>•  SQL과의 완전한 통합 · 네트워크 왕복 감소</a:t>
            </a:r>
          </a:p>
          <a:p>
            <a:pPr>
              <a:spcBef>
                <a:spcPts val="600"/>
              </a:spcBef>
            </a:pPr>
            <a:r>
              <a:rPr sz="1600" b="0">
                <a:solidFill>
                  <a:srgbClr val="C5CED6"/>
                </a:solidFill>
                <a:latin typeface="Malgun Gothic"/>
              </a:rPr>
              <a:t>•  PL/SQL 엔진과 컨텍스트 스위치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SQL의 한계와 PL/SQL의 역할</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SQL은 '무엇을 가져올 것인가'를 선언하는 집합 지향 언어</a:t>
            </a:r>
          </a:p>
          <a:p>
            <a:pPr>
              <a:spcBef>
                <a:spcPts val="400"/>
              </a:spcBef>
            </a:pPr>
            <a:r>
              <a:rPr sz="1600" b="0">
                <a:solidFill>
                  <a:srgbClr val="5A6672"/>
                </a:solidFill>
                <a:latin typeface="Malgun Gothic"/>
              </a:rPr>
              <a:t>    –  문장과 문장 사이에 값을 담아 둘 변수가 없다</a:t>
            </a:r>
          </a:p>
          <a:p>
            <a:pPr>
              <a:spcBef>
                <a:spcPts val="400"/>
              </a:spcBef>
            </a:pPr>
            <a:r>
              <a:rPr sz="1600" b="0">
                <a:solidFill>
                  <a:srgbClr val="5A6672"/>
                </a:solidFill>
                <a:latin typeface="Malgun Gothic"/>
              </a:rPr>
              <a:t>    –  조건에 따라 다른 문장을 실행하는 분기가 없다</a:t>
            </a:r>
          </a:p>
          <a:p>
            <a:pPr>
              <a:spcBef>
                <a:spcPts val="400"/>
              </a:spcBef>
            </a:pPr>
            <a:r>
              <a:rPr sz="1600" b="0">
                <a:solidFill>
                  <a:srgbClr val="5A6672"/>
                </a:solidFill>
                <a:latin typeface="Malgun Gothic"/>
              </a:rPr>
              <a:t>    –  오류가 발생했을 때 붙잡아 대체 동작을 수행할 수단이 없다</a:t>
            </a:r>
          </a:p>
          <a:p>
            <a:pPr>
              <a:spcBef>
                <a:spcPts val="1000"/>
              </a:spcBef>
            </a:pPr>
            <a:r>
              <a:rPr sz="1800" b="0">
                <a:solidFill>
                  <a:srgbClr val="202830"/>
                </a:solidFill>
                <a:latin typeface="Malgun Gothic"/>
              </a:rPr>
              <a:t>•  PL/SQL = Procedural Language extension to SQL</a:t>
            </a:r>
          </a:p>
          <a:p>
            <a:pPr>
              <a:spcBef>
                <a:spcPts val="400"/>
              </a:spcBef>
            </a:pPr>
            <a:r>
              <a:rPr sz="1600" b="0">
                <a:solidFill>
                  <a:srgbClr val="5A6672"/>
                </a:solidFill>
                <a:latin typeface="Malgun Gothic"/>
              </a:rPr>
              <a:t>    –  변수 · 상수 · 조건문 · 반복문 · 예외 처리 · 서브프로그램 · 패키지</a:t>
            </a:r>
          </a:p>
          <a:p>
            <a:pPr>
              <a:spcBef>
                <a:spcPts val="1000"/>
              </a:spcBef>
            </a:pPr>
            <a:r>
              <a:rPr sz="1800" b="0">
                <a:solidFill>
                  <a:srgbClr val="202830"/>
                </a:solidFill>
                <a:latin typeface="Malgun Gothic"/>
              </a:rPr>
              <a:t>•  SQL과 PL/SQL을 하나의 문법 체계 안에서 함께 사용</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r>
              <a:rPr sz="1250" b="0">
                <a:solidFill>
                  <a:srgbClr val="202830"/>
                </a:solidFill>
                <a:latin typeface="Malgun Gothic"/>
              </a:rPr>
              <a:t>PL/SQL은 SQL을 대체하는 언어가 아니라 감싸는 언어다. 집합으로 처리할 수 있는 일은 여전히 SQL 한 문장으로 처리하는 것이 가장 빠르다.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PL/SQL의 장점</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SQL과의 완전한 통합</a:t>
            </a:r>
          </a:p>
          <a:p>
            <a:pPr>
              <a:spcBef>
                <a:spcPts val="400"/>
              </a:spcBef>
            </a:pPr>
            <a:r>
              <a:rPr sz="1600" b="0">
                <a:solidFill>
                  <a:srgbClr val="5A6672"/>
                </a:solidFill>
                <a:latin typeface="Malgun Gothic"/>
              </a:rPr>
              <a:t>    –  SELECT·INSERT·UPDATE·DELETE·MERGE를 문자열 조립 없이 그대로 사용</a:t>
            </a:r>
          </a:p>
          <a:p>
            <a:pPr>
              <a:spcBef>
                <a:spcPts val="400"/>
              </a:spcBef>
            </a:pPr>
            <a:r>
              <a:rPr sz="1600" b="0">
                <a:solidFill>
                  <a:srgbClr val="5A6672"/>
                </a:solidFill>
                <a:latin typeface="Malgun Gothic"/>
              </a:rPr>
              <a:t>    –  SQL 데이터 타입과 대부분의 단일 행 함수를 그대로 사용</a:t>
            </a:r>
          </a:p>
          <a:p>
            <a:pPr>
              <a:spcBef>
                <a:spcPts val="400"/>
              </a:spcBef>
            </a:pPr>
            <a:r>
              <a:rPr sz="1600" b="0">
                <a:solidFill>
                  <a:srgbClr val="5A6672"/>
                </a:solidFill>
                <a:latin typeface="Malgun Gothic"/>
              </a:rPr>
              <a:t>    –  PL/SQL 함수는 반대로 SQL 문장 안에서 호출 가능</a:t>
            </a:r>
          </a:p>
          <a:p>
            <a:pPr>
              <a:spcBef>
                <a:spcPts val="1000"/>
              </a:spcBef>
            </a:pPr>
            <a:r>
              <a:rPr sz="1800" b="0">
                <a:solidFill>
                  <a:srgbClr val="202830"/>
                </a:solidFill>
                <a:latin typeface="Malgun Gothic"/>
              </a:rPr>
              <a:t>•  성능: 네트워크 왕복(round trip) 감소</a:t>
            </a:r>
          </a:p>
          <a:p>
            <a:pPr>
              <a:spcBef>
                <a:spcPts val="400"/>
              </a:spcBef>
            </a:pPr>
            <a:r>
              <a:rPr sz="1600" b="0">
                <a:solidFill>
                  <a:srgbClr val="5A6672"/>
                </a:solidFill>
                <a:latin typeface="Malgun Gothic"/>
              </a:rPr>
              <a:t>    –  여러 SQL과 로직을 한 블록으로 묶어 한 번에 전송 → 왕복 1회</a:t>
            </a:r>
          </a:p>
          <a:p>
            <a:pPr>
              <a:spcBef>
                <a:spcPts val="1000"/>
              </a:spcBef>
            </a:pPr>
            <a:r>
              <a:rPr sz="1800" b="0">
                <a:solidFill>
                  <a:srgbClr val="202830"/>
                </a:solidFill>
                <a:latin typeface="Malgun Gothic"/>
              </a:rPr>
              <a:t>•  모듈화 · 이식성 · 보안 · 유지보수성</a:t>
            </a:r>
          </a:p>
          <a:p>
            <a:pPr>
              <a:spcBef>
                <a:spcPts val="400"/>
              </a:spcBef>
            </a:pPr>
            <a:r>
              <a:rPr sz="1600" b="0">
                <a:solidFill>
                  <a:srgbClr val="5A6672"/>
                </a:solidFill>
                <a:latin typeface="Malgun Gothic"/>
              </a:rPr>
              <a:t>    –  테이블 권한 대신 프로시저 실행 권한만 부여하는 설계 가능</a:t>
            </a:r>
          </a:p>
          <a:p>
            <a:pPr>
              <a:spcBef>
                <a:spcPts val="1000"/>
              </a:spcBef>
            </a:pPr>
            <a:r>
              <a:rPr sz="1800" b="0">
                <a:solidFill>
                  <a:srgbClr val="202830"/>
                </a:solidFill>
                <a:latin typeface="Malgun Gothic"/>
              </a:rPr>
              <a:t>•  19c 관리 기능(DBMS_SCHEDULER, DBMS_STATS 등)이 모두 PL/SQL 패키지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PL/SQL 실행 아키텍처</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PL/SQL 엔진은 데이터베이스 서버에 내장되어 있다</a:t>
            </a:r>
          </a:p>
          <a:p>
            <a:pPr>
              <a:spcBef>
                <a:spcPts val="1000"/>
              </a:spcBef>
            </a:pPr>
            <a:r>
              <a:rPr sz="1800" b="0">
                <a:solidFill>
                  <a:srgbClr val="202830"/>
                </a:solidFill>
                <a:latin typeface="Malgun Gothic"/>
              </a:rPr>
              <a:t>•  엔진은 두 개의 실행기로 구성</a:t>
            </a:r>
          </a:p>
          <a:p>
            <a:pPr>
              <a:spcBef>
                <a:spcPts val="400"/>
              </a:spcBef>
            </a:pPr>
            <a:r>
              <a:rPr sz="1600" b="0">
                <a:solidFill>
                  <a:srgbClr val="5A6672"/>
                </a:solidFill>
                <a:latin typeface="Malgun Gothic"/>
              </a:rPr>
              <a:t>    –  절차적 문장 실행기: 변수 할당 · IF · LOOP 등 PL/SQL 고유 문장 처리</a:t>
            </a:r>
          </a:p>
          <a:p>
            <a:pPr>
              <a:spcBef>
                <a:spcPts val="400"/>
              </a:spcBef>
            </a:pPr>
            <a:r>
              <a:rPr sz="1600" b="0">
                <a:solidFill>
                  <a:srgbClr val="5A6672"/>
                </a:solidFill>
                <a:latin typeface="Malgun Gothic"/>
              </a:rPr>
              <a:t>    –  SQL 문장 실행기: SQL 문장을 만나면 넘겨받아 처리</a:t>
            </a:r>
          </a:p>
          <a:p>
            <a:pPr>
              <a:spcBef>
                <a:spcPts val="1000"/>
              </a:spcBef>
            </a:pPr>
            <a:r>
              <a:rPr sz="1800" b="0">
                <a:solidFill>
                  <a:srgbClr val="202830"/>
                </a:solidFill>
                <a:latin typeface="Malgun Gothic"/>
              </a:rPr>
              <a:t>•  두 실행기 사이의 전환 = 컨텍스트 스위치(context switch), 비용 존재</a:t>
            </a:r>
          </a:p>
          <a:p>
            <a:pPr>
              <a:spcBef>
                <a:spcPts val="400"/>
              </a:spcBef>
            </a:pPr>
            <a:r>
              <a:rPr sz="1600" b="0">
                <a:solidFill>
                  <a:srgbClr val="5A6672"/>
                </a:solidFill>
                <a:latin typeface="Malgun Gothic"/>
              </a:rPr>
              <a:t>    –  반복문 안에서 SQL을 한 건씩 실행하면 스위치가 누적된다</a:t>
            </a:r>
          </a:p>
          <a:p>
            <a:pPr>
              <a:spcBef>
                <a:spcPts val="400"/>
              </a:spcBef>
            </a:pPr>
            <a:r>
              <a:rPr sz="1600" b="0">
                <a:solidFill>
                  <a:srgbClr val="5A6672"/>
                </a:solidFill>
                <a:latin typeface="Malgun Gothic"/>
              </a:rPr>
              <a:t>    –  집합 처리 · 벌크 연산으로 줄이는 것이 튜닝의 기본 (3장)</a:t>
            </a:r>
          </a:p>
          <a:p>
            <a:pPr>
              <a:spcBef>
                <a:spcPts val="1000"/>
              </a:spcBef>
            </a:pPr>
            <a:r>
              <a:rPr sz="1800" b="0">
                <a:solidFill>
                  <a:srgbClr val="202830"/>
                </a:solidFill>
                <a:latin typeface="Malgun Gothic"/>
              </a:rPr>
              <a:t>•  블록은 서버에서 구문·의미 분석 후 MCODE로 컴파일 (19c PLSQL_OPTIMIZE_LEVEL 기본값 2)</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5CA8"/>
                </a:solidFill>
                <a:latin typeface="Malgun Gothic"/>
              </a:rPr>
              <a:t>실무 시나리오: </a:t>
            </a:r>
            <a:r>
              <a:rPr sz="1250" b="0">
                <a:solidFill>
                  <a:srgbClr val="202830"/>
                </a:solidFill>
                <a:latin typeface="Malgun Gothic"/>
              </a:rPr>
              <a:t>10만 건을 한 건씩 UPDATE하는 루프는 컨텍스트 스위치가 10만 번 발생한다. 같은 작업을 집합 UPDATE 한 문장으로 바꾸면 스위치는 한 번이며 수십 배 빨라지는 경우가 흔하다.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pPr>
              <a:spcBef>
                <a:spcPts val="0"/>
              </a:spcBef>
            </a:pPr>
            <a:r>
              <a:rPr sz="6600" b="1" dirty="0">
                <a:solidFill>
                  <a:srgbClr val="C0392B"/>
                </a:solidFill>
                <a:latin typeface="Malgun Gothic"/>
              </a:rPr>
              <a:t>1.2~1.4</a:t>
            </a:r>
          </a:p>
        </p:txBody>
      </p:sp>
      <p:sp>
        <p:nvSpPr>
          <p:cNvPr id="3" name="TextBox 2"/>
          <p:cNvSpPr txBox="1"/>
          <p:nvPr/>
        </p:nvSpPr>
        <p:spPr>
          <a:xfrm>
            <a:off x="822960" y="2743200"/>
            <a:ext cx="10515600" cy="1097280"/>
          </a:xfrm>
          <a:prstGeom prst="rect">
            <a:avLst/>
          </a:prstGeom>
          <a:noFill/>
        </p:spPr>
        <p:txBody>
          <a:bodyPr wrap="square">
            <a:spAutoFit/>
          </a:bodyPr>
          <a:lstStyle/>
          <a:p>
            <a:pPr>
              <a:spcBef>
                <a:spcPts val="0"/>
              </a:spcBef>
            </a:pPr>
            <a:r>
              <a:rPr sz="3400" b="1" dirty="0" err="1">
                <a:solidFill>
                  <a:srgbClr val="FFFFFF"/>
                </a:solidFill>
                <a:latin typeface="Malgun Gothic"/>
              </a:rPr>
              <a:t>블록</a:t>
            </a:r>
            <a:r>
              <a:rPr sz="3400" b="1" dirty="0">
                <a:solidFill>
                  <a:srgbClr val="FFFFFF"/>
                </a:solidFill>
                <a:latin typeface="Malgun Gothic"/>
              </a:rPr>
              <a:t> </a:t>
            </a:r>
            <a:r>
              <a:rPr sz="3400" b="1" dirty="0" err="1">
                <a:solidFill>
                  <a:srgbClr val="FFFFFF"/>
                </a:solidFill>
                <a:latin typeface="Malgun Gothic"/>
              </a:rPr>
              <a:t>구조와</a:t>
            </a:r>
            <a:r>
              <a:rPr sz="3400" b="1" dirty="0">
                <a:solidFill>
                  <a:srgbClr val="FFFFFF"/>
                </a:solidFill>
                <a:latin typeface="Malgun Gothic"/>
              </a:rPr>
              <a:t> </a:t>
            </a:r>
            <a:r>
              <a:rPr sz="3400" b="1" dirty="0" err="1">
                <a:solidFill>
                  <a:srgbClr val="FFFFFF"/>
                </a:solidFill>
                <a:latin typeface="Malgun Gothic"/>
              </a:rPr>
              <a:t>실행</a:t>
            </a:r>
            <a:r>
              <a:rPr sz="3400" b="1" dirty="0">
                <a:solidFill>
                  <a:srgbClr val="FFFFFF"/>
                </a:solidFill>
                <a:latin typeface="Malgun Gothic"/>
              </a:rPr>
              <a:t> </a:t>
            </a:r>
            <a:r>
              <a:rPr sz="3400" b="1" dirty="0" err="1">
                <a:solidFill>
                  <a:srgbClr val="FFFFFF"/>
                </a:solidFill>
                <a:latin typeface="Malgun Gothic"/>
              </a:rPr>
              <a:t>방법</a:t>
            </a:r>
            <a:endParaRPr sz="3400" b="1" dirty="0">
              <a:solidFill>
                <a:srgbClr val="FFFFFF"/>
              </a:solidFill>
              <a:latin typeface="Malgun Gothic"/>
            </a:endParaRP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Bef>
                <a:spcPts val="600"/>
              </a:spcBef>
            </a:pPr>
            <a:r>
              <a:rPr sz="1600" b="0">
                <a:solidFill>
                  <a:srgbClr val="C5CED6"/>
                </a:solidFill>
                <a:latin typeface="Malgun Gothic"/>
              </a:rPr>
              <a:t>•  DECLARE · BEGIN · EXCEPTION · END</a:t>
            </a:r>
          </a:p>
          <a:p>
            <a:pPr>
              <a:spcBef>
                <a:spcPts val="600"/>
              </a:spcBef>
            </a:pPr>
            <a:r>
              <a:rPr sz="1600" b="0">
                <a:solidFill>
                  <a:srgbClr val="C5CED6"/>
                </a:solidFill>
                <a:latin typeface="Malgun Gothic"/>
              </a:rPr>
              <a:t>•  익명 블록 · 프로시저 · 함수</a:t>
            </a:r>
          </a:p>
          <a:p>
            <a:pPr>
              <a:spcBef>
                <a:spcPts val="600"/>
              </a:spcBef>
            </a:pPr>
            <a:r>
              <a:rPr sz="1600" b="0">
                <a:solidFill>
                  <a:srgbClr val="C5CED6"/>
                </a:solidFill>
                <a:latin typeface="Malgun Gothic"/>
              </a:rPr>
              <a:t>•  SQL*Plus에서 블록 실행하기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PL/SQL 블록 구조</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모든 PL/SQL 코드는 블록(Block) 단위로 작성된다</a:t>
            </a:r>
          </a:p>
          <a:p>
            <a:pPr>
              <a:spcBef>
                <a:spcPts val="1000"/>
              </a:spcBef>
            </a:pPr>
            <a:r>
              <a:rPr sz="1800" b="0">
                <a:solidFill>
                  <a:srgbClr val="202830"/>
                </a:solidFill>
                <a:latin typeface="Malgun Gothic"/>
              </a:rPr>
              <a:t>•  선언부 DECLARE (선택): 변수·상수·커서·사용자 정의 예외 선언</a:t>
            </a:r>
          </a:p>
          <a:p>
            <a:pPr>
              <a:spcBef>
                <a:spcPts val="1000"/>
              </a:spcBef>
            </a:pPr>
            <a:r>
              <a:rPr sz="1800" b="0">
                <a:solidFill>
                  <a:srgbClr val="202830"/>
                </a:solidFill>
                <a:latin typeface="Malgun Gothic"/>
              </a:rPr>
              <a:t>•  실행부 BEGIN (필수): SQL과 절차적 문장, 최소 한 문장 필요</a:t>
            </a:r>
          </a:p>
          <a:p>
            <a:pPr>
              <a:spcBef>
                <a:spcPts val="1000"/>
              </a:spcBef>
            </a:pPr>
            <a:r>
              <a:rPr sz="1800" b="0">
                <a:solidFill>
                  <a:srgbClr val="202830"/>
                </a:solidFill>
                <a:latin typeface="Malgun Gothic"/>
              </a:rPr>
              <a:t>•  예외 처리부 EXCEPTION (선택): 실행부에서 발생한 예외 처리</a:t>
            </a:r>
          </a:p>
          <a:p>
            <a:pPr>
              <a:spcBef>
                <a:spcPts val="1000"/>
              </a:spcBef>
            </a:pPr>
            <a:r>
              <a:rPr sz="1800" b="0">
                <a:solidFill>
                  <a:srgbClr val="202830"/>
                </a:solidFill>
                <a:latin typeface="Malgun Gothic"/>
              </a:rPr>
              <a:t>•  종료 END; (필수): 세미콜론까지가 블록의 끝</a:t>
            </a:r>
          </a:p>
          <a:p>
            <a:pPr>
              <a:spcBef>
                <a:spcPts val="1000"/>
              </a:spcBef>
            </a:pPr>
            <a:r>
              <a:rPr sz="1800" b="0">
                <a:solidFill>
                  <a:srgbClr val="202830"/>
                </a:solidFill>
                <a:latin typeface="Malgun Gothic"/>
              </a:rPr>
              <a:t>•  이 구조는 프로시저·함수·트리거에도 그대로 적용된다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r>
              <a:rPr sz="1250" b="0">
                <a:solidFill>
                  <a:srgbClr val="202830"/>
                </a:solidFill>
                <a:latin typeface="Malgun Gothic"/>
              </a:rPr>
              <a:t>DECLARE·BEGIN·EXCEPTION 뒤에는 세미콜론을 붙이지 않는다. 반면 END 뒤에는 반드시 붙이며, 모든 문장(변수 선언 포함)도 세미콜론으로 끝난다.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블록 구조와 가장 단순한 블록</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네 절의 배치와 NULL 문장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7EC699"/>
                </a:solidFill>
                <a:latin typeface="Consolas"/>
              </a:rPr>
              <a:t>-- 블록의 기본 골격</a:t>
            </a:r>
          </a:p>
          <a:p>
            <a:pPr>
              <a:spcBef>
                <a:spcPts val="0"/>
              </a:spcBef>
            </a:pPr>
            <a:r>
              <a:rPr sz="1250" b="0">
                <a:solidFill>
                  <a:srgbClr val="E6E6E6"/>
                </a:solidFill>
                <a:latin typeface="Consolas"/>
              </a:rPr>
              <a:t>DECLARE                    -- 선언부(선택)</a:t>
            </a:r>
          </a:p>
          <a:p>
            <a:pPr>
              <a:spcBef>
                <a:spcPts val="0"/>
              </a:spcBef>
            </a:pPr>
            <a:r>
              <a:rPr sz="1250" b="0">
                <a:solidFill>
                  <a:srgbClr val="7EC699"/>
                </a:solidFill>
                <a:latin typeface="Consolas"/>
              </a:rPr>
              <a:t>   -- 변수, 상수, 커서, 사용자 정의 예외 선언</a:t>
            </a:r>
          </a:p>
          <a:p>
            <a:pPr>
              <a:spcBef>
                <a:spcPts val="0"/>
              </a:spcBef>
            </a:pPr>
            <a:r>
              <a:rPr sz="1250" b="0">
                <a:solidFill>
                  <a:srgbClr val="E6E6E6"/>
                </a:solidFill>
                <a:latin typeface="Consolas"/>
              </a:rPr>
              <a:t>BEGIN                      -- 실행부(필수)</a:t>
            </a:r>
          </a:p>
          <a:p>
            <a:pPr>
              <a:spcBef>
                <a:spcPts val="0"/>
              </a:spcBef>
            </a:pPr>
            <a:r>
              <a:rPr sz="1250" b="0">
                <a:solidFill>
                  <a:srgbClr val="7EC699"/>
                </a:solidFill>
                <a:latin typeface="Consolas"/>
              </a:rPr>
              <a:t>   -- SQL 문장과 절차적 문장 (최소 1개)</a:t>
            </a:r>
          </a:p>
          <a:p>
            <a:pPr>
              <a:spcBef>
                <a:spcPts val="0"/>
              </a:spcBef>
            </a:pPr>
            <a:r>
              <a:rPr sz="1250" b="0">
                <a:solidFill>
                  <a:srgbClr val="E6E6E6"/>
                </a:solidFill>
                <a:latin typeface="Consolas"/>
              </a:rPr>
              <a:t>EXCEPTION                  -- 예외 처리부(선택)</a:t>
            </a:r>
          </a:p>
          <a:p>
            <a:pPr>
              <a:spcBef>
                <a:spcPts val="0"/>
              </a:spcBef>
            </a:pPr>
            <a:r>
              <a:rPr sz="1250" b="0">
                <a:solidFill>
                  <a:srgbClr val="7EC699"/>
                </a:solidFill>
                <a:latin typeface="Consolas"/>
              </a:rPr>
              <a:t>   -- 실행부에서 발생한 예외 처리</a:t>
            </a:r>
          </a:p>
          <a:p>
            <a:pPr>
              <a:spcBef>
                <a:spcPts val="0"/>
              </a:spcBef>
            </a:pPr>
            <a:r>
              <a:rPr sz="1250" b="0">
                <a:solidFill>
                  <a:srgbClr val="E6E6E6"/>
                </a:solidFill>
                <a:latin typeface="Consolas"/>
              </a:rPr>
              <a:t>END;                       -- 종료(필수)</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가장 단순한 실행 가능 블록: 아무 동작도 하지 않는 NULL 문장 하나</a:t>
            </a:r>
          </a:p>
          <a:p>
            <a:pPr>
              <a:spcBef>
                <a:spcPts val="0"/>
              </a:spcBef>
            </a:pPr>
            <a:r>
              <a:rPr sz="1250" b="0">
                <a:solidFill>
                  <a:srgbClr val="E6E6E6"/>
                </a:solidFill>
                <a:latin typeface="Consolas"/>
              </a:rPr>
              <a:t>SQL&gt; BEGIN</a:t>
            </a:r>
          </a:p>
          <a:p>
            <a:pPr>
              <a:spcBef>
                <a:spcPts val="0"/>
              </a:spcBef>
            </a:pPr>
            <a:r>
              <a:rPr sz="1250" b="0">
                <a:solidFill>
                  <a:srgbClr val="E6E6E6"/>
                </a:solidFill>
                <a:latin typeface="Consolas"/>
              </a:rPr>
              <a:t>  2     NULL;</a:t>
            </a:r>
          </a:p>
          <a:p>
            <a:pPr>
              <a:spcBef>
                <a:spcPts val="0"/>
              </a:spcBef>
            </a:pPr>
            <a:r>
              <a:rPr sz="1250" b="0">
                <a:solidFill>
                  <a:srgbClr val="E6E6E6"/>
                </a:solidFill>
                <a:latin typeface="Consolas"/>
              </a:rPr>
              <a:t>  3  END;</a:t>
            </a:r>
          </a:p>
          <a:p>
            <a:pPr>
              <a:spcBef>
                <a:spcPts val="0"/>
              </a:spcBef>
            </a:pPr>
            <a:r>
              <a:rPr sz="1250" b="0">
                <a:solidFill>
                  <a:srgbClr val="E6E6E6"/>
                </a:solidFill>
                <a:latin typeface="Consolas"/>
              </a:rPr>
              <a:t>  4  /</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PL/SQL procedure successfully completed.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블록의 종류와 익명 블록</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익명 블록(Anonymous Block): 이름이 없고 저장되지 않는다</a:t>
            </a:r>
          </a:p>
          <a:p>
            <a:pPr>
              <a:spcBef>
                <a:spcPts val="400"/>
              </a:spcBef>
            </a:pPr>
            <a:r>
              <a:rPr sz="1600" b="0">
                <a:solidFill>
                  <a:srgbClr val="5A6672"/>
                </a:solidFill>
                <a:latin typeface="Malgun Gothic"/>
              </a:rPr>
              <a:t>    –  실행할 때마다 컴파일되며 다시 호출할 수 없다</a:t>
            </a:r>
          </a:p>
          <a:p>
            <a:pPr>
              <a:spcBef>
                <a:spcPts val="400"/>
              </a:spcBef>
            </a:pPr>
            <a:r>
              <a:rPr sz="1600" b="0">
                <a:solidFill>
                  <a:srgbClr val="5A6672"/>
                </a:solidFill>
                <a:latin typeface="Malgun Gothic"/>
              </a:rPr>
              <a:t>    –  스크립트·일회성 작업·학습과 테스트에 적합</a:t>
            </a:r>
          </a:p>
          <a:p>
            <a:pPr>
              <a:spcBef>
                <a:spcPts val="1000"/>
              </a:spcBef>
            </a:pPr>
            <a:r>
              <a:rPr sz="1800" b="0">
                <a:solidFill>
                  <a:srgbClr val="202830"/>
                </a:solidFill>
                <a:latin typeface="Malgun Gothic"/>
              </a:rPr>
              <a:t>•  프로시저(Procedure): 이름이 있고 DB에 저장, 값을 반환하지 않는다</a:t>
            </a:r>
          </a:p>
          <a:p>
            <a:pPr>
              <a:spcBef>
                <a:spcPts val="1000"/>
              </a:spcBef>
            </a:pPr>
            <a:r>
              <a:rPr sz="1800" b="0">
                <a:solidFill>
                  <a:srgbClr val="202830"/>
                </a:solidFill>
                <a:latin typeface="Malgun Gothic"/>
              </a:rPr>
              <a:t>•  함수(Function): 이름이 있고 DB에 저장, 반드시 값을 반환한다</a:t>
            </a:r>
          </a:p>
          <a:p>
            <a:pPr>
              <a:spcBef>
                <a:spcPts val="400"/>
              </a:spcBef>
            </a:pPr>
            <a:r>
              <a:rPr sz="1600" b="0">
                <a:solidFill>
                  <a:srgbClr val="5A6672"/>
                </a:solidFill>
                <a:latin typeface="Malgun Gothic"/>
              </a:rPr>
              <a:t>    –  프로시저와 함수를 묶어 서브프로그램(Subprogram) 또는 저장 프로그램이라 한다</a:t>
            </a:r>
          </a:p>
          <a:p>
            <a:pPr>
              <a:spcBef>
                <a:spcPts val="1000"/>
              </a:spcBef>
            </a:pPr>
            <a:r>
              <a:rPr sz="1800" b="0">
                <a:solidFill>
                  <a:srgbClr val="202830"/>
                </a:solidFill>
                <a:latin typeface="Malgun Gothic"/>
              </a:rPr>
              <a:t>•  저장 프로그램은 컴파일된 코드가 DB에 남아 재사용·권한 부여가 가능하다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rPr>
              <a:t>Best Practice: </a:t>
            </a:r>
            <a:r>
              <a:rPr sz="1250" b="0">
                <a:solidFill>
                  <a:srgbClr val="202830"/>
                </a:solidFill>
                <a:latin typeface="Malgun Gothic"/>
              </a:rPr>
              <a:t>학습과 실험은 익명 블록으로 하되, 두 번 이상 쓸 로직은 반드시 이름 있는 서브프로그램으로 옮긴다. 익명 블록은 버전 관리와 권한 관리가 되지 않는다.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익명 블록 · 프로시저 · 함수 비교</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이름과 저장 여부로 구분한다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7EC699"/>
                </a:solidFill>
                <a:latin typeface="Consolas"/>
              </a:rPr>
              <a:t>-- (1) 익명 블록: 이름 없음, 저장되지 않음</a:t>
            </a:r>
          </a:p>
          <a:p>
            <a:pPr>
              <a:spcBef>
                <a:spcPts val="0"/>
              </a:spcBef>
            </a:pPr>
            <a:r>
              <a:rPr sz="1250" b="0">
                <a:solidFill>
                  <a:srgbClr val="E6E6E6"/>
                </a:solidFill>
                <a:latin typeface="Consolas"/>
              </a:rPr>
              <a:t>[DECLARE]</a:t>
            </a:r>
          </a:p>
          <a:p>
            <a:pPr>
              <a:spcBef>
                <a:spcPts val="0"/>
              </a:spcBef>
            </a:pPr>
            <a:r>
              <a:rPr sz="1250" b="0">
                <a:solidFill>
                  <a:srgbClr val="E6E6E6"/>
                </a:solidFill>
                <a:latin typeface="Consolas"/>
              </a:rPr>
              <a:t>BEGIN</a:t>
            </a:r>
          </a:p>
          <a:p>
            <a:pPr>
              <a:spcBef>
                <a:spcPts val="0"/>
              </a:spcBef>
            </a:pPr>
            <a:r>
              <a:rPr sz="1250" b="0">
                <a:solidFill>
                  <a:srgbClr val="7EC699"/>
                </a:solidFill>
                <a:latin typeface="Consolas"/>
              </a:rPr>
              <a:t>   -- statements</a:t>
            </a:r>
          </a:p>
          <a:p>
            <a:pPr>
              <a:spcBef>
                <a:spcPts val="0"/>
              </a:spcBef>
            </a:pPr>
            <a:r>
              <a:rPr sz="1250" b="0">
                <a:solidFill>
                  <a:srgbClr val="E6E6E6"/>
                </a:solidFill>
                <a:latin typeface="Consolas"/>
              </a:rPr>
              <a:t>[EXCEPTION]</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(2) 프로시저: 이름 있음, DB에 저장, 반환값 없음</a:t>
            </a:r>
          </a:p>
          <a:p>
            <a:pPr>
              <a:spcBef>
                <a:spcPts val="0"/>
              </a:spcBef>
            </a:pPr>
            <a:r>
              <a:rPr sz="1250" b="0">
                <a:solidFill>
                  <a:srgbClr val="E6E6E6"/>
                </a:solidFill>
                <a:latin typeface="Consolas"/>
              </a:rPr>
              <a:t>CREATE OR REPLACE PROCEDURE proc_name IS</a:t>
            </a:r>
          </a:p>
          <a:p>
            <a:pPr>
              <a:spcBef>
                <a:spcPts val="0"/>
              </a:spcBef>
            </a:pPr>
            <a:r>
              <a:rPr sz="1250" b="0">
                <a:solidFill>
                  <a:srgbClr val="E6E6E6"/>
                </a:solidFill>
                <a:latin typeface="Consolas"/>
              </a:rPr>
              <a:t>BEGIN</a:t>
            </a:r>
          </a:p>
          <a:p>
            <a:pPr>
              <a:spcBef>
                <a:spcPts val="0"/>
              </a:spcBef>
            </a:pPr>
            <a:r>
              <a:rPr sz="1250" b="0">
                <a:solidFill>
                  <a:srgbClr val="7EC699"/>
                </a:solidFill>
                <a:latin typeface="Consolas"/>
              </a:rPr>
              <a:t>   -- statements</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(3) 함수: 이름 있음, DB에 저장, 반드시 값을 RETURN</a:t>
            </a:r>
          </a:p>
          <a:p>
            <a:pPr>
              <a:spcBef>
                <a:spcPts val="0"/>
              </a:spcBef>
            </a:pPr>
            <a:r>
              <a:rPr sz="1250" b="0">
                <a:solidFill>
                  <a:srgbClr val="E6E6E6"/>
                </a:solidFill>
                <a:latin typeface="Consolas"/>
              </a:rPr>
              <a:t>CREATE OR REPLACE FUNCTION func_name RETURN NUMBER IS</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RETURN 1;</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개발 환경과 블록 실행 방법</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실행 환경: SQL*Plus · SQL Developer · SQLcl · 각종 IDE</a:t>
            </a:r>
          </a:p>
          <a:p>
            <a:pPr>
              <a:spcBef>
                <a:spcPts val="400"/>
              </a:spcBef>
            </a:pPr>
            <a:r>
              <a:rPr sz="1600" b="0">
                <a:solidFill>
                  <a:srgbClr val="5A6672"/>
                </a:solidFill>
                <a:latin typeface="Malgun Gothic"/>
              </a:rPr>
              <a:t>    –  이 교재의 실습은 SQL*Plus 기준</a:t>
            </a:r>
          </a:p>
          <a:p>
            <a:pPr>
              <a:spcBef>
                <a:spcPts val="1000"/>
              </a:spcBef>
            </a:pPr>
            <a:r>
              <a:rPr sz="1800" b="0">
                <a:solidFill>
                  <a:srgbClr val="202830"/>
                </a:solidFill>
                <a:latin typeface="Malgun Gothic"/>
              </a:rPr>
              <a:t>•  익명 블록 실행: 블록 전체 입력 후 마지막 줄에 슬래시(/) 단독 입력</a:t>
            </a:r>
          </a:p>
          <a:p>
            <a:pPr>
              <a:spcBef>
                <a:spcPts val="400"/>
              </a:spcBef>
            </a:pPr>
            <a:r>
              <a:rPr sz="1600" b="0">
                <a:solidFill>
                  <a:srgbClr val="5A6672"/>
                </a:solidFill>
                <a:latin typeface="Malgun Gothic"/>
              </a:rPr>
              <a:t>    –  슬래시는 SQL*Plus 명령이며 PL/SQL 문법의 일부가 아니다</a:t>
            </a:r>
          </a:p>
          <a:p>
            <a:pPr>
              <a:spcBef>
                <a:spcPts val="1000"/>
              </a:spcBef>
            </a:pPr>
            <a:r>
              <a:rPr sz="1800" b="0">
                <a:solidFill>
                  <a:srgbClr val="202830"/>
                </a:solidFill>
                <a:latin typeface="Malgun Gothic"/>
              </a:rPr>
              <a:t>•  세미콜론 = 문장의 끝 / 슬래시 = 블록 전체의 실행 지시</a:t>
            </a:r>
          </a:p>
          <a:p>
            <a:pPr>
              <a:spcBef>
                <a:spcPts val="1000"/>
              </a:spcBef>
            </a:pPr>
            <a:r>
              <a:rPr sz="1800" b="0">
                <a:solidFill>
                  <a:srgbClr val="202830"/>
                </a:solidFill>
                <a:latin typeface="Malgun Gothic"/>
              </a:rPr>
              <a:t>•  SELECT 같은 단일 SQL 문장은 세미콜론만으로 실행된다</a:t>
            </a:r>
          </a:p>
          <a:p>
            <a:pPr>
              <a:spcBef>
                <a:spcPts val="1000"/>
              </a:spcBef>
            </a:pPr>
            <a:r>
              <a:rPr sz="1800" b="0">
                <a:solidFill>
                  <a:srgbClr val="202830"/>
                </a:solidFill>
                <a:latin typeface="Malgun Gothic"/>
              </a:rPr>
              <a:t>•  스크립트 파일은 @파일명 또는 START 파일명으로 실행</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슬래시는 반드시 줄의 첫 칸에 단독으로 입력한다. 앞에 공백이 있거나 다른 문자가 함께 있으면 SQL*Plus가 실행 명령으로 인식하지 못한다.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SQL*Plus 접속과 첫 블록 실행</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HR 계정 접속 후 SET SERVEROUTPUT ON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 sqlplus hr/hr@localhost:1521/orclpdb</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Connected to:</a:t>
            </a:r>
          </a:p>
          <a:p>
            <a:pPr>
              <a:spcBef>
                <a:spcPts val="0"/>
              </a:spcBef>
            </a:pPr>
            <a:r>
              <a:rPr sz="1250" b="0">
                <a:solidFill>
                  <a:srgbClr val="E6E6E6"/>
                </a:solidFill>
                <a:latin typeface="Consolas"/>
              </a:rPr>
              <a:t>Oracle Database 19c Enterprise Edition Release 19.0.0.0.0 - Production</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SQL&gt; SET SERVEROUTPUT ON</a:t>
            </a:r>
          </a:p>
          <a:p>
            <a:pPr>
              <a:spcBef>
                <a:spcPts val="0"/>
              </a:spcBef>
            </a:pPr>
            <a:r>
              <a:rPr sz="1250" b="0">
                <a:solidFill>
                  <a:srgbClr val="E6E6E6"/>
                </a:solidFill>
                <a:latin typeface="Consolas"/>
              </a:rPr>
              <a:t>SQL&gt; BEGIN</a:t>
            </a:r>
          </a:p>
          <a:p>
            <a:pPr>
              <a:spcBef>
                <a:spcPts val="0"/>
              </a:spcBef>
            </a:pPr>
            <a:r>
              <a:rPr sz="1250" b="0">
                <a:solidFill>
                  <a:srgbClr val="E6E6E6"/>
                </a:solidFill>
                <a:latin typeface="Consolas"/>
              </a:rPr>
              <a:t>  2     DBMS_OUTPUT.PUT_LINE('첫 번째 PL/SQL 블록 실행');</a:t>
            </a:r>
          </a:p>
          <a:p>
            <a:pPr>
              <a:spcBef>
                <a:spcPts val="0"/>
              </a:spcBef>
            </a:pPr>
            <a:r>
              <a:rPr sz="1250" b="0">
                <a:solidFill>
                  <a:srgbClr val="E6E6E6"/>
                </a:solidFill>
                <a:latin typeface="Consolas"/>
              </a:rPr>
              <a:t>  3  END;</a:t>
            </a:r>
          </a:p>
          <a:p>
            <a:pPr>
              <a:spcBef>
                <a:spcPts val="0"/>
              </a:spcBef>
            </a:pPr>
            <a:r>
              <a:rPr sz="1250" b="0">
                <a:solidFill>
                  <a:srgbClr val="E6E6E6"/>
                </a:solidFill>
                <a:latin typeface="Consolas"/>
              </a:rPr>
              <a:t>  4  /</a:t>
            </a:r>
          </a:p>
          <a:p>
            <a:pPr>
              <a:spcBef>
                <a:spcPts val="0"/>
              </a:spcBef>
            </a:pPr>
            <a:r>
              <a:rPr sz="1250" b="0">
                <a:solidFill>
                  <a:srgbClr val="E6E6E6"/>
                </a:solidFill>
                <a:latin typeface="Consolas"/>
              </a:rPr>
              <a:t>첫 번째 PL/SQL 블록 실행</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PL/SQL procedure successfully completed.</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슬래시를 입력하지 않으면 실행되지 않고 줄 번호만 늘어난다</a:t>
            </a:r>
          </a:p>
          <a:p>
            <a:pPr>
              <a:spcBef>
                <a:spcPts val="0"/>
              </a:spcBef>
            </a:pPr>
            <a:r>
              <a:rPr sz="1250" b="0">
                <a:solidFill>
                  <a:srgbClr val="E6E6E6"/>
                </a:solidFill>
                <a:latin typeface="Consolas"/>
              </a:rPr>
              <a:t>SQL&gt; BEGIN</a:t>
            </a:r>
          </a:p>
          <a:p>
            <a:pPr>
              <a:spcBef>
                <a:spcPts val="0"/>
              </a:spcBef>
            </a:pPr>
            <a:r>
              <a:rPr sz="1250" b="0">
                <a:solidFill>
                  <a:srgbClr val="E6E6E6"/>
                </a:solidFill>
                <a:latin typeface="Consolas"/>
              </a:rPr>
              <a:t>  2     NULL;</a:t>
            </a:r>
          </a:p>
          <a:p>
            <a:pPr>
              <a:spcBef>
                <a:spcPts val="0"/>
              </a:spcBef>
            </a:pPr>
            <a:r>
              <a:rPr sz="1250" b="0">
                <a:solidFill>
                  <a:srgbClr val="E6E6E6"/>
                </a:solidFill>
                <a:latin typeface="Consolas"/>
              </a:rPr>
              <a:t>  3  END;</a:t>
            </a:r>
          </a:p>
          <a:p>
            <a:pPr>
              <a:spcBef>
                <a:spcPts val="0"/>
              </a:spcBef>
            </a:pPr>
            <a:r>
              <a:rPr sz="1250" b="0">
                <a:solidFill>
                  <a:srgbClr val="E6E6E6"/>
                </a:solidFill>
                <a:latin typeface="Consolas"/>
              </a:rPr>
              <a:t>  4</a:t>
            </a:r>
          </a:p>
          <a:p>
            <a:pPr>
              <a:spcBef>
                <a:spcPts val="0"/>
              </a:spcBef>
            </a:pPr>
            <a:r>
              <a:rPr sz="1250" b="0">
                <a:solidFill>
                  <a:srgbClr val="E6E6E6"/>
                </a:solidFill>
                <a:latin typeface="Consolas"/>
              </a:rPr>
              <a:t>  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351876" cy="1107996"/>
          </a:xfrm>
          <a:prstGeom prst="rect">
            <a:avLst/>
          </a:prstGeom>
          <a:noFill/>
        </p:spPr>
        <p:txBody>
          <a:bodyPr wrap="square">
            <a:spAutoFit/>
          </a:bodyPr>
          <a:lstStyle/>
          <a:p>
            <a:pPr>
              <a:spcBef>
                <a:spcPts val="0"/>
              </a:spcBef>
            </a:pPr>
            <a:r>
              <a:rPr sz="6600" b="1" dirty="0">
                <a:solidFill>
                  <a:srgbClr val="C0392B"/>
                </a:solidFill>
                <a:latin typeface="Malgun Gothic"/>
              </a:rPr>
              <a:t>1.5~1.7</a:t>
            </a:r>
          </a:p>
        </p:txBody>
      </p:sp>
      <p:sp>
        <p:nvSpPr>
          <p:cNvPr id="3" name="TextBox 2"/>
          <p:cNvSpPr txBox="1"/>
          <p:nvPr/>
        </p:nvSpPr>
        <p:spPr>
          <a:xfrm>
            <a:off x="822960" y="2743200"/>
            <a:ext cx="10515600" cy="1097280"/>
          </a:xfrm>
          <a:prstGeom prst="rect">
            <a:avLst/>
          </a:prstGeom>
          <a:noFill/>
        </p:spPr>
        <p:txBody>
          <a:bodyPr wrap="square">
            <a:spAutoFit/>
          </a:bodyPr>
          <a:lstStyle/>
          <a:p>
            <a:pPr>
              <a:spcBef>
                <a:spcPts val="0"/>
              </a:spcBef>
            </a:pPr>
            <a:r>
              <a:rPr sz="3400" b="1">
                <a:solidFill>
                  <a:srgbClr val="FFFFFF"/>
                </a:solidFill>
                <a:latin typeface="Malgun Gothic"/>
              </a:rPr>
              <a:t>어휘 단위 · 변수 · 상수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Bef>
                <a:spcPts val="600"/>
              </a:spcBef>
            </a:pPr>
            <a:r>
              <a:rPr sz="1600" b="0">
                <a:solidFill>
                  <a:srgbClr val="C5CED6"/>
                </a:solidFill>
                <a:latin typeface="Malgun Gothic"/>
              </a:rPr>
              <a:t>•  식별자 · 리터럴 · 주석과 명명 규칙</a:t>
            </a:r>
          </a:p>
          <a:p>
            <a:pPr>
              <a:spcBef>
                <a:spcPts val="600"/>
              </a:spcBef>
            </a:pPr>
            <a:r>
              <a:rPr sz="1600" b="0">
                <a:solidFill>
                  <a:srgbClr val="C5CED6"/>
                </a:solidFill>
                <a:latin typeface="Malgun Gothic"/>
              </a:rPr>
              <a:t>•  변수 선언과 초기화 · 스칼라 데이터 타입</a:t>
            </a:r>
          </a:p>
          <a:p>
            <a:pPr>
              <a:spcBef>
                <a:spcPts val="600"/>
              </a:spcBef>
            </a:pPr>
            <a:r>
              <a:rPr sz="1600" b="0">
                <a:solidFill>
                  <a:srgbClr val="C5CED6"/>
                </a:solidFill>
                <a:latin typeface="Malgun Gothic"/>
              </a:rPr>
              <a:t>•  CONSTANT 상수와 매직 넘버 제거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어휘 단위와 리터럴</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어휘 단위(Lexical Unit): 식별자 · 구분자 · 리터럴 · 주석</a:t>
            </a:r>
          </a:p>
          <a:p>
            <a:pPr>
              <a:spcBef>
                <a:spcPts val="1000"/>
              </a:spcBef>
            </a:pPr>
            <a:r>
              <a:rPr sz="1800" b="0">
                <a:solidFill>
                  <a:srgbClr val="202830"/>
                </a:solidFill>
                <a:latin typeface="Malgun Gothic"/>
              </a:rPr>
              <a:t>•  식별자: 문자로 시작, 최대 128바이트(12.2 이상)</a:t>
            </a:r>
          </a:p>
          <a:p>
            <a:pPr>
              <a:spcBef>
                <a:spcPts val="400"/>
              </a:spcBef>
            </a:pPr>
            <a:r>
              <a:rPr sz="1600" b="0">
                <a:solidFill>
                  <a:srgbClr val="5A6672"/>
                </a:solidFill>
                <a:latin typeface="Malgun Gothic"/>
              </a:rPr>
              <a:t>    –  문자·숫자·$·_·# 사용 가능, 공백 불가, 예약어 사용 불가</a:t>
            </a:r>
          </a:p>
          <a:p>
            <a:pPr>
              <a:spcBef>
                <a:spcPts val="1000"/>
              </a:spcBef>
            </a:pPr>
            <a:r>
              <a:rPr sz="1800" b="0">
                <a:solidFill>
                  <a:srgbClr val="202830"/>
                </a:solidFill>
                <a:latin typeface="Malgun Gothic"/>
              </a:rPr>
              <a:t>•  문자 리터럴: 작은따옴표로 감싸며 대소문자를 구분한다</a:t>
            </a:r>
          </a:p>
          <a:p>
            <a:pPr>
              <a:spcBef>
                <a:spcPts val="400"/>
              </a:spcBef>
            </a:pPr>
            <a:r>
              <a:rPr sz="1600" b="0">
                <a:solidFill>
                  <a:srgbClr val="5A6672"/>
                </a:solidFill>
                <a:latin typeface="Malgun Gothic"/>
              </a:rPr>
              <a:t>    –  문자열 내 작은따옴표는 두 번 연속 입력하거나 q' 연산자 사용</a:t>
            </a:r>
          </a:p>
          <a:p>
            <a:pPr>
              <a:spcBef>
                <a:spcPts val="1000"/>
              </a:spcBef>
            </a:pPr>
            <a:r>
              <a:rPr sz="1800" b="0">
                <a:solidFill>
                  <a:srgbClr val="202830"/>
                </a:solidFill>
                <a:latin typeface="Malgun Gothic"/>
              </a:rPr>
              <a:t>•  숫자 리터럴은 따옴표 없이, 부울 리터럴은 TRUE·FALSE·NULL</a:t>
            </a:r>
          </a:p>
          <a:p>
            <a:pPr>
              <a:spcBef>
                <a:spcPts val="1000"/>
              </a:spcBef>
            </a:pPr>
            <a:r>
              <a:rPr sz="1800" b="0">
                <a:solidFill>
                  <a:srgbClr val="202830"/>
                </a:solidFill>
                <a:latin typeface="Malgun Gothic"/>
              </a:rPr>
              <a:t>•  날짜는 DATE '2019-04-15' 또는 TO_DATE로 명시</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NLS_DATE_FORMAT에 의존하는 암시적 날짜 변환은 개발 환경에서는 동작하다가 운영 환경에서 ORA-01861로 실패하는 대표적인 지뢰다.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리터럴과 주석 작성 예</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작은따옴표 처리와 q' 대체 인용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DECLARE</a:t>
            </a:r>
          </a:p>
          <a:p>
            <a:pPr>
              <a:spcBef>
                <a:spcPts val="0"/>
              </a:spcBef>
            </a:pPr>
            <a:r>
              <a:rPr sz="1250" b="0">
                <a:solidFill>
                  <a:srgbClr val="E6E6E6"/>
                </a:solidFill>
                <a:latin typeface="Consolas"/>
              </a:rPr>
              <a:t>   v_name      VARCHAR2(30) := 'King';           -- 문자 리터럴(대소문자 구분)</a:t>
            </a:r>
          </a:p>
          <a:p>
            <a:pPr>
              <a:spcBef>
                <a:spcPts val="0"/>
              </a:spcBef>
            </a:pPr>
            <a:r>
              <a:rPr sz="1250" b="0">
                <a:solidFill>
                  <a:srgbClr val="E6E6E6"/>
                </a:solidFill>
                <a:latin typeface="Consolas"/>
              </a:rPr>
              <a:t>   v_quote     VARCHAR2(50) := 'It''s Oracle';   -- 작은따옴표 두 번</a:t>
            </a:r>
          </a:p>
          <a:p>
            <a:pPr>
              <a:spcBef>
                <a:spcPts val="0"/>
              </a:spcBef>
            </a:pPr>
            <a:r>
              <a:rPr sz="1250" b="0">
                <a:solidFill>
                  <a:srgbClr val="E6E6E6"/>
                </a:solidFill>
                <a:latin typeface="Consolas"/>
              </a:rPr>
              <a:t>   v_quote2    VARCHAR2(50) := q'[It's Oracle]'; -- 대체 인용 연산자</a:t>
            </a:r>
          </a:p>
          <a:p>
            <a:pPr>
              <a:spcBef>
                <a:spcPts val="0"/>
              </a:spcBef>
            </a:pPr>
            <a:r>
              <a:rPr sz="1250" b="0">
                <a:solidFill>
                  <a:srgbClr val="E6E6E6"/>
                </a:solidFill>
                <a:latin typeface="Consolas"/>
              </a:rPr>
              <a:t>   v_amount    NUMBER(9,2)  := 24000.50;         -- 숫자 리터럴</a:t>
            </a:r>
          </a:p>
          <a:p>
            <a:pPr>
              <a:spcBef>
                <a:spcPts val="0"/>
              </a:spcBef>
            </a:pPr>
            <a:r>
              <a:rPr sz="1250" b="0">
                <a:solidFill>
                  <a:srgbClr val="E6E6E6"/>
                </a:solidFill>
                <a:latin typeface="Consolas"/>
              </a:rPr>
              <a:t>   v_hired     DATE         := DATE '2019-04-15';-- ANSI 날짜 리터럴</a:t>
            </a:r>
          </a:p>
          <a:p>
            <a:pPr>
              <a:spcBef>
                <a:spcPts val="0"/>
              </a:spcBef>
            </a:pPr>
            <a:r>
              <a:rPr sz="1250" b="0">
                <a:solidFill>
                  <a:srgbClr val="E6E6E6"/>
                </a:solidFill>
                <a:latin typeface="Consolas"/>
              </a:rPr>
              <a:t>   v_flag      BOOLEAN      := TRUE;             -- 부울 리터럴</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 여러 줄 주석:</a:t>
            </a:r>
          </a:p>
          <a:p>
            <a:pPr>
              <a:spcBef>
                <a:spcPts val="0"/>
              </a:spcBef>
            </a:pPr>
            <a:r>
              <a:rPr sz="1250" b="0">
                <a:solidFill>
                  <a:srgbClr val="E6E6E6"/>
                </a:solidFill>
                <a:latin typeface="Consolas"/>
              </a:rPr>
              <a:t>      왜 이렇게 처리하는지를 남긴다 */</a:t>
            </a:r>
          </a:p>
          <a:p>
            <a:pPr>
              <a:spcBef>
                <a:spcPts val="0"/>
              </a:spcBef>
            </a:pPr>
            <a:r>
              <a:rPr sz="1250" b="0">
                <a:solidFill>
                  <a:srgbClr val="E6E6E6"/>
                </a:solidFill>
                <a:latin typeface="Consolas"/>
              </a:rPr>
              <a:t>   DBMS_OUTPUT.PUT_LINE(v_name || ' / ' || v_quote);</a:t>
            </a:r>
          </a:p>
          <a:p>
            <a:pPr>
              <a:spcBef>
                <a:spcPts val="0"/>
              </a:spcBef>
            </a:pPr>
            <a:r>
              <a:rPr sz="1250" b="0">
                <a:solidFill>
                  <a:srgbClr val="E6E6E6"/>
                </a:solidFill>
                <a:latin typeface="Consolas"/>
              </a:rPr>
              <a:t>   DBMS_OUTPUT.PUT_LINE(v_quote2 || ' / ' || TO_CHAR(v_hired, 'YYYY-MM-DD'));</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King / It's Oracle</a:t>
            </a:r>
          </a:p>
          <a:p>
            <a:pPr>
              <a:spcBef>
                <a:spcPts val="0"/>
              </a:spcBef>
            </a:pPr>
            <a:r>
              <a:rPr sz="1250" b="0">
                <a:solidFill>
                  <a:srgbClr val="E6E6E6"/>
                </a:solidFill>
                <a:latin typeface="Consolas"/>
              </a:rPr>
              <a:t>It's Oracle / 2019-04-15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코딩 규칙과 명명 규칙</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키워드는 대문자, 사용자 정의 식별자는 소문자로 작성</a:t>
            </a:r>
          </a:p>
          <a:p>
            <a:pPr>
              <a:spcBef>
                <a:spcPts val="1000"/>
              </a:spcBef>
            </a:pPr>
            <a:r>
              <a:rPr sz="1800" b="0">
                <a:solidFill>
                  <a:srgbClr val="202830"/>
                </a:solidFill>
                <a:latin typeface="Malgun Gothic"/>
              </a:rPr>
              <a:t>•  한 줄에 한 문장, 절 단위로 들여쓰기를 맞춘다</a:t>
            </a:r>
          </a:p>
          <a:p>
            <a:pPr>
              <a:spcBef>
                <a:spcPts val="1000"/>
              </a:spcBef>
            </a:pPr>
            <a:r>
              <a:rPr sz="1800" b="0">
                <a:solidFill>
                  <a:srgbClr val="202830"/>
                </a:solidFill>
                <a:latin typeface="Malgun Gothic"/>
              </a:rPr>
              <a:t>•  본 교재 표준 명명 규칙</a:t>
            </a:r>
          </a:p>
          <a:p>
            <a:pPr>
              <a:spcBef>
                <a:spcPts val="400"/>
              </a:spcBef>
            </a:pPr>
            <a:r>
              <a:rPr sz="1600" b="0">
                <a:solidFill>
                  <a:srgbClr val="5A6672"/>
                </a:solidFill>
                <a:latin typeface="Malgun Gothic"/>
              </a:rPr>
              <a:t>    –  변수: v_변수명 — v_salary, v_last_name</a:t>
            </a:r>
          </a:p>
          <a:p>
            <a:pPr>
              <a:spcBef>
                <a:spcPts val="400"/>
              </a:spcBef>
            </a:pPr>
            <a:r>
              <a:rPr sz="1600" b="0">
                <a:solidFill>
                  <a:srgbClr val="5A6672"/>
                </a:solidFill>
                <a:latin typeface="Malgun Gothic"/>
              </a:rPr>
              <a:t>    –  상수: c_상수명 — c_tax_rate</a:t>
            </a:r>
          </a:p>
          <a:p>
            <a:pPr>
              <a:spcBef>
                <a:spcPts val="400"/>
              </a:spcBef>
            </a:pPr>
            <a:r>
              <a:rPr sz="1600" b="0">
                <a:solidFill>
                  <a:srgbClr val="5A6672"/>
                </a:solidFill>
                <a:latin typeface="Malgun Gothic"/>
              </a:rPr>
              <a:t>    –  레코드: rec_이름 — rec_emp</a:t>
            </a:r>
          </a:p>
          <a:p>
            <a:pPr>
              <a:spcBef>
                <a:spcPts val="400"/>
              </a:spcBef>
            </a:pPr>
            <a:r>
              <a:rPr sz="1600" b="0">
                <a:solidFill>
                  <a:srgbClr val="5A6672"/>
                </a:solidFill>
                <a:latin typeface="Malgun Gothic"/>
              </a:rPr>
              <a:t>    –  커서: cur_이름 / 예외: e_이름 / 파라미터: p_이름</a:t>
            </a:r>
          </a:p>
          <a:p>
            <a:pPr>
              <a:spcBef>
                <a:spcPts val="1000"/>
              </a:spcBef>
            </a:pPr>
            <a:r>
              <a:rPr sz="1800" b="0">
                <a:solidFill>
                  <a:srgbClr val="202830"/>
                </a:solidFill>
                <a:latin typeface="Malgun Gothic"/>
              </a:rPr>
              <a:t>•  변수 이름을 컬럼 이름과 같게 짓지 않는다 (이름 모호성 사고 예방)</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rPr>
              <a:t>Best Practice: </a:t>
            </a:r>
            <a:r>
              <a:rPr sz="1250" b="0">
                <a:solidFill>
                  <a:srgbClr val="202830"/>
                </a:solidFill>
                <a:latin typeface="Malgun Gothic"/>
              </a:rPr>
              <a:t>팀 표준이 이미 있다면 그것을 따르되, 없다면 v_/c_/rec_/cur_/e_/p_ 접두어 규칙을 그대로 채택하는 것이 안전하다.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변수 선언과 초기화</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문법: 변수명 [CONSTANT] 데이터타입 [NOT NULL] [:= 값 | DEFAULT 값];</a:t>
            </a:r>
          </a:p>
          <a:p>
            <a:pPr>
              <a:spcBef>
                <a:spcPts val="1000"/>
              </a:spcBef>
            </a:pPr>
            <a:r>
              <a:rPr sz="1800" b="0">
                <a:solidFill>
                  <a:srgbClr val="202830"/>
                </a:solidFill>
                <a:latin typeface="Malgun Gothic"/>
              </a:rPr>
              <a:t>•  한 줄에 하나씩 선언 — 콤마로 여러 개를 나열하는 문법은 없다</a:t>
            </a:r>
          </a:p>
          <a:p>
            <a:pPr>
              <a:spcBef>
                <a:spcPts val="1000"/>
              </a:spcBef>
            </a:pPr>
            <a:r>
              <a:rPr sz="1800" b="0">
                <a:solidFill>
                  <a:srgbClr val="202830"/>
                </a:solidFill>
                <a:latin typeface="Malgun Gothic"/>
              </a:rPr>
              <a:t>•  초기값을 주지 않으면 변수는 NULL로 시작한다</a:t>
            </a:r>
          </a:p>
          <a:p>
            <a:pPr>
              <a:spcBef>
                <a:spcPts val="400"/>
              </a:spcBef>
            </a:pPr>
            <a:r>
              <a:rPr sz="1600" b="0">
                <a:solidFill>
                  <a:srgbClr val="5A6672"/>
                </a:solidFill>
                <a:latin typeface="Malgun Gothic"/>
              </a:rPr>
              <a:t>    –  숫자 변수도 0이 아니라 NULL이다</a:t>
            </a:r>
          </a:p>
          <a:p>
            <a:pPr>
              <a:spcBef>
                <a:spcPts val="400"/>
              </a:spcBef>
            </a:pPr>
            <a:r>
              <a:rPr sz="1600" b="0">
                <a:solidFill>
                  <a:srgbClr val="5A6672"/>
                </a:solidFill>
                <a:latin typeface="Malgun Gothic"/>
              </a:rPr>
              <a:t>    –  NULL 변수에 산술 연산을 하면 결과도 NULL</a:t>
            </a:r>
          </a:p>
          <a:p>
            <a:pPr>
              <a:spcBef>
                <a:spcPts val="1000"/>
              </a:spcBef>
            </a:pPr>
            <a:r>
              <a:rPr sz="1800" b="0">
                <a:solidFill>
                  <a:srgbClr val="202830"/>
                </a:solidFill>
                <a:latin typeface="Malgun Gothic"/>
              </a:rPr>
              <a:t>•  NOT NULL 변수는 선언 시 반드시 초기값이 필요하고 이후에도 NULL 불가</a:t>
            </a:r>
          </a:p>
          <a:p>
            <a:pPr>
              <a:spcBef>
                <a:spcPts val="400"/>
              </a:spcBef>
            </a:pPr>
            <a:r>
              <a:rPr sz="1600" b="0">
                <a:solidFill>
                  <a:srgbClr val="5A6672"/>
                </a:solidFill>
                <a:latin typeface="Malgun Gothic"/>
              </a:rPr>
              <a:t>    –  NULL 할당 시 ORA-06502 계열 오류 발생</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변수 선언 예제</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다양한 타입과 초기화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DECLARE</a:t>
            </a:r>
          </a:p>
          <a:p>
            <a:pPr>
              <a:spcBef>
                <a:spcPts val="0"/>
              </a:spcBef>
            </a:pPr>
            <a:r>
              <a:rPr sz="1250" b="0">
                <a:solidFill>
                  <a:srgbClr val="E6E6E6"/>
                </a:solidFill>
                <a:latin typeface="Consolas"/>
              </a:rPr>
              <a:t>   v_emp_id      NUMBER(6);                    -- 초기값 없음 → NULL</a:t>
            </a:r>
          </a:p>
          <a:p>
            <a:pPr>
              <a:spcBef>
                <a:spcPts val="0"/>
              </a:spcBef>
            </a:pPr>
            <a:r>
              <a:rPr sz="1250" b="0">
                <a:solidFill>
                  <a:srgbClr val="E6E6E6"/>
                </a:solidFill>
                <a:latin typeface="Consolas"/>
              </a:rPr>
              <a:t>   v_last_name   VARCHAR2(25);                 -- 초기값 없음 → NULL</a:t>
            </a:r>
          </a:p>
          <a:p>
            <a:pPr>
              <a:spcBef>
                <a:spcPts val="0"/>
              </a:spcBef>
            </a:pPr>
            <a:r>
              <a:rPr sz="1250" b="0">
                <a:solidFill>
                  <a:srgbClr val="E6E6E6"/>
                </a:solidFill>
                <a:latin typeface="Consolas"/>
              </a:rPr>
              <a:t>   v_salary      NUMBER(8,2) := 0;             -- := 로 초기화</a:t>
            </a:r>
          </a:p>
          <a:p>
            <a:pPr>
              <a:spcBef>
                <a:spcPts val="0"/>
              </a:spcBef>
            </a:pPr>
            <a:r>
              <a:rPr sz="1250" b="0">
                <a:solidFill>
                  <a:srgbClr val="E6E6E6"/>
                </a:solidFill>
                <a:latin typeface="Consolas"/>
              </a:rPr>
              <a:t>   v_hire_date   DATE DEFAULT SYSDATE;         -- DEFAULT 로 초기화</a:t>
            </a:r>
          </a:p>
          <a:p>
            <a:pPr>
              <a:spcBef>
                <a:spcPts val="0"/>
              </a:spcBef>
            </a:pPr>
            <a:r>
              <a:rPr sz="1250" b="0">
                <a:solidFill>
                  <a:srgbClr val="E6E6E6"/>
                </a:solidFill>
                <a:latin typeface="Consolas"/>
              </a:rPr>
              <a:t>   v_dept_id     NUMBER(4) NOT NULL := 50;     -- NOT NULL은 초기값 필수</a:t>
            </a:r>
          </a:p>
          <a:p>
            <a:pPr>
              <a:spcBef>
                <a:spcPts val="0"/>
              </a:spcBef>
            </a:pPr>
            <a:r>
              <a:rPr sz="1250" b="0">
                <a:solidFill>
                  <a:srgbClr val="E6E6E6"/>
                </a:solidFill>
                <a:latin typeface="Consolas"/>
              </a:rPr>
              <a:t>   v_is_manager  BOOLEAN := FALSE;             -- PL/SQL 전용 타입</a:t>
            </a:r>
          </a:p>
          <a:p>
            <a:pPr>
              <a:spcBef>
                <a:spcPts val="0"/>
              </a:spcBef>
            </a:pPr>
            <a:r>
              <a:rPr sz="1250" b="0">
                <a:solidFill>
                  <a:srgbClr val="E6E6E6"/>
                </a:solidFill>
                <a:latin typeface="Consolas"/>
              </a:rPr>
              <a:t>   v_total       NUMBER;                       -- 누적용 변수(초기화 누락 주의)</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v_total := v_total + 100;                   -- NULL + 100 = NULL</a:t>
            </a:r>
          </a:p>
          <a:p>
            <a:pPr>
              <a:spcBef>
                <a:spcPts val="0"/>
              </a:spcBef>
            </a:pPr>
            <a:r>
              <a:rPr sz="1250" b="0">
                <a:solidFill>
                  <a:srgbClr val="E6E6E6"/>
                </a:solidFill>
                <a:latin typeface="Consolas"/>
              </a:rPr>
              <a:t>   DBMS_OUTPUT.PUT_LINE('v_total = ' || NVL(TO_CHAR(v_total), 'NULL'));</a:t>
            </a:r>
          </a:p>
          <a:p>
            <a:pPr>
              <a:spcBef>
                <a:spcPts val="0"/>
              </a:spcBef>
            </a:pPr>
            <a:r>
              <a:rPr sz="1250" b="0">
                <a:solidFill>
                  <a:srgbClr val="E6E6E6"/>
                </a:solidFill>
                <a:latin typeface="Consolas"/>
              </a:rPr>
              <a:t>   v_total := NVL(v_total, 0) + 100;           -- 수정: NVL로 방어</a:t>
            </a:r>
          </a:p>
          <a:p>
            <a:pPr>
              <a:spcBef>
                <a:spcPts val="0"/>
              </a:spcBef>
            </a:pPr>
            <a:r>
              <a:rPr sz="1250" b="0">
                <a:solidFill>
                  <a:srgbClr val="E6E6E6"/>
                </a:solidFill>
                <a:latin typeface="Consolas"/>
              </a:rPr>
              <a:t>   DBMS_OUTPUT.PUT_LINE('v_total = ' || v_total);</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v_total = NULL</a:t>
            </a:r>
          </a:p>
          <a:p>
            <a:pPr>
              <a:spcBef>
                <a:spcPts val="0"/>
              </a:spcBef>
            </a:pPr>
            <a:r>
              <a:rPr sz="1250" b="0">
                <a:solidFill>
                  <a:srgbClr val="E6E6E6"/>
                </a:solidFill>
                <a:latin typeface="Consolas"/>
              </a:rPr>
              <a:t>v_total = 100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스칼라 데이터 타입</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스칼라 타입 = 내부 구성 요소가 없는 단일 값 타입</a:t>
            </a:r>
          </a:p>
          <a:p>
            <a:pPr>
              <a:spcBef>
                <a:spcPts val="1000"/>
              </a:spcBef>
            </a:pPr>
            <a:r>
              <a:rPr sz="1800" b="0">
                <a:solidFill>
                  <a:srgbClr val="202830"/>
                </a:solidFill>
                <a:latin typeface="Malgun Gothic"/>
              </a:rPr>
              <a:t>•  숫자: NUMBER[(p,s)] · PLS_INTEGER · BINARY_FLOAT · BINARY_DOUBLE</a:t>
            </a:r>
          </a:p>
          <a:p>
            <a:pPr>
              <a:spcBef>
                <a:spcPts val="1000"/>
              </a:spcBef>
            </a:pPr>
            <a:r>
              <a:rPr sz="1800" b="0">
                <a:solidFill>
                  <a:srgbClr val="202830"/>
                </a:solidFill>
                <a:latin typeface="Malgun Gothic"/>
              </a:rPr>
              <a:t>•  문자: VARCHAR2(n) · CHAR(n) · CLOB · NCHAR / NVARCHAR2</a:t>
            </a:r>
          </a:p>
          <a:p>
            <a:pPr>
              <a:spcBef>
                <a:spcPts val="1000"/>
              </a:spcBef>
            </a:pPr>
            <a:r>
              <a:rPr sz="1800" b="0">
                <a:solidFill>
                  <a:srgbClr val="202830"/>
                </a:solidFill>
                <a:latin typeface="Malgun Gothic"/>
              </a:rPr>
              <a:t>•  날짜: DATE · TIMESTAMP · INTERVAL</a:t>
            </a:r>
          </a:p>
          <a:p>
            <a:pPr>
              <a:spcBef>
                <a:spcPts val="1000"/>
              </a:spcBef>
            </a:pPr>
            <a:r>
              <a:rPr sz="1800" b="0">
                <a:solidFill>
                  <a:srgbClr val="202830"/>
                </a:solidFill>
                <a:latin typeface="Malgun Gothic"/>
              </a:rPr>
              <a:t>•  부울: BOOLEAN (TRUE / FALSE / NULL)</a:t>
            </a:r>
          </a:p>
          <a:p>
            <a:pPr>
              <a:spcBef>
                <a:spcPts val="1000"/>
              </a:spcBef>
            </a:pPr>
            <a:r>
              <a:rPr sz="1800" b="0">
                <a:solidFill>
                  <a:srgbClr val="202830"/>
                </a:solidFill>
                <a:latin typeface="Malgun Gothic"/>
              </a:rPr>
              <a:t>•  서브타입: INTEGER, POSITIVE 등은 NUMBER의 제약된 형태</a:t>
            </a:r>
          </a:p>
          <a:p>
            <a:pPr>
              <a:spcBef>
                <a:spcPts val="1000"/>
              </a:spcBef>
            </a:pPr>
            <a:r>
              <a:rPr sz="1800" b="0">
                <a:solidFill>
                  <a:srgbClr val="202830"/>
                </a:solidFill>
                <a:latin typeface="Malgun Gothic"/>
              </a:rPr>
              <a:t>•  PL/SQL VARCHAR2는 최대 32,767바이트 — 테이블 컬럼은 기본 4,000바이트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r>
              <a:rPr sz="1250" b="0">
                <a:solidFill>
                  <a:srgbClr val="202830"/>
                </a:solidFill>
                <a:latin typeface="Malgun Gothic"/>
              </a:rPr>
              <a:t>BOOLEAN은 SQL 문장에 등장할 수 없다. DBMS_OUTPUT.PUT_LINE으로도 직접 출력할 수 없으므로 IF로 분기해 문자열로 바꿔 출력한다.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할당과 데이터 타입 변환</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값을 할당하는 세 가지 방법</a:t>
            </a:r>
          </a:p>
          <a:p>
            <a:pPr>
              <a:spcBef>
                <a:spcPts val="400"/>
              </a:spcBef>
            </a:pPr>
            <a:r>
              <a:rPr sz="1600" b="0">
                <a:solidFill>
                  <a:srgbClr val="5A6672"/>
                </a:solidFill>
                <a:latin typeface="Malgun Gothic"/>
              </a:rPr>
              <a:t>    –  할당 연산자 := 로 직접 대입</a:t>
            </a:r>
          </a:p>
          <a:p>
            <a:pPr>
              <a:spcBef>
                <a:spcPts val="400"/>
              </a:spcBef>
            </a:pPr>
            <a:r>
              <a:rPr sz="1600" b="0">
                <a:solidFill>
                  <a:srgbClr val="5A6672"/>
                </a:solidFill>
                <a:latin typeface="Malgun Gothic"/>
              </a:rPr>
              <a:t>    –  SELECT … INTO 로 데이터베이스에서 읽어 오기</a:t>
            </a:r>
          </a:p>
          <a:p>
            <a:pPr>
              <a:spcBef>
                <a:spcPts val="400"/>
              </a:spcBef>
            </a:pPr>
            <a:r>
              <a:rPr sz="1600" b="0">
                <a:solidFill>
                  <a:srgbClr val="5A6672"/>
                </a:solidFill>
                <a:latin typeface="Malgun Gothic"/>
              </a:rPr>
              <a:t>    –  서브프로그램의 OUT 파라미터로 받기</a:t>
            </a:r>
          </a:p>
          <a:p>
            <a:pPr>
              <a:spcBef>
                <a:spcPts val="1000"/>
              </a:spcBef>
            </a:pPr>
            <a:r>
              <a:rPr sz="1800" b="0">
                <a:solidFill>
                  <a:srgbClr val="202830"/>
                </a:solidFill>
                <a:latin typeface="Malgun Gothic"/>
              </a:rPr>
              <a:t>•  타입이 다르면 Oracle이 암시적 변환(implicit conversion)을 시도</a:t>
            </a:r>
          </a:p>
          <a:p>
            <a:pPr>
              <a:spcBef>
                <a:spcPts val="400"/>
              </a:spcBef>
            </a:pPr>
            <a:r>
              <a:rPr sz="1600" b="0">
                <a:solidFill>
                  <a:srgbClr val="5A6672"/>
                </a:solidFill>
                <a:latin typeface="Malgun Gothic"/>
              </a:rPr>
              <a:t>    –  변환 불가 시 ORA-06502 (VALUE_ERROR) 발생</a:t>
            </a:r>
          </a:p>
          <a:p>
            <a:pPr>
              <a:spcBef>
                <a:spcPts val="1000"/>
              </a:spcBef>
            </a:pPr>
            <a:r>
              <a:rPr sz="1800" b="0">
                <a:solidFill>
                  <a:srgbClr val="202830"/>
                </a:solidFill>
                <a:latin typeface="Malgun Gothic"/>
              </a:rPr>
              <a:t>•  TO_CHAR · TO_NUMBER · TO_DATE 명시적 변환을 사용하는 것이 안전</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5CA8"/>
                </a:solidFill>
                <a:latin typeface="Malgun Gothic"/>
              </a:rPr>
              <a:t>실무 시나리오: </a:t>
            </a:r>
            <a:r>
              <a:rPr sz="1250" b="0">
                <a:solidFill>
                  <a:srgbClr val="202830"/>
                </a:solidFill>
                <a:latin typeface="Malgun Gothic"/>
              </a:rPr>
              <a:t>숫자로 보이는 문자열 컬럼을 그대로 비교하면 '10' &lt; '9'가 참이 된다. TO_NUMBER로 명시 변환하거나 애초에 컬럼 타입을 바로잡아야 한다.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상수(CONSTANT) 선언</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데이터 타입 앞에 CONSTANT 키워드를 붙인다</a:t>
            </a:r>
          </a:p>
          <a:p>
            <a:pPr>
              <a:spcBef>
                <a:spcPts val="1000"/>
              </a:spcBef>
            </a:pPr>
            <a:r>
              <a:rPr sz="1800" b="0">
                <a:solidFill>
                  <a:srgbClr val="202830"/>
                </a:solidFill>
                <a:latin typeface="Malgun Gothic"/>
              </a:rPr>
              <a:t>•  선언 시점에 반드시 초기값을 지정해야 한다</a:t>
            </a:r>
          </a:p>
          <a:p>
            <a:pPr>
              <a:spcBef>
                <a:spcPts val="400"/>
              </a:spcBef>
            </a:pPr>
            <a:r>
              <a:rPr sz="1600" b="0">
                <a:solidFill>
                  <a:srgbClr val="5A6672"/>
                </a:solidFill>
                <a:latin typeface="Malgun Gothic"/>
              </a:rPr>
              <a:t>    –  초기값이 없으면 PLS-00322로 컴파일 실패</a:t>
            </a:r>
          </a:p>
          <a:p>
            <a:pPr>
              <a:spcBef>
                <a:spcPts val="1000"/>
              </a:spcBef>
            </a:pPr>
            <a:r>
              <a:rPr sz="1800" b="0">
                <a:solidFill>
                  <a:srgbClr val="202830"/>
                </a:solidFill>
                <a:latin typeface="Malgun Gothic"/>
              </a:rPr>
              <a:t>•  상수에 재할당을 시도하면 컴파일 시점에 PLS-00363 발생</a:t>
            </a:r>
          </a:p>
          <a:p>
            <a:pPr>
              <a:spcBef>
                <a:spcPts val="400"/>
              </a:spcBef>
            </a:pPr>
            <a:r>
              <a:rPr sz="1600" b="0">
                <a:solidFill>
                  <a:srgbClr val="5A6672"/>
                </a:solidFill>
                <a:latin typeface="Malgun Gothic"/>
              </a:rPr>
              <a:t>    –  실행 전에 오류가 잡히므로 안전하다</a:t>
            </a:r>
          </a:p>
          <a:p>
            <a:pPr>
              <a:spcBef>
                <a:spcPts val="1000"/>
              </a:spcBef>
            </a:pPr>
            <a:r>
              <a:rPr sz="1800" b="0">
                <a:solidFill>
                  <a:srgbClr val="202830"/>
                </a:solidFill>
                <a:latin typeface="Malgun Gothic"/>
              </a:rPr>
              <a:t>•  매직 넘버(magic number)를 이름 있는 상수로 대체</a:t>
            </a:r>
          </a:p>
          <a:p>
            <a:pPr>
              <a:spcBef>
                <a:spcPts val="400"/>
              </a:spcBef>
            </a:pPr>
            <a:r>
              <a:rPr sz="1600" b="0">
                <a:solidFill>
                  <a:srgbClr val="5A6672"/>
                </a:solidFill>
                <a:latin typeface="Malgun Gothic"/>
              </a:rPr>
              <a:t>    –  정책 변경 시 한 곳만 수정, 값의 의미가 코드에 드러난다</a:t>
            </a:r>
          </a:p>
          <a:p>
            <a:pPr>
              <a:spcBef>
                <a:spcPts val="1000"/>
              </a:spcBef>
            </a:pPr>
            <a:r>
              <a:rPr sz="1800" b="0">
                <a:solidFill>
                  <a:srgbClr val="202830"/>
                </a:solidFill>
                <a:latin typeface="Malgun Gothic"/>
              </a:rPr>
              <a:t>•  여러 프로그램이 공유하는 상수는 패키지 명세부에 선언 (5장)</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상수 선언과 재할당 오류</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PLS-00363은 컴파일 시점에 잡힌다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DECLARE</a:t>
            </a:r>
          </a:p>
          <a:p>
            <a:pPr>
              <a:spcBef>
                <a:spcPts val="0"/>
              </a:spcBef>
            </a:pPr>
            <a:r>
              <a:rPr sz="1250" b="0">
                <a:solidFill>
                  <a:srgbClr val="E6E6E6"/>
                </a:solidFill>
                <a:latin typeface="Consolas"/>
              </a:rPr>
              <a:t>   c_tax_rate    CONSTANT NUMBER(4,3) := 0.085;   -- 세율</a:t>
            </a:r>
          </a:p>
          <a:p>
            <a:pPr>
              <a:spcBef>
                <a:spcPts val="0"/>
              </a:spcBef>
            </a:pPr>
            <a:r>
              <a:rPr sz="1250" b="0">
                <a:solidFill>
                  <a:srgbClr val="E6E6E6"/>
                </a:solidFill>
                <a:latin typeface="Consolas"/>
              </a:rPr>
              <a:t>   c_min_salary  CONSTANT NUMBER(8,2) := 2000;    -- 최저 급여</a:t>
            </a:r>
          </a:p>
          <a:p>
            <a:pPr>
              <a:spcBef>
                <a:spcPts val="0"/>
              </a:spcBef>
            </a:pPr>
            <a:r>
              <a:rPr sz="1250" b="0">
                <a:solidFill>
                  <a:srgbClr val="E6E6E6"/>
                </a:solidFill>
                <a:latin typeface="Consolas"/>
              </a:rPr>
              <a:t>   c_company     CONSTANT VARCHAR2(30) := 'ORACLE KOREA';</a:t>
            </a:r>
          </a:p>
          <a:p>
            <a:pPr>
              <a:spcBef>
                <a:spcPts val="0"/>
              </a:spcBef>
            </a:pPr>
            <a:r>
              <a:rPr sz="1250" b="0">
                <a:solidFill>
                  <a:srgbClr val="E6E6E6"/>
                </a:solidFill>
                <a:latin typeface="Consolas"/>
              </a:rPr>
              <a:t>   v_salary      NUMBER(8,2) := 12000;</a:t>
            </a:r>
          </a:p>
          <a:p>
            <a:pPr>
              <a:spcBef>
                <a:spcPts val="0"/>
              </a:spcBef>
            </a:pPr>
            <a:r>
              <a:rPr sz="1250" b="0">
                <a:solidFill>
                  <a:srgbClr val="E6E6E6"/>
                </a:solidFill>
                <a:latin typeface="Consolas"/>
              </a:rPr>
              <a:t>   v_tax         NUMBER(10,2);</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v_tax := v_salary * c_tax_rate;</a:t>
            </a:r>
          </a:p>
          <a:p>
            <a:pPr>
              <a:spcBef>
                <a:spcPts val="0"/>
              </a:spcBef>
            </a:pPr>
            <a:r>
              <a:rPr sz="1250" b="0">
                <a:solidFill>
                  <a:srgbClr val="E6E6E6"/>
                </a:solidFill>
                <a:latin typeface="Consolas"/>
              </a:rPr>
              <a:t>   DBMS_OUTPUT.PUT_LINE(c_company || ' 세액: ' || v_tax);</a:t>
            </a:r>
          </a:p>
          <a:p>
            <a:pPr>
              <a:spcBef>
                <a:spcPts val="0"/>
              </a:spcBef>
            </a:pPr>
            <a:r>
              <a:rPr sz="1250" b="0">
                <a:solidFill>
                  <a:srgbClr val="7EC699"/>
                </a:solidFill>
                <a:latin typeface="Consolas"/>
              </a:rPr>
              <a:t>   -- c_tax_rate := 0.09;   -- 주석을 풀면 아래 오류가 발생한다</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ORACLE KOREA 세액: 1020</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재할당을 시도했을 때</a:t>
            </a:r>
          </a:p>
          <a:p>
            <a:pPr>
              <a:spcBef>
                <a:spcPts val="0"/>
              </a:spcBef>
            </a:pPr>
            <a:r>
              <a:rPr sz="1250" b="0">
                <a:solidFill>
                  <a:srgbClr val="7EC699"/>
                </a:solidFill>
                <a:latin typeface="Consolas"/>
              </a:rPr>
              <a:t>PLS-00363: expression 'C_TAX_RATE' cannot be used as an assignment target</a:t>
            </a:r>
          </a:p>
          <a:p>
            <a:pPr>
              <a:spcBef>
                <a:spcPts val="0"/>
              </a:spcBef>
            </a:pPr>
            <a:r>
              <a:rPr sz="1250" b="0">
                <a:solidFill>
                  <a:srgbClr val="7EC699"/>
                </a:solidFill>
                <a:latin typeface="Consolas"/>
              </a:rPr>
              <a:t>ORA-06550: line 10, column 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3628967" cy="1107996"/>
          </a:xfrm>
          <a:prstGeom prst="rect">
            <a:avLst/>
          </a:prstGeom>
          <a:noFill/>
        </p:spPr>
        <p:txBody>
          <a:bodyPr wrap="square">
            <a:spAutoFit/>
          </a:bodyPr>
          <a:lstStyle/>
          <a:p>
            <a:pPr>
              <a:spcBef>
                <a:spcPts val="0"/>
              </a:spcBef>
            </a:pPr>
            <a:r>
              <a:rPr sz="6600" b="1" dirty="0">
                <a:solidFill>
                  <a:srgbClr val="C0392B"/>
                </a:solidFill>
                <a:latin typeface="Malgun Gothic"/>
              </a:rPr>
              <a:t>1.8~1.9</a:t>
            </a:r>
          </a:p>
        </p:txBody>
      </p:sp>
      <p:sp>
        <p:nvSpPr>
          <p:cNvPr id="3" name="TextBox 2"/>
          <p:cNvSpPr txBox="1"/>
          <p:nvPr/>
        </p:nvSpPr>
        <p:spPr>
          <a:xfrm>
            <a:off x="822960" y="2743200"/>
            <a:ext cx="10515600" cy="1097280"/>
          </a:xfrm>
          <a:prstGeom prst="rect">
            <a:avLst/>
          </a:prstGeom>
          <a:noFill/>
        </p:spPr>
        <p:txBody>
          <a:bodyPr wrap="square">
            <a:spAutoFit/>
          </a:bodyPr>
          <a:lstStyle/>
          <a:p>
            <a:pPr>
              <a:spcBef>
                <a:spcPts val="0"/>
              </a:spcBef>
            </a:pPr>
            <a:r>
              <a:rPr sz="3400" b="1">
                <a:solidFill>
                  <a:srgbClr val="FFFFFF"/>
                </a:solidFill>
                <a:latin typeface="Malgun Gothic"/>
              </a:rPr>
              <a:t>%TYPE과 %ROWTYPE</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Bef>
                <a:spcPts val="600"/>
              </a:spcBef>
            </a:pPr>
            <a:r>
              <a:rPr sz="1600" b="0">
                <a:solidFill>
                  <a:srgbClr val="C5CED6"/>
                </a:solidFill>
                <a:latin typeface="Malgun Gothic"/>
              </a:rPr>
              <a:t>•  컬럼 타입을 물려받는 %TYPE</a:t>
            </a:r>
          </a:p>
          <a:p>
            <a:pPr>
              <a:spcBef>
                <a:spcPts val="600"/>
              </a:spcBef>
            </a:pPr>
            <a:r>
              <a:rPr sz="1600" b="0">
                <a:solidFill>
                  <a:srgbClr val="C5CED6"/>
                </a:solidFill>
                <a:latin typeface="Malgun Gothic"/>
              </a:rPr>
              <a:t>•  행 전체를 담는 %ROWTYPE 레코드</a:t>
            </a:r>
          </a:p>
          <a:p>
            <a:pPr>
              <a:spcBef>
                <a:spcPts val="600"/>
              </a:spcBef>
            </a:pPr>
            <a:r>
              <a:rPr sz="1600" b="0">
                <a:solidFill>
                  <a:srgbClr val="C5CED6"/>
                </a:solidFill>
                <a:latin typeface="Malgun Gothic"/>
              </a:rPr>
              <a:t>•  테이블 구조 변경에 강한 선언</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%TYPE 속성</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다른 변수나 테이블 컬럼의 데이터 타입을 그대로 물려받는 선언</a:t>
            </a:r>
          </a:p>
          <a:p>
            <a:pPr>
              <a:spcBef>
                <a:spcPts val="1000"/>
              </a:spcBef>
            </a:pPr>
            <a:r>
              <a:rPr sz="1800" b="0">
                <a:solidFill>
                  <a:srgbClr val="202830"/>
                </a:solidFill>
                <a:latin typeface="Malgun Gothic"/>
              </a:rPr>
              <a:t>•  형식: 테이블명.컬럼명%TYPE 또는 변수명%TYPE</a:t>
            </a:r>
          </a:p>
          <a:p>
            <a:pPr>
              <a:spcBef>
                <a:spcPts val="1000"/>
              </a:spcBef>
            </a:pPr>
            <a:r>
              <a:rPr sz="1800" b="0">
                <a:solidFill>
                  <a:srgbClr val="202830"/>
                </a:solidFill>
                <a:latin typeface="Malgun Gothic"/>
              </a:rPr>
              <a:t>•  컬럼 타입·길이가 바뀌어도 재컴파일하면 자동 반영</a:t>
            </a:r>
          </a:p>
          <a:p>
            <a:pPr>
              <a:spcBef>
                <a:spcPts val="1000"/>
              </a:spcBef>
            </a:pPr>
            <a:r>
              <a:rPr sz="1800" b="0">
                <a:solidFill>
                  <a:srgbClr val="202830"/>
                </a:solidFill>
                <a:latin typeface="Malgun Gothic"/>
              </a:rPr>
              <a:t>•  상속하는 것: 데이터 타입, 길이/정밀도/스케일</a:t>
            </a:r>
          </a:p>
          <a:p>
            <a:pPr>
              <a:spcBef>
                <a:spcPts val="1000"/>
              </a:spcBef>
            </a:pPr>
            <a:r>
              <a:rPr sz="1800" b="0">
                <a:solidFill>
                  <a:srgbClr val="202830"/>
                </a:solidFill>
                <a:latin typeface="Malgun Gothic"/>
              </a:rPr>
              <a:t>•  상속하지 않는 것: 컬럼의 NOT NULL 제약, DEFAULT 값</a:t>
            </a:r>
          </a:p>
          <a:p>
            <a:pPr>
              <a:spcBef>
                <a:spcPts val="400"/>
              </a:spcBef>
            </a:pPr>
            <a:r>
              <a:rPr sz="1600" b="0">
                <a:solidFill>
                  <a:srgbClr val="5A6672"/>
                </a:solidFill>
                <a:latin typeface="Malgun Gothic"/>
              </a:rPr>
              <a:t>    –  단, NOT NULL로 선언된 PL/SQL 변수를 참조하면 NOT NULL도 상속</a:t>
            </a:r>
          </a:p>
          <a:p>
            <a:pPr>
              <a:spcBef>
                <a:spcPts val="1000"/>
              </a:spcBef>
            </a:pPr>
            <a:r>
              <a:rPr sz="1800" b="0">
                <a:solidFill>
                  <a:srgbClr val="202830"/>
                </a:solidFill>
                <a:latin typeface="Malgun Gothic"/>
              </a:rPr>
              <a:t>•  선언 시점에 테이블·컬럼이 존재하고 접근 권한이 있어야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rPr>
              <a:t>Best Practice: </a:t>
            </a:r>
            <a:r>
              <a:rPr sz="1250" b="0">
                <a:solidFill>
                  <a:srgbClr val="202830"/>
                </a:solidFill>
                <a:latin typeface="Malgun Gothic"/>
              </a:rPr>
              <a:t>테이블 컬럼 값을 담는 변수는 예외 없이 %TYPE으로 선언한다. 하드코딩된 길이는 언젠가 반드시 어긋난다.</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%TYPE 사용 예제</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컬럼 타입 상속과 변수 타입 상속</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DECLARE</a:t>
            </a:r>
          </a:p>
          <a:p>
            <a:pPr>
              <a:spcBef>
                <a:spcPts val="0"/>
              </a:spcBef>
            </a:pPr>
            <a:r>
              <a:rPr sz="1250" b="0">
                <a:solidFill>
                  <a:srgbClr val="7EC699"/>
                </a:solidFill>
                <a:latin typeface="Consolas"/>
              </a:rPr>
              <a:t>   -- EMPLOYEES 테이블의 컬럼 타입을 그대로 물려받는다</a:t>
            </a:r>
          </a:p>
          <a:p>
            <a:pPr>
              <a:spcBef>
                <a:spcPts val="0"/>
              </a:spcBef>
            </a:pPr>
            <a:r>
              <a:rPr sz="1250" b="0">
                <a:solidFill>
                  <a:srgbClr val="E6E6E6"/>
                </a:solidFill>
                <a:latin typeface="Consolas"/>
              </a:rPr>
              <a:t>   v_emp_id      employees.employee_id%TYPE;</a:t>
            </a:r>
          </a:p>
          <a:p>
            <a:pPr>
              <a:spcBef>
                <a:spcPts val="0"/>
              </a:spcBef>
            </a:pPr>
            <a:r>
              <a:rPr sz="1250" b="0">
                <a:solidFill>
                  <a:srgbClr val="E6E6E6"/>
                </a:solidFill>
                <a:latin typeface="Consolas"/>
              </a:rPr>
              <a:t>   v_last_name   employees.last_name%TYPE;</a:t>
            </a:r>
          </a:p>
          <a:p>
            <a:pPr>
              <a:spcBef>
                <a:spcPts val="0"/>
              </a:spcBef>
            </a:pPr>
            <a:r>
              <a:rPr sz="1250" b="0">
                <a:solidFill>
                  <a:srgbClr val="E6E6E6"/>
                </a:solidFill>
                <a:latin typeface="Consolas"/>
              </a:rPr>
              <a:t>   v_salary      employees.salary%TYPE;</a:t>
            </a:r>
          </a:p>
          <a:p>
            <a:pPr>
              <a:spcBef>
                <a:spcPts val="0"/>
              </a:spcBef>
            </a:pPr>
            <a:r>
              <a:rPr sz="1250" b="0">
                <a:solidFill>
                  <a:srgbClr val="7EC699"/>
                </a:solidFill>
                <a:latin typeface="Consolas"/>
              </a:rPr>
              <a:t>   -- 이미 선언한 변수의 타입을 물려받는다</a:t>
            </a:r>
          </a:p>
          <a:p>
            <a:pPr>
              <a:spcBef>
                <a:spcPts val="0"/>
              </a:spcBef>
            </a:pPr>
            <a:r>
              <a:rPr sz="1250" b="0">
                <a:solidFill>
                  <a:srgbClr val="E6E6E6"/>
                </a:solidFill>
                <a:latin typeface="Consolas"/>
              </a:rPr>
              <a:t>   v_new_salary  v_salary%TYPE;</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SELECT employee_id, last_name, salary</a:t>
            </a:r>
          </a:p>
          <a:p>
            <a:pPr>
              <a:spcBef>
                <a:spcPts val="0"/>
              </a:spcBef>
            </a:pPr>
            <a:r>
              <a:rPr sz="1250" b="0">
                <a:solidFill>
                  <a:srgbClr val="E6E6E6"/>
                </a:solidFill>
                <a:latin typeface="Consolas"/>
              </a:rPr>
              <a:t>     INTO v_emp_id, v_last_name, v_salary</a:t>
            </a:r>
          </a:p>
          <a:p>
            <a:pPr>
              <a:spcBef>
                <a:spcPts val="0"/>
              </a:spcBef>
            </a:pPr>
            <a:r>
              <a:rPr sz="1250" b="0">
                <a:solidFill>
                  <a:srgbClr val="E6E6E6"/>
                </a:solidFill>
                <a:latin typeface="Consolas"/>
              </a:rPr>
              <a:t>     FROM employees</a:t>
            </a:r>
          </a:p>
          <a:p>
            <a:pPr>
              <a:spcBef>
                <a:spcPts val="0"/>
              </a:spcBef>
            </a:pPr>
            <a:r>
              <a:rPr sz="1250" b="0">
                <a:solidFill>
                  <a:srgbClr val="E6E6E6"/>
                </a:solidFill>
                <a:latin typeface="Consolas"/>
              </a:rPr>
              <a:t>    WHERE employee_id = 100;</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   v_new_salary := v_salary * 1.1;</a:t>
            </a:r>
          </a:p>
          <a:p>
            <a:pPr>
              <a:spcBef>
                <a:spcPts val="0"/>
              </a:spcBef>
            </a:pPr>
            <a:r>
              <a:rPr sz="1250" b="0">
                <a:solidFill>
                  <a:srgbClr val="E6E6E6"/>
                </a:solidFill>
                <a:latin typeface="Consolas"/>
              </a:rPr>
              <a:t>   DBMS_OUTPUT.PUT_LINE(v_last_name || ': ' || v_salary</a:t>
            </a:r>
          </a:p>
          <a:p>
            <a:pPr>
              <a:spcBef>
                <a:spcPts val="0"/>
              </a:spcBef>
            </a:pPr>
            <a:r>
              <a:rPr sz="1250" b="0">
                <a:solidFill>
                  <a:srgbClr val="E6E6E6"/>
                </a:solidFill>
                <a:latin typeface="Consolas"/>
              </a:rPr>
              <a:t>                        || ' → ' || v_new_salary);</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King: 24000 → 26400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%ROWTYPE 속성</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테이블·뷰·커서의 한 행 전체를 담는 레코드(Record) 변수 선언</a:t>
            </a:r>
          </a:p>
          <a:p>
            <a:pPr>
              <a:spcBef>
                <a:spcPts val="1000"/>
              </a:spcBef>
            </a:pPr>
            <a:r>
              <a:rPr sz="1800" b="0">
                <a:solidFill>
                  <a:srgbClr val="202830"/>
                </a:solidFill>
                <a:latin typeface="Malgun Gothic"/>
              </a:rPr>
              <a:t>•  형식: 테이블명%ROWTYPE</a:t>
            </a:r>
          </a:p>
          <a:p>
            <a:pPr>
              <a:spcBef>
                <a:spcPts val="400"/>
              </a:spcBef>
            </a:pPr>
            <a:r>
              <a:rPr sz="1600" b="0">
                <a:solidFill>
                  <a:srgbClr val="5A6672"/>
                </a:solidFill>
                <a:latin typeface="Malgun Gothic"/>
              </a:rPr>
              <a:t>    –  모든 컬럼과 같은 이름·타입의 필드가 자동 생성된다</a:t>
            </a:r>
          </a:p>
          <a:p>
            <a:pPr>
              <a:spcBef>
                <a:spcPts val="400"/>
              </a:spcBef>
            </a:pPr>
            <a:r>
              <a:rPr sz="1600" b="0">
                <a:solidFill>
                  <a:srgbClr val="5A6672"/>
                </a:solidFill>
                <a:latin typeface="Malgun Gothic"/>
              </a:rPr>
              <a:t>    –  개별 필드 접근: 레코드변수.필드명</a:t>
            </a:r>
          </a:p>
          <a:p>
            <a:pPr>
              <a:spcBef>
                <a:spcPts val="1000"/>
              </a:spcBef>
            </a:pPr>
            <a:r>
              <a:rPr sz="1800" b="0">
                <a:solidFill>
                  <a:srgbClr val="202830"/>
                </a:solidFill>
                <a:latin typeface="Malgun Gothic"/>
              </a:rPr>
              <a:t>•  SELECT * INTO 로 한 번에 채우는 것이 일반적</a:t>
            </a:r>
          </a:p>
          <a:p>
            <a:pPr>
              <a:spcBef>
                <a:spcPts val="1000"/>
              </a:spcBef>
            </a:pPr>
            <a:r>
              <a:rPr sz="1800" b="0">
                <a:solidFill>
                  <a:srgbClr val="202830"/>
                </a:solidFill>
                <a:latin typeface="Malgun Gothic"/>
              </a:rPr>
              <a:t>•  같은 타입의 레코드끼리 통째로 대입 가능: rec_a := rec_b;</a:t>
            </a:r>
          </a:p>
          <a:p>
            <a:pPr>
              <a:spcBef>
                <a:spcPts val="1000"/>
              </a:spcBef>
            </a:pPr>
            <a:r>
              <a:rPr sz="1800" b="0">
                <a:solidFill>
                  <a:srgbClr val="202830"/>
                </a:solidFill>
                <a:latin typeface="Malgun Gothic"/>
              </a:rPr>
              <a:t>•  INSERT INTO employees VALUES rec_emp; 처럼 DML에도 사용 가능</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%ROWTYPE 사용 예제</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행 전체를 한 변수에 담기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DECLARE</a:t>
            </a:r>
          </a:p>
          <a:p>
            <a:pPr>
              <a:spcBef>
                <a:spcPts val="0"/>
              </a:spcBef>
            </a:pPr>
            <a:r>
              <a:rPr sz="1250" b="0">
                <a:solidFill>
                  <a:srgbClr val="E6E6E6"/>
                </a:solidFill>
                <a:latin typeface="Consolas"/>
              </a:rPr>
              <a:t>   rec_emp    employees%ROWTYPE;    -- EMPLOYEES 한 행 전체</a:t>
            </a:r>
          </a:p>
          <a:p>
            <a:pPr>
              <a:spcBef>
                <a:spcPts val="0"/>
              </a:spcBef>
            </a:pPr>
            <a:r>
              <a:rPr sz="1250" b="0">
                <a:solidFill>
                  <a:srgbClr val="E6E6E6"/>
                </a:solidFill>
                <a:latin typeface="Consolas"/>
              </a:rPr>
              <a:t>   rec_dept   departments%ROWTYPE;  -- DEPARTMENTS 한 행 전체</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SELECT * INTO rec_emp</a:t>
            </a:r>
          </a:p>
          <a:p>
            <a:pPr>
              <a:spcBef>
                <a:spcPts val="0"/>
              </a:spcBef>
            </a:pPr>
            <a:r>
              <a:rPr sz="1250" b="0">
                <a:solidFill>
                  <a:srgbClr val="E6E6E6"/>
                </a:solidFill>
                <a:latin typeface="Consolas"/>
              </a:rPr>
              <a:t>     FROM employees WHERE employee_id = 100;</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   SELECT * INTO rec_dept</a:t>
            </a:r>
          </a:p>
          <a:p>
            <a:pPr>
              <a:spcBef>
                <a:spcPts val="0"/>
              </a:spcBef>
            </a:pPr>
            <a:r>
              <a:rPr sz="1250" b="0">
                <a:solidFill>
                  <a:srgbClr val="E6E6E6"/>
                </a:solidFill>
                <a:latin typeface="Consolas"/>
              </a:rPr>
              <a:t>     FROM departments WHERE department_id = rec_emp.department_id;</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   DBMS_OUTPUT.PUT_LINE('사원: ' || rec_emp.first_name</a:t>
            </a:r>
          </a:p>
          <a:p>
            <a:pPr>
              <a:spcBef>
                <a:spcPts val="0"/>
              </a:spcBef>
            </a:pPr>
            <a:r>
              <a:rPr sz="1250" b="0">
                <a:solidFill>
                  <a:srgbClr val="E6E6E6"/>
                </a:solidFill>
                <a:latin typeface="Consolas"/>
              </a:rPr>
              <a:t>                        || ' ' || rec_emp.last_name);</a:t>
            </a:r>
          </a:p>
          <a:p>
            <a:pPr>
              <a:spcBef>
                <a:spcPts val="0"/>
              </a:spcBef>
            </a:pPr>
            <a:r>
              <a:rPr sz="1250" b="0">
                <a:solidFill>
                  <a:srgbClr val="E6E6E6"/>
                </a:solidFill>
                <a:latin typeface="Consolas"/>
              </a:rPr>
              <a:t>   DBMS_OUTPUT.PUT_LINE('직무: ' || rec_emp.job_id</a:t>
            </a:r>
          </a:p>
          <a:p>
            <a:pPr>
              <a:spcBef>
                <a:spcPts val="0"/>
              </a:spcBef>
            </a:pPr>
            <a:r>
              <a:rPr sz="1250" b="0">
                <a:solidFill>
                  <a:srgbClr val="E6E6E6"/>
                </a:solidFill>
                <a:latin typeface="Consolas"/>
              </a:rPr>
              <a:t>                        || ' / 급여: ' || rec_emp.salary);</a:t>
            </a:r>
          </a:p>
          <a:p>
            <a:pPr>
              <a:spcBef>
                <a:spcPts val="0"/>
              </a:spcBef>
            </a:pPr>
            <a:r>
              <a:rPr sz="1250" b="0">
                <a:solidFill>
                  <a:srgbClr val="E6E6E6"/>
                </a:solidFill>
                <a:latin typeface="Consolas"/>
              </a:rPr>
              <a:t>   DBMS_OUTPUT.PUT_LINE('부서: ' || rec_dept.department_name);</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사원: Steven King</a:t>
            </a:r>
          </a:p>
          <a:p>
            <a:pPr>
              <a:spcBef>
                <a:spcPts val="0"/>
              </a:spcBef>
            </a:pPr>
            <a:r>
              <a:rPr sz="1250" b="0">
                <a:solidFill>
                  <a:srgbClr val="E6E6E6"/>
                </a:solidFill>
                <a:latin typeface="Consolas"/>
              </a:rPr>
              <a:t>직무: AD_PRES / 급여: 24000</a:t>
            </a:r>
          </a:p>
          <a:p>
            <a:pPr>
              <a:spcBef>
                <a:spcPts val="0"/>
              </a:spcBef>
            </a:pPr>
            <a:r>
              <a:rPr sz="1250" b="0">
                <a:solidFill>
                  <a:srgbClr val="E6E6E6"/>
                </a:solidFill>
                <a:latin typeface="Consolas"/>
              </a:rPr>
              <a:t>부서: Executive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4114800" cy="2123658"/>
          </a:xfrm>
          <a:prstGeom prst="rect">
            <a:avLst/>
          </a:prstGeom>
          <a:noFill/>
        </p:spPr>
        <p:txBody>
          <a:bodyPr wrap="square">
            <a:spAutoFit/>
          </a:bodyPr>
          <a:lstStyle/>
          <a:p>
            <a:pPr>
              <a:spcBef>
                <a:spcPts val="0"/>
              </a:spcBef>
            </a:pPr>
            <a:r>
              <a:rPr sz="6600" b="1" dirty="0">
                <a:solidFill>
                  <a:srgbClr val="C0392B"/>
                </a:solidFill>
                <a:latin typeface="Malgun Gothic"/>
              </a:rPr>
              <a:t>1.10~1.11</a:t>
            </a:r>
          </a:p>
        </p:txBody>
      </p:sp>
      <p:sp>
        <p:nvSpPr>
          <p:cNvPr id="3" name="TextBox 2"/>
          <p:cNvSpPr txBox="1"/>
          <p:nvPr/>
        </p:nvSpPr>
        <p:spPr>
          <a:xfrm>
            <a:off x="822960" y="2743200"/>
            <a:ext cx="10515600" cy="1097280"/>
          </a:xfrm>
          <a:prstGeom prst="rect">
            <a:avLst/>
          </a:prstGeom>
          <a:noFill/>
        </p:spPr>
        <p:txBody>
          <a:bodyPr wrap="square">
            <a:spAutoFit/>
          </a:bodyPr>
          <a:lstStyle/>
          <a:p>
            <a:pPr>
              <a:spcBef>
                <a:spcPts val="0"/>
              </a:spcBef>
            </a:pPr>
            <a:r>
              <a:rPr sz="3400" b="1">
                <a:solidFill>
                  <a:srgbClr val="FFFFFF"/>
                </a:solidFill>
                <a:latin typeface="Malgun Gothic"/>
              </a:rPr>
              <a:t>SELECT INTO와 DBMS_OUTPUT</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Bef>
                <a:spcPts val="600"/>
              </a:spcBef>
            </a:pPr>
            <a:r>
              <a:rPr sz="1600" b="0">
                <a:solidFill>
                  <a:srgbClr val="C5CED6"/>
                </a:solidFill>
                <a:latin typeface="Malgun Gothic"/>
              </a:rPr>
              <a:t>•  단일 행 조회의 규칙과 두 가지 예외</a:t>
            </a:r>
          </a:p>
          <a:p>
            <a:pPr>
              <a:spcBef>
                <a:spcPts val="600"/>
              </a:spcBef>
            </a:pPr>
            <a:r>
              <a:rPr sz="1600" b="0">
                <a:solidFill>
                  <a:srgbClr val="C5CED6"/>
                </a:solidFill>
                <a:latin typeface="Malgun Gothic"/>
              </a:rPr>
              <a:t>•  이름 모호성이 만드는 논리 오류</a:t>
            </a:r>
          </a:p>
          <a:p>
            <a:pPr>
              <a:spcBef>
                <a:spcPts val="600"/>
              </a:spcBef>
            </a:pPr>
            <a:r>
              <a:rPr sz="1600" b="0">
                <a:solidFill>
                  <a:srgbClr val="C5CED6"/>
                </a:solidFill>
                <a:latin typeface="Malgun Gothic"/>
              </a:rPr>
              <a:t>•  SET SERVEROUTPUT ON과 버퍼 동작</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SELECT INTO로 단일 행 조회</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PL/SQL 블록 안의 SELECT는 반드시 INTO 절이 있어야 한다</a:t>
            </a:r>
          </a:p>
          <a:p>
            <a:pPr>
              <a:spcBef>
                <a:spcPts val="1000"/>
              </a:spcBef>
            </a:pPr>
            <a:r>
              <a:rPr sz="1800" b="0">
                <a:solidFill>
                  <a:srgbClr val="202830"/>
                </a:solidFill>
                <a:latin typeface="Malgun Gothic"/>
              </a:rPr>
              <a:t>•  SELECT 목록과 INTO 목록의 개수·순서·타입이 일치해야 한다</a:t>
            </a:r>
          </a:p>
          <a:p>
            <a:pPr>
              <a:spcBef>
                <a:spcPts val="1000"/>
              </a:spcBef>
            </a:pPr>
            <a:r>
              <a:rPr sz="1800" b="0">
                <a:solidFill>
                  <a:srgbClr val="202830"/>
                </a:solidFill>
                <a:latin typeface="Malgun Gothic"/>
              </a:rPr>
              <a:t>•  결정적 제약: 정확히 한 행만 반환해야 한다</a:t>
            </a:r>
          </a:p>
          <a:p>
            <a:pPr>
              <a:spcBef>
                <a:spcPts val="400"/>
              </a:spcBef>
            </a:pPr>
            <a:r>
              <a:rPr sz="1600" b="0">
                <a:solidFill>
                  <a:srgbClr val="5A6672"/>
                </a:solidFill>
                <a:latin typeface="Malgun Gothic"/>
              </a:rPr>
              <a:t>    –  0건 → NO_DATA_FOUND (ORA-01403)</a:t>
            </a:r>
          </a:p>
          <a:p>
            <a:pPr>
              <a:spcBef>
                <a:spcPts val="400"/>
              </a:spcBef>
            </a:pPr>
            <a:r>
              <a:rPr sz="1600" b="0">
                <a:solidFill>
                  <a:srgbClr val="5A6672"/>
                </a:solidFill>
                <a:latin typeface="Malgun Gothic"/>
              </a:rPr>
              <a:t>    –  2건 이상 → TOO_MANY_ROWS (ORA-01422)</a:t>
            </a:r>
          </a:p>
          <a:p>
            <a:pPr>
              <a:spcBef>
                <a:spcPts val="1000"/>
              </a:spcBef>
            </a:pPr>
            <a:r>
              <a:rPr sz="1800" b="0">
                <a:solidFill>
                  <a:srgbClr val="202830"/>
                </a:solidFill>
                <a:latin typeface="Malgun Gothic"/>
              </a:rPr>
              <a:t>•  예외 발생 시 실행부는 즉시 중단되고 예외 처리부로 이동</a:t>
            </a:r>
          </a:p>
          <a:p>
            <a:pPr>
              <a:spcBef>
                <a:spcPts val="1000"/>
              </a:spcBef>
            </a:pPr>
            <a:r>
              <a:rPr sz="1800" b="0">
                <a:solidFill>
                  <a:srgbClr val="202830"/>
                </a:solidFill>
                <a:latin typeface="Malgun Gothic"/>
              </a:rPr>
              <a:t>•  여러 행을 처리하려면 커서(Cursor)를 사용한다 (2장)</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r>
              <a:rPr sz="1250" b="0">
                <a:solidFill>
                  <a:srgbClr val="202830"/>
                </a:solidFill>
                <a:latin typeface="Malgun Gothic"/>
              </a:rPr>
              <a:t>집계 함수를 쓰는 SELECT는 조건에 맞는 행이 없어도 항상 한 행을 반환한다. MAX는 NULL을, COUNT는 0을 돌려주므로 NO_DATA_FOUND가 발생하지 않는다.</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SELECT INTO와 예외 처리</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NO_DATA_FOUND / TOO_MANY_ROWS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SQL&gt; DECLARE</a:t>
            </a:r>
          </a:p>
          <a:p>
            <a:pPr>
              <a:spcBef>
                <a:spcPts val="0"/>
              </a:spcBef>
            </a:pPr>
            <a:r>
              <a:rPr sz="1250" b="0">
                <a:solidFill>
                  <a:srgbClr val="E6E6E6"/>
                </a:solidFill>
                <a:latin typeface="Consolas"/>
              </a:rPr>
              <a:t>  2     v_last_name   employees.last_name%TYPE;</a:t>
            </a:r>
          </a:p>
          <a:p>
            <a:pPr>
              <a:spcBef>
                <a:spcPts val="0"/>
              </a:spcBef>
            </a:pPr>
            <a:r>
              <a:rPr sz="1250" b="0">
                <a:solidFill>
                  <a:srgbClr val="E6E6E6"/>
                </a:solidFill>
                <a:latin typeface="Consolas"/>
              </a:rPr>
              <a:t>  3     v_salary      employees.salary%TYPE;</a:t>
            </a:r>
          </a:p>
          <a:p>
            <a:pPr>
              <a:spcBef>
                <a:spcPts val="0"/>
              </a:spcBef>
            </a:pPr>
            <a:r>
              <a:rPr sz="1250" b="0">
                <a:solidFill>
                  <a:srgbClr val="E6E6E6"/>
                </a:solidFill>
                <a:latin typeface="Consolas"/>
              </a:rPr>
              <a:t>  4  BEGIN</a:t>
            </a:r>
          </a:p>
          <a:p>
            <a:pPr>
              <a:spcBef>
                <a:spcPts val="0"/>
              </a:spcBef>
            </a:pPr>
            <a:r>
              <a:rPr sz="1250" b="0">
                <a:solidFill>
                  <a:srgbClr val="E6E6E6"/>
                </a:solidFill>
                <a:latin typeface="Consolas"/>
              </a:rPr>
              <a:t>  5     SELECT last_name, salary INTO v_last_name, v_salary</a:t>
            </a:r>
          </a:p>
          <a:p>
            <a:pPr>
              <a:spcBef>
                <a:spcPts val="0"/>
              </a:spcBef>
            </a:pPr>
            <a:r>
              <a:rPr sz="1250" b="0">
                <a:solidFill>
                  <a:srgbClr val="E6E6E6"/>
                </a:solidFill>
                <a:latin typeface="Consolas"/>
              </a:rPr>
              <a:t>  6       FROM employees WHERE employee_id = 9999;   -- 존재하지 않는 사번</a:t>
            </a:r>
          </a:p>
          <a:p>
            <a:pPr>
              <a:spcBef>
                <a:spcPts val="0"/>
              </a:spcBef>
            </a:pPr>
            <a:r>
              <a:rPr sz="1250" b="0">
                <a:solidFill>
                  <a:srgbClr val="E6E6E6"/>
                </a:solidFill>
                <a:latin typeface="Consolas"/>
              </a:rPr>
              <a:t>  7     DBMS_OUTPUT.PUT_LINE(v_last_name || ' / ' || v_salary);</a:t>
            </a:r>
          </a:p>
          <a:p>
            <a:pPr>
              <a:spcBef>
                <a:spcPts val="0"/>
              </a:spcBef>
            </a:pPr>
            <a:r>
              <a:rPr sz="1250" b="0">
                <a:solidFill>
                  <a:srgbClr val="E6E6E6"/>
                </a:solidFill>
                <a:latin typeface="Consolas"/>
              </a:rPr>
              <a:t>  8  EXCEPTION</a:t>
            </a:r>
          </a:p>
          <a:p>
            <a:pPr>
              <a:spcBef>
                <a:spcPts val="0"/>
              </a:spcBef>
            </a:pPr>
            <a:r>
              <a:rPr sz="1250" b="0">
                <a:solidFill>
                  <a:srgbClr val="E6E6E6"/>
                </a:solidFill>
                <a:latin typeface="Consolas"/>
              </a:rPr>
              <a:t>  9     WHEN NO_DATA_FOUND THEN</a:t>
            </a:r>
          </a:p>
          <a:p>
            <a:pPr>
              <a:spcBef>
                <a:spcPts val="0"/>
              </a:spcBef>
            </a:pPr>
            <a:r>
              <a:rPr sz="1250" b="0">
                <a:solidFill>
                  <a:srgbClr val="E6E6E6"/>
                </a:solidFill>
                <a:latin typeface="Consolas"/>
              </a:rPr>
              <a:t> 10        DBMS_OUTPUT.PUT_LINE('해당 사번의 사원이 없습니다.');</a:t>
            </a:r>
          </a:p>
          <a:p>
            <a:pPr>
              <a:spcBef>
                <a:spcPts val="0"/>
              </a:spcBef>
            </a:pPr>
            <a:r>
              <a:rPr sz="1250" b="0">
                <a:solidFill>
                  <a:srgbClr val="E6E6E6"/>
                </a:solidFill>
                <a:latin typeface="Consolas"/>
              </a:rPr>
              <a:t> 11     WHEN TOO_MANY_ROWS THEN</a:t>
            </a:r>
          </a:p>
          <a:p>
            <a:pPr>
              <a:spcBef>
                <a:spcPts val="0"/>
              </a:spcBef>
            </a:pPr>
            <a:r>
              <a:rPr sz="1250" b="0">
                <a:solidFill>
                  <a:srgbClr val="E6E6E6"/>
                </a:solidFill>
                <a:latin typeface="Consolas"/>
              </a:rPr>
              <a:t> 12        DBMS_OUTPUT.PUT_LINE('조건에 맞는 사원이 2명 이상입니다.');</a:t>
            </a:r>
          </a:p>
          <a:p>
            <a:pPr>
              <a:spcBef>
                <a:spcPts val="0"/>
              </a:spcBef>
            </a:pPr>
            <a:r>
              <a:rPr sz="1250" b="0">
                <a:solidFill>
                  <a:srgbClr val="E6E6E6"/>
                </a:solidFill>
                <a:latin typeface="Consolas"/>
              </a:rPr>
              <a:t> 13  END;</a:t>
            </a:r>
          </a:p>
          <a:p>
            <a:pPr>
              <a:spcBef>
                <a:spcPts val="0"/>
              </a:spcBef>
            </a:pPr>
            <a:r>
              <a:rPr sz="1250" b="0">
                <a:solidFill>
                  <a:srgbClr val="E6E6E6"/>
                </a:solidFill>
                <a:latin typeface="Consolas"/>
              </a:rPr>
              <a:t> 14  /</a:t>
            </a:r>
          </a:p>
          <a:p>
            <a:pPr>
              <a:spcBef>
                <a:spcPts val="0"/>
              </a:spcBef>
            </a:pPr>
            <a:r>
              <a:rPr sz="1250" b="0">
                <a:solidFill>
                  <a:srgbClr val="E6E6E6"/>
                </a:solidFill>
                <a:latin typeface="Consolas"/>
              </a:rPr>
              <a:t>해당 사번의 사원이 없습니다.</a:t>
            </a:r>
          </a:p>
          <a:p>
            <a:pPr>
              <a:spcBef>
                <a:spcPts val="0"/>
              </a:spcBef>
            </a:pPr>
            <a:r>
              <a:rPr sz="1250" b="0">
                <a:solidFill>
                  <a:srgbClr val="E6E6E6"/>
                </a:solidFill>
                <a:latin typeface="Consolas"/>
              </a:rPr>
              <a:t> </a:t>
            </a:r>
          </a:p>
          <a:p>
            <a:pPr>
              <a:spcBef>
                <a:spcPts val="0"/>
              </a:spcBef>
            </a:pPr>
            <a:r>
              <a:rPr sz="1250" b="0">
                <a:solidFill>
                  <a:srgbClr val="E6E6E6"/>
                </a:solidFill>
                <a:latin typeface="Consolas"/>
              </a:rPr>
              <a:t>PL/SQL procedure successfully completed.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이름 모호성(Naming Ambiguity)</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PL/SQL 변수 이름과 테이블 컬럼 이름이 같으면 컬럼으로 해석된다</a:t>
            </a:r>
          </a:p>
          <a:p>
            <a:pPr>
              <a:spcBef>
                <a:spcPts val="1000"/>
              </a:spcBef>
            </a:pPr>
            <a:r>
              <a:rPr sz="1800" b="0">
                <a:solidFill>
                  <a:srgbClr val="202830"/>
                </a:solidFill>
                <a:latin typeface="Malgun Gothic"/>
              </a:rPr>
              <a:t>•  WHERE last_name = last_name → 항상 참인 조건이 된다</a:t>
            </a:r>
          </a:p>
          <a:p>
            <a:pPr>
              <a:spcBef>
                <a:spcPts val="400"/>
              </a:spcBef>
            </a:pPr>
            <a:r>
              <a:rPr sz="1600" b="0">
                <a:solidFill>
                  <a:srgbClr val="5A6672"/>
                </a:solidFill>
                <a:latin typeface="Malgun Gothic"/>
              </a:rPr>
              <a:t>    –  전체 행이 반환되어 TOO_MANY_ROWS 발생</a:t>
            </a:r>
          </a:p>
          <a:p>
            <a:pPr>
              <a:spcBef>
                <a:spcPts val="400"/>
              </a:spcBef>
            </a:pPr>
            <a:r>
              <a:rPr sz="1600" b="0">
                <a:solidFill>
                  <a:srgbClr val="5A6672"/>
                </a:solidFill>
                <a:latin typeface="Malgun Gothic"/>
              </a:rPr>
              <a:t>    –  UPDATE라면 전체 행이 수정되는 사고로 이어진다</a:t>
            </a:r>
          </a:p>
          <a:p>
            <a:pPr>
              <a:spcBef>
                <a:spcPts val="1000"/>
              </a:spcBef>
            </a:pPr>
            <a:r>
              <a:rPr sz="1800" b="0">
                <a:solidFill>
                  <a:srgbClr val="202830"/>
                </a:solidFill>
                <a:latin typeface="Malgun Gothic"/>
              </a:rPr>
              <a:t>•  문법 오류가 아니라 논리 오류 → 컴파일 단계에서 잡히지 않는다</a:t>
            </a:r>
          </a:p>
          <a:p>
            <a:pPr>
              <a:spcBef>
                <a:spcPts val="1000"/>
              </a:spcBef>
            </a:pPr>
            <a:r>
              <a:rPr sz="1800" b="0">
                <a:solidFill>
                  <a:srgbClr val="202830"/>
                </a:solidFill>
                <a:latin typeface="Malgun Gothic"/>
              </a:rPr>
              <a:t>•  해결 1: v_ 접두어 명명 규칙을 지킨다 (가장 확실)</a:t>
            </a:r>
          </a:p>
          <a:p>
            <a:pPr>
              <a:spcBef>
                <a:spcPts val="1000"/>
              </a:spcBef>
            </a:pPr>
            <a:r>
              <a:rPr sz="1800" b="0">
                <a:solidFill>
                  <a:srgbClr val="202830"/>
                </a:solidFill>
                <a:latin typeface="Malgun Gothic"/>
              </a:rPr>
              <a:t>•  해결 2: 블록 레이블로 한정한다 — &lt;&lt;blk&gt;&gt; … blk.last_name</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5CA8"/>
                </a:solidFill>
                <a:latin typeface="Malgun Gothic"/>
              </a:rPr>
              <a:t>실무 시나리오: </a:t>
            </a:r>
            <a:r>
              <a:rPr sz="1250" b="0">
                <a:solidFill>
                  <a:srgbClr val="202830"/>
                </a:solidFill>
                <a:latin typeface="Malgun Gothic"/>
              </a:rPr>
              <a:t>이름 모호성 때문에 전 사원의 급여가 인상된 사고가 실제로 있었다. 접두어 규칙 하나만 지켰어도 발생하지 않았을 사고다.</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이름 모호성 오류 → 원인 → 수정</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같은 이름이 만드는 논리 오류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7EC699"/>
                </a:solidFill>
                <a:latin typeface="Consolas"/>
              </a:rPr>
              <a:t>-- (오류) 변수 이름이 컬럼 이름과 같다</a:t>
            </a:r>
          </a:p>
          <a:p>
            <a:pPr>
              <a:spcBef>
                <a:spcPts val="0"/>
              </a:spcBef>
            </a:pPr>
            <a:r>
              <a:rPr sz="1250" b="0">
                <a:solidFill>
                  <a:srgbClr val="E6E6E6"/>
                </a:solidFill>
                <a:latin typeface="Consolas"/>
              </a:rPr>
              <a:t>DECLARE</a:t>
            </a:r>
          </a:p>
          <a:p>
            <a:pPr>
              <a:spcBef>
                <a:spcPts val="0"/>
              </a:spcBef>
            </a:pPr>
            <a:r>
              <a:rPr sz="1250" b="0">
                <a:solidFill>
                  <a:srgbClr val="E6E6E6"/>
                </a:solidFill>
                <a:latin typeface="Consolas"/>
              </a:rPr>
              <a:t>   last_name    employees.last_name%TYPE := 'King';</a:t>
            </a:r>
          </a:p>
          <a:p>
            <a:pPr>
              <a:spcBef>
                <a:spcPts val="0"/>
              </a:spcBef>
            </a:pPr>
            <a:r>
              <a:rPr sz="1250" b="0">
                <a:solidFill>
                  <a:srgbClr val="E6E6E6"/>
                </a:solidFill>
                <a:latin typeface="Consolas"/>
              </a:rPr>
              <a:t>   v_salary     employees.salary%TYPE;</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SELECT salary INTO v_salary</a:t>
            </a:r>
          </a:p>
          <a:p>
            <a:pPr>
              <a:spcBef>
                <a:spcPts val="0"/>
              </a:spcBef>
            </a:pPr>
            <a:r>
              <a:rPr sz="1250" b="0">
                <a:solidFill>
                  <a:srgbClr val="E6E6E6"/>
                </a:solidFill>
                <a:latin typeface="Consolas"/>
              </a:rPr>
              <a:t>     FROM employees WHERE last_name = last_name;   -- 항상 참!</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7EC699"/>
                </a:solidFill>
                <a:latin typeface="Consolas"/>
              </a:rPr>
              <a:t>ORA-01422: exact fetch returns more than requested number of rows</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(수정) 접두어 규칙을 적용해 이름 충돌을 없앤다</a:t>
            </a:r>
          </a:p>
          <a:p>
            <a:pPr>
              <a:spcBef>
                <a:spcPts val="0"/>
              </a:spcBef>
            </a:pPr>
            <a:r>
              <a:rPr sz="1250" b="0">
                <a:solidFill>
                  <a:srgbClr val="E6E6E6"/>
                </a:solidFill>
                <a:latin typeface="Consolas"/>
              </a:rPr>
              <a:t>DECLARE</a:t>
            </a:r>
          </a:p>
          <a:p>
            <a:pPr>
              <a:spcBef>
                <a:spcPts val="0"/>
              </a:spcBef>
            </a:pPr>
            <a:r>
              <a:rPr sz="1250" b="0">
                <a:solidFill>
                  <a:srgbClr val="E6E6E6"/>
                </a:solidFill>
                <a:latin typeface="Consolas"/>
              </a:rPr>
              <a:t>   v_last_name  employees.last_name%TYPE := 'King';</a:t>
            </a:r>
          </a:p>
          <a:p>
            <a:pPr>
              <a:spcBef>
                <a:spcPts val="0"/>
              </a:spcBef>
            </a:pPr>
            <a:r>
              <a:rPr sz="1250" b="0">
                <a:solidFill>
                  <a:srgbClr val="E6E6E6"/>
                </a:solidFill>
                <a:latin typeface="Consolas"/>
              </a:rPr>
              <a:t>   v_salary     employees.salary%TYPE;</a:t>
            </a:r>
          </a:p>
          <a:p>
            <a:pPr>
              <a:spcBef>
                <a:spcPts val="0"/>
              </a:spcBef>
            </a:pPr>
            <a:r>
              <a:rPr sz="1250" b="0">
                <a:solidFill>
                  <a:srgbClr val="E6E6E6"/>
                </a:solidFill>
                <a:latin typeface="Consolas"/>
              </a:rPr>
              <a:t>BEGIN</a:t>
            </a:r>
          </a:p>
          <a:p>
            <a:pPr>
              <a:spcBef>
                <a:spcPts val="0"/>
              </a:spcBef>
            </a:pPr>
            <a:r>
              <a:rPr sz="1250" b="0">
                <a:solidFill>
                  <a:srgbClr val="E6E6E6"/>
                </a:solidFill>
                <a:latin typeface="Consolas"/>
              </a:rPr>
              <a:t>   SELECT salary INTO v_salary</a:t>
            </a:r>
          </a:p>
          <a:p>
            <a:pPr>
              <a:spcBef>
                <a:spcPts val="0"/>
              </a:spcBef>
            </a:pPr>
            <a:r>
              <a:rPr sz="1250" b="0">
                <a:solidFill>
                  <a:srgbClr val="E6E6E6"/>
                </a:solidFill>
                <a:latin typeface="Consolas"/>
              </a:rPr>
              <a:t>     FROM employees WHERE last_name = v_last_name;</a:t>
            </a:r>
          </a:p>
          <a:p>
            <a:pPr>
              <a:spcBef>
                <a:spcPts val="0"/>
              </a:spcBef>
            </a:pPr>
            <a:r>
              <a:rPr sz="1250" b="0">
                <a:solidFill>
                  <a:srgbClr val="E6E6E6"/>
                </a:solidFill>
                <a:latin typeface="Consolas"/>
              </a:rPr>
              <a:t>   DBMS_OUTPUT.PUT_LINE('급여: ' || v_salary);</a:t>
            </a:r>
          </a:p>
          <a:p>
            <a:pPr>
              <a:spcBef>
                <a:spcPts val="0"/>
              </a:spcBef>
            </a:pPr>
            <a:r>
              <a:rPr sz="1250" b="0">
                <a:solidFill>
                  <a:srgbClr val="E6E6E6"/>
                </a:solidFill>
                <a:latin typeface="Consolas"/>
              </a:rPr>
              <a:t>END;</a:t>
            </a:r>
          </a:p>
          <a:p>
            <a:pPr>
              <a:spcBef>
                <a:spcPts val="0"/>
              </a:spcBef>
            </a:pPr>
            <a:r>
              <a:rPr sz="1250" b="0">
                <a:solidFill>
                  <a:srgbClr val="E6E6E6"/>
                </a:solidFill>
                <a:latin typeface="Consolas"/>
              </a:rPr>
              <a:t>/</a:t>
            </a:r>
          </a:p>
          <a:p>
            <a:pPr>
              <a:spcBef>
                <a:spcPts val="0"/>
              </a:spcBef>
            </a:pPr>
            <a:r>
              <a:rPr sz="1250" b="0">
                <a:solidFill>
                  <a:srgbClr val="E6E6E6"/>
                </a:solidFill>
                <a:latin typeface="Consolas"/>
              </a:rPr>
              <a:t>급여: 24000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DBMS_OUTPUT을 이용한 출력</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PL/SQL 자체에는 입출력 기능이 없다 → DBMS_OUTPUT 패키지 사용</a:t>
            </a:r>
          </a:p>
          <a:p>
            <a:pPr>
              <a:spcBef>
                <a:spcPts val="1000"/>
              </a:spcBef>
            </a:pPr>
            <a:r>
              <a:rPr sz="1800" b="0">
                <a:solidFill>
                  <a:srgbClr val="202830"/>
                </a:solidFill>
                <a:latin typeface="Malgun Gothic"/>
              </a:rPr>
              <a:t>•  동작 방식: 서버 측 버퍼에 쌓고, 블록 종료 후 클라이언트가 읽어 표시</a:t>
            </a:r>
          </a:p>
          <a:p>
            <a:pPr>
              <a:spcBef>
                <a:spcPts val="400"/>
              </a:spcBef>
            </a:pPr>
            <a:r>
              <a:rPr sz="1600" b="0">
                <a:solidFill>
                  <a:srgbClr val="5A6672"/>
                </a:solidFill>
                <a:latin typeface="Malgun Gothic"/>
              </a:rPr>
              <a:t>    –  SET SERVEROUTPUT ON을 먼저 실행해야 화면에 나온다 (세션 단위 설정)</a:t>
            </a:r>
          </a:p>
          <a:p>
            <a:pPr>
              <a:spcBef>
                <a:spcPts val="400"/>
              </a:spcBef>
            </a:pPr>
            <a:r>
              <a:rPr sz="1600" b="0">
                <a:solidFill>
                  <a:srgbClr val="5A6672"/>
                </a:solidFill>
                <a:latin typeface="Malgun Gothic"/>
              </a:rPr>
              <a:t>    –  출력은 실행 도중이 아니라 블록이 끝난 뒤 한꺼번에 나타난다</a:t>
            </a:r>
          </a:p>
          <a:p>
            <a:pPr>
              <a:spcBef>
                <a:spcPts val="1000"/>
              </a:spcBef>
            </a:pPr>
            <a:r>
              <a:rPr sz="1800" b="0">
                <a:solidFill>
                  <a:srgbClr val="202830"/>
                </a:solidFill>
                <a:latin typeface="Malgun Gothic"/>
              </a:rPr>
              <a:t>•  주요 서브프로그램</a:t>
            </a:r>
          </a:p>
          <a:p>
            <a:pPr>
              <a:spcBef>
                <a:spcPts val="400"/>
              </a:spcBef>
            </a:pPr>
            <a:r>
              <a:rPr sz="1600" b="0">
                <a:solidFill>
                  <a:srgbClr val="5A6672"/>
                </a:solidFill>
                <a:latin typeface="Malgun Gothic"/>
              </a:rPr>
              <a:t>    –  PUT_LINE(item): 버퍼에 넣고 줄바꿈 / PUT(item): 줄바꿈 없이 이어 붙임</a:t>
            </a:r>
          </a:p>
          <a:p>
            <a:pPr>
              <a:spcBef>
                <a:spcPts val="400"/>
              </a:spcBef>
            </a:pPr>
            <a:r>
              <a:rPr sz="1600" b="0">
                <a:solidFill>
                  <a:srgbClr val="5A6672"/>
                </a:solidFill>
                <a:latin typeface="Malgun Gothic"/>
              </a:rPr>
              <a:t>    –  NEW_LINE: 줄바꿈만 / ENABLE(size), DISABLE: 버퍼 제어</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출력이 나오지 않는 원인 1순위는 SET SERVEROUTPUT ON 누락이다. 재접속하면 설정이 초기화되므로 접속 직후 습관적으로 실행한다.</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DBMS_OUTPUT 출력 예제</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PUT / PUT_LINE / NEW_LINE 조합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SQL&gt; SET SERVEROUTPUT ON SIZE UNLIMITED</a:t>
            </a:r>
          </a:p>
          <a:p>
            <a:pPr>
              <a:spcBef>
                <a:spcPts val="0"/>
              </a:spcBef>
            </a:pPr>
            <a:r>
              <a:rPr sz="1250" b="0">
                <a:solidFill>
                  <a:srgbClr val="E6E6E6"/>
                </a:solidFill>
                <a:latin typeface="Consolas"/>
              </a:rPr>
              <a:t>SQL&gt; DECLARE</a:t>
            </a:r>
          </a:p>
          <a:p>
            <a:pPr>
              <a:spcBef>
                <a:spcPts val="0"/>
              </a:spcBef>
            </a:pPr>
            <a:r>
              <a:rPr sz="1250" b="0">
                <a:solidFill>
                  <a:srgbClr val="E6E6E6"/>
                </a:solidFill>
                <a:latin typeface="Consolas"/>
              </a:rPr>
              <a:t>  2     rec_emp   employees%ROWTYPE;</a:t>
            </a:r>
          </a:p>
          <a:p>
            <a:pPr>
              <a:spcBef>
                <a:spcPts val="0"/>
              </a:spcBef>
            </a:pPr>
            <a:r>
              <a:rPr sz="1250" b="0">
                <a:solidFill>
                  <a:srgbClr val="E6E6E6"/>
                </a:solidFill>
                <a:latin typeface="Consolas"/>
              </a:rPr>
              <a:t>  3     c_line    CONSTANT VARCHAR2(40) := RPAD('-', 40, '-');</a:t>
            </a:r>
          </a:p>
          <a:p>
            <a:pPr>
              <a:spcBef>
                <a:spcPts val="0"/>
              </a:spcBef>
            </a:pPr>
            <a:r>
              <a:rPr sz="1250" b="0">
                <a:solidFill>
                  <a:srgbClr val="E6E6E6"/>
                </a:solidFill>
                <a:latin typeface="Consolas"/>
              </a:rPr>
              <a:t>  4  BEGIN</a:t>
            </a:r>
          </a:p>
          <a:p>
            <a:pPr>
              <a:spcBef>
                <a:spcPts val="0"/>
              </a:spcBef>
            </a:pPr>
            <a:r>
              <a:rPr sz="1250" b="0">
                <a:solidFill>
                  <a:srgbClr val="E6E6E6"/>
                </a:solidFill>
                <a:latin typeface="Consolas"/>
              </a:rPr>
              <a:t>  5     SELECT * INTO rec_emp FROM employees WHERE employee_id = 103;</a:t>
            </a:r>
          </a:p>
          <a:p>
            <a:pPr>
              <a:spcBef>
                <a:spcPts val="0"/>
              </a:spcBef>
            </a:pPr>
            <a:r>
              <a:rPr sz="1250" b="0">
                <a:solidFill>
                  <a:srgbClr val="E6E6E6"/>
                </a:solidFill>
                <a:latin typeface="Consolas"/>
              </a:rPr>
              <a:t>  6     DBMS_OUTPUT.PUT_LINE(c_line);</a:t>
            </a:r>
          </a:p>
          <a:p>
            <a:pPr>
              <a:spcBef>
                <a:spcPts val="0"/>
              </a:spcBef>
            </a:pPr>
            <a:r>
              <a:rPr sz="1250" b="0">
                <a:solidFill>
                  <a:srgbClr val="E6E6E6"/>
                </a:solidFill>
                <a:latin typeface="Consolas"/>
              </a:rPr>
              <a:t>  7     DBMS_OUTPUT.PUT('사원명 : ');            -- 줄바꿈 없음</a:t>
            </a:r>
          </a:p>
          <a:p>
            <a:pPr>
              <a:spcBef>
                <a:spcPts val="0"/>
              </a:spcBef>
            </a:pPr>
            <a:r>
              <a:rPr sz="1250" b="0">
                <a:solidFill>
                  <a:srgbClr val="E6E6E6"/>
                </a:solidFill>
                <a:latin typeface="Consolas"/>
              </a:rPr>
              <a:t>  8     DBMS_OUTPUT.PUT(rec_emp.last_name);</a:t>
            </a:r>
          </a:p>
          <a:p>
            <a:pPr>
              <a:spcBef>
                <a:spcPts val="0"/>
              </a:spcBef>
            </a:pPr>
            <a:r>
              <a:rPr sz="1250" b="0">
                <a:solidFill>
                  <a:srgbClr val="E6E6E6"/>
                </a:solidFill>
                <a:latin typeface="Consolas"/>
              </a:rPr>
              <a:t>  9     DBMS_OUTPUT.NEW_LINE;                    -- 여기서 줄바꿈</a:t>
            </a:r>
          </a:p>
          <a:p>
            <a:pPr>
              <a:spcBef>
                <a:spcPts val="0"/>
              </a:spcBef>
            </a:pPr>
            <a:r>
              <a:rPr sz="1250" b="0">
                <a:solidFill>
                  <a:srgbClr val="E6E6E6"/>
                </a:solidFill>
                <a:latin typeface="Consolas"/>
              </a:rPr>
              <a:t> 10     DBMS_OUTPUT.PUT_LINE('급여   : ' || TO_CHAR(rec_emp.salary, '999,999'));</a:t>
            </a:r>
          </a:p>
          <a:p>
            <a:pPr>
              <a:spcBef>
                <a:spcPts val="0"/>
              </a:spcBef>
            </a:pPr>
            <a:r>
              <a:rPr sz="1250" b="0">
                <a:solidFill>
                  <a:srgbClr val="E6E6E6"/>
                </a:solidFill>
                <a:latin typeface="Consolas"/>
              </a:rPr>
              <a:t> 11     DBMS_OUTPUT.PUT_LINE('입사일 : '</a:t>
            </a:r>
          </a:p>
          <a:p>
            <a:pPr>
              <a:spcBef>
                <a:spcPts val="0"/>
              </a:spcBef>
            </a:pPr>
            <a:r>
              <a:rPr sz="1250" b="0">
                <a:solidFill>
                  <a:srgbClr val="E6E6E6"/>
                </a:solidFill>
                <a:latin typeface="Consolas"/>
              </a:rPr>
              <a:t> 12                          || TO_CHAR(rec_emp.hire_date, 'YYYY-MM-DD'));</a:t>
            </a:r>
          </a:p>
          <a:p>
            <a:pPr>
              <a:spcBef>
                <a:spcPts val="0"/>
              </a:spcBef>
            </a:pPr>
            <a:r>
              <a:rPr sz="1250" b="0">
                <a:solidFill>
                  <a:srgbClr val="E6E6E6"/>
                </a:solidFill>
                <a:latin typeface="Consolas"/>
              </a:rPr>
              <a:t> 13     DBMS_OUTPUT.PUT_LINE(c_line);</a:t>
            </a:r>
          </a:p>
          <a:p>
            <a:pPr>
              <a:spcBef>
                <a:spcPts val="0"/>
              </a:spcBef>
            </a:pPr>
            <a:r>
              <a:rPr sz="1250" b="0">
                <a:solidFill>
                  <a:srgbClr val="E6E6E6"/>
                </a:solidFill>
                <a:latin typeface="Consolas"/>
              </a:rPr>
              <a:t> 14  END;</a:t>
            </a:r>
          </a:p>
          <a:p>
            <a:pPr>
              <a:spcBef>
                <a:spcPts val="0"/>
              </a:spcBef>
            </a:pPr>
            <a:r>
              <a:rPr sz="1250" b="0">
                <a:solidFill>
                  <a:srgbClr val="E6E6E6"/>
                </a:solidFill>
                <a:latin typeface="Consolas"/>
              </a:rPr>
              <a:t> 15  /</a:t>
            </a:r>
          </a:p>
          <a:p>
            <a:pPr>
              <a:spcBef>
                <a:spcPts val="0"/>
              </a:spcBef>
            </a:pPr>
            <a:r>
              <a:rPr sz="1250" b="0">
                <a:solidFill>
                  <a:srgbClr val="7EC699"/>
                </a:solidFill>
                <a:latin typeface="Consolas"/>
              </a:rPr>
              <a:t>----------------------------------------</a:t>
            </a:r>
          </a:p>
          <a:p>
            <a:pPr>
              <a:spcBef>
                <a:spcPts val="0"/>
              </a:spcBef>
            </a:pPr>
            <a:r>
              <a:rPr sz="1250" b="0">
                <a:solidFill>
                  <a:srgbClr val="E6E6E6"/>
                </a:solidFill>
                <a:latin typeface="Consolas"/>
              </a:rPr>
              <a:t>사원명 : Hunold</a:t>
            </a:r>
          </a:p>
          <a:p>
            <a:pPr>
              <a:spcBef>
                <a:spcPts val="0"/>
              </a:spcBef>
            </a:pPr>
            <a:r>
              <a:rPr sz="1250" b="0">
                <a:solidFill>
                  <a:srgbClr val="E6E6E6"/>
                </a:solidFill>
                <a:latin typeface="Consolas"/>
              </a:rPr>
              <a:t>급여   :    9,000</a:t>
            </a:r>
          </a:p>
          <a:p>
            <a:pPr>
              <a:spcBef>
                <a:spcPts val="0"/>
              </a:spcBef>
            </a:pPr>
            <a:r>
              <a:rPr sz="1250" b="0">
                <a:solidFill>
                  <a:srgbClr val="E6E6E6"/>
                </a:solidFill>
                <a:latin typeface="Consolas"/>
              </a:rPr>
              <a:t>입사일 : 2006-01-03</a:t>
            </a:r>
          </a:p>
          <a:p>
            <a:pPr>
              <a:spcBef>
                <a:spcPts val="0"/>
              </a:spcBef>
            </a:pPr>
            <a:r>
              <a:rPr sz="1250" b="0">
                <a:solidFill>
                  <a:srgbClr val="7EC699"/>
                </a:solidFill>
                <a:latin typeface="Consolas"/>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5143732" cy="1107996"/>
          </a:xfrm>
          <a:prstGeom prst="rect">
            <a:avLst/>
          </a:prstGeom>
          <a:noFill/>
        </p:spPr>
        <p:txBody>
          <a:bodyPr wrap="square">
            <a:spAutoFit/>
          </a:bodyPr>
          <a:lstStyle/>
          <a:p>
            <a:pPr>
              <a:spcBef>
                <a:spcPts val="0"/>
              </a:spcBef>
            </a:pPr>
            <a:r>
              <a:rPr sz="6600" b="1" dirty="0">
                <a:solidFill>
                  <a:srgbClr val="C0392B"/>
                </a:solidFill>
                <a:latin typeface="Malgun Gothic"/>
              </a:rPr>
              <a:t>1.12~1.15</a:t>
            </a:r>
          </a:p>
        </p:txBody>
      </p:sp>
      <p:sp>
        <p:nvSpPr>
          <p:cNvPr id="3" name="TextBox 2"/>
          <p:cNvSpPr txBox="1"/>
          <p:nvPr/>
        </p:nvSpPr>
        <p:spPr>
          <a:xfrm>
            <a:off x="822960" y="2743200"/>
            <a:ext cx="10515600" cy="615553"/>
          </a:xfrm>
          <a:prstGeom prst="rect">
            <a:avLst/>
          </a:prstGeom>
          <a:noFill/>
        </p:spPr>
        <p:txBody>
          <a:bodyPr wrap="square">
            <a:spAutoFit/>
          </a:bodyPr>
          <a:lstStyle/>
          <a:p>
            <a:pPr>
              <a:spcBef>
                <a:spcPts val="0"/>
              </a:spcBef>
            </a:pPr>
            <a:r>
              <a:rPr lang="en-US" sz="3400" b="1" dirty="0">
                <a:solidFill>
                  <a:srgbClr val="FFFFFF"/>
                </a:solidFill>
                <a:latin typeface="Malgun Gothic"/>
              </a:rPr>
              <a:t>Scope</a:t>
            </a:r>
            <a:r>
              <a:rPr sz="3400" b="1" dirty="0">
                <a:solidFill>
                  <a:srgbClr val="FFFFFF"/>
                </a:solidFill>
                <a:latin typeface="Malgun Gothic"/>
              </a:rPr>
              <a:t> · </a:t>
            </a:r>
            <a:r>
              <a:rPr sz="3400" b="1" dirty="0" err="1">
                <a:solidFill>
                  <a:srgbClr val="FFFFFF"/>
                </a:solidFill>
                <a:latin typeface="Malgun Gothic"/>
              </a:rPr>
              <a:t>조건문</a:t>
            </a:r>
            <a:r>
              <a:rPr sz="3400" b="1" dirty="0">
                <a:solidFill>
                  <a:srgbClr val="FFFFFF"/>
                </a:solidFill>
                <a:latin typeface="Malgun Gothic"/>
              </a:rPr>
              <a:t> · </a:t>
            </a:r>
            <a:r>
              <a:rPr sz="3400" b="1" dirty="0" err="1">
                <a:solidFill>
                  <a:srgbClr val="FFFFFF"/>
                </a:solidFill>
                <a:latin typeface="Malgun Gothic"/>
              </a:rPr>
              <a:t>연산자</a:t>
            </a:r>
            <a:endParaRPr sz="3400" b="1" dirty="0">
              <a:solidFill>
                <a:srgbClr val="FFFFFF"/>
              </a:solidFill>
              <a:latin typeface="Malgun Gothic"/>
            </a:endParaRP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Bef>
                <a:spcPts val="600"/>
              </a:spcBef>
            </a:pPr>
            <a:r>
              <a:rPr sz="1600" b="0">
                <a:solidFill>
                  <a:srgbClr val="C5CED6"/>
                </a:solidFill>
                <a:latin typeface="Malgun Gothic"/>
              </a:rPr>
              <a:t>•  중첩 블록과 변수의 스코프·가시성</a:t>
            </a:r>
          </a:p>
          <a:p>
            <a:pPr>
              <a:spcBef>
                <a:spcPts val="600"/>
              </a:spcBef>
            </a:pPr>
            <a:r>
              <a:rPr sz="1600" b="0">
                <a:solidFill>
                  <a:srgbClr val="C5CED6"/>
                </a:solidFill>
                <a:latin typeface="Malgun Gothic"/>
              </a:rPr>
              <a:t>•  IF · ELSIF · ELSE와 NULL의 3값 논리</a:t>
            </a:r>
          </a:p>
          <a:p>
            <a:pPr>
              <a:spcBef>
                <a:spcPts val="600"/>
              </a:spcBef>
            </a:pPr>
            <a:r>
              <a:rPr sz="1600" b="0">
                <a:solidFill>
                  <a:srgbClr val="C5CED6"/>
                </a:solidFill>
                <a:latin typeface="Malgun Gothic"/>
              </a:rPr>
              <a:t>•  CASE 표현식과 CASE 문 · 연산자</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중첩 블록과 스코프·가시성</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실행부와 예외 처리부 안에 또 다른 블록을 넣을 수 있다 (선언부는 불가)</a:t>
            </a:r>
          </a:p>
          <a:p>
            <a:pPr>
              <a:spcBef>
                <a:spcPts val="1000"/>
              </a:spcBef>
            </a:pPr>
            <a:r>
              <a:rPr sz="1800" b="0">
                <a:solidFill>
                  <a:srgbClr val="202830"/>
                </a:solidFill>
                <a:latin typeface="Malgun Gothic"/>
              </a:rPr>
              <a:t>•  스코프(Scope): 변수가 존재하는 영역 — 선언 블록과 그 하위 블록 전체</a:t>
            </a:r>
          </a:p>
          <a:p>
            <a:pPr>
              <a:spcBef>
                <a:spcPts val="1000"/>
              </a:spcBef>
            </a:pPr>
            <a:r>
              <a:rPr sz="1800" b="0">
                <a:solidFill>
                  <a:srgbClr val="202830"/>
                </a:solidFill>
                <a:latin typeface="Malgun Gothic"/>
              </a:rPr>
              <a:t>•  가시성(Visibility): 이름만으로 참조할 수 있는 영역</a:t>
            </a:r>
          </a:p>
          <a:p>
            <a:pPr>
              <a:spcBef>
                <a:spcPts val="1000"/>
              </a:spcBef>
            </a:pPr>
            <a:r>
              <a:rPr sz="1800" b="0">
                <a:solidFill>
                  <a:srgbClr val="202830"/>
                </a:solidFill>
                <a:latin typeface="Malgun Gothic"/>
              </a:rPr>
              <a:t>•  규칙 정리</a:t>
            </a:r>
          </a:p>
          <a:p>
            <a:pPr>
              <a:spcBef>
                <a:spcPts val="400"/>
              </a:spcBef>
            </a:pPr>
            <a:r>
              <a:rPr sz="1600" b="0">
                <a:solidFill>
                  <a:srgbClr val="5A6672"/>
                </a:solidFill>
                <a:latin typeface="Malgun Gothic"/>
              </a:rPr>
              <a:t>    –  안쪽 블록은 바깥 변수를 자유롭게 참조·수정할 수 있다</a:t>
            </a:r>
          </a:p>
          <a:p>
            <a:pPr>
              <a:spcBef>
                <a:spcPts val="400"/>
              </a:spcBef>
            </a:pPr>
            <a:r>
              <a:rPr sz="1600" b="0">
                <a:solidFill>
                  <a:srgbClr val="5A6672"/>
                </a:solidFill>
                <a:latin typeface="Malgun Gothic"/>
              </a:rPr>
              <a:t>    –  바깥 블록은 안쪽 변수를 참조할 수 없다 → PLS-00201</a:t>
            </a:r>
          </a:p>
          <a:p>
            <a:pPr>
              <a:spcBef>
                <a:spcPts val="400"/>
              </a:spcBef>
            </a:pPr>
            <a:r>
              <a:rPr sz="1600" b="0">
                <a:solidFill>
                  <a:srgbClr val="5A6672"/>
                </a:solidFill>
                <a:latin typeface="Malgun Gothic"/>
              </a:rPr>
              <a:t>    –  같은 이름을 안쪽에서 다시 선언하면 안쪽 선언이 우선(가려짐)</a:t>
            </a:r>
          </a:p>
          <a:p>
            <a:pPr>
              <a:spcBef>
                <a:spcPts val="400"/>
              </a:spcBef>
            </a:pPr>
            <a:r>
              <a:rPr sz="1600" b="0">
                <a:solidFill>
                  <a:srgbClr val="5A6672"/>
                </a:solidFill>
                <a:latin typeface="Malgun Gothic"/>
              </a:rPr>
              <a:t>    –  가려진 바깥 변수는 블록 레이블 한정자로만 접근 가능</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중첩 블록과 레이블 한정자</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가려진 바깥 변수에 접근하기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SQL&gt; &lt;&lt;outer&gt;&gt;                            -- 바깥 블록 레이블</a:t>
            </a:r>
          </a:p>
          <a:p>
            <a:pPr>
              <a:spcBef>
                <a:spcPts val="0"/>
              </a:spcBef>
            </a:pPr>
            <a:r>
              <a:rPr sz="1250" b="0">
                <a:solidFill>
                  <a:srgbClr val="E6E6E6"/>
                </a:solidFill>
                <a:latin typeface="Consolas"/>
              </a:rPr>
              <a:t>  2  DECLARE</a:t>
            </a:r>
          </a:p>
          <a:p>
            <a:pPr>
              <a:spcBef>
                <a:spcPts val="0"/>
              </a:spcBef>
            </a:pPr>
            <a:r>
              <a:rPr sz="1250" b="0">
                <a:solidFill>
                  <a:srgbClr val="E6E6E6"/>
                </a:solidFill>
                <a:latin typeface="Consolas"/>
              </a:rPr>
              <a:t>  3     v_sal    NUMBER := 60000;        -- 바깥 v_sal</a:t>
            </a:r>
          </a:p>
          <a:p>
            <a:pPr>
              <a:spcBef>
                <a:spcPts val="0"/>
              </a:spcBef>
            </a:pPr>
            <a:r>
              <a:rPr sz="1250" b="0">
                <a:solidFill>
                  <a:srgbClr val="E6E6E6"/>
                </a:solidFill>
                <a:latin typeface="Consolas"/>
              </a:rPr>
              <a:t>  4     v_name   VARCHAR2(20) := 'OUTER';</a:t>
            </a:r>
          </a:p>
          <a:p>
            <a:pPr>
              <a:spcBef>
                <a:spcPts val="0"/>
              </a:spcBef>
            </a:pPr>
            <a:r>
              <a:rPr sz="1250" b="0">
                <a:solidFill>
                  <a:srgbClr val="E6E6E6"/>
                </a:solidFill>
                <a:latin typeface="Consolas"/>
              </a:rPr>
              <a:t>  5  BEGIN</a:t>
            </a:r>
          </a:p>
          <a:p>
            <a:pPr>
              <a:spcBef>
                <a:spcPts val="0"/>
              </a:spcBef>
            </a:pPr>
            <a:r>
              <a:rPr sz="1250" b="0">
                <a:solidFill>
                  <a:srgbClr val="E6E6E6"/>
                </a:solidFill>
                <a:latin typeface="Consolas"/>
              </a:rPr>
              <a:t>  6     &lt;&lt;inner_blk&gt;&gt;</a:t>
            </a:r>
          </a:p>
          <a:p>
            <a:pPr>
              <a:spcBef>
                <a:spcPts val="0"/>
              </a:spcBef>
            </a:pPr>
            <a:r>
              <a:rPr sz="1250" b="0">
                <a:solidFill>
                  <a:srgbClr val="E6E6E6"/>
                </a:solidFill>
                <a:latin typeface="Consolas"/>
              </a:rPr>
              <a:t>  7     DECLARE</a:t>
            </a:r>
          </a:p>
          <a:p>
            <a:pPr>
              <a:spcBef>
                <a:spcPts val="0"/>
              </a:spcBef>
            </a:pPr>
            <a:r>
              <a:rPr sz="1250" b="0">
                <a:solidFill>
                  <a:srgbClr val="E6E6E6"/>
                </a:solidFill>
                <a:latin typeface="Consolas"/>
              </a:rPr>
              <a:t>  8        v_sal   NUMBER := 50000;      -- 안쪽 v_sal (바깥을 가림)</a:t>
            </a:r>
          </a:p>
          <a:p>
            <a:pPr>
              <a:spcBef>
                <a:spcPts val="0"/>
              </a:spcBef>
            </a:pPr>
            <a:r>
              <a:rPr sz="1250" b="0">
                <a:solidFill>
                  <a:srgbClr val="E6E6E6"/>
                </a:solidFill>
                <a:latin typeface="Consolas"/>
              </a:rPr>
              <a:t>  9        v_bonus NUMBER := 1000;       -- 안쪽에만 존재</a:t>
            </a:r>
          </a:p>
          <a:p>
            <a:pPr>
              <a:spcBef>
                <a:spcPts val="0"/>
              </a:spcBef>
            </a:pPr>
            <a:r>
              <a:rPr sz="1250" b="0">
                <a:solidFill>
                  <a:srgbClr val="E6E6E6"/>
                </a:solidFill>
                <a:latin typeface="Consolas"/>
              </a:rPr>
              <a:t> 10     BEGIN</a:t>
            </a:r>
          </a:p>
          <a:p>
            <a:pPr>
              <a:spcBef>
                <a:spcPts val="0"/>
              </a:spcBef>
            </a:pPr>
            <a:r>
              <a:rPr sz="1250" b="0">
                <a:solidFill>
                  <a:srgbClr val="E6E6E6"/>
                </a:solidFill>
                <a:latin typeface="Consolas"/>
              </a:rPr>
              <a:t> 11        DBMS_OUTPUT.PUT_LINE('[1] 안쪽 v_sal         = ' || v_sal);</a:t>
            </a:r>
          </a:p>
          <a:p>
            <a:pPr>
              <a:spcBef>
                <a:spcPts val="0"/>
              </a:spcBef>
            </a:pPr>
            <a:r>
              <a:rPr sz="1250" b="0">
                <a:solidFill>
                  <a:srgbClr val="E6E6E6"/>
                </a:solidFill>
                <a:latin typeface="Consolas"/>
              </a:rPr>
              <a:t> 12        DBMS_OUTPUT.PUT_LINE('[2] 바깥 v_sal(한정자) = ' || outer.v_sal);</a:t>
            </a:r>
          </a:p>
          <a:p>
            <a:pPr>
              <a:spcBef>
                <a:spcPts val="0"/>
              </a:spcBef>
            </a:pPr>
            <a:r>
              <a:rPr sz="1250" b="0">
                <a:solidFill>
                  <a:srgbClr val="E6E6E6"/>
                </a:solidFill>
                <a:latin typeface="Consolas"/>
              </a:rPr>
              <a:t> 13        DBMS_OUTPUT.PUT_LINE('[3] 바깥 v_name        = ' || v_name);</a:t>
            </a:r>
          </a:p>
          <a:p>
            <a:pPr>
              <a:spcBef>
                <a:spcPts val="0"/>
              </a:spcBef>
            </a:pPr>
            <a:r>
              <a:rPr sz="1250" b="0">
                <a:solidFill>
                  <a:srgbClr val="E6E6E6"/>
                </a:solidFill>
                <a:latin typeface="Consolas"/>
              </a:rPr>
              <a:t> 14     END inner_blk;</a:t>
            </a:r>
          </a:p>
          <a:p>
            <a:pPr>
              <a:spcBef>
                <a:spcPts val="0"/>
              </a:spcBef>
            </a:pPr>
            <a:r>
              <a:rPr sz="1250" b="0">
                <a:solidFill>
                  <a:srgbClr val="E6E6E6"/>
                </a:solidFill>
                <a:latin typeface="Consolas"/>
              </a:rPr>
              <a:t> 15     -- DBMS_OUTPUT.PUT_LINE(v_bonus);  -- PLS-00201: 스코프 밖</a:t>
            </a:r>
          </a:p>
          <a:p>
            <a:pPr>
              <a:spcBef>
                <a:spcPts val="0"/>
              </a:spcBef>
            </a:pPr>
            <a:r>
              <a:rPr sz="1250" b="0">
                <a:solidFill>
                  <a:srgbClr val="E6E6E6"/>
                </a:solidFill>
                <a:latin typeface="Consolas"/>
              </a:rPr>
              <a:t> 16  END outer;</a:t>
            </a:r>
          </a:p>
          <a:p>
            <a:pPr>
              <a:spcBef>
                <a:spcPts val="0"/>
              </a:spcBef>
            </a:pPr>
            <a:r>
              <a:rPr sz="1250" b="0">
                <a:solidFill>
                  <a:srgbClr val="E6E6E6"/>
                </a:solidFill>
                <a:latin typeface="Consolas"/>
              </a:rPr>
              <a:t> 17  /</a:t>
            </a:r>
          </a:p>
          <a:p>
            <a:pPr>
              <a:spcBef>
                <a:spcPts val="0"/>
              </a:spcBef>
            </a:pPr>
            <a:r>
              <a:rPr sz="1250" b="0">
                <a:solidFill>
                  <a:srgbClr val="E6E6E6"/>
                </a:solidFill>
                <a:latin typeface="Consolas"/>
              </a:rPr>
              <a:t>[1] 안쪽 v_sal         = 50000</a:t>
            </a:r>
          </a:p>
          <a:p>
            <a:pPr>
              <a:spcBef>
                <a:spcPts val="0"/>
              </a:spcBef>
            </a:pPr>
            <a:r>
              <a:rPr sz="1250" b="0">
                <a:solidFill>
                  <a:srgbClr val="E6E6E6"/>
                </a:solidFill>
                <a:latin typeface="Consolas"/>
              </a:rPr>
              <a:t>[2] 바깥 v_sal(한정자) = 60000</a:t>
            </a:r>
          </a:p>
          <a:p>
            <a:pPr>
              <a:spcBef>
                <a:spcPts val="0"/>
              </a:spcBef>
            </a:pPr>
            <a:r>
              <a:rPr sz="1250" b="0">
                <a:solidFill>
                  <a:srgbClr val="E6E6E6"/>
                </a:solidFill>
                <a:latin typeface="Consolas"/>
              </a:rPr>
              <a:t>[3] 바깥 v_name        = OUTER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IF 조건문</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세 가지 형태</a:t>
            </a:r>
          </a:p>
          <a:p>
            <a:pPr>
              <a:spcBef>
                <a:spcPts val="400"/>
              </a:spcBef>
            </a:pPr>
            <a:r>
              <a:rPr sz="1600" b="0">
                <a:solidFill>
                  <a:srgbClr val="5A6672"/>
                </a:solidFill>
                <a:latin typeface="Malgun Gothic"/>
              </a:rPr>
              <a:t>    –  단순 IF: 조건이 참일 때만 실행</a:t>
            </a:r>
          </a:p>
          <a:p>
            <a:pPr>
              <a:spcBef>
                <a:spcPts val="400"/>
              </a:spcBef>
            </a:pPr>
            <a:r>
              <a:rPr sz="1600" b="0">
                <a:solidFill>
                  <a:srgbClr val="5A6672"/>
                </a:solidFill>
                <a:latin typeface="Malgun Gothic"/>
              </a:rPr>
              <a:t>    –  IF-THEN-ELSE: 참과 거짓을 나눔</a:t>
            </a:r>
          </a:p>
          <a:p>
            <a:pPr>
              <a:spcBef>
                <a:spcPts val="400"/>
              </a:spcBef>
            </a:pPr>
            <a:r>
              <a:rPr sz="1600" b="0">
                <a:solidFill>
                  <a:srgbClr val="5A6672"/>
                </a:solidFill>
                <a:latin typeface="Malgun Gothic"/>
              </a:rPr>
              <a:t>    –  IF-THEN-ELSIF-ELSE: 여러 조건을 순서대로 검사</a:t>
            </a:r>
          </a:p>
          <a:p>
            <a:pPr>
              <a:spcBef>
                <a:spcPts val="1000"/>
              </a:spcBef>
            </a:pPr>
            <a:r>
              <a:rPr sz="1800" b="0">
                <a:solidFill>
                  <a:srgbClr val="202830"/>
                </a:solidFill>
                <a:latin typeface="Malgun Gothic"/>
              </a:rPr>
              <a:t>•  철자 주의: ELSEIF·ELSE IF가 아니라 ELSIF</a:t>
            </a:r>
          </a:p>
          <a:p>
            <a:pPr>
              <a:spcBef>
                <a:spcPts val="400"/>
              </a:spcBef>
            </a:pPr>
            <a:r>
              <a:rPr sz="1600" b="0">
                <a:solidFill>
                  <a:srgbClr val="5A6672"/>
                </a:solidFill>
                <a:latin typeface="Malgun Gothic"/>
              </a:rPr>
              <a:t>    –  잘못 쓰면 PLS-00103 컴파일 오류</a:t>
            </a:r>
          </a:p>
          <a:p>
            <a:pPr>
              <a:spcBef>
                <a:spcPts val="1000"/>
              </a:spcBef>
            </a:pPr>
            <a:r>
              <a:rPr sz="1800" b="0">
                <a:solidFill>
                  <a:srgbClr val="202830"/>
                </a:solidFill>
                <a:latin typeface="Malgun Gothic"/>
              </a:rPr>
              <a:t>•  반드시 END IF; 로 닫는다 (END와 IF 사이에 공백)</a:t>
            </a:r>
          </a:p>
          <a:p>
            <a:pPr>
              <a:spcBef>
                <a:spcPts val="1000"/>
              </a:spcBef>
            </a:pPr>
            <a:r>
              <a:rPr sz="1800" b="0">
                <a:solidFill>
                  <a:srgbClr val="202830"/>
                </a:solidFill>
                <a:latin typeface="Malgun Gothic"/>
              </a:rPr>
              <a:t>•  ELSIF는 위에서부터 순서대로 평가되어 첫 참에서 종료된다</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IF 문 활용 예제</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급여 등급 판정과 복합 조건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SQL&gt; DECLARE</a:t>
            </a:r>
          </a:p>
          <a:p>
            <a:pPr>
              <a:spcBef>
                <a:spcPts val="0"/>
              </a:spcBef>
            </a:pPr>
            <a:r>
              <a:rPr sz="1250" b="0">
                <a:solidFill>
                  <a:srgbClr val="E6E6E6"/>
                </a:solidFill>
                <a:latin typeface="Consolas"/>
              </a:rPr>
              <a:t>  2     v_salary    employees.salary%TYPE;</a:t>
            </a:r>
          </a:p>
          <a:p>
            <a:pPr>
              <a:spcBef>
                <a:spcPts val="0"/>
              </a:spcBef>
            </a:pPr>
            <a:r>
              <a:rPr sz="1250" b="0">
                <a:solidFill>
                  <a:srgbClr val="E6E6E6"/>
                </a:solidFill>
                <a:latin typeface="Consolas"/>
              </a:rPr>
              <a:t>  3     v_job_id    employees.job_id%TYPE;</a:t>
            </a:r>
          </a:p>
          <a:p>
            <a:pPr>
              <a:spcBef>
                <a:spcPts val="0"/>
              </a:spcBef>
            </a:pPr>
            <a:r>
              <a:rPr sz="1250" b="0">
                <a:solidFill>
                  <a:srgbClr val="E6E6E6"/>
                </a:solidFill>
                <a:latin typeface="Consolas"/>
              </a:rPr>
              <a:t>  4     v_grade     VARCHAR2(20);</a:t>
            </a:r>
          </a:p>
          <a:p>
            <a:pPr>
              <a:spcBef>
                <a:spcPts val="0"/>
              </a:spcBef>
            </a:pPr>
            <a:r>
              <a:rPr sz="1250" b="0">
                <a:solidFill>
                  <a:srgbClr val="E6E6E6"/>
                </a:solidFill>
                <a:latin typeface="Consolas"/>
              </a:rPr>
              <a:t>  5     v_bonus     NUMBER(10,2);</a:t>
            </a:r>
          </a:p>
          <a:p>
            <a:pPr>
              <a:spcBef>
                <a:spcPts val="0"/>
              </a:spcBef>
            </a:pPr>
            <a:r>
              <a:rPr sz="1250" b="0">
                <a:solidFill>
                  <a:srgbClr val="E6E6E6"/>
                </a:solidFill>
                <a:latin typeface="Consolas"/>
              </a:rPr>
              <a:t>  6  BEGIN</a:t>
            </a:r>
          </a:p>
          <a:p>
            <a:pPr>
              <a:spcBef>
                <a:spcPts val="0"/>
              </a:spcBef>
            </a:pPr>
            <a:r>
              <a:rPr sz="1250" b="0">
                <a:solidFill>
                  <a:srgbClr val="E6E6E6"/>
                </a:solidFill>
                <a:latin typeface="Consolas"/>
              </a:rPr>
              <a:t>  7     SELECT salary, job_id INTO v_salary, v_job_id</a:t>
            </a:r>
          </a:p>
          <a:p>
            <a:pPr>
              <a:spcBef>
                <a:spcPts val="0"/>
              </a:spcBef>
            </a:pPr>
            <a:r>
              <a:rPr sz="1250" b="0">
                <a:solidFill>
                  <a:srgbClr val="E6E6E6"/>
                </a:solidFill>
                <a:latin typeface="Consolas"/>
              </a:rPr>
              <a:t>  8       FROM employees WHERE employee_id = 103;</a:t>
            </a:r>
          </a:p>
          <a:p>
            <a:pPr>
              <a:spcBef>
                <a:spcPts val="0"/>
              </a:spcBef>
            </a:pPr>
            <a:r>
              <a:rPr sz="1250" b="0">
                <a:solidFill>
                  <a:srgbClr val="E6E6E6"/>
                </a:solidFill>
                <a:latin typeface="Consolas"/>
              </a:rPr>
              <a:t>  9     -- (1) IF-THEN-ELSIF-ELSE: 큰 값부터 검사한다</a:t>
            </a:r>
          </a:p>
          <a:p>
            <a:pPr>
              <a:spcBef>
                <a:spcPts val="0"/>
              </a:spcBef>
            </a:pPr>
            <a:r>
              <a:rPr sz="1250" b="0">
                <a:solidFill>
                  <a:srgbClr val="E6E6E6"/>
                </a:solidFill>
                <a:latin typeface="Consolas"/>
              </a:rPr>
              <a:t> 10     IF v_salary &gt;= 15000 THEN  v_grade := 'EXECUTIVE';</a:t>
            </a:r>
          </a:p>
          <a:p>
            <a:pPr>
              <a:spcBef>
                <a:spcPts val="0"/>
              </a:spcBef>
            </a:pPr>
            <a:r>
              <a:rPr sz="1250" b="0">
                <a:solidFill>
                  <a:srgbClr val="E6E6E6"/>
                </a:solidFill>
                <a:latin typeface="Consolas"/>
              </a:rPr>
              <a:t> 11     ELSIF v_salary &gt;= 10000 THEN  v_grade := 'SENIOR';</a:t>
            </a:r>
          </a:p>
          <a:p>
            <a:pPr>
              <a:spcBef>
                <a:spcPts val="0"/>
              </a:spcBef>
            </a:pPr>
            <a:r>
              <a:rPr sz="1250" b="0">
                <a:solidFill>
                  <a:srgbClr val="E6E6E6"/>
                </a:solidFill>
                <a:latin typeface="Consolas"/>
              </a:rPr>
              <a:t> 12     ELSIF v_salary &gt;=  6000 THEN  v_grade := 'MIDDLE';</a:t>
            </a:r>
          </a:p>
          <a:p>
            <a:pPr>
              <a:spcBef>
                <a:spcPts val="0"/>
              </a:spcBef>
            </a:pPr>
            <a:r>
              <a:rPr sz="1250" b="0">
                <a:solidFill>
                  <a:srgbClr val="E6E6E6"/>
                </a:solidFill>
                <a:latin typeface="Consolas"/>
              </a:rPr>
              <a:t> 13     ELSE  v_grade := 'JUNIOR';</a:t>
            </a:r>
          </a:p>
          <a:p>
            <a:pPr>
              <a:spcBef>
                <a:spcPts val="0"/>
              </a:spcBef>
            </a:pPr>
            <a:r>
              <a:rPr sz="1250" b="0">
                <a:solidFill>
                  <a:srgbClr val="E6E6E6"/>
                </a:solidFill>
                <a:latin typeface="Consolas"/>
              </a:rPr>
              <a:t> 14     END IF;</a:t>
            </a:r>
          </a:p>
          <a:p>
            <a:pPr>
              <a:spcBef>
                <a:spcPts val="0"/>
              </a:spcBef>
            </a:pPr>
            <a:r>
              <a:rPr sz="1250" b="0">
                <a:solidFill>
                  <a:srgbClr val="E6E6E6"/>
                </a:solidFill>
                <a:latin typeface="Consolas"/>
              </a:rPr>
              <a:t> 15     -- (2) 논리 연산자를 사용한 복합 조건</a:t>
            </a:r>
          </a:p>
          <a:p>
            <a:pPr>
              <a:spcBef>
                <a:spcPts val="0"/>
              </a:spcBef>
            </a:pPr>
            <a:r>
              <a:rPr sz="1250" b="0">
                <a:solidFill>
                  <a:srgbClr val="E6E6E6"/>
                </a:solidFill>
                <a:latin typeface="Consolas"/>
              </a:rPr>
              <a:t> 16     IF v_job_id LIKE 'IT%' AND v_salary &lt; 10000 THEN</a:t>
            </a:r>
          </a:p>
          <a:p>
            <a:pPr>
              <a:spcBef>
                <a:spcPts val="0"/>
              </a:spcBef>
            </a:pPr>
            <a:r>
              <a:rPr sz="1250" b="0">
                <a:solidFill>
                  <a:srgbClr val="E6E6E6"/>
                </a:solidFill>
                <a:latin typeface="Consolas"/>
              </a:rPr>
              <a:t> 17        v_bonus := v_salary * 0.15;</a:t>
            </a:r>
          </a:p>
          <a:p>
            <a:pPr>
              <a:spcBef>
                <a:spcPts val="0"/>
              </a:spcBef>
            </a:pPr>
            <a:r>
              <a:rPr sz="1250" b="0">
                <a:solidFill>
                  <a:srgbClr val="E6E6E6"/>
                </a:solidFill>
                <a:latin typeface="Consolas"/>
              </a:rPr>
              <a:t> 18     ELSE  v_bonus := v_salary * 0.05;</a:t>
            </a:r>
          </a:p>
          <a:p>
            <a:pPr>
              <a:spcBef>
                <a:spcPts val="0"/>
              </a:spcBef>
            </a:pPr>
            <a:r>
              <a:rPr sz="1250" b="0">
                <a:solidFill>
                  <a:srgbClr val="E6E6E6"/>
                </a:solidFill>
                <a:latin typeface="Consolas"/>
              </a:rPr>
              <a:t> 19     END IF;</a:t>
            </a:r>
          </a:p>
          <a:p>
            <a:pPr>
              <a:spcBef>
                <a:spcPts val="0"/>
              </a:spcBef>
            </a:pPr>
            <a:r>
              <a:rPr sz="1250" b="0">
                <a:solidFill>
                  <a:srgbClr val="E6E6E6"/>
                </a:solidFill>
                <a:latin typeface="Consolas"/>
              </a:rPr>
              <a:t> 20     DBMS_OUTPUT.PUT_LINE(v_grade || ' / 보너스 ' || v_bonus);</a:t>
            </a:r>
          </a:p>
          <a:p>
            <a:pPr>
              <a:spcBef>
                <a:spcPts val="0"/>
              </a:spcBef>
            </a:pPr>
            <a:r>
              <a:rPr sz="1250" b="0">
                <a:solidFill>
                  <a:srgbClr val="E6E6E6"/>
                </a:solidFill>
                <a:latin typeface="Consolas"/>
              </a:rPr>
              <a:t> 21  END;</a:t>
            </a:r>
          </a:p>
          <a:p>
            <a:pPr>
              <a:spcBef>
                <a:spcPts val="0"/>
              </a:spcBef>
            </a:pPr>
            <a:r>
              <a:rPr sz="1250" b="0">
                <a:solidFill>
                  <a:srgbClr val="E6E6E6"/>
                </a:solidFill>
                <a:latin typeface="Consolas"/>
              </a:rPr>
              <a:t> 22  /</a:t>
            </a:r>
          </a:p>
          <a:p>
            <a:pPr>
              <a:spcBef>
                <a:spcPts val="0"/>
              </a:spcBef>
            </a:pPr>
            <a:r>
              <a:rPr sz="1250" b="0">
                <a:solidFill>
                  <a:srgbClr val="E6E6E6"/>
                </a:solidFill>
                <a:latin typeface="Consolas"/>
              </a:rPr>
              <a:t>MIDDLE / 보너스 1350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IF 문에서의 NULL 처리 (3값 논리)</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PL/SQL 조건식의 결과는 TRUE · FALSE · NULL 세 가지</a:t>
            </a:r>
          </a:p>
          <a:p>
            <a:pPr>
              <a:spcBef>
                <a:spcPts val="1000"/>
              </a:spcBef>
            </a:pPr>
            <a:r>
              <a:rPr sz="1800" b="0">
                <a:solidFill>
                  <a:srgbClr val="202830"/>
                </a:solidFill>
                <a:latin typeface="Malgun Gothic"/>
              </a:rPr>
              <a:t>•  조건식이 NULL이면 IF는 만족하지 않은 것으로 보고 ELSE로 간다</a:t>
            </a:r>
          </a:p>
          <a:p>
            <a:pPr>
              <a:spcBef>
                <a:spcPts val="400"/>
              </a:spcBef>
            </a:pPr>
            <a:r>
              <a:rPr sz="1600" b="0">
                <a:solidFill>
                  <a:srgbClr val="5A6672"/>
                </a:solidFill>
                <a:latin typeface="Malgun Gothic"/>
              </a:rPr>
              <a:t>    –  x가 NULL이면 IF x &gt; 10 도, IF NOT (x &gt; 10) 도 실행되지 않는다</a:t>
            </a:r>
          </a:p>
          <a:p>
            <a:pPr>
              <a:spcBef>
                <a:spcPts val="1000"/>
              </a:spcBef>
            </a:pPr>
            <a:r>
              <a:rPr sz="1800" b="0">
                <a:solidFill>
                  <a:srgbClr val="202830"/>
                </a:solidFill>
                <a:latin typeface="Malgun Gothic"/>
              </a:rPr>
              <a:t>•  논리 연산 결과</a:t>
            </a:r>
          </a:p>
          <a:p>
            <a:pPr>
              <a:spcBef>
                <a:spcPts val="400"/>
              </a:spcBef>
            </a:pPr>
            <a:r>
              <a:rPr sz="1600" b="0">
                <a:solidFill>
                  <a:srgbClr val="5A6672"/>
                </a:solidFill>
                <a:latin typeface="Malgun Gothic"/>
              </a:rPr>
              <a:t>    –  TRUE AND NULL → NULL,  FALSE AND NULL → FALSE</a:t>
            </a:r>
          </a:p>
          <a:p>
            <a:pPr>
              <a:spcBef>
                <a:spcPts val="400"/>
              </a:spcBef>
            </a:pPr>
            <a:r>
              <a:rPr sz="1600" b="0">
                <a:solidFill>
                  <a:srgbClr val="5A6672"/>
                </a:solidFill>
                <a:latin typeface="Malgun Gothic"/>
              </a:rPr>
              <a:t>    –  TRUE OR NULL → TRUE,  FALSE OR NULL → NULL,  NOT NULL → NULL</a:t>
            </a:r>
          </a:p>
          <a:p>
            <a:pPr>
              <a:spcBef>
                <a:spcPts val="1000"/>
              </a:spcBef>
            </a:pPr>
            <a:r>
              <a:rPr sz="1800" b="0">
                <a:solidFill>
                  <a:srgbClr val="202830"/>
                </a:solidFill>
                <a:latin typeface="Malgun Gothic"/>
              </a:rPr>
              <a:t>•  해결: IS NULL / IS NOT NULL 또는 NVL로 명시적으로 처리한다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 NULL 이나 &lt;&gt; NULL 은 결코 참이 되지 않는다. NULL 비교는 반드시 IS NULL / IS NOT NULL을 사용한다.</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CASE 표현식과 CASE 문</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CASE 표현식(CASE Expression): 값을 만들어 낸다</a:t>
            </a:r>
          </a:p>
          <a:p>
            <a:pPr>
              <a:spcBef>
                <a:spcPts val="400"/>
              </a:spcBef>
            </a:pPr>
            <a:r>
              <a:rPr sz="1600" b="0">
                <a:solidFill>
                  <a:srgbClr val="5A6672"/>
                </a:solidFill>
                <a:latin typeface="Malgun Gothic"/>
              </a:rPr>
              <a:t>    –  변수에 대입하거나 다른 식의 일부로 사용, END 로 끝난다</a:t>
            </a:r>
          </a:p>
          <a:p>
            <a:pPr>
              <a:spcBef>
                <a:spcPts val="400"/>
              </a:spcBef>
            </a:pPr>
            <a:r>
              <a:rPr sz="1600" b="0">
                <a:solidFill>
                  <a:srgbClr val="5A6672"/>
                </a:solidFill>
                <a:latin typeface="Malgun Gothic"/>
              </a:rPr>
              <a:t>    –  단순 CASE(셀렉터 비교)와 검색 CASE(조건식 평가) 두 형태</a:t>
            </a:r>
          </a:p>
          <a:p>
            <a:pPr>
              <a:spcBef>
                <a:spcPts val="1000"/>
              </a:spcBef>
            </a:pPr>
            <a:r>
              <a:rPr sz="1800" b="0">
                <a:solidFill>
                  <a:srgbClr val="202830"/>
                </a:solidFill>
                <a:latin typeface="Malgun Gothic"/>
              </a:rPr>
              <a:t>•  CASE 문(CASE Statement): 문장 블록을 실행한다</a:t>
            </a:r>
          </a:p>
          <a:p>
            <a:pPr>
              <a:spcBef>
                <a:spcPts val="400"/>
              </a:spcBef>
            </a:pPr>
            <a:r>
              <a:rPr sz="1600" b="0">
                <a:solidFill>
                  <a:srgbClr val="5A6672"/>
                </a:solidFill>
                <a:latin typeface="Malgun Gothic"/>
              </a:rPr>
              <a:t>    –  END CASE; 로 끝난다</a:t>
            </a:r>
          </a:p>
          <a:p>
            <a:pPr>
              <a:spcBef>
                <a:spcPts val="400"/>
              </a:spcBef>
            </a:pPr>
            <a:r>
              <a:rPr sz="1600" b="0">
                <a:solidFill>
                  <a:srgbClr val="5A6672"/>
                </a:solidFill>
                <a:latin typeface="Malgun Gothic"/>
              </a:rPr>
              <a:t>    –  어떤 WHEN도 만족하지 않고 ELSE도 없으면 CASE_NOT_FOUND (ORA-06592)</a:t>
            </a:r>
          </a:p>
          <a:p>
            <a:pPr>
              <a:spcBef>
                <a:spcPts val="1000"/>
              </a:spcBef>
            </a:pPr>
            <a:r>
              <a:rPr sz="1800" b="0">
                <a:solidFill>
                  <a:srgbClr val="202830"/>
                </a:solidFill>
                <a:latin typeface="Malgun Gothic"/>
              </a:rPr>
              <a:t>•  선택 기준: 값 매핑은 단순 CASE, 범위 판정은 검색 CASE 또는 IF-ELSIF</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rPr>
              <a:t>Best Practice: </a:t>
            </a:r>
            <a:r>
              <a:rPr sz="1250" b="0">
                <a:solidFill>
                  <a:srgbClr val="202830"/>
                </a:solidFill>
                <a:latin typeface="Malgun Gothic"/>
              </a:rPr>
              <a:t>단순 CASE의 셀렉터가 NULL이면 어떤 WHEN에도 걸리지 않는다. NVL로 감싸 기본 분기를 만들어 두면 안전하다.</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CASE 표현식과 CASE 문 활용</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검색 CASE · 단순 CASE · CASE 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E6E6E6"/>
                </a:solidFill>
                <a:latin typeface="Consolas"/>
              </a:rPr>
              <a:t>SQL&gt; DECLARE</a:t>
            </a:r>
          </a:p>
          <a:p>
            <a:pPr>
              <a:spcBef>
                <a:spcPts val="0"/>
              </a:spcBef>
            </a:pPr>
            <a:r>
              <a:rPr sz="1250" b="0">
                <a:solidFill>
                  <a:srgbClr val="E6E6E6"/>
                </a:solidFill>
                <a:latin typeface="Consolas"/>
              </a:rPr>
              <a:t>  2     rec_emp     employees%ROWTYPE;</a:t>
            </a:r>
          </a:p>
          <a:p>
            <a:pPr>
              <a:spcBef>
                <a:spcPts val="0"/>
              </a:spcBef>
            </a:pPr>
            <a:r>
              <a:rPr sz="1250" b="0">
                <a:solidFill>
                  <a:srgbClr val="E6E6E6"/>
                </a:solidFill>
                <a:latin typeface="Consolas"/>
              </a:rPr>
              <a:t>  3     v_appraisal VARCHAR2(20);</a:t>
            </a:r>
          </a:p>
          <a:p>
            <a:pPr>
              <a:spcBef>
                <a:spcPts val="0"/>
              </a:spcBef>
            </a:pPr>
            <a:r>
              <a:rPr sz="1250" b="0">
                <a:solidFill>
                  <a:srgbClr val="E6E6E6"/>
                </a:solidFill>
                <a:latin typeface="Consolas"/>
              </a:rPr>
              <a:t>  4     v_dept_nm   VARCHAR2(30);</a:t>
            </a:r>
          </a:p>
          <a:p>
            <a:pPr>
              <a:spcBef>
                <a:spcPts val="0"/>
              </a:spcBef>
            </a:pPr>
            <a:r>
              <a:rPr sz="1250" b="0">
                <a:solidFill>
                  <a:srgbClr val="E6E6E6"/>
                </a:solidFill>
                <a:latin typeface="Consolas"/>
              </a:rPr>
              <a:t>  5  BEGIN</a:t>
            </a:r>
          </a:p>
          <a:p>
            <a:pPr>
              <a:spcBef>
                <a:spcPts val="0"/>
              </a:spcBef>
            </a:pPr>
            <a:r>
              <a:rPr sz="1250" b="0">
                <a:solidFill>
                  <a:srgbClr val="E6E6E6"/>
                </a:solidFill>
                <a:latin typeface="Consolas"/>
              </a:rPr>
              <a:t>  6     SELECT * INTO rec_emp FROM employees WHERE employee_id = 178;</a:t>
            </a:r>
          </a:p>
          <a:p>
            <a:pPr>
              <a:spcBef>
                <a:spcPts val="0"/>
              </a:spcBef>
            </a:pPr>
            <a:r>
              <a:rPr sz="1250" b="0">
                <a:solidFill>
                  <a:srgbClr val="E6E6E6"/>
                </a:solidFill>
                <a:latin typeface="Consolas"/>
              </a:rPr>
              <a:t>  7     -- 검색 CASE 표현식: 범위 조건 판정에 적합</a:t>
            </a:r>
          </a:p>
          <a:p>
            <a:pPr>
              <a:spcBef>
                <a:spcPts val="0"/>
              </a:spcBef>
            </a:pPr>
            <a:r>
              <a:rPr sz="1250" b="0">
                <a:solidFill>
                  <a:srgbClr val="E6E6E6"/>
                </a:solidFill>
                <a:latin typeface="Consolas"/>
              </a:rPr>
              <a:t>  8     v_appraisal := CASE WHEN rec_emp.salary &gt;= 20000 THEN 'TOP'</a:t>
            </a:r>
          </a:p>
          <a:p>
            <a:pPr>
              <a:spcBef>
                <a:spcPts val="0"/>
              </a:spcBef>
            </a:pPr>
            <a:r>
              <a:rPr sz="1250" b="0">
                <a:solidFill>
                  <a:srgbClr val="E6E6E6"/>
                </a:solidFill>
                <a:latin typeface="Consolas"/>
              </a:rPr>
              <a:t>  9                         WHEN rec_emp.salary &gt;= 10000 THEN 'HIGH'</a:t>
            </a:r>
          </a:p>
          <a:p>
            <a:pPr>
              <a:spcBef>
                <a:spcPts val="0"/>
              </a:spcBef>
            </a:pPr>
            <a:r>
              <a:rPr sz="1250" b="0">
                <a:solidFill>
                  <a:srgbClr val="E6E6E6"/>
                </a:solidFill>
                <a:latin typeface="Consolas"/>
              </a:rPr>
              <a:t> 10                         WHEN rec_emp.salary &gt;=  6000 THEN 'MIDDLE'</a:t>
            </a:r>
          </a:p>
          <a:p>
            <a:pPr>
              <a:spcBef>
                <a:spcPts val="0"/>
              </a:spcBef>
            </a:pPr>
            <a:r>
              <a:rPr sz="1250" b="0">
                <a:solidFill>
                  <a:srgbClr val="E6E6E6"/>
                </a:solidFill>
                <a:latin typeface="Consolas"/>
              </a:rPr>
              <a:t> 11                         ELSE 'ENTRY' END;</a:t>
            </a:r>
          </a:p>
          <a:p>
            <a:pPr>
              <a:spcBef>
                <a:spcPts val="0"/>
              </a:spcBef>
            </a:pPr>
            <a:r>
              <a:rPr sz="1250" b="0">
                <a:solidFill>
                  <a:srgbClr val="E6E6E6"/>
                </a:solidFill>
                <a:latin typeface="Consolas"/>
              </a:rPr>
              <a:t> 12     -- 단순 CASE 표현식: 코드 값 매핑에 적합</a:t>
            </a:r>
          </a:p>
          <a:p>
            <a:pPr>
              <a:spcBef>
                <a:spcPts val="0"/>
              </a:spcBef>
            </a:pPr>
            <a:r>
              <a:rPr sz="1250" b="0">
                <a:solidFill>
                  <a:srgbClr val="E6E6E6"/>
                </a:solidFill>
                <a:latin typeface="Consolas"/>
              </a:rPr>
              <a:t> 13     v_dept_nm := CASE NVL(rec_emp.department_id, -1)</a:t>
            </a:r>
          </a:p>
          <a:p>
            <a:pPr>
              <a:spcBef>
                <a:spcPts val="0"/>
              </a:spcBef>
            </a:pPr>
            <a:r>
              <a:rPr sz="1250" b="0">
                <a:solidFill>
                  <a:srgbClr val="E6E6E6"/>
                </a:solidFill>
                <a:latin typeface="Consolas"/>
              </a:rPr>
              <a:t> 14                     WHEN 20 THEN 'Marketing'  WHEN 80 THEN 'Sales'</a:t>
            </a:r>
          </a:p>
          <a:p>
            <a:pPr>
              <a:spcBef>
                <a:spcPts val="0"/>
              </a:spcBef>
            </a:pPr>
            <a:r>
              <a:rPr sz="1250" b="0">
                <a:solidFill>
                  <a:srgbClr val="E6E6E6"/>
                </a:solidFill>
                <a:latin typeface="Consolas"/>
              </a:rPr>
              <a:t> 15                     WHEN -1 THEN '(부서 미배정)'  ELSE 'Others' END;</a:t>
            </a:r>
          </a:p>
          <a:p>
            <a:pPr>
              <a:spcBef>
                <a:spcPts val="0"/>
              </a:spcBef>
            </a:pPr>
            <a:r>
              <a:rPr sz="1250" b="0">
                <a:solidFill>
                  <a:srgbClr val="E6E6E6"/>
                </a:solidFill>
                <a:latin typeface="Consolas"/>
              </a:rPr>
              <a:t> 16     DBMS_OUTPUT.PUT_LINE(rec_emp.last_name || ' / ' || v_appraisal</a:t>
            </a:r>
          </a:p>
          <a:p>
            <a:pPr>
              <a:spcBef>
                <a:spcPts val="0"/>
              </a:spcBef>
            </a:pPr>
            <a:r>
              <a:rPr sz="1250" b="0">
                <a:solidFill>
                  <a:srgbClr val="E6E6E6"/>
                </a:solidFill>
                <a:latin typeface="Consolas"/>
              </a:rPr>
              <a:t> 17                          || ' / ' || v_dept_nm);</a:t>
            </a:r>
          </a:p>
          <a:p>
            <a:pPr>
              <a:spcBef>
                <a:spcPts val="0"/>
              </a:spcBef>
            </a:pPr>
            <a:r>
              <a:rPr sz="1250" b="0">
                <a:solidFill>
                  <a:srgbClr val="E6E6E6"/>
                </a:solidFill>
                <a:latin typeface="Consolas"/>
              </a:rPr>
              <a:t> 18     CASE   -- CASE 문: 값이 아니라 동작을 분기한다</a:t>
            </a:r>
          </a:p>
          <a:p>
            <a:pPr>
              <a:spcBef>
                <a:spcPts val="0"/>
              </a:spcBef>
            </a:pPr>
            <a:r>
              <a:rPr sz="1250" b="0">
                <a:solidFill>
                  <a:srgbClr val="E6E6E6"/>
                </a:solidFill>
                <a:latin typeface="Consolas"/>
              </a:rPr>
              <a:t> 19        WHEN rec_emp.commission_pct IS NULL THEN</a:t>
            </a:r>
          </a:p>
          <a:p>
            <a:pPr>
              <a:spcBef>
                <a:spcPts val="0"/>
              </a:spcBef>
            </a:pPr>
            <a:r>
              <a:rPr sz="1250" b="0">
                <a:solidFill>
                  <a:srgbClr val="E6E6E6"/>
                </a:solidFill>
                <a:latin typeface="Consolas"/>
              </a:rPr>
              <a:t> 20           DBMS_OUTPUT.PUT_LINE('고정급 사원');</a:t>
            </a:r>
          </a:p>
          <a:p>
            <a:pPr>
              <a:spcBef>
                <a:spcPts val="0"/>
              </a:spcBef>
            </a:pPr>
            <a:r>
              <a:rPr sz="1250" b="0">
                <a:solidFill>
                  <a:srgbClr val="E6E6E6"/>
                </a:solidFill>
                <a:latin typeface="Consolas"/>
              </a:rPr>
              <a:t> 21        ELSE DBMS_OUTPUT.PUT_LINE('커미션 사원');</a:t>
            </a:r>
          </a:p>
          <a:p>
            <a:pPr>
              <a:spcBef>
                <a:spcPts val="0"/>
              </a:spcBef>
            </a:pPr>
            <a:r>
              <a:rPr sz="1250" b="0">
                <a:solidFill>
                  <a:srgbClr val="E6E6E6"/>
                </a:solidFill>
                <a:latin typeface="Consolas"/>
              </a:rPr>
              <a:t> 22     END CASE;</a:t>
            </a:r>
          </a:p>
          <a:p>
            <a:pPr>
              <a:spcBef>
                <a:spcPts val="0"/>
              </a:spcBef>
            </a:pPr>
            <a:r>
              <a:rPr sz="1250" b="0">
                <a:solidFill>
                  <a:srgbClr val="E6E6E6"/>
                </a:solidFill>
                <a:latin typeface="Consolas"/>
              </a:rPr>
              <a:t> 23  END;</a:t>
            </a:r>
          </a:p>
          <a:p>
            <a:pPr>
              <a:spcBef>
                <a:spcPts val="0"/>
              </a:spcBef>
            </a:pPr>
            <a:r>
              <a:rPr sz="1250" b="0">
                <a:solidFill>
                  <a:srgbClr val="E6E6E6"/>
                </a:solidFill>
                <a:latin typeface="Consolas"/>
              </a:rPr>
              <a:t> 24  /</a:t>
            </a:r>
          </a:p>
          <a:p>
            <a:pPr>
              <a:spcBef>
                <a:spcPts val="0"/>
              </a:spcBef>
            </a:pPr>
            <a:r>
              <a:rPr sz="1250" b="0">
                <a:solidFill>
                  <a:srgbClr val="E6E6E6"/>
                </a:solidFill>
                <a:latin typeface="Consolas"/>
              </a:rPr>
              <a:t>Grant / ENTRY / (부서 미배정)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연산자와 식</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산술: + - * / **  (거듭제곱 **는 PL/SQL에만 있고 SQL에는 없다)</a:t>
            </a:r>
          </a:p>
          <a:p>
            <a:pPr>
              <a:spcBef>
                <a:spcPts val="1000"/>
              </a:spcBef>
            </a:pPr>
            <a:r>
              <a:rPr sz="1800" b="0">
                <a:solidFill>
                  <a:srgbClr val="202830"/>
                </a:solidFill>
                <a:latin typeface="Malgun Gothic"/>
              </a:rPr>
              <a:t>•  문자열 연결: ||</a:t>
            </a:r>
          </a:p>
          <a:p>
            <a:pPr>
              <a:spcBef>
                <a:spcPts val="1000"/>
              </a:spcBef>
            </a:pPr>
            <a:r>
              <a:rPr sz="1800" b="0">
                <a:solidFill>
                  <a:srgbClr val="202830"/>
                </a:solidFill>
                <a:latin typeface="Malgun Gothic"/>
              </a:rPr>
              <a:t>•  비교: = &lt;&gt; &lt; &gt; BETWEEN IN LIKE IS NULL</a:t>
            </a:r>
          </a:p>
          <a:p>
            <a:pPr>
              <a:spcBef>
                <a:spcPts val="1000"/>
              </a:spcBef>
            </a:pPr>
            <a:r>
              <a:rPr sz="1800" b="0">
                <a:solidFill>
                  <a:srgbClr val="202830"/>
                </a:solidFill>
                <a:latin typeface="Malgun Gothic"/>
              </a:rPr>
              <a:t>•  논리: AND OR NOT</a:t>
            </a:r>
          </a:p>
          <a:p>
            <a:pPr>
              <a:spcBef>
                <a:spcPts val="1000"/>
              </a:spcBef>
            </a:pPr>
            <a:r>
              <a:rPr sz="1800" b="0">
                <a:solidFill>
                  <a:srgbClr val="202830"/>
                </a:solidFill>
                <a:latin typeface="Malgun Gothic"/>
              </a:rPr>
              <a:t>•  우선순위: 괄호 &gt; ** &gt; 단항 +,- &gt; *,/ &gt; +,-,|| &gt; 비교 &gt; NOT &gt; AND &gt; OR</a:t>
            </a:r>
          </a:p>
          <a:p>
            <a:pPr>
              <a:spcBef>
                <a:spcPts val="1000"/>
              </a:spcBef>
            </a:pPr>
            <a:r>
              <a:rPr sz="1800" b="0">
                <a:solidFill>
                  <a:srgbClr val="202830"/>
                </a:solidFill>
                <a:latin typeface="Malgun Gothic"/>
              </a:rPr>
              <a:t>•  SQL 단일 행 함수는 블록 안에서 자유롭게 사용 가능</a:t>
            </a:r>
          </a:p>
          <a:p>
            <a:pPr>
              <a:spcBef>
                <a:spcPts val="400"/>
              </a:spcBef>
            </a:pPr>
            <a:r>
              <a:rPr sz="1600" b="0">
                <a:solidFill>
                  <a:srgbClr val="5A6672"/>
                </a:solidFill>
                <a:latin typeface="Malgun Gothic"/>
              </a:rPr>
              <a:t>    –  DECODE와 그룹 함수는 절차적 문장에서 직접 사용 불가</a:t>
            </a:r>
          </a:p>
          <a:p>
            <a:pPr>
              <a:spcBef>
                <a:spcPts val="400"/>
              </a:spcBef>
            </a:pPr>
            <a:r>
              <a:rPr sz="1600" b="0">
                <a:solidFill>
                  <a:srgbClr val="5A6672"/>
                </a:solidFill>
                <a:latin typeface="Malgun Gothic"/>
              </a:rPr>
              <a:t>    –  DECODE 대신 CASE, 그룹 함수는 SELECT … INTO로 받아서 사용</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2743200" cy="1371600"/>
          </a:xfrm>
          <a:prstGeom prst="rect">
            <a:avLst/>
          </a:prstGeom>
          <a:noFill/>
        </p:spPr>
        <p:txBody>
          <a:bodyPr wrap="square">
            <a:spAutoFit/>
          </a:bodyPr>
          <a:lstStyle/>
          <a:p>
            <a:pPr>
              <a:spcBef>
                <a:spcPts val="0"/>
              </a:spcBef>
            </a:pPr>
            <a:r>
              <a:rPr sz="6600" b="1">
                <a:solidFill>
                  <a:srgbClr val="C0392B"/>
                </a:solidFill>
                <a:latin typeface="Malgun Gothic"/>
              </a:rPr>
              <a:t>1.16</a:t>
            </a:r>
          </a:p>
        </p:txBody>
      </p:sp>
      <p:sp>
        <p:nvSpPr>
          <p:cNvPr id="3" name="TextBox 2"/>
          <p:cNvSpPr txBox="1"/>
          <p:nvPr/>
        </p:nvSpPr>
        <p:spPr>
          <a:xfrm>
            <a:off x="822960" y="2743200"/>
            <a:ext cx="10515600" cy="1097280"/>
          </a:xfrm>
          <a:prstGeom prst="rect">
            <a:avLst/>
          </a:prstGeom>
          <a:noFill/>
        </p:spPr>
        <p:txBody>
          <a:bodyPr wrap="square">
            <a:spAutoFit/>
          </a:bodyPr>
          <a:lstStyle/>
          <a:p>
            <a:pPr>
              <a:spcBef>
                <a:spcPts val="0"/>
              </a:spcBef>
            </a:pPr>
            <a:r>
              <a:rPr sz="3400" b="1">
                <a:solidFill>
                  <a:srgbClr val="FFFFFF"/>
                </a:solidFill>
                <a:latin typeface="Malgun Gothic"/>
              </a:rPr>
              <a:t>자주 만나는 오류와 디버깅</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Bef>
                <a:spcPts val="600"/>
              </a:spcBef>
            </a:pPr>
            <a:r>
              <a:rPr sz="1600" b="0">
                <a:solidFill>
                  <a:srgbClr val="C5CED6"/>
                </a:solidFill>
                <a:latin typeface="Malgun Gothic"/>
              </a:rPr>
              <a:t>•  컴파일 오류(PLS-)와 런타임 오류(ORA-)</a:t>
            </a:r>
          </a:p>
          <a:p>
            <a:pPr>
              <a:spcBef>
                <a:spcPts val="600"/>
              </a:spcBef>
            </a:pPr>
            <a:r>
              <a:rPr sz="1600" b="0">
                <a:solidFill>
                  <a:srgbClr val="C5CED6"/>
                </a:solidFill>
                <a:latin typeface="Malgun Gothic"/>
              </a:rPr>
              <a:t>•  오류 → 원인 파악 → 수정 흐름</a:t>
            </a:r>
          </a:p>
          <a:p>
            <a:pPr>
              <a:spcBef>
                <a:spcPts val="600"/>
              </a:spcBef>
            </a:pPr>
            <a:r>
              <a:rPr sz="1600" b="0">
                <a:solidFill>
                  <a:srgbClr val="C5CED6"/>
                </a:solidFill>
                <a:latin typeface="Malgun Gothic"/>
              </a:rPr>
              <a:t>•  DBMS_OUTPUT 기반 디버깅 습관</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자주 만나는 오류 목록</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컴파일 오류 (PLS-) — 블록이 아예 실행되지 않는다</a:t>
            </a:r>
          </a:p>
          <a:p>
            <a:pPr>
              <a:spcBef>
                <a:spcPts val="400"/>
              </a:spcBef>
            </a:pPr>
            <a:r>
              <a:rPr sz="1600" b="0">
                <a:solidFill>
                  <a:srgbClr val="5A6672"/>
                </a:solidFill>
                <a:latin typeface="Malgun Gothic"/>
              </a:rPr>
              <a:t>    –  PLS-00201: 선언하지 않은 식별자 사용 (오타 · 스코프 밖 참조)</a:t>
            </a:r>
          </a:p>
          <a:p>
            <a:pPr>
              <a:spcBef>
                <a:spcPts val="400"/>
              </a:spcBef>
            </a:pPr>
            <a:r>
              <a:rPr sz="1600" b="0">
                <a:solidFill>
                  <a:srgbClr val="5A6672"/>
                </a:solidFill>
                <a:latin typeface="Malgun Gothic"/>
              </a:rPr>
              <a:t>    –  PLS-00103: 구문 오류 (ELSIF 철자, END IF 누락, 세미콜론 누락)</a:t>
            </a:r>
          </a:p>
          <a:p>
            <a:pPr>
              <a:spcBef>
                <a:spcPts val="400"/>
              </a:spcBef>
            </a:pPr>
            <a:r>
              <a:rPr sz="1600" b="0">
                <a:solidFill>
                  <a:srgbClr val="5A6672"/>
                </a:solidFill>
                <a:latin typeface="Malgun Gothic"/>
              </a:rPr>
              <a:t>    –  PLS-00363: 상수에 값을 재할당</a:t>
            </a:r>
          </a:p>
          <a:p>
            <a:pPr>
              <a:spcBef>
                <a:spcPts val="400"/>
              </a:spcBef>
            </a:pPr>
            <a:r>
              <a:rPr sz="1600" b="0">
                <a:solidFill>
                  <a:srgbClr val="5A6672"/>
                </a:solidFill>
                <a:latin typeface="Malgun Gothic"/>
              </a:rPr>
              <a:t>    –  PLS-00322: CONSTANT 선언에 초기값 없음</a:t>
            </a:r>
          </a:p>
          <a:p>
            <a:pPr>
              <a:spcBef>
                <a:spcPts val="1000"/>
              </a:spcBef>
            </a:pPr>
            <a:r>
              <a:rPr sz="1800" b="0">
                <a:solidFill>
                  <a:srgbClr val="202830"/>
                </a:solidFill>
                <a:latin typeface="Malgun Gothic"/>
              </a:rPr>
              <a:t>•  런타임 오류 (ORA-) — 실행 도중 발생, 예외로 처리 가능</a:t>
            </a:r>
          </a:p>
          <a:p>
            <a:pPr>
              <a:spcBef>
                <a:spcPts val="400"/>
              </a:spcBef>
            </a:pPr>
            <a:r>
              <a:rPr sz="1600" b="0">
                <a:solidFill>
                  <a:srgbClr val="5A6672"/>
                </a:solidFill>
                <a:latin typeface="Malgun Gothic"/>
              </a:rPr>
              <a:t>    –  ORA-01403: NO_DATA_FOUND — SELECT INTO 결과 0건</a:t>
            </a:r>
          </a:p>
          <a:p>
            <a:pPr>
              <a:spcBef>
                <a:spcPts val="400"/>
              </a:spcBef>
            </a:pPr>
            <a:r>
              <a:rPr sz="1600" b="0">
                <a:solidFill>
                  <a:srgbClr val="5A6672"/>
                </a:solidFill>
                <a:latin typeface="Malgun Gothic"/>
              </a:rPr>
              <a:t>    –  ORA-01422: TOO_MANY_ROWS — SELECT INTO 결과 2건 이상</a:t>
            </a:r>
          </a:p>
          <a:p>
            <a:pPr>
              <a:spcBef>
                <a:spcPts val="400"/>
              </a:spcBef>
            </a:pPr>
            <a:r>
              <a:rPr sz="1600" b="0">
                <a:solidFill>
                  <a:srgbClr val="5A6672"/>
                </a:solidFill>
                <a:latin typeface="Malgun Gothic"/>
              </a:rPr>
              <a:t>    –  ORA-06502: VALUE_ERROR — 변수 크기 초과 · 숫자 변환 실패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오류 → 원인 → 수정 (1)</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PLS-00201: 선언하지 않은 식별자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7EC699"/>
                </a:solidFill>
                <a:latin typeface="Consolas"/>
              </a:rPr>
              <a:t>-- (오류) 선언하지 않은 식별자를 사용했다</a:t>
            </a:r>
          </a:p>
          <a:p>
            <a:pPr>
              <a:spcBef>
                <a:spcPts val="0"/>
              </a:spcBef>
            </a:pPr>
            <a:r>
              <a:rPr sz="1250" b="0">
                <a:solidFill>
                  <a:srgbClr val="E6E6E6"/>
                </a:solidFill>
                <a:latin typeface="Consolas"/>
              </a:rPr>
              <a:t>SQL&gt; BEGIN</a:t>
            </a:r>
          </a:p>
          <a:p>
            <a:pPr>
              <a:spcBef>
                <a:spcPts val="0"/>
              </a:spcBef>
            </a:pPr>
            <a:r>
              <a:rPr sz="1250" b="0">
                <a:solidFill>
                  <a:srgbClr val="E6E6E6"/>
                </a:solidFill>
                <a:latin typeface="Consolas"/>
              </a:rPr>
              <a:t>  2     v_message := 'Hello';</a:t>
            </a:r>
          </a:p>
          <a:p>
            <a:pPr>
              <a:spcBef>
                <a:spcPts val="0"/>
              </a:spcBef>
            </a:pPr>
            <a:r>
              <a:rPr sz="1250" b="0">
                <a:solidFill>
                  <a:srgbClr val="E6E6E6"/>
                </a:solidFill>
                <a:latin typeface="Consolas"/>
              </a:rPr>
              <a:t>  3     DBMS_OUTPUT.PUT_LINE(v_message);</a:t>
            </a:r>
          </a:p>
          <a:p>
            <a:pPr>
              <a:spcBef>
                <a:spcPts val="0"/>
              </a:spcBef>
            </a:pPr>
            <a:r>
              <a:rPr sz="1250" b="0">
                <a:solidFill>
                  <a:srgbClr val="E6E6E6"/>
                </a:solidFill>
                <a:latin typeface="Consolas"/>
              </a:rPr>
              <a:t>  4  END;</a:t>
            </a:r>
          </a:p>
          <a:p>
            <a:pPr>
              <a:spcBef>
                <a:spcPts val="0"/>
              </a:spcBef>
            </a:pPr>
            <a:r>
              <a:rPr sz="1250" b="0">
                <a:solidFill>
                  <a:srgbClr val="E6E6E6"/>
                </a:solidFill>
                <a:latin typeface="Consolas"/>
              </a:rPr>
              <a:t>  5  /</a:t>
            </a:r>
          </a:p>
          <a:p>
            <a:pPr>
              <a:spcBef>
                <a:spcPts val="0"/>
              </a:spcBef>
            </a:pPr>
            <a:r>
              <a:rPr sz="1250" b="0">
                <a:solidFill>
                  <a:srgbClr val="E6E6E6"/>
                </a:solidFill>
                <a:latin typeface="Consolas"/>
              </a:rPr>
              <a:t>   v_message := 'Hello';</a:t>
            </a:r>
          </a:p>
          <a:p>
            <a:pPr>
              <a:spcBef>
                <a:spcPts val="0"/>
              </a:spcBef>
            </a:pPr>
            <a:r>
              <a:rPr sz="1250" b="0">
                <a:solidFill>
                  <a:srgbClr val="7EC699"/>
                </a:solidFill>
                <a:latin typeface="Consolas"/>
              </a:rPr>
              <a:t>   *</a:t>
            </a:r>
          </a:p>
          <a:p>
            <a:pPr>
              <a:spcBef>
                <a:spcPts val="0"/>
              </a:spcBef>
            </a:pPr>
            <a:r>
              <a:rPr sz="1250" b="0">
                <a:solidFill>
                  <a:srgbClr val="E6E6E6"/>
                </a:solidFill>
                <a:latin typeface="Consolas"/>
              </a:rPr>
              <a:t>ERROR at line 2:</a:t>
            </a:r>
          </a:p>
          <a:p>
            <a:pPr>
              <a:spcBef>
                <a:spcPts val="0"/>
              </a:spcBef>
            </a:pPr>
            <a:r>
              <a:rPr sz="1250" b="0">
                <a:solidFill>
                  <a:srgbClr val="7EC699"/>
                </a:solidFill>
                <a:latin typeface="Consolas"/>
              </a:rPr>
              <a:t>ORA-06550: line 2, column 4:</a:t>
            </a:r>
          </a:p>
          <a:p>
            <a:pPr>
              <a:spcBef>
                <a:spcPts val="0"/>
              </a:spcBef>
            </a:pPr>
            <a:r>
              <a:rPr sz="1250" b="0">
                <a:solidFill>
                  <a:srgbClr val="7EC699"/>
                </a:solidFill>
                <a:latin typeface="Consolas"/>
              </a:rPr>
              <a:t>PLS-00201: identifier 'V_MESSAGE' must be declared</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(원인) DECLARE 절이 없어 v_message가 선언되지 않았다</a:t>
            </a:r>
          </a:p>
          <a:p>
            <a:pPr>
              <a:spcBef>
                <a:spcPts val="0"/>
              </a:spcBef>
            </a:pPr>
            <a:r>
              <a:rPr sz="1250" b="0">
                <a:solidFill>
                  <a:srgbClr val="7EC699"/>
                </a:solidFill>
                <a:latin typeface="Consolas"/>
              </a:rPr>
              <a:t>-- (수정) 선언부를 추가한다</a:t>
            </a:r>
          </a:p>
          <a:p>
            <a:pPr>
              <a:spcBef>
                <a:spcPts val="0"/>
              </a:spcBef>
            </a:pPr>
            <a:r>
              <a:rPr sz="1250" b="0">
                <a:solidFill>
                  <a:srgbClr val="E6E6E6"/>
                </a:solidFill>
                <a:latin typeface="Consolas"/>
              </a:rPr>
              <a:t>SQL&gt; DECLARE</a:t>
            </a:r>
          </a:p>
          <a:p>
            <a:pPr>
              <a:spcBef>
                <a:spcPts val="0"/>
              </a:spcBef>
            </a:pPr>
            <a:r>
              <a:rPr sz="1250" b="0">
                <a:solidFill>
                  <a:srgbClr val="E6E6E6"/>
                </a:solidFill>
                <a:latin typeface="Consolas"/>
              </a:rPr>
              <a:t>  2     v_message  VARCHAR2(30);</a:t>
            </a:r>
          </a:p>
          <a:p>
            <a:pPr>
              <a:spcBef>
                <a:spcPts val="0"/>
              </a:spcBef>
            </a:pPr>
            <a:r>
              <a:rPr sz="1250" b="0">
                <a:solidFill>
                  <a:srgbClr val="E6E6E6"/>
                </a:solidFill>
                <a:latin typeface="Consolas"/>
              </a:rPr>
              <a:t>  3  BEGIN</a:t>
            </a:r>
          </a:p>
          <a:p>
            <a:pPr>
              <a:spcBef>
                <a:spcPts val="0"/>
              </a:spcBef>
            </a:pPr>
            <a:r>
              <a:rPr sz="1250" b="0">
                <a:solidFill>
                  <a:srgbClr val="E6E6E6"/>
                </a:solidFill>
                <a:latin typeface="Consolas"/>
              </a:rPr>
              <a:t>  4     v_message := 'Hello';</a:t>
            </a:r>
          </a:p>
          <a:p>
            <a:pPr>
              <a:spcBef>
                <a:spcPts val="0"/>
              </a:spcBef>
            </a:pPr>
            <a:r>
              <a:rPr sz="1250" b="0">
                <a:solidFill>
                  <a:srgbClr val="E6E6E6"/>
                </a:solidFill>
                <a:latin typeface="Consolas"/>
              </a:rPr>
              <a:t>  5     DBMS_OUTPUT.PUT_LINE(v_message);</a:t>
            </a:r>
          </a:p>
          <a:p>
            <a:pPr>
              <a:spcBef>
                <a:spcPts val="0"/>
              </a:spcBef>
            </a:pPr>
            <a:r>
              <a:rPr sz="1250" b="0">
                <a:solidFill>
                  <a:srgbClr val="E6E6E6"/>
                </a:solidFill>
                <a:latin typeface="Consolas"/>
              </a:rPr>
              <a:t>  6  END;</a:t>
            </a:r>
          </a:p>
          <a:p>
            <a:pPr>
              <a:spcBef>
                <a:spcPts val="0"/>
              </a:spcBef>
            </a:pPr>
            <a:r>
              <a:rPr sz="1250" b="0">
                <a:solidFill>
                  <a:srgbClr val="E6E6E6"/>
                </a:solidFill>
                <a:latin typeface="Consolas"/>
              </a:rPr>
              <a:t>  7  /</a:t>
            </a:r>
          </a:p>
          <a:p>
            <a:pPr>
              <a:spcBef>
                <a:spcPts val="0"/>
              </a:spcBef>
            </a:pPr>
            <a:r>
              <a:rPr sz="1250" b="0">
                <a:solidFill>
                  <a:srgbClr val="E6E6E6"/>
                </a:solidFill>
                <a:latin typeface="Consolas"/>
              </a:rPr>
              <a:t>Hello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오류 → 원인 → 수정 (2)</a:t>
            </a:r>
          </a:p>
        </p:txBody>
      </p:sp>
      <p:sp>
        <p:nvSpPr>
          <p:cNvPr id="4" name="TextBox 3"/>
          <p:cNvSpPr txBox="1"/>
          <p:nvPr/>
        </p:nvSpPr>
        <p:spPr>
          <a:xfrm>
            <a:off x="640080" y="1188720"/>
            <a:ext cx="10881360" cy="457200"/>
          </a:xfrm>
          <a:prstGeom prst="rect">
            <a:avLst/>
          </a:prstGeom>
          <a:noFill/>
        </p:spPr>
        <p:txBody>
          <a:bodyPr wrap="square">
            <a:spAutoFit/>
          </a:bodyPr>
          <a:lstStyle/>
          <a:p>
            <a:pPr>
              <a:spcBef>
                <a:spcPts val="0"/>
              </a:spcBef>
            </a:pPr>
            <a:r>
              <a:rPr sz="1500" b="0">
                <a:solidFill>
                  <a:srgbClr val="5A6672"/>
                </a:solidFill>
                <a:latin typeface="Malgun Gothic"/>
              </a:rPr>
              <a:t>ORA-06502: 변수 크기 초과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Bef>
                <a:spcPts val="0"/>
              </a:spcBef>
            </a:pPr>
            <a:r>
              <a:rPr sz="1250" b="0">
                <a:solidFill>
                  <a:srgbClr val="7EC699"/>
                </a:solidFill>
                <a:latin typeface="Consolas"/>
              </a:rPr>
              <a:t>-- (오류) 변수 길이가 값보다 짧다</a:t>
            </a:r>
          </a:p>
          <a:p>
            <a:pPr>
              <a:spcBef>
                <a:spcPts val="0"/>
              </a:spcBef>
            </a:pPr>
            <a:r>
              <a:rPr sz="1250" b="0">
                <a:solidFill>
                  <a:srgbClr val="E6E6E6"/>
                </a:solidFill>
                <a:latin typeface="Consolas"/>
              </a:rPr>
              <a:t>SQL&gt; DECLARE</a:t>
            </a:r>
          </a:p>
          <a:p>
            <a:pPr>
              <a:spcBef>
                <a:spcPts val="0"/>
              </a:spcBef>
            </a:pPr>
            <a:r>
              <a:rPr sz="1250" b="0">
                <a:solidFill>
                  <a:srgbClr val="E6E6E6"/>
                </a:solidFill>
                <a:latin typeface="Consolas"/>
              </a:rPr>
              <a:t>  2     v_job   VARCHAR2(5);</a:t>
            </a:r>
          </a:p>
          <a:p>
            <a:pPr>
              <a:spcBef>
                <a:spcPts val="0"/>
              </a:spcBef>
            </a:pPr>
            <a:r>
              <a:rPr sz="1250" b="0">
                <a:solidFill>
                  <a:srgbClr val="E6E6E6"/>
                </a:solidFill>
                <a:latin typeface="Consolas"/>
              </a:rPr>
              <a:t>  3  BEGIN</a:t>
            </a:r>
          </a:p>
          <a:p>
            <a:pPr>
              <a:spcBef>
                <a:spcPts val="0"/>
              </a:spcBef>
            </a:pPr>
            <a:r>
              <a:rPr sz="1250" b="0">
                <a:solidFill>
                  <a:srgbClr val="E6E6E6"/>
                </a:solidFill>
                <a:latin typeface="Consolas"/>
              </a:rPr>
              <a:t>  4     SELECT job_id INTO v_job</a:t>
            </a:r>
          </a:p>
          <a:p>
            <a:pPr>
              <a:spcBef>
                <a:spcPts val="0"/>
              </a:spcBef>
            </a:pPr>
            <a:r>
              <a:rPr sz="1250" b="0">
                <a:solidFill>
                  <a:srgbClr val="E6E6E6"/>
                </a:solidFill>
                <a:latin typeface="Consolas"/>
              </a:rPr>
              <a:t>  5       FROM employees WHERE employee_id = 100;</a:t>
            </a:r>
          </a:p>
          <a:p>
            <a:pPr>
              <a:spcBef>
                <a:spcPts val="0"/>
              </a:spcBef>
            </a:pPr>
            <a:r>
              <a:rPr sz="1250" b="0">
                <a:solidFill>
                  <a:srgbClr val="E6E6E6"/>
                </a:solidFill>
                <a:latin typeface="Consolas"/>
              </a:rPr>
              <a:t>  6     DBMS_OUTPUT.PUT_LINE(v_job);</a:t>
            </a:r>
          </a:p>
          <a:p>
            <a:pPr>
              <a:spcBef>
                <a:spcPts val="0"/>
              </a:spcBef>
            </a:pPr>
            <a:r>
              <a:rPr sz="1250" b="0">
                <a:solidFill>
                  <a:srgbClr val="E6E6E6"/>
                </a:solidFill>
                <a:latin typeface="Consolas"/>
              </a:rPr>
              <a:t>  7  END;</a:t>
            </a:r>
          </a:p>
          <a:p>
            <a:pPr>
              <a:spcBef>
                <a:spcPts val="0"/>
              </a:spcBef>
            </a:pPr>
            <a:r>
              <a:rPr sz="1250" b="0">
                <a:solidFill>
                  <a:srgbClr val="E6E6E6"/>
                </a:solidFill>
                <a:latin typeface="Consolas"/>
              </a:rPr>
              <a:t>  8  /</a:t>
            </a:r>
          </a:p>
          <a:p>
            <a:pPr>
              <a:spcBef>
                <a:spcPts val="0"/>
              </a:spcBef>
            </a:pPr>
            <a:r>
              <a:rPr sz="1250" b="0">
                <a:solidFill>
                  <a:srgbClr val="E6E6E6"/>
                </a:solidFill>
                <a:latin typeface="Consolas"/>
              </a:rPr>
              <a:t>ERROR at line 1:</a:t>
            </a:r>
          </a:p>
          <a:p>
            <a:pPr>
              <a:spcBef>
                <a:spcPts val="0"/>
              </a:spcBef>
            </a:pPr>
            <a:r>
              <a:rPr sz="1250" b="0">
                <a:solidFill>
                  <a:srgbClr val="7EC699"/>
                </a:solidFill>
                <a:latin typeface="Consolas"/>
              </a:rPr>
              <a:t>ORA-06502: PL/SQL: numeric or value error: character string buffer too small</a:t>
            </a:r>
          </a:p>
          <a:p>
            <a:pPr>
              <a:spcBef>
                <a:spcPts val="0"/>
              </a:spcBef>
            </a:pPr>
            <a:r>
              <a:rPr sz="1250" b="0">
                <a:solidFill>
                  <a:srgbClr val="7EC699"/>
                </a:solidFill>
                <a:latin typeface="Consolas"/>
              </a:rPr>
              <a:t>ORA-06512: at line 4</a:t>
            </a:r>
          </a:p>
          <a:p>
            <a:pPr>
              <a:spcBef>
                <a:spcPts val="0"/>
              </a:spcBef>
            </a:pPr>
            <a:r>
              <a:rPr sz="1250" b="0">
                <a:solidFill>
                  <a:srgbClr val="E6E6E6"/>
                </a:solidFill>
                <a:latin typeface="Consolas"/>
              </a:rPr>
              <a:t> </a:t>
            </a:r>
          </a:p>
          <a:p>
            <a:pPr>
              <a:spcBef>
                <a:spcPts val="0"/>
              </a:spcBef>
            </a:pPr>
            <a:r>
              <a:rPr sz="1250" b="0">
                <a:solidFill>
                  <a:srgbClr val="7EC699"/>
                </a:solidFill>
                <a:latin typeface="Consolas"/>
              </a:rPr>
              <a:t>-- (원인) job_id 값 'AD_PRES'는 7자인데 변수는 5자까지만 담을 수 있다</a:t>
            </a:r>
          </a:p>
          <a:p>
            <a:pPr>
              <a:spcBef>
                <a:spcPts val="0"/>
              </a:spcBef>
            </a:pPr>
            <a:r>
              <a:rPr sz="1250" b="0">
                <a:solidFill>
                  <a:srgbClr val="7EC699"/>
                </a:solidFill>
                <a:latin typeface="Consolas"/>
              </a:rPr>
              <a:t>-- (수정) %TYPE으로 컬럼 타입을 상속받는다</a:t>
            </a:r>
          </a:p>
          <a:p>
            <a:pPr>
              <a:spcBef>
                <a:spcPts val="0"/>
              </a:spcBef>
            </a:pPr>
            <a:r>
              <a:rPr sz="1250" b="0">
                <a:solidFill>
                  <a:srgbClr val="E6E6E6"/>
                </a:solidFill>
                <a:latin typeface="Consolas"/>
              </a:rPr>
              <a:t>SQL&gt; DECLARE</a:t>
            </a:r>
          </a:p>
          <a:p>
            <a:pPr>
              <a:spcBef>
                <a:spcPts val="0"/>
              </a:spcBef>
            </a:pPr>
            <a:r>
              <a:rPr sz="1250" b="0">
                <a:solidFill>
                  <a:srgbClr val="E6E6E6"/>
                </a:solidFill>
                <a:latin typeface="Consolas"/>
              </a:rPr>
              <a:t>  2     v_job   employees.job_id%TYPE;</a:t>
            </a:r>
          </a:p>
          <a:p>
            <a:pPr>
              <a:spcBef>
                <a:spcPts val="0"/>
              </a:spcBef>
            </a:pPr>
            <a:r>
              <a:rPr sz="1250" b="0">
                <a:solidFill>
                  <a:srgbClr val="E6E6E6"/>
                </a:solidFill>
                <a:latin typeface="Consolas"/>
              </a:rPr>
              <a:t>  3  BEGIN</a:t>
            </a:r>
          </a:p>
          <a:p>
            <a:pPr>
              <a:spcBef>
                <a:spcPts val="0"/>
              </a:spcBef>
            </a:pPr>
            <a:r>
              <a:rPr sz="1250" b="0">
                <a:solidFill>
                  <a:srgbClr val="E6E6E6"/>
                </a:solidFill>
                <a:latin typeface="Consolas"/>
              </a:rPr>
              <a:t>  4     SELECT job_id INTO v_job</a:t>
            </a:r>
          </a:p>
          <a:p>
            <a:pPr>
              <a:spcBef>
                <a:spcPts val="0"/>
              </a:spcBef>
            </a:pPr>
            <a:r>
              <a:rPr sz="1250" b="0">
                <a:solidFill>
                  <a:srgbClr val="E6E6E6"/>
                </a:solidFill>
                <a:latin typeface="Consolas"/>
              </a:rPr>
              <a:t>  5       FROM employees WHERE employee_id = 100;</a:t>
            </a:r>
          </a:p>
          <a:p>
            <a:pPr>
              <a:spcBef>
                <a:spcPts val="0"/>
              </a:spcBef>
            </a:pPr>
            <a:r>
              <a:rPr sz="1250" b="0">
                <a:solidFill>
                  <a:srgbClr val="E6E6E6"/>
                </a:solidFill>
                <a:latin typeface="Consolas"/>
              </a:rPr>
              <a:t>  6     DBMS_OUTPUT.PUT_LINE(v_job);</a:t>
            </a:r>
          </a:p>
          <a:p>
            <a:pPr>
              <a:spcBef>
                <a:spcPts val="0"/>
              </a:spcBef>
            </a:pPr>
            <a:r>
              <a:rPr sz="1250" b="0">
                <a:solidFill>
                  <a:srgbClr val="E6E6E6"/>
                </a:solidFill>
                <a:latin typeface="Consolas"/>
              </a:rPr>
              <a:t>  7  END;</a:t>
            </a:r>
          </a:p>
          <a:p>
            <a:pPr>
              <a:spcBef>
                <a:spcPts val="0"/>
              </a:spcBef>
            </a:pPr>
            <a:r>
              <a:rPr sz="1250" b="0">
                <a:solidFill>
                  <a:srgbClr val="E6E6E6"/>
                </a:solidFill>
                <a:latin typeface="Consolas"/>
              </a:rPr>
              <a:t>  8  /</a:t>
            </a:r>
          </a:p>
          <a:p>
            <a:pPr>
              <a:spcBef>
                <a:spcPts val="0"/>
              </a:spcBef>
            </a:pPr>
            <a:r>
              <a:rPr sz="1250" b="0">
                <a:solidFill>
                  <a:srgbClr val="E6E6E6"/>
                </a:solidFill>
                <a:latin typeface="Consolas"/>
              </a:rPr>
              <a:t>AD_PRES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디버깅 습관과 안정적인 블록 작성</a:t>
            </a:r>
          </a:p>
        </p:txBody>
      </p:sp>
      <p:sp>
        <p:nvSpPr>
          <p:cNvPr id="4" name="TextBox 3"/>
          <p:cNvSpPr txBox="1"/>
          <p:nvPr/>
        </p:nvSpPr>
        <p:spPr>
          <a:xfrm>
            <a:off x="640080" y="1234440"/>
            <a:ext cx="10881360" cy="4200000"/>
          </a:xfrm>
          <a:prstGeom prst="rect">
            <a:avLst/>
          </a:prstGeom>
          <a:noFill/>
        </p:spPr>
        <p:txBody>
          <a:bodyPr wrap="square">
            <a:spAutoFit/>
          </a:bodyPr>
          <a:lstStyle/>
          <a:p>
            <a:pPr>
              <a:spcBef>
                <a:spcPts val="1000"/>
              </a:spcBef>
            </a:pPr>
            <a:r>
              <a:rPr sz="1800" b="0">
                <a:solidFill>
                  <a:srgbClr val="202830"/>
                </a:solidFill>
                <a:latin typeface="Malgun Gothic"/>
              </a:rPr>
              <a:t>•  DBMS_OUTPUT.PUT_LINE이 기본 디버깅 도구</a:t>
            </a:r>
          </a:p>
          <a:p>
            <a:pPr>
              <a:spcBef>
                <a:spcPts val="400"/>
              </a:spcBef>
            </a:pPr>
            <a:r>
              <a:rPr sz="1600" b="0">
                <a:solidFill>
                  <a:srgbClr val="5A6672"/>
                </a:solidFill>
                <a:latin typeface="Malgun Gothic"/>
              </a:rPr>
              <a:t>    –  의심 구간 앞뒤에 변수 값을 출력해 실행 지점과 값을 확인</a:t>
            </a:r>
          </a:p>
          <a:p>
            <a:pPr>
              <a:spcBef>
                <a:spcPts val="400"/>
              </a:spcBef>
            </a:pPr>
            <a:r>
              <a:rPr sz="1600" b="0">
                <a:solidFill>
                  <a:srgbClr val="5A6672"/>
                </a:solidFill>
                <a:latin typeface="Malgun Gothic"/>
              </a:rPr>
              <a:t>    –  예외로 중단돼도 버퍼에 쌓인 출력은 표시된다 → 마지막 줄이 단서</a:t>
            </a:r>
          </a:p>
          <a:p>
            <a:pPr>
              <a:spcBef>
                <a:spcPts val="1000"/>
              </a:spcBef>
            </a:pPr>
            <a:r>
              <a:rPr sz="1800" b="0">
                <a:solidFill>
                  <a:srgbClr val="202830"/>
                </a:solidFill>
                <a:latin typeface="Malgun Gothic"/>
              </a:rPr>
              <a:t>•  예외 처리부에서 SQLCODE · SQLERRM을 함께 출력 (3장)</a:t>
            </a:r>
          </a:p>
          <a:p>
            <a:pPr>
              <a:spcBef>
                <a:spcPts val="400"/>
              </a:spcBef>
            </a:pPr>
            <a:r>
              <a:rPr sz="1600" b="0">
                <a:solidFill>
                  <a:srgbClr val="5A6672"/>
                </a:solidFill>
                <a:latin typeface="Malgun Gothic"/>
              </a:rPr>
              <a:t>    –  DBMS_UTILITY.FORMAT_ERROR_BACKTRACE로 발생 위치 추적</a:t>
            </a:r>
          </a:p>
          <a:p>
            <a:pPr>
              <a:spcBef>
                <a:spcPts val="1000"/>
              </a:spcBef>
            </a:pPr>
            <a:r>
              <a:rPr sz="1800" b="0">
                <a:solidFill>
                  <a:srgbClr val="202830"/>
                </a:solidFill>
                <a:latin typeface="Malgun Gothic"/>
              </a:rPr>
              <a:t>•  안정적인 블록 작성 습관</a:t>
            </a:r>
          </a:p>
          <a:p>
            <a:pPr>
              <a:spcBef>
                <a:spcPts val="400"/>
              </a:spcBef>
            </a:pPr>
            <a:r>
              <a:rPr sz="1600" b="0">
                <a:solidFill>
                  <a:srgbClr val="5A6672"/>
                </a:solidFill>
                <a:latin typeface="Malgun Gothic"/>
              </a:rPr>
              <a:t>    –  변수는 %TYPE·%ROWTYPE으로 선언하고 v_ 접두어를 지킨다</a:t>
            </a:r>
          </a:p>
          <a:p>
            <a:pPr>
              <a:spcBef>
                <a:spcPts val="400"/>
              </a:spcBef>
            </a:pPr>
            <a:r>
              <a:rPr sz="1600" b="0">
                <a:solidFill>
                  <a:srgbClr val="5A6672"/>
                </a:solidFill>
                <a:latin typeface="Malgun Gothic"/>
              </a:rPr>
              <a:t>    –  SELECT INTO에는 NO_DATA_FOUND·TOO_MANY_ROWS 처리를 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rPr>
              <a:t>Best Practice: </a:t>
            </a:r>
            <a:r>
              <a:rPr sz="1250" b="0">
                <a:solidFill>
                  <a:srgbClr val="202830"/>
                </a:solidFill>
                <a:latin typeface="Malgun Gothic"/>
              </a:rPr>
              <a:t>블록을 작성할 때 예외 처리부를 먼저 쓰는 습관을 들이면, 실패했을 때 무엇을 해야 하는지 먼저 생각하게 되어 코드가 훨씬 견고해진다.</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이해도 점검 퀴즈 (1/2)</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200"/>
              </a:spcBef>
            </a:pPr>
            <a:r>
              <a:rPr sz="1700" b="1">
                <a:solidFill>
                  <a:srgbClr val="202830"/>
                </a:solidFill>
                <a:latin typeface="Malgun Gothic"/>
              </a:rPr>
              <a:t>Q1. PL/SQL 블록의 네 개 절 중 필수인 것은 무엇인가?</a:t>
            </a:r>
          </a:p>
          <a:p>
            <a:pPr>
              <a:spcBef>
                <a:spcPts val="200"/>
              </a:spcBef>
            </a:pPr>
            <a:r>
              <a:rPr sz="1500" b="0">
                <a:solidFill>
                  <a:srgbClr val="5A6672"/>
                </a:solidFill>
                <a:latin typeface="Malgun Gothic"/>
              </a:rPr>
              <a:t>    → BEGIN과 END; 두 절. DECLARE와 EXCEPTION은 선택이며, 실행부에는 최소 한 문장이 필요하다.</a:t>
            </a:r>
          </a:p>
          <a:p>
            <a:pPr>
              <a:spcBef>
                <a:spcPts val="1200"/>
              </a:spcBef>
            </a:pPr>
            <a:r>
              <a:rPr sz="1700" b="1">
                <a:solidFill>
                  <a:srgbClr val="202830"/>
                </a:solidFill>
                <a:latin typeface="Malgun Gothic"/>
              </a:rPr>
              <a:t>Q2. 초기값을 지정하지 않은 NUMBER 변수의 값은?</a:t>
            </a:r>
          </a:p>
          <a:p>
            <a:pPr>
              <a:spcBef>
                <a:spcPts val="200"/>
              </a:spcBef>
            </a:pPr>
            <a:r>
              <a:rPr sz="1500" b="0">
                <a:solidFill>
                  <a:srgbClr val="5A6672"/>
                </a:solidFill>
                <a:latin typeface="Malgun Gothic"/>
              </a:rPr>
              <a:t>    → 0이 아니라 NULL이다. NULL에 산술 연산을 하면 결과도 NULL이 된다.</a:t>
            </a:r>
          </a:p>
          <a:p>
            <a:pPr>
              <a:spcBef>
                <a:spcPts val="1200"/>
              </a:spcBef>
            </a:pPr>
            <a:r>
              <a:rPr sz="1700" b="1">
                <a:solidFill>
                  <a:srgbClr val="202830"/>
                </a:solidFill>
                <a:latin typeface="Malgun Gothic"/>
              </a:rPr>
              <a:t>Q3. %TYPE이 상속하는 것과 상속하지 않는 것은?</a:t>
            </a:r>
          </a:p>
          <a:p>
            <a:pPr>
              <a:spcBef>
                <a:spcPts val="200"/>
              </a:spcBef>
            </a:pPr>
            <a:r>
              <a:rPr sz="1500" b="0">
                <a:solidFill>
                  <a:srgbClr val="5A6672"/>
                </a:solidFill>
                <a:latin typeface="Malgun Gothic"/>
              </a:rPr>
              <a:t>    → 데이터 타입과 길이는 상속하지만 컬럼의 NOT NULL 제약과 DEFAULT 값은 상속하지 않는다.</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이해도 점검 퀴즈 (2/2)</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200"/>
              </a:spcBef>
            </a:pPr>
            <a:r>
              <a:rPr sz="1700" b="1">
                <a:solidFill>
                  <a:srgbClr val="202830"/>
                </a:solidFill>
                <a:latin typeface="Malgun Gothic"/>
              </a:rPr>
              <a:t>Q4. SELECT INTO가 두 건 이상을 반환하면 어떤 예외가 발생하는가?</a:t>
            </a:r>
          </a:p>
          <a:p>
            <a:pPr>
              <a:spcBef>
                <a:spcPts val="200"/>
              </a:spcBef>
            </a:pPr>
            <a:r>
              <a:rPr sz="1500" b="0">
                <a:solidFill>
                  <a:srgbClr val="5A6672"/>
                </a:solidFill>
                <a:latin typeface="Malgun Gothic"/>
              </a:rPr>
              <a:t>    → TOO_MANY_ROWS(ORA-01422). 0건이면 NO_DATA_FOUND(ORA-01403)가 발생한다.</a:t>
            </a:r>
          </a:p>
          <a:p>
            <a:pPr>
              <a:spcBef>
                <a:spcPts val="1200"/>
              </a:spcBef>
            </a:pPr>
            <a:r>
              <a:rPr sz="1700" b="1">
                <a:solidFill>
                  <a:srgbClr val="202830"/>
                </a:solidFill>
                <a:latin typeface="Malgun Gothic"/>
              </a:rPr>
              <a:t>Q5. DBMS_OUTPUT.PUT_LINE 결과가 화면에 나오지 않는 가장 흔한 원인은?</a:t>
            </a:r>
          </a:p>
          <a:p>
            <a:pPr>
              <a:spcBef>
                <a:spcPts val="200"/>
              </a:spcBef>
            </a:pPr>
            <a:r>
              <a:rPr sz="1500" b="0">
                <a:solidFill>
                  <a:srgbClr val="5A6672"/>
                </a:solidFill>
                <a:latin typeface="Malgun Gothic"/>
              </a:rPr>
              <a:t>    → SET SERVEROUTPUT ON을 실행하지 않았거나 재접속으로 설정이 초기화된 경우다.</a:t>
            </a:r>
          </a:p>
          <a:p>
            <a:pPr>
              <a:spcBef>
                <a:spcPts val="1200"/>
              </a:spcBef>
            </a:pPr>
            <a:r>
              <a:rPr sz="1700" b="1">
                <a:solidFill>
                  <a:srgbClr val="202830"/>
                </a:solidFill>
                <a:latin typeface="Malgun Gothic"/>
              </a:rPr>
              <a:t>Q6. CASE 표현식과 CASE 문의 종료 키워드 차이는?</a:t>
            </a:r>
          </a:p>
          <a:p>
            <a:pPr>
              <a:spcBef>
                <a:spcPts val="200"/>
              </a:spcBef>
            </a:pPr>
            <a:r>
              <a:rPr sz="1500" b="0">
                <a:solidFill>
                  <a:srgbClr val="5A6672"/>
                </a:solidFill>
                <a:latin typeface="Malgun Gothic"/>
              </a:rPr>
              <a:t>    → CASE 표현식은 END로, CASE 문은 END CASE;로 끝난다. CASE 문은 미일치 시 CASE_NOT_FOUND가 발생한다.</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1000"/>
              </a:spcBef>
            </a:pPr>
            <a:r>
              <a:rPr sz="1800" b="0">
                <a:solidFill>
                  <a:srgbClr val="202830"/>
                </a:solidFill>
                <a:latin typeface="Malgun Gothic"/>
              </a:rPr>
              <a:t>•  PL/SQL은 SQL에 변수·분기·반복·예외 처리를 더한 절차적 확장 언어다</a:t>
            </a:r>
          </a:p>
          <a:p>
            <a:pPr>
              <a:spcBef>
                <a:spcPts val="1000"/>
              </a:spcBef>
            </a:pPr>
            <a:r>
              <a:rPr sz="1800" b="0">
                <a:solidFill>
                  <a:srgbClr val="202830"/>
                </a:solidFill>
                <a:latin typeface="Malgun Gothic"/>
              </a:rPr>
              <a:t>•  모든 코드는 블록 단위 — DECLARE(선택)·BEGIN(필수)·EXCEPTION(선택)·END;(필수)</a:t>
            </a:r>
          </a:p>
          <a:p>
            <a:pPr>
              <a:spcBef>
                <a:spcPts val="1000"/>
              </a:spcBef>
            </a:pPr>
            <a:r>
              <a:rPr sz="1800" b="0">
                <a:solidFill>
                  <a:srgbClr val="202830"/>
                </a:solidFill>
                <a:latin typeface="Malgun Gothic"/>
              </a:rPr>
              <a:t>•  익명 블록은 저장되지 않고, 프로시저·함수는 이름을 갖고 저장된다</a:t>
            </a:r>
          </a:p>
          <a:p>
            <a:pPr>
              <a:spcBef>
                <a:spcPts val="1000"/>
              </a:spcBef>
            </a:pPr>
            <a:r>
              <a:rPr sz="1800" b="0">
                <a:solidFill>
                  <a:srgbClr val="202830"/>
                </a:solidFill>
                <a:latin typeface="Malgun Gothic"/>
              </a:rPr>
              <a:t>•  변수 초기값은 NULL이며, CONSTANT 상수는 재할당 시 PLS-00363이 발생한다</a:t>
            </a:r>
          </a:p>
          <a:p>
            <a:pPr>
              <a:spcBef>
                <a:spcPts val="1000"/>
              </a:spcBef>
            </a:pPr>
            <a:r>
              <a:rPr sz="1800" b="0">
                <a:solidFill>
                  <a:srgbClr val="202830"/>
                </a:solidFill>
                <a:latin typeface="Malgun Gothic"/>
              </a:rPr>
              <a:t>•  %TYPE은 컬럼 타입을, %ROWTYPE은 행 전체 구조를 상속한다</a:t>
            </a:r>
          </a:p>
          <a:p>
            <a:pPr>
              <a:spcBef>
                <a:spcPts val="1000"/>
              </a:spcBef>
            </a:pPr>
            <a:r>
              <a:rPr sz="1800" b="0">
                <a:solidFill>
                  <a:srgbClr val="202830"/>
                </a:solidFill>
                <a:latin typeface="Malgun Gothic"/>
              </a:rPr>
              <a:t>•  SELECT INTO는 정확히 한 행 — 0건 ORA-01403, 2건 이상 ORA-01422</a:t>
            </a:r>
          </a:p>
          <a:p>
            <a:pPr>
              <a:spcBef>
                <a:spcPts val="1000"/>
              </a:spcBef>
            </a:pPr>
            <a:r>
              <a:rPr sz="1800" b="0">
                <a:solidFill>
                  <a:srgbClr val="202830"/>
                </a:solidFill>
                <a:latin typeface="Malgun Gothic"/>
              </a:rPr>
              <a:t>•  변수 이름을 컬럼 이름과 같게 짓지 않는다 (이름 모호성)</a:t>
            </a:r>
          </a:p>
          <a:p>
            <a:pPr>
              <a:spcBef>
                <a:spcPts val="1000"/>
              </a:spcBef>
            </a:pPr>
            <a:r>
              <a:rPr sz="1800" b="0">
                <a:solidFill>
                  <a:srgbClr val="202830"/>
                </a:solidFill>
                <a:latin typeface="Malgun Gothic"/>
              </a:rPr>
              <a:t>•  DBMS_OUTPUT은 버퍼 방식이므로 블록 종료 후 한꺼번에 출력된다</a:t>
            </a:r>
          </a:p>
          <a:p>
            <a:pPr>
              <a:spcBef>
                <a:spcPts val="1000"/>
              </a:spcBef>
            </a:pPr>
            <a:r>
              <a:rPr sz="1800" b="0">
                <a:solidFill>
                  <a:srgbClr val="202830"/>
                </a:solidFill>
                <a:latin typeface="Malgun Gothic"/>
              </a:rPr>
              <a:t>•  IF·CASE로 분기하되 조건식이 NULL이면 참으로 취급되지 않는다</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pPr>
              <a:spcBef>
                <a:spcPts val="0"/>
              </a:spcBef>
            </a:pPr>
            <a:r>
              <a:rPr sz="2600" b="1">
                <a:solidFill>
                  <a:srgbClr val="FFFFFF"/>
                </a:solidFill>
                <a:latin typeface="Malgun Gothic"/>
              </a:rPr>
              <a:t>실습 개요</a:t>
            </a:r>
          </a:p>
        </p:txBody>
      </p:sp>
      <p:sp>
        <p:nvSpPr>
          <p:cNvPr id="4" name="TextBox 3"/>
          <p:cNvSpPr txBox="1"/>
          <p:nvPr/>
        </p:nvSpPr>
        <p:spPr>
          <a:xfrm>
            <a:off x="594360" y="1308331"/>
            <a:ext cx="10881360" cy="3206006"/>
          </a:xfrm>
          <a:prstGeom prst="rect">
            <a:avLst/>
          </a:prstGeom>
          <a:noFill/>
        </p:spPr>
        <p:txBody>
          <a:bodyPr wrap="square">
            <a:spAutoFit/>
          </a:bodyPr>
          <a:lstStyle/>
          <a:p>
            <a:pPr>
              <a:spcBef>
                <a:spcPts val="1000"/>
              </a:spcBef>
            </a:pPr>
            <a:r>
              <a:rPr sz="1800" b="0" dirty="0">
                <a:solidFill>
                  <a:srgbClr val="202830"/>
                </a:solidFill>
                <a:latin typeface="Malgun Gothic"/>
              </a:rPr>
              <a:t>•  </a:t>
            </a:r>
            <a:r>
              <a:rPr sz="1800" b="0" dirty="0" err="1">
                <a:solidFill>
                  <a:srgbClr val="202830"/>
                </a:solidFill>
                <a:latin typeface="Malgun Gothic"/>
              </a:rPr>
              <a:t>실습</a:t>
            </a:r>
            <a:r>
              <a:rPr sz="1800" b="0" dirty="0">
                <a:solidFill>
                  <a:srgbClr val="202830"/>
                </a:solidFill>
                <a:latin typeface="Malgun Gothic"/>
              </a:rPr>
              <a:t> 01 — Anonymous Block </a:t>
            </a:r>
            <a:r>
              <a:rPr sz="1800" b="0" dirty="0" err="1">
                <a:solidFill>
                  <a:srgbClr val="202830"/>
                </a:solidFill>
                <a:latin typeface="Malgun Gothic"/>
              </a:rPr>
              <a:t>구조</a:t>
            </a:r>
            <a:r>
              <a:rPr sz="1800" b="0" dirty="0">
                <a:solidFill>
                  <a:srgbClr val="202830"/>
                </a:solidFill>
                <a:latin typeface="Malgun Gothic"/>
              </a:rPr>
              <a:t>(DECLARE/BEGIN/EXCEPTION/END) </a:t>
            </a:r>
            <a:r>
              <a:rPr sz="1800" b="0" dirty="0" err="1">
                <a:solidFill>
                  <a:srgbClr val="202830"/>
                </a:solidFill>
                <a:latin typeface="Malgun Gothic"/>
              </a:rPr>
              <a:t>확인</a:t>
            </a:r>
            <a:endParaRPr sz="1800" b="0" dirty="0">
              <a:solidFill>
                <a:srgbClr val="202830"/>
              </a:solidFill>
              <a:latin typeface="Malgun Gothic"/>
            </a:endParaRPr>
          </a:p>
          <a:p>
            <a:pPr>
              <a:spcBef>
                <a:spcPts val="1000"/>
              </a:spcBef>
            </a:pPr>
            <a:r>
              <a:rPr sz="1800" b="0" dirty="0">
                <a:solidFill>
                  <a:srgbClr val="202830"/>
                </a:solidFill>
                <a:latin typeface="Malgun Gothic"/>
              </a:rPr>
              <a:t>•  </a:t>
            </a:r>
            <a:r>
              <a:rPr sz="1800" b="0" dirty="0" err="1">
                <a:solidFill>
                  <a:srgbClr val="202830"/>
                </a:solidFill>
                <a:latin typeface="Malgun Gothic"/>
              </a:rPr>
              <a:t>실습</a:t>
            </a:r>
            <a:r>
              <a:rPr sz="1800" b="0" dirty="0">
                <a:solidFill>
                  <a:srgbClr val="202830"/>
                </a:solidFill>
                <a:latin typeface="Malgun Gothic"/>
              </a:rPr>
              <a:t> 02 — </a:t>
            </a:r>
            <a:r>
              <a:rPr sz="1800" b="0" dirty="0" err="1">
                <a:solidFill>
                  <a:srgbClr val="202830"/>
                </a:solidFill>
                <a:latin typeface="Malgun Gothic"/>
              </a:rPr>
              <a:t>변수</a:t>
            </a:r>
            <a:r>
              <a:rPr sz="1800" b="0" dirty="0">
                <a:solidFill>
                  <a:srgbClr val="202830"/>
                </a:solidFill>
                <a:latin typeface="Malgun Gothic"/>
              </a:rPr>
              <a:t> </a:t>
            </a:r>
            <a:r>
              <a:rPr sz="1800" b="0" dirty="0" err="1">
                <a:solidFill>
                  <a:srgbClr val="202830"/>
                </a:solidFill>
                <a:latin typeface="Malgun Gothic"/>
              </a:rPr>
              <a:t>선언과</a:t>
            </a:r>
            <a:r>
              <a:rPr sz="1800" b="0" dirty="0">
                <a:solidFill>
                  <a:srgbClr val="202830"/>
                </a:solidFill>
                <a:latin typeface="Malgun Gothic"/>
              </a:rPr>
              <a:t> %TYPE/%ROWTYPE </a:t>
            </a:r>
            <a:r>
              <a:rPr sz="1800" b="0" dirty="0" err="1">
                <a:solidFill>
                  <a:srgbClr val="202830"/>
                </a:solidFill>
                <a:latin typeface="Malgun Gothic"/>
              </a:rPr>
              <a:t>활용</a:t>
            </a:r>
            <a:endParaRPr sz="1800" b="0" dirty="0">
              <a:solidFill>
                <a:srgbClr val="202830"/>
              </a:solidFill>
              <a:latin typeface="Malgun Gothic"/>
            </a:endParaRPr>
          </a:p>
          <a:p>
            <a:pPr>
              <a:spcBef>
                <a:spcPts val="1000"/>
              </a:spcBef>
            </a:pPr>
            <a:r>
              <a:rPr sz="1800" b="0" dirty="0">
                <a:solidFill>
                  <a:srgbClr val="202830"/>
                </a:solidFill>
                <a:latin typeface="Malgun Gothic"/>
              </a:rPr>
              <a:t>•  </a:t>
            </a:r>
            <a:r>
              <a:rPr sz="1800" b="0" dirty="0" err="1">
                <a:solidFill>
                  <a:srgbClr val="202830"/>
                </a:solidFill>
                <a:latin typeface="Malgun Gothic"/>
              </a:rPr>
              <a:t>실습</a:t>
            </a:r>
            <a:r>
              <a:rPr sz="1800" b="0" dirty="0">
                <a:solidFill>
                  <a:srgbClr val="202830"/>
                </a:solidFill>
                <a:latin typeface="Malgun Gothic"/>
              </a:rPr>
              <a:t> 03 — SELECT </a:t>
            </a:r>
            <a:r>
              <a:rPr sz="1800" b="0" dirty="0" err="1">
                <a:solidFill>
                  <a:srgbClr val="202830"/>
                </a:solidFill>
                <a:latin typeface="Malgun Gothic"/>
              </a:rPr>
              <a:t>INTO로</a:t>
            </a:r>
            <a:r>
              <a:rPr sz="1800" b="0" dirty="0">
                <a:solidFill>
                  <a:srgbClr val="202830"/>
                </a:solidFill>
                <a:latin typeface="Malgun Gothic"/>
              </a:rPr>
              <a:t> </a:t>
            </a:r>
            <a:r>
              <a:rPr sz="1800" b="0" dirty="0" err="1">
                <a:solidFill>
                  <a:srgbClr val="202830"/>
                </a:solidFill>
                <a:latin typeface="Malgun Gothic"/>
              </a:rPr>
              <a:t>단일</a:t>
            </a:r>
            <a:r>
              <a:rPr sz="1800" b="0" dirty="0">
                <a:solidFill>
                  <a:srgbClr val="202830"/>
                </a:solidFill>
                <a:latin typeface="Malgun Gothic"/>
              </a:rPr>
              <a:t> 행 </a:t>
            </a:r>
            <a:r>
              <a:rPr sz="1800" b="0" dirty="0" err="1">
                <a:solidFill>
                  <a:srgbClr val="202830"/>
                </a:solidFill>
                <a:latin typeface="Malgun Gothic"/>
              </a:rPr>
              <a:t>조회</a:t>
            </a:r>
            <a:r>
              <a:rPr sz="1800" b="0" dirty="0">
                <a:solidFill>
                  <a:srgbClr val="202830"/>
                </a:solidFill>
                <a:latin typeface="Malgun Gothic"/>
              </a:rPr>
              <a:t> 및 NO_DATA_FOUND </a:t>
            </a:r>
            <a:r>
              <a:rPr sz="1800" b="0" dirty="0" err="1">
                <a:solidFill>
                  <a:srgbClr val="202830"/>
                </a:solidFill>
                <a:latin typeface="Malgun Gothic"/>
              </a:rPr>
              <a:t>처리</a:t>
            </a:r>
            <a:endParaRPr sz="1800" b="0" dirty="0">
              <a:solidFill>
                <a:srgbClr val="202830"/>
              </a:solidFill>
              <a:latin typeface="Malgun Gothic"/>
            </a:endParaRPr>
          </a:p>
          <a:p>
            <a:pPr>
              <a:spcBef>
                <a:spcPts val="1000"/>
              </a:spcBef>
            </a:pPr>
            <a:r>
              <a:rPr sz="1800" b="0" dirty="0">
                <a:solidFill>
                  <a:srgbClr val="202830"/>
                </a:solidFill>
                <a:latin typeface="Malgun Gothic"/>
              </a:rPr>
              <a:t>•  </a:t>
            </a:r>
            <a:r>
              <a:rPr sz="1800" b="0" dirty="0" err="1">
                <a:solidFill>
                  <a:srgbClr val="202830"/>
                </a:solidFill>
                <a:latin typeface="Malgun Gothic"/>
              </a:rPr>
              <a:t>실습</a:t>
            </a:r>
            <a:r>
              <a:rPr sz="1800" b="0" dirty="0">
                <a:solidFill>
                  <a:srgbClr val="202830"/>
                </a:solidFill>
                <a:latin typeface="Malgun Gothic"/>
              </a:rPr>
              <a:t> 04 — </a:t>
            </a:r>
            <a:r>
              <a:rPr sz="1800" b="0" dirty="0" err="1">
                <a:solidFill>
                  <a:srgbClr val="202830"/>
                </a:solidFill>
                <a:latin typeface="Malgun Gothic"/>
              </a:rPr>
              <a:t>DBMS_OUTPUT.PUT_LINE을</a:t>
            </a:r>
            <a:r>
              <a:rPr sz="1800" b="0" dirty="0">
                <a:solidFill>
                  <a:srgbClr val="202830"/>
                </a:solidFill>
                <a:latin typeface="Malgun Gothic"/>
              </a:rPr>
              <a:t> </a:t>
            </a:r>
            <a:r>
              <a:rPr sz="1800" b="0" dirty="0" err="1">
                <a:solidFill>
                  <a:srgbClr val="202830"/>
                </a:solidFill>
                <a:latin typeface="Malgun Gothic"/>
              </a:rPr>
              <a:t>이용한</a:t>
            </a:r>
            <a:r>
              <a:rPr sz="1800" b="0" dirty="0">
                <a:solidFill>
                  <a:srgbClr val="202830"/>
                </a:solidFill>
                <a:latin typeface="Malgun Gothic"/>
              </a:rPr>
              <a:t> </a:t>
            </a:r>
            <a:r>
              <a:rPr sz="1800" b="0" dirty="0" err="1">
                <a:solidFill>
                  <a:srgbClr val="202830"/>
                </a:solidFill>
                <a:latin typeface="Malgun Gothic"/>
              </a:rPr>
              <a:t>출력</a:t>
            </a:r>
            <a:endParaRPr sz="1800" b="0" dirty="0">
              <a:solidFill>
                <a:srgbClr val="202830"/>
              </a:solidFill>
              <a:latin typeface="Malgun Gothic"/>
            </a:endParaRPr>
          </a:p>
          <a:p>
            <a:pPr>
              <a:spcBef>
                <a:spcPts val="1000"/>
              </a:spcBef>
            </a:pPr>
            <a:r>
              <a:rPr sz="1800" b="0" dirty="0">
                <a:solidFill>
                  <a:srgbClr val="202830"/>
                </a:solidFill>
                <a:latin typeface="Malgun Gothic"/>
              </a:rPr>
              <a:t>•  </a:t>
            </a:r>
            <a:r>
              <a:rPr sz="1800" b="0" dirty="0" err="1">
                <a:solidFill>
                  <a:srgbClr val="202830"/>
                </a:solidFill>
                <a:latin typeface="Malgun Gothic"/>
              </a:rPr>
              <a:t>실습</a:t>
            </a:r>
            <a:r>
              <a:rPr sz="1800" b="0" dirty="0">
                <a:solidFill>
                  <a:srgbClr val="202830"/>
                </a:solidFill>
                <a:latin typeface="Malgun Gothic"/>
              </a:rPr>
              <a:t> 05 — </a:t>
            </a:r>
            <a:r>
              <a:rPr sz="1800" b="0" dirty="0" err="1">
                <a:solidFill>
                  <a:srgbClr val="202830"/>
                </a:solidFill>
                <a:latin typeface="Malgun Gothic"/>
              </a:rPr>
              <a:t>IF문과</a:t>
            </a:r>
            <a:r>
              <a:rPr sz="1800" b="0" dirty="0">
                <a:solidFill>
                  <a:srgbClr val="202830"/>
                </a:solidFill>
                <a:latin typeface="Malgun Gothic"/>
              </a:rPr>
              <a:t> </a:t>
            </a:r>
            <a:r>
              <a:rPr sz="1800" b="0" dirty="0" err="1">
                <a:solidFill>
                  <a:srgbClr val="202830"/>
                </a:solidFill>
                <a:latin typeface="Malgun Gothic"/>
              </a:rPr>
              <a:t>CASE문</a:t>
            </a:r>
            <a:r>
              <a:rPr sz="1800" b="0" dirty="0">
                <a:solidFill>
                  <a:srgbClr val="202830"/>
                </a:solidFill>
                <a:latin typeface="Malgun Gothic"/>
              </a:rPr>
              <a:t> </a:t>
            </a:r>
            <a:r>
              <a:rPr sz="1800" b="0" dirty="0" err="1">
                <a:solidFill>
                  <a:srgbClr val="202830"/>
                </a:solidFill>
                <a:latin typeface="Malgun Gothic"/>
              </a:rPr>
              <a:t>활용</a:t>
            </a:r>
            <a:endParaRPr sz="1800" b="0" dirty="0">
              <a:solidFill>
                <a:srgbClr val="202830"/>
              </a:solidFill>
              <a:latin typeface="Malgun Gothic"/>
            </a:endParaRPr>
          </a:p>
          <a:p>
            <a:pPr>
              <a:spcBef>
                <a:spcPts val="1000"/>
              </a:spcBef>
            </a:pPr>
            <a:r>
              <a:rPr sz="1800" b="0" dirty="0">
                <a:solidFill>
                  <a:srgbClr val="202830"/>
                </a:solidFill>
                <a:latin typeface="Malgun Gothic"/>
              </a:rPr>
              <a:t>•  </a:t>
            </a:r>
            <a:r>
              <a:rPr sz="1800" b="0" dirty="0" err="1">
                <a:solidFill>
                  <a:srgbClr val="202830"/>
                </a:solidFill>
                <a:latin typeface="Malgun Gothic"/>
              </a:rPr>
              <a:t>실습</a:t>
            </a:r>
            <a:r>
              <a:rPr sz="1800" b="0" dirty="0">
                <a:solidFill>
                  <a:srgbClr val="202830"/>
                </a:solidFill>
                <a:latin typeface="Malgun Gothic"/>
              </a:rPr>
              <a:t> 06 — </a:t>
            </a:r>
            <a:r>
              <a:rPr sz="1800" b="0" dirty="0" err="1">
                <a:solidFill>
                  <a:srgbClr val="202830"/>
                </a:solidFill>
                <a:latin typeface="Malgun Gothic"/>
              </a:rPr>
              <a:t>상수</a:t>
            </a:r>
            <a:r>
              <a:rPr sz="1800" b="0" dirty="0">
                <a:solidFill>
                  <a:srgbClr val="202830"/>
                </a:solidFill>
                <a:latin typeface="Malgun Gothic"/>
              </a:rPr>
              <a:t> </a:t>
            </a:r>
            <a:r>
              <a:rPr sz="1800" b="0" dirty="0" err="1">
                <a:solidFill>
                  <a:srgbClr val="202830"/>
                </a:solidFill>
                <a:latin typeface="Malgun Gothic"/>
              </a:rPr>
              <a:t>선언</a:t>
            </a:r>
            <a:r>
              <a:rPr sz="1800" b="0" dirty="0">
                <a:solidFill>
                  <a:srgbClr val="202830"/>
                </a:solidFill>
                <a:latin typeface="Malgun Gothic"/>
              </a:rPr>
              <a:t> 및 </a:t>
            </a:r>
            <a:r>
              <a:rPr sz="1800" b="0" dirty="0" err="1">
                <a:solidFill>
                  <a:srgbClr val="202830"/>
                </a:solidFill>
                <a:latin typeface="Malgun Gothic"/>
              </a:rPr>
              <a:t>스코프</a:t>
            </a:r>
            <a:r>
              <a:rPr sz="1800" b="0" dirty="0">
                <a:solidFill>
                  <a:srgbClr val="202830"/>
                </a:solidFill>
                <a:latin typeface="Malgun Gothic"/>
              </a:rPr>
              <a:t>(</a:t>
            </a:r>
            <a:r>
              <a:rPr sz="1800" b="0" dirty="0" err="1">
                <a:solidFill>
                  <a:srgbClr val="202830"/>
                </a:solidFill>
                <a:latin typeface="Malgun Gothic"/>
              </a:rPr>
              <a:t>중첩</a:t>
            </a:r>
            <a:r>
              <a:rPr sz="1800" b="0" dirty="0">
                <a:solidFill>
                  <a:srgbClr val="202830"/>
                </a:solidFill>
                <a:latin typeface="Malgun Gothic"/>
              </a:rPr>
              <a:t> </a:t>
            </a:r>
            <a:r>
              <a:rPr sz="1800" b="0" dirty="0" err="1">
                <a:solidFill>
                  <a:srgbClr val="202830"/>
                </a:solidFill>
                <a:latin typeface="Malgun Gothic"/>
              </a:rPr>
              <a:t>블록</a:t>
            </a:r>
            <a:r>
              <a:rPr sz="1800" b="0" dirty="0">
                <a:solidFill>
                  <a:srgbClr val="202830"/>
                </a:solidFill>
                <a:latin typeface="Malgun Gothic"/>
              </a:rPr>
              <a:t>) </a:t>
            </a:r>
            <a:r>
              <a:rPr sz="1800" b="0" dirty="0" err="1">
                <a:solidFill>
                  <a:srgbClr val="202830"/>
                </a:solidFill>
                <a:latin typeface="Malgun Gothic"/>
              </a:rPr>
              <a:t>확인</a:t>
            </a:r>
            <a:endParaRPr sz="1800" b="0" dirty="0">
              <a:solidFill>
                <a:srgbClr val="202830"/>
              </a:solidFill>
              <a:latin typeface="Malgun Gothic"/>
            </a:endParaRPr>
          </a:p>
          <a:p>
            <a:pPr>
              <a:spcBef>
                <a:spcPts val="1000"/>
              </a:spcBef>
            </a:pPr>
            <a:r>
              <a:rPr sz="1800" b="0" dirty="0">
                <a:solidFill>
                  <a:srgbClr val="202830"/>
                </a:solidFill>
                <a:latin typeface="Malgun Gothic"/>
              </a:rPr>
              <a:t>•  </a:t>
            </a:r>
            <a:r>
              <a:rPr sz="1800" b="0" dirty="0" err="1">
                <a:solidFill>
                  <a:srgbClr val="202830"/>
                </a:solidFill>
                <a:latin typeface="Malgun Gothic"/>
              </a:rPr>
              <a:t>모든</a:t>
            </a:r>
            <a:r>
              <a:rPr sz="1800" b="0" dirty="0">
                <a:solidFill>
                  <a:srgbClr val="202830"/>
                </a:solidFill>
                <a:latin typeface="Malgun Gothic"/>
              </a:rPr>
              <a:t> </a:t>
            </a:r>
            <a:r>
              <a:rPr sz="1800" b="0" dirty="0" err="1">
                <a:solidFill>
                  <a:srgbClr val="202830"/>
                </a:solidFill>
                <a:latin typeface="Malgun Gothic"/>
              </a:rPr>
              <a:t>실습은</a:t>
            </a:r>
            <a:r>
              <a:rPr sz="1800" b="0" dirty="0">
                <a:solidFill>
                  <a:srgbClr val="202830"/>
                </a:solidFill>
                <a:latin typeface="Malgun Gothic"/>
              </a:rPr>
              <a:t> HR </a:t>
            </a:r>
            <a:r>
              <a:rPr sz="1800" b="0" dirty="0" err="1">
                <a:solidFill>
                  <a:srgbClr val="202830"/>
                </a:solidFill>
                <a:latin typeface="Malgun Gothic"/>
              </a:rPr>
              <a:t>계정으로</a:t>
            </a:r>
            <a:r>
              <a:rPr sz="1800" b="0" dirty="0">
                <a:solidFill>
                  <a:srgbClr val="202830"/>
                </a:solidFill>
                <a:latin typeface="Malgun Gothic"/>
              </a:rPr>
              <a:t> </a:t>
            </a:r>
            <a:r>
              <a:rPr sz="1800" b="0" dirty="0" err="1">
                <a:solidFill>
                  <a:srgbClr val="202830"/>
                </a:solidFill>
                <a:latin typeface="Malgun Gothic"/>
              </a:rPr>
              <a:t>수행하며</a:t>
            </a:r>
            <a:r>
              <a:rPr sz="1800" b="0" dirty="0">
                <a:solidFill>
                  <a:srgbClr val="202830"/>
                </a:solidFill>
                <a:latin typeface="Malgun Gothic"/>
              </a:rPr>
              <a:t>, 각 </a:t>
            </a:r>
            <a:r>
              <a:rPr sz="1800" b="0" dirty="0" err="1">
                <a:solidFill>
                  <a:srgbClr val="202830"/>
                </a:solidFill>
                <a:latin typeface="Malgun Gothic"/>
              </a:rPr>
              <a:t>실습에</a:t>
            </a:r>
            <a:r>
              <a:rPr sz="1800" b="0" dirty="0">
                <a:solidFill>
                  <a:srgbClr val="202830"/>
                </a:solidFill>
                <a:latin typeface="Malgun Gothic"/>
              </a:rPr>
              <a:t> '</a:t>
            </a:r>
            <a:r>
              <a:rPr sz="1800" b="0" dirty="0" err="1">
                <a:solidFill>
                  <a:srgbClr val="202830"/>
                </a:solidFill>
                <a:latin typeface="Malgun Gothic"/>
              </a:rPr>
              <a:t>오류</a:t>
            </a:r>
            <a:r>
              <a:rPr sz="1800" b="0" dirty="0">
                <a:solidFill>
                  <a:srgbClr val="202830"/>
                </a:solidFill>
                <a:latin typeface="Malgun Gothic"/>
              </a:rPr>
              <a:t> → </a:t>
            </a:r>
            <a:r>
              <a:rPr sz="1800" b="0" dirty="0" err="1">
                <a:solidFill>
                  <a:srgbClr val="202830"/>
                </a:solidFill>
                <a:latin typeface="Malgun Gothic"/>
              </a:rPr>
              <a:t>원인</a:t>
            </a:r>
            <a:r>
              <a:rPr sz="1800" b="0" dirty="0">
                <a:solidFill>
                  <a:srgbClr val="202830"/>
                </a:solidFill>
                <a:latin typeface="Malgun Gothic"/>
              </a:rPr>
              <a:t> → </a:t>
            </a:r>
            <a:r>
              <a:rPr sz="1800" b="0" dirty="0" err="1">
                <a:solidFill>
                  <a:srgbClr val="202830"/>
                </a:solidFill>
                <a:latin typeface="Malgun Gothic"/>
              </a:rPr>
              <a:t>수정</a:t>
            </a:r>
            <a:r>
              <a:rPr sz="1800" b="0" dirty="0">
                <a:solidFill>
                  <a:srgbClr val="202830"/>
                </a:solidFill>
                <a:latin typeface="Malgun Gothic"/>
              </a:rPr>
              <a:t>' </a:t>
            </a:r>
            <a:r>
              <a:rPr sz="1800" b="0" dirty="0" err="1">
                <a:solidFill>
                  <a:srgbClr val="202830"/>
                </a:solidFill>
                <a:latin typeface="Malgun Gothic"/>
              </a:rPr>
              <a:t>흐름이</a:t>
            </a:r>
            <a:r>
              <a:rPr sz="1800" b="0" dirty="0">
                <a:solidFill>
                  <a:srgbClr val="202830"/>
                </a:solidFill>
                <a:latin typeface="Malgun Gothic"/>
              </a:rPr>
              <a:t> </a:t>
            </a:r>
            <a:r>
              <a:rPr sz="1800" b="0" dirty="0" err="1">
                <a:solidFill>
                  <a:srgbClr val="202830"/>
                </a:solidFill>
                <a:latin typeface="Malgun Gothic"/>
              </a:rPr>
              <a:t>포함된다</a:t>
            </a:r>
            <a:endParaRPr sz="1800" b="0" dirty="0">
              <a:solidFill>
                <a:srgbClr val="202830"/>
              </a:solidFill>
              <a:latin typeface="Malgun Gothic"/>
            </a:endParaRPr>
          </a:p>
          <a:p>
            <a:pPr>
              <a:spcBef>
                <a:spcPts val="1000"/>
              </a:spcBef>
            </a:pPr>
            <a:endParaRPr sz="1800" b="0" dirty="0">
              <a:solidFill>
                <a:srgbClr val="202830"/>
              </a:solidFill>
              <a:latin typeface="Malgun Gothi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11476</Words>
  <Application>Microsoft Office PowerPoint</Application>
  <PresentationFormat>와이드스크린</PresentationFormat>
  <Paragraphs>717</Paragraphs>
  <Slides>54</Slides>
  <Notes>54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54</vt:i4>
      </vt:variant>
    </vt:vector>
  </HeadingPairs>
  <TitlesOfParts>
    <vt:vector size="59" baseType="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4</cp:revision>
  <dcterms:created xsi:type="dcterms:W3CDTF">2013-01-27T09:14:16Z</dcterms:created>
  <dcterms:modified xsi:type="dcterms:W3CDTF">2026-08-20T03:18:03Z</dcterms:modified>
  <cp:category/>
</cp:coreProperties>
</file>
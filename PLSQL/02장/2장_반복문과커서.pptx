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제2장을 시작한다. 제1장에서 익힌 블록 구조와 변수·조건 분기는 모두 한 건을 다루는 코드였다. 이 장에서는 여러 건을 절차적으로 처리하기 위한 두 축, 반복문과 커서를 다룬다. 반복문은 같은 문장을 여러 번 실행하게 하고, 커서는 여러 행을 돌려주는 질의 결과를 한 행씩 꺼내 쓸 수 있게 한다. 기준 버전은 Oracle Database 19c이며 모든 예제는 HR 샘플 스키마를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학습 목표를 함께 읽는다. 크게 두 덩어리다. 앞의 다섯 항목은 반복문에 관한 것이고, 뒤의 일곱 항목은 커서에 관한 것이다. 특히 마지막 항목의 오류 번호 세 가지는 실무에서 반드시 만나게 되는 것들이므로, 강의 중에도 오류를 일부러 발생시켜 보고 원인을 짚는 방식으로 진행할 것임을 미리 안내한다. 각 항목은 본문 docx의 절 번호와 그대로 대응하므로, 학습 후 스스로 체크리스트로 사용하도록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진행 순서를 안내한다. 전반부는 반복문, 후반부는 커서다. 두 주제는 독립적으로 보이지만 실제로는 맞물려 있다. 커서에서 행을 꺼내려면 반복이 필요하고, 반복의 종료 조건은 대개 커서가 더 이상 행을 돌려주지 않는다는 사실로 결정되기 때문이다. 마지막 2.16절에서는 앞에서 배운 내용을 오류 사례로 다시 정리한다. 진도 배분은 전반부 반복문 40퍼센트, 후반부 커서 60퍼센트를 권장한다. 커서 쪽 분량이 많고 실습 트랜스크립트도 다섯 개가 배정되어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섹션이다. PL/SQL의 세 가지 제어 구조 중 마지막인 반복 제어를 다룬다. 순차 제어와 조건 제어는 제1장에서 이미 익혔다. 여기서는 세 가지 반복문의 전체 그림을 먼저 잡고, 가장 단순한 형태인 기본 LOOP와 그 종료 수단인 EXIT·EXIT WHEN을 자세히 살펴본다. 이 섹션이 끝나면 학습자는 세 반복문의 차이를 스스로 표로 정리할 수 있어야 하고, 기본 LOOP 예제를 보고 몇 번 실행되는지 즉시 답할 수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반복문의 차이를 한 문장으로 정리하면 조건을 언제 검사하는가이다. 기본 LOOP는 본문 뒤에서, WHILE LOOP는 본문 앞에서 검사한다. FOR LOOP는 개발자가 조건을 쓰지 않고 횟수만 지정한다. 이 차이가 최소 실행 횟수를 결정한다. 종료 조건이 없거나 결코 참이 되지 않으면 무한 루프가 되며, 이것은 문법 오류가 아니라서 컴파일은 성공한다는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골격을 나란히 놓고 비교한다. 기본 LOOP는 EXIT WHEN이 본문 끝에 있으므로 처리문이 최소 한 번은 실행된다. WHILE은 조건이 LOOP 키워드 앞에 있어 처음부터 거짓이면 본문이 한 번도 실행되지 않는다. FOR는 조건 자체가 없고 범위만 있다. 세 형태 모두 END LOOP와 세미콜론으로 끝난다는 공통점을 확인시킨다. 세 형태를 각각 손으로 한 번씩 써 보게 하면 구조가 훨씬 빨리 손에 익는다. 특히 END LOOP 뒤의 세미콜론을 빠뜨리는 실수가 초반에 자주 나온다.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LOOP의 핵심은 최소 1회 실행 보장이다. 다만 이 보장은 EXIT WHEN을 본문 끝에 두었을 때의 이야기라는 점을 정확히 전달해야 한다. EXIT WHEN을 루프 맨 앞으로 옮기고 그 조건이 처음부터 참이면 본문은 한 번도 실행되지 않는다. 또한 EXIT WHEN의 조건이 NULL이면 종료되지 않고 계속된다는 3값 논리도 함께 짚어 준다. EXIT WHEN은 문장이므로 세미콜론으로 끝나며, IF 문처럼 END를 붙이지 않는다는 표기상의 차이도 함께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예제에서 두 가지를 확인시킨다. 첫째, 카운터를 직접 선언하고 직접 증가시켜야 한다는 것이 기본 LOOP의 특징이다. 둘째, EXIT WHEN이 루프의 끝에 있으므로 INSERT는 무조건 한 번은 실행된다. 카운터 초기값을 지정하지 않으면 NULL이 되고, NULL과의 비교 결과도 NULL이라 EXIT 조건이 결코 참이 되지 않아 무한 루프가 된다는 점을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무한 루프를 예방하는 세 가지 습관을 정리한다. 실무에서 가장 흔한 사고는 조건 변수 갱신 문장이 IF 분기 안으로 들어가 버리는 경우다. 특정 조건을 만족하지 않는 데이터를 만나면 카운터가 증가하지 않아 루프가 영원히 돈다. 조건 변수를 갱신하는 문장은 반드시 루프 본문의 최상위 레벨에 두라고 강조한다. 실무에서는 안전장치로 최대 반복 횟수를 세는 별도 카운터를 두고, 그 값을 넘으면 예외를 발생시켜 강제로 빠져나오게 하는 방어적 작성법도 널리 쓰인다.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섹션에서는 조건 기반 반복인 WHILE LOOP와 횟수 기반 반복인 FOR LOOP를 다룬다. 두 형태 모두 기본 LOOP로 똑같이 구현할 수 있지만, 의도를 코드에 드러낸다는 점에서 훨씬 낫다. 특히 FOR LOOP는 카운터 선언·증가·종료 조건 세 가지를 PL/SQL이 대신 처리해 주므로 실수할 여지가 크게 줄어든다. 두 형태는 기본 LOOP로 똑같이 구현할 수 있지만, 의도를 코드에 드러낸다는 점에서 언제나 더 나은 선택이다. 코드 리뷰에서도 이 기준으로 지적하게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LOOP에서 가장 자주 발생하는 문제 두 가지를 짚는다. 하나는 조건 변수를 루프 안에서 갱신하지 않아 무한 루프가 되는 경우이고, 다른 하나는 조건이 NULL이 되어 루프가 한 번도 실행되지 않는 경우다. 후자는 오류도 나지 않고 결과도 조용히 비어 있어 발견이 늦다. 변수 선언 시 초기값을 반드시 지정하라는 원칙이 여기서도 그대로 적용된다. 조건식에 사용할 변수는 선언과 동시에 초기값을 주는 것을 팀 표준으로 삼으면 이 부류의 문제 대부분을 사전에 차단할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실행하면 "반복 종료. v_counter = 4"가 출력된다. 카운터가 4가 된 시점에 조건이 거짓이 되어 루프를 빠져나왔기 때문이다. 여기서 카운터의 최종 값이 3이 아니라 4라는 점을 반드시 확인시킨다. 루프를 빠져나온 뒤 카운터를 처리 건수로 그대로 사용하는 실수가 실무에서 자주 나오는데, 실제 건수는 카운터에서 1을 뺀 값이다. 같은 로직을 기본 LOOP로 작성한 앞 슬라이드와 비교해, 종료 조건이 코드 상단에 드러나는 쪽이 읽기 쉽다는 점을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LOOP는 세 가지 일을 PL/SQL이 대신 처리해 주므로 코드가 짧아지고 실수할 여지가 줄어든다. 여기서 반드시 강조할 것은 REVERSE를 써도 범위 표기는 하한이 먼저라는 점이다. FOR i IN REVERSE 1..3은 i가 3, 2, 1 순으로 변한다. 또한 경계값은 루프에 진입할 때 한 번만 평가되므로, 루프 안에서 상한 변수를 바꾸어도 반복 횟수는 달라지지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기본 LOOP·WHILE LOOP 예제와 같은 일을 FOR LOOP로 작성한 것이다. 카운터 선언과 증가 문장이 사라져 코드가 눈에 띄게 짧아졌음을 비교시킨다. 두 번째 루프에서 REVERSE의 동작을 직접 확인한다. 출력은 3, 2, 1 순서다. 범위를 REVERSE 3..1로 적으면 하한이 상한보다 크므로 본문이 한 번도 실행되지 않는다는 점도 함께 실험해 보게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LOOP 카운터를 둘러싼 세 가지 오해를 정리한다. 첫째, 카운터는 루프의 지역 변수라 밖에서 볼 수 없다. 둘째, 읽기 전용이라 대입할 수 없다. 셋째, 같은 이름의 바깥 변수를 가린다. 세 규칙 모두 컴파일 오류나 조용한 논리 오류로 이어지므로, 강의 중 실제로 PLS-00201과 PLS-00363을 발생시켜 메시지를 눈으로 확인하게 하면 기억에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섹션에서는 중첩 루프의 흐름 제어와 반복문 선택 기준을 다룬다. 중첩 루프에서 EXIT는 가장 안쪽 루프만 종료하므로, 바깥 루프까지 끝내려면 레이블이 필요하다. 후반부에서는 루프 안에서 한 건씩 DML을 실행하는 방식의 비용을 컨텍스트 스위치 관점에서 설명한다. 여기까지가 반복문 전반부다. 이어지는 섹션에서 중첩과 흐름 제어, 그리고 성능 관점의 선택 기준을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중첩 루프에서 가장 흔한 착각은 EXIT 하나로 두 루프가 모두 끝날 것이라 기대하는 것이다. 실제로는 안쪽 루프만 끝나고 바깥 루프는 다음 회차를 계속한다. 이 때문에 종료되어야 할 처리가 계속 수행되는 논리 오류가 생긴다. 레이블은 이 문제를 명확하게 해결하며, END LOOP 뒤에 레이블 이름을 다시 적으면 어느 루프가 끝나는지 코드에서 바로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outer_loop WHEN 대신 그냥 EXIT WHEN을 쓰면 어떻게 달라지는지 실제로 실행해 비교시킨다. 레이블 없는 EXIT는 안쪽 루프만 끝내므로 바깥 루프가 계속 돌면서 출력이 더 많이 나온다. i와 j의 곱이 5 이상이 되는 첫 지점, 즉 i=2, j=3에서 종료된다는 것을 손으로 따라가 보게 하면 흐름 이해가 확실해진다. 레이블 이름은 루프의 역할을 드러내도록 짓는다. outer, inner 대신 dept_loop, emp_loop처럼 의미를 담으면 유지보수에 훨씬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CONTINUE는 필터링 로직을 평평하게 만들어 준다. 조건에 맞지 않는 행을 건너뛰려고 IF 블록으로 본문 전체를 감싸는 대신, CONTINUE WHEN 한 줄로 처리하면 들여쓰기 깊이가 줄고 읽기 쉬워진다. 다만 CONTINUE가 남발되면 어느 경로로 흘러가는지 추적하기 어려워지므로, 루프 앞부분의 방어 조건에 한정해 사용하는 것이 좋다. 레이블은 반드시 두 개의 꺾쇠로 감싸며 뒤에 세미콜론을 붙이지 않는다. 표기법 실수가 잦은 부분이므로 화면에서 정확히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주의 깊게 볼 부분은 누적 합계가 55라는 점이다. CONTINUE는 v_total 누적 문장 뒤에 있으므로 짝수 회차에서도 누적은 이루어지고 출력만 건너뛴다. 만약 CONTINUE를 누적 문장 앞으로 옮기면 합계는 홀수의 합인 25가 된다. CONTINUE의 위치가 결과를 바꾼다는 사실을 이 예제로 확인시킨다. CONTINUE는 예약어이므로 변수 이름으로 사용할 수 없다. 11g 이전 코드를 이관할 때 이 이름을 쓰던 변수가 있으면 컴파일 오류가 난다는 점도 알아 둘 만하다.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 기준은 세 가지 질문으로 요약된다. 최소 한 번 실행이 필요한가, 조건을 먼저 봐야 하는가, 횟수를 아는가. 실무에서는 커서를 순회하는 경우가 압도적으로 많은데, 이때는 커서 FOR LOOP가 기본 선택이 된다. 나머지 세 형태는 커서와 무관한 계산 반복이나 재시도 로직 등에서 주로 쓰인다. MOD 함수는 나머지를 돌려주는 SQL 내장 함수로 PL/SQL 안에서도 그대로 사용할 수 있다. 짝수·홀수 판별의 표준적인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PL/SQL 엔진이 SQL 문장을 만날 때마다 SQL 엔진으로 제어를 넘기는 컨텍스트 스위치가 발생한다. 10만 건을 한 건씩 UPDATE하면 스위치도 10만 번 일어난다. 그렇다면 반복문은 언제 쓰는가. 행마다 서로 다른 판단이 필요하거나, 행 단위 로그가 필요하거나, 외부 호출처럼 집합 SQL로 표현할 수 없는 처리가 섞여 있을 때다. 대량 처리가 불가피하면 제3장의 BULK COLLECT와 FORALL을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섹션부터 이 장의 후반부인 커서를 다룬다. 커서는 실행 중인 SQL 문장과 그 결과 집합을 가리키는 포인터다. PL/SQL에서 실행되는 모든 SQL 문장에는 반드시 커서가 연결되며, 그것을 누가 관리하느냐에 따라 암시적 커서와 명시적 커서로 나뉜다. 여기까지가 반복문이고 지금부터가 커서다. 두 주제가 만나는 지점이 바로 커서에서 행을 꺼내는 반복이며, 이 장의 나머지 절반은 모두 그 이야기다.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커서의 개념을 물리적 실체와 연결해 설명한다. 서버 프로세스 메모리 안의 작업 공간이 실제 실체이고, 커서 이름은 그것을 가리키는 손잡이다. 질의가 돌려주는 행 전체를 활성 집합이라 부르고, 커서 포인터는 활성 집합 안의 현재 행을 가리킨다. 프로그램은 이 포인터를 한 행씩 전진시키면서 각 행을 처리한다는 그림을 먼저 심어 준다. 활성 집합이라는 용어는 이후 모든 절에서 반복해 등장하므로 여기서 정확히 정의해 두어야 한다. 질의 조건을 만족하는 행 전체의 집합이라는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암시적 커서 속성에서 반드시 짚어야 할 점이 세 가지다. 첫째, SQL%ISOPEN은 언제나 FALSE다. 암시적 커서는 문장이 끝나는 즉시 닫히기 때문이다. 둘째, SQL%ROWCOUNT는 가장 최근에 실행된 SQL 문장의 결과만 반영하므로 여러 DML을 실행했다면 직후에 읽어야 한다. 셋째, UPDATE·DELETE가 0행을 처리해도 예외는 발생하지 않으므로 SQL%NOTFOUND로 직접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단계를 순서대로 외우게 하는 것이 이 절의 목표다. 특히 두 가지를 강조한다. 커서 선언의 SELECT에는 INTO를 쓸 수 없다는 것과, OPEN 시점에는 행이 변수로 옮겨지지 않는다는 것이다. 값을 꺼내는 일은 전적으로 FETCH의 몫이다. 이 구분이 흐릿하면 왜 OPEN 직후 %ROWCOUNT가 0인지 이해할 수 없게 된다. 네 단계 중 어느 하나라도 순서가 어긋나면 곧바로 오류나 논리 문제로 이어진다. 2.16절의 오류 사례가 모두 이 순서와 관련되어 있다는 점을 미리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예제의 v_locid는 커서를 OPEN하는 시점에 단 한 번 평가되어 질의에 바인드된다. 따라서 열기 전에 값을 바꾸면 반영되지만, 열고 난 뒤에 바꾸면 이미 확정된 활성 집합에는 영향을 주지 않는다. 이 성질을 오해하면 변수를 바꿨는데 결과가 그대로라는 혼란을 겪는다. 조건을 바꿔 가며 재사용해야 한다면 파라미터 커서를 써야 한다. 또한 행 처리 순서가 중요하면 반드시 ORDER BY를 명시한다.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FETCH와 EXIT WHEN의 순서는 이 장 전체에서 가장 중요한 규칙 중 하나다. 순서를 어기면 오류 없이 마지막 행이 두 번 처리되는 조용한 논리 오류가 생긴다. 오류가 나지 않기 때문에 테스트에서 놓치기 쉽고, 집계 결과가 미묘하게 틀어져 한참 뒤에야 발견된다. FETCH 다음 줄은 언제나 EXIT WHEN 커서%NOTFOUND라고 규칙으로 굳히도록 지도한다.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코드가 명시적 커서의 표준 골격이다. 네 개의 번호를 짚어 가며 각 단계가 무엇을 하는지 다시 확인한다. 커서를 닫지 않아도 블록이 끝나면 PL/SQL이 정리하지만, 패키지 전역 커서나 반복 호출되는 프로시저에서는 누수가 누적된다. 세션당 열 수 있는 커서 수는 초기화 파라미터 OPEN_CURSORS로 제한되며 한도를 넘으면 ORA-01000이 발생한다. OPEN을 적는 순간 CLOSE를 먼저 적어 두는 습관을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섹션에서는 명시적 커서를 더 편하고 안전하게 쓰는 방법을 다룬다. 레코드로 FETCH하면 컬럼 변화에 강해지고, 커서 FOR LOOP를 쓰면 커서 제어를 아예 PL/SQL에 맡길 수 있다. 마지막으로 커서의 상태를 알려 주는 네 가지 속성을 정리한다. 이 섹션의 목표는 명시적 커서를 더 짧고 더 안전하게 쓰는 방법을 손에 익히는 것이다. 특히 커서 FOR LOOP는 이후 모든 장에서 반복해 사용된다.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레코드 FETCH는 유지보수 관점에서 큰 이점이 있다. SELECT 목록이 바뀌어도 FETCH INTO 문장을 고칠 필요가 없기 때문이다. 테이블명%ROWTYPE도 쓸 수 있지만, 커서가 선택한 일부 컬럼만 담으려면 커서%ROWTYPE이 더 정확하다. 계산 컬럼에 별칭을 붙이는 습관은 %ROWTYPE뿐 아니라 뷰 생성이나 애플리케이션 매핑에서도 그대로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예제와 비교하면 변수 선언이 세 줄에서 한 줄로 줄었다. 이제 커서 SELECT에 컬럼을 하나 더 추가해도 선언부와 FETCH 문장은 그대로 두고 출력 부분만 고치면 된다. 레코드 필드에 접근할 때는 점 표기법을 사용하며, 필드 이름은 SELECT 목록에 적힌 컬럼 이름 또는 별칭과 정확히 일치해야 한다는 점을 확인시킨다. 실행하면 부서 30의 사원이 급여 내림차순으로 출력된다. RPAD와 TO_CHAR로 자릿수를 맞추면 콘솔 출력이 표처럼 정렬되어 읽기 편해진다.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커서 FOR LOOP는 이 장에서 가장 실무적으로 중요한 도구다. OPEN과 CLOSE를 개발자가 쓰지 않으므로 ORA-06511이나 ORA-01000 같은 사고 자체가 발생하지 않는다. 활성 집합 전체를 순회하고 특별한 커서 제어가 필요 없다면 이것이 정답이다. 반대로 FETCH 사이에 복잡한 판단이 들어가거나 한 행만 처리하는 경우에는 명시적 제어가 여전히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슬라이드의 명시적 제어 코드와 나란히 놓고 비교시킨다. 선언부의 변수 세 줄, OPEN, LOOP, FETCH, EXIT WHEN, CLOSE가 모두 사라지고 반복 본문만 남았다. emp_record를 DECLARE에 선언하면 오히려 오류가 나거나 의도치 않게 바깥 변수를 가리게 되므로 절대 선언하지 않는다는 점을 분명히 짚어 준다. 커서 FOR LOOP 안에서도 커서 속성을 참조할 수 있다. 이름 있는 커서를 사용했다면 루프 안에서 커서명 퍼센트 ROWCOUNT로 현재 회차 번호를 얻을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서브쿼리 형태는 일회성 순회에 매우 편리하다. 다만 커서 이름이 없으므로 %ROWCOUNT나 %NOTFOUND 같은 속성을 참조할 수 없다는 제약이 있다. 처리 건수를 세어야 한다면 별도 카운터 변수를 두거나 이름 있는 커서를 선언해야 한다. 또한 같은 질의를 여러 곳에서 재사용하거나 SQL을 한곳에 모아 관리하려는 목적이라면 이름 있는 커서 쪽이 낫다. 이 형태는 이후 장의 예제에서도 매우 자주 등장한다. 임시 조회와 출력만 필요한 상황에서는 사실상 표준처럼 쓰인다.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속성의 타입과 의미를 정확히 구분하게 한다. %FOUND와 %NOTFOUND는 서로 정반대인 BOOLEAN이고, %ROWCOUNT만 NUMBER다. %ISOPEN은 이미 열린 커서를 다시 열어 ORA-06511이 발생하는 것을 막는 방어 코드에 쓰인다. 이 속성들은 SQL 문장 안에서는 직접 참조할 수 없다는 제약도 함께 언급한다. 암시적 커서의 SQL 퍼센트 속성과 이름만 다를 뿐 의미가 같다는 점도 함께 연결해 주면 두 종류의 커서를 하나의 그림으로 정리할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WHEN 조건의 순서가 중요하다. %NOTFOUND를 먼저 검사해야 활성 집합이 5건보다 적을 때도 정상 종료된다. 또 하나, 최종 건수 출력이 CLOSE 앞에 있다는 점을 확인시킨다. CLOSE 뒤로 옮기면 ORA-01001이 발생한다. 실무에서 처리 건수가 항상 0으로 로그에 남는 사고가 있었는데, 원인은 CLOSE 뒤에서 %ROWCOUNT를 읽다 예외가 났고 WHEN OTHERS가 이를 삼킨 것이었다.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섹션에서는 실무에서 자주 쓰이는 세 가지 응용을 다룬다. 파라미터 커서로 하나의 커서를 여러 조건에 재사용하는 방법, FOR UPDATE로 조회한 행을 잠그고 갱신하는 방법, 그리고 중첩 커서로 마스터-디테일 구조를 처리할 때 주의할 성능 문제를 살펴본다. 이 세 가지는 모두 실무 코드에서 곧바로 마주치는 패턴이다. 특히 FOR UPDATE는 재고 차감이나 순번 채번 같은 동시성 민감 로직에서 필수적으로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선언부 변수를 쓰는 커서와 파라미터 커서의 차이를 분명히 한다. 전자는 OPEN 시점의 변수 값 하나만 반영되고 조건을 바꾸려면 변수를 고쳐야 한다. 후자는 OPEN마다 다른 값을 넘길 수 있어 재사용성이 높고 의도가 코드에 드러난다. 파라미터 이름은 커서 SELECT 안에서만 유효하며, 컬럼 이름과 겹치지 않도록 p_ 접두사를 붙이는 것이 관례다. 파라미터 기본값을 주면 호출부에서 값을 생략할 수 있어, 조건이 늘어나도 기존 호출 코드를 고치지 않아도 된다는 실용적 이점이 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예제에서 CLOSE 문장을 주석 처리하고 실행하면 두 번째 반복에서 ORA-06511이 발생한다. 강의 중 반드시 직접 재현해 보게 한다. 커서 FOR LOOP를 쓰면 이런 문제 자체가 생기지 않는다. FOR rec IN c_emp_by_dept(60, 5000) LOOP 형태로 커서 이름 뒤에 괄호를 붙이면 파라미터를 넘기면서 OPEN·CLOSE는 자동으로 처리된다.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UPDATE는 조회-갱신 사이의 경쟁 조건을 막아 주는 장치다. 대기 방식 세 가지를 상황별로 설명한다. 아무것도 쓰지 않으면 무한정 대기하므로 배치에서 위험하고, NOWAIT나 WAIT n으로 실패를 빠르게 감지하는 편이 낫다. SKIP LOCKED는 여러 워커가 큐 테이블을 나눠 처리하는 패턴에서 유용하다. 19c에서도 세 옵션 모두 동일하게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COMMIT이 루프 밖에 있다는 점을 반드시 짚는다. COMMIT은 트랜잭션의 모든 행 잠금을 해제하므로 FOR UPDATE 커서의 잠금도 사라지고, 이후 FETCH에서 ORA-01002 fetch out of sequence가 발생한다. 중간 커밋이 꼭 필요하다면 FOR UPDATE 대신 기본 키를 조건으로 하는 일반 UPDATE를 사용해야 한다. 예외 절에서 SQLCODE로 ORA-00054를 구분해 처리하는 패턴도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바깥 커서가 마스터인 부서를, 안쪽 파라미터 커서가 디테일인 사원을 담당한다. 바깥 커서의 각 행에서 얻은 부서 번호를 안쪽 커서 파라미터로 넘기는 구조다. 읽기 쉽고 계층적 출력에 잘 맞는다. 소계 변수를 바깥 루프 시작 지점에서 0으로 초기화하는 것을 잊으면 이전 부서의 합계가 누적되는 버그가 생기므로 함께 짚어 준다. 안쪽 커서에 파라미터를 넘길 때 타입을 departments.department_id 퍼센트 TYPE으로 선언한 점에 주목하게 한다. 테이블 정의가 바뀌어도 코드를 고칠 필요가 없다.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중첩 커서는 N+1 질의를 유발한다. 부서가 10개면 11번, 1,000개면 1,001번의 질의가 실행된다. 실무 사례로 일별 부서 실적 배치가 부서 800개에 대해 안쪽 커서를 800번 실행하던 것을 조인 한 번으로 바꿔 수행 시간을 크게 줄인 경우가 있다. 소계가 필요하다면 부서가 바뀌는 지점을 변수로 감지하거나 분석 함수를 사용하면 된다. 소계가 필요하다면 부서가 바뀌는 지점을 변수로 감지하거나 SUM OVER PARTITION BY 같은 분석 함수를 사용하면 조인 한 번을 유지하면서도 계층 합계를 얻을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섹션이다. 반복문과 커서에서 생기는 문제를 컴파일 오류, 런타임 오류, 논리 오류 세 가지로 나누어 정리한다. 가장 다루기 어려운 것은 세 번째다. 오류 메시지가 전혀 나오지 않고 결과만 조용히 틀리기 때문이다. 실제 오류를 재현해 보면서 원인을 파악하고 수정하는 흐름을 익힌다. 이 섹션의 두 예제는 실습 03과 실습 06에서 그대로 재현하게 되어 있으므로, 강의에서는 원인 설명에 시간을 더 쓰고 실습에서 손으로 확인하게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번호를 외우게 하기보다, 각 오류가 어떤 실수에서 비롯되는지를 연결해 기억하게 한다. ORA-06511과 ORA-01001은 커서의 열림·닫힘 상태 관리 실패이고, ORA-01002는 트랜잭션 경계와 커서 수명의 충돌이며, ORA-01000은 자원 누수다. PLS- 계열은 모두 컴파일 시점에 잡히므로 상대적으로 안전하다. 가장 위험한 것은 오류 번호가 없는 마지막 항목이다.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오류 메시지를 전혀 내지 않는다. 부서 30에 사원이 6명이면 7줄이 출력되고 마지막 이름이 두 번 나온다. 소량 데이터로 테스트하면 눈에 띄지만, 대량 처리에서는 집계 합계가 미묘하게 어긋날 뿐이라 발견이 매우 늦다. 실제로 실행해 출력 줄 수를 세어 보게 하면 규칙의 중요성이 확실히 각인된다. 수정본에서는 FETCH, EXIT WHEN, 처리문 순서가 되어 정확히 6줄만 출력된다. 수정 전후를 나란히 실행해 출력 줄 수를 비교하는 것이 가장 확실한 확인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반복은 정상 수행되고 두 번째 반복의 OPEN에서 ORA-06511이 발생한다. 오류 스택에 ORA-06512와 함께 줄 번호가 표시되므로 어느 문장에서 났는지 바로 알 수 있다. 수정 방법은 두 가지다. 정석은 루프 끝에서 CLOSE하는 것이고, 방어적 대안은 OPEN 앞에서 %ISOPEN을 확인하는 것이다. 근본 해법은 커서 FOR LOOP로 바꾸는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실무 지침을 여섯 가지로 정리한다. 다섯 번째 항목은 앞서 소개한 로그 건수가 0으로 남던 사례와 직접 연결된다. 마지막 항목은 특히 강조한다. WHEN OTHERS로 예외를 삼키면 ORA-06511이나 ORA-01001이 조용히 사라지고, 결과만 틀린 채 배치가 정상 종료된 것처럼 보인다. 예외는 반드시 로그로 남기거나 RAISE로 전파해야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세 문항은 반복문에 관한 것이다. Q1에서 학습자들이 흔히 "기본 LOOP는 무조건 1회 실행"이라고만 답하는데, EXIT WHEN의 위치라는 단서를 덧붙여야 완전한 답이다. Q2는 3값 논리의 응용이고, Q3은 카운터의 읽기 전용 성질을 묻는다. 각 문항마다 실제 코드로 확인해 보도록 유도한다. 퀴즈는 개별 답을 맞히는 것보다 왜 그런지 설명하게 하는 편이 효과적이다. 답을 먼저 가리고 학습자에게 물은 뒤 함께 확인하는 방식으로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뒤의 세 문항은 커서에 관한 것이다. Q4는 커서 선언과 FETCH의 역할 분담을 이해했는지 확인한다. Q5는 이 장에서 가장 중요한 규칙이자 오류 메시지 없이 결과만 틀리는 대표적 사례다. Q6은 상태 관리 실패의 전형이다. 세 문항 모두 실습 트랜스크립트에서 직접 재현해 보게 되어 있다. 여섯 문항은 본문 docx의 퀴즈 박스와 동일하며, 상세 해설은 실습문제 정답 문서에 수록되어 있다는 점을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핵심을 열세 가지로 정리했다. 반복문 다섯 항목, 커서 여덟 항목이다. 이 중 반드시 몸에 익혀야 할 두 가지를 다시 강조한다면, FETCH 다음 줄의 EXIT WHEN %NOTFOUND와 커서 FOR LOOP 우선 사용이다. 다음 장에서는 여기서 발생한 예외를 어떻게 붙잡고 처리할지, 그리고 트랜잭션과 컬렉션을 다룬다. 요약 슬라이드는 복습 자료로 그대로 배포해도 좋다. 각 항목이 본문의 어느 절에서 나왔는지 되짚으면 전체 구조가 한 번 더 정리된다.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개의 SQL*Plus 트랜스크립트를 순서대로 따라 하도록 안내한다. 각 실습에는 실제로 발생할 수 있는 오류와 그 원인 파악·수정 과정이 반드시 포함되어 있다. 실습 03에서는 ORA-06511, 실습 06에서는 ORA-01001을 직접 재현한다. 먼저 오류를 눈으로 확인한 뒤 수정하는 순서로 진행하는 것이 학습 효과가 가장 크다. 실습을 마친 뒤에는 객관식 50문항과 서술형·코드작성형 20문항으로 이해도를 최종 점검한다.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cs typeface="Malgun Gothic"/>
              </a:rPr>
              <a:t>Oracle PL/SQL 7일 실무·DBA 운영자동화 과정  ·  제2장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cs typeface="Malgun Gothic"/>
              </a:rPr>
              <a:t>반복문과 커서</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cs typeface="Malgun Gothic"/>
              </a:rPr>
              <a:t>기본 LOOP · WHILE · FOR · EXIT WHEN · 명시적 커서 · 커서 FOR LOOP · 커서 속성 · 파라미터 커서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이 장을 마치면 다음을 수행할 수 있어야 한다.</a:t>
            </a:r>
          </a:p>
          <a:p>
            <a:pPr>
              <a:spcAft>
                <a:spcPts val="300"/>
              </a:spcAft>
            </a:pPr>
            <a:r>
              <a:rPr sz="1600" b="0">
                <a:solidFill>
                  <a:srgbClr val="5A6672"/>
                </a:solidFill>
                <a:latin typeface="Malgun Gothic"/>
                <a:ea typeface="Malgun Gothic"/>
                <a:cs typeface="Malgun Gothic"/>
              </a:rPr>
              <a:t>    –  기본 LOOP·WHILE LOOP·FOR LOOP의 문법과 조건 평가 시점 차이를 설명한다</a:t>
            </a:r>
          </a:p>
          <a:p>
            <a:pPr>
              <a:spcAft>
                <a:spcPts val="300"/>
              </a:spcAft>
            </a:pPr>
            <a:r>
              <a:rPr sz="1600" b="0">
                <a:solidFill>
                  <a:srgbClr val="5A6672"/>
                </a:solidFill>
                <a:latin typeface="Malgun Gothic"/>
                <a:ea typeface="Malgun Gothic"/>
                <a:cs typeface="Malgun Gothic"/>
              </a:rPr>
              <a:t>    –  EXIT·EXIT WHEN으로 루프를 안전하게 종료하고 무한 루프를 예방한다</a:t>
            </a:r>
          </a:p>
          <a:p>
            <a:pPr>
              <a:spcAft>
                <a:spcPts val="300"/>
              </a:spcAft>
            </a:pPr>
            <a:r>
              <a:rPr sz="1600" b="0">
                <a:solidFill>
                  <a:srgbClr val="5A6672"/>
                </a:solidFill>
                <a:latin typeface="Malgun Gothic"/>
                <a:ea typeface="Malgun Gothic"/>
                <a:cs typeface="Malgun Gothic"/>
              </a:rPr>
              <a:t>    –  FOR LOOP의 카운터 규칙과 REVERSE 옵션, 경계값 평가 방식을 적용한다</a:t>
            </a:r>
          </a:p>
          <a:p>
            <a:pPr>
              <a:spcAft>
                <a:spcPts val="300"/>
              </a:spcAft>
            </a:pPr>
            <a:r>
              <a:rPr sz="1600" b="0">
                <a:solidFill>
                  <a:srgbClr val="5A6672"/>
                </a:solidFill>
                <a:latin typeface="Malgun Gothic"/>
                <a:ea typeface="Malgun Gothic"/>
                <a:cs typeface="Malgun Gothic"/>
              </a:rPr>
              <a:t>    –  레이블과 CONTINUE로 중첩 루프의 흐름을 제어한다</a:t>
            </a:r>
          </a:p>
          <a:p>
            <a:pPr>
              <a:spcAft>
                <a:spcPts val="300"/>
              </a:spcAft>
            </a:pPr>
            <a:r>
              <a:rPr sz="1600" b="0">
                <a:solidFill>
                  <a:srgbClr val="5A6672"/>
                </a:solidFill>
                <a:latin typeface="Malgun Gothic"/>
                <a:ea typeface="Malgun Gothic"/>
                <a:cs typeface="Malgun Gothic"/>
              </a:rPr>
              <a:t>    –  암시적 커서와 명시적 커서를 구분하고 SQL%ROWCOUNT로 처리 건수를 확인한다</a:t>
            </a:r>
          </a:p>
          <a:p>
            <a:pPr>
              <a:spcAft>
                <a:spcPts val="300"/>
              </a:spcAft>
            </a:pPr>
            <a:r>
              <a:rPr sz="1600" b="0">
                <a:solidFill>
                  <a:srgbClr val="5A6672"/>
                </a:solidFill>
                <a:latin typeface="Malgun Gothic"/>
                <a:ea typeface="Malgun Gothic"/>
                <a:cs typeface="Malgun Gothic"/>
              </a:rPr>
              <a:t>    –  명시적 커서를 DECLARE·OPEN·FETCH·CLOSE 네 단계로 사용한다</a:t>
            </a:r>
          </a:p>
          <a:p>
            <a:pPr>
              <a:spcAft>
                <a:spcPts val="300"/>
              </a:spcAft>
            </a:pPr>
            <a:r>
              <a:rPr sz="1600" b="0">
                <a:solidFill>
                  <a:srgbClr val="5A6672"/>
                </a:solidFill>
                <a:latin typeface="Malgun Gothic"/>
                <a:ea typeface="Malgun Gothic"/>
                <a:cs typeface="Malgun Gothic"/>
              </a:rPr>
              <a:t>    –  커서 FOR LOOP로 커서 제어를 자동화하고 서브쿼리 형태로도 사용한다</a:t>
            </a:r>
          </a:p>
          <a:p>
            <a:pPr>
              <a:spcAft>
                <a:spcPts val="300"/>
              </a:spcAft>
            </a:pPr>
            <a:r>
              <a:rPr sz="1600" b="0">
                <a:solidFill>
                  <a:srgbClr val="5A6672"/>
                </a:solidFill>
                <a:latin typeface="Malgun Gothic"/>
                <a:ea typeface="Malgun Gothic"/>
                <a:cs typeface="Malgun Gothic"/>
              </a:rPr>
              <a:t>    –  %FOUND·%NOTFOUND·%ROWCOUNT·%ISOPEN의 값 변화를 추적한다</a:t>
            </a:r>
          </a:p>
          <a:p>
            <a:pPr>
              <a:spcAft>
                <a:spcPts val="300"/>
              </a:spcAft>
            </a:pPr>
            <a:r>
              <a:rPr sz="1600" b="0">
                <a:solidFill>
                  <a:srgbClr val="5A6672"/>
                </a:solidFill>
                <a:latin typeface="Malgun Gothic"/>
                <a:ea typeface="Malgun Gothic"/>
                <a:cs typeface="Malgun Gothic"/>
              </a:rPr>
              <a:t>    –  파라미터 커서로 하나의 커서를 여러 조건에 재사용한다</a:t>
            </a:r>
          </a:p>
          <a:p>
            <a:pPr>
              <a:spcAft>
                <a:spcPts val="300"/>
              </a:spcAft>
            </a:pPr>
            <a:r>
              <a:rPr sz="1600" b="0">
                <a:solidFill>
                  <a:srgbClr val="5A6672"/>
                </a:solidFill>
                <a:latin typeface="Malgun Gothic"/>
                <a:ea typeface="Malgun Gothic"/>
                <a:cs typeface="Malgun Gothic"/>
              </a:rPr>
              <a:t>    –  FOR UPDATE와 WHERE CURRENT OF로 조회한 행을 잠그고 갱신한다</a:t>
            </a:r>
          </a:p>
          <a:p>
            <a:pPr>
              <a:spcAft>
                <a:spcPts val="300"/>
              </a:spcAft>
            </a:pPr>
            <a:r>
              <a:rPr sz="1600" b="0">
                <a:solidFill>
                  <a:srgbClr val="5A6672"/>
                </a:solidFill>
                <a:latin typeface="Malgun Gothic"/>
                <a:ea typeface="Malgun Gothic"/>
                <a:cs typeface="Malgun Gothic"/>
              </a:rPr>
              <a:t>    –  ORA-06511·ORA-01001·ORA-01002의 원인을 파악하고 수정한다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2.1~2.2  반복 제어 구조 개요 · 기본 LOOP와 EXIT · EXIT WHEN</a:t>
            </a:r>
          </a:p>
          <a:p>
            <a:pPr>
              <a:spcAft>
                <a:spcPts val="500"/>
              </a:spcAft>
            </a:pPr>
            <a:r>
              <a:rPr sz="1800" b="0">
                <a:solidFill>
                  <a:srgbClr val="202830"/>
                </a:solidFill>
                <a:latin typeface="Malgun Gothic"/>
                <a:ea typeface="Malgun Gothic"/>
                <a:cs typeface="Malgun Gothic"/>
              </a:rPr>
              <a:t>•  2.3~2.4  WHILE LOOP · FOR LOOP와 카운터 규칙</a:t>
            </a:r>
          </a:p>
          <a:p>
            <a:pPr>
              <a:spcAft>
                <a:spcPts val="500"/>
              </a:spcAft>
            </a:pPr>
            <a:r>
              <a:rPr sz="1800" b="0">
                <a:solidFill>
                  <a:srgbClr val="202830"/>
                </a:solidFill>
                <a:latin typeface="Malgun Gothic"/>
                <a:ea typeface="Malgun Gothic"/>
                <a:cs typeface="Malgun Gothic"/>
              </a:rPr>
              <a:t>•  2.5~2.6  중첩 루프와 레이블 · CONTINUE · 반복문 선택 기준과 비용</a:t>
            </a:r>
          </a:p>
          <a:p>
            <a:pPr>
              <a:spcAft>
                <a:spcPts val="500"/>
              </a:spcAft>
            </a:pPr>
            <a:r>
              <a:rPr sz="1800" b="0">
                <a:solidFill>
                  <a:srgbClr val="202830"/>
                </a:solidFill>
                <a:latin typeface="Malgun Gothic"/>
                <a:ea typeface="Malgun Gothic"/>
                <a:cs typeface="Malgun Gothic"/>
              </a:rPr>
              <a:t>•  2.7~2.9  커서의 개념 · 암시적 커서 · 명시적 커서 선언과 OPEN·FETCH·CLOSE</a:t>
            </a:r>
          </a:p>
          <a:p>
            <a:pPr>
              <a:spcAft>
                <a:spcPts val="500"/>
              </a:spcAft>
            </a:pPr>
            <a:r>
              <a:rPr sz="1800" b="0">
                <a:solidFill>
                  <a:srgbClr val="202830"/>
                </a:solidFill>
                <a:latin typeface="Malgun Gothic"/>
                <a:ea typeface="Malgun Gothic"/>
                <a:cs typeface="Malgun Gothic"/>
              </a:rPr>
              <a:t>•  2.10~2.12  커서와 레코드 · 커서 FOR LOOP · 명시적 커서 속성</a:t>
            </a:r>
          </a:p>
          <a:p>
            <a:pPr>
              <a:spcAft>
                <a:spcPts val="500"/>
              </a:spcAft>
            </a:pPr>
            <a:r>
              <a:rPr sz="1800" b="0">
                <a:solidFill>
                  <a:srgbClr val="202830"/>
                </a:solidFill>
                <a:latin typeface="Malgun Gothic"/>
                <a:ea typeface="Malgun Gothic"/>
                <a:cs typeface="Malgun Gothic"/>
              </a:rPr>
              <a:t>•  2.13~2.15  파라미터 커서 · FOR UPDATE와 WHERE CURRENT OF · 중첩 커서</a:t>
            </a:r>
          </a:p>
          <a:p>
            <a:pPr>
              <a:spcAft>
                <a:spcPts val="500"/>
              </a:spcAft>
            </a:pPr>
            <a:r>
              <a:rPr sz="1800" b="0">
                <a:solidFill>
                  <a:srgbClr val="202830"/>
                </a:solidFill>
                <a:latin typeface="Malgun Gothic"/>
                <a:ea typeface="Malgun Gothic"/>
                <a:cs typeface="Malgun Gothic"/>
              </a:rPr>
              <a:t>•  2.16  자주 만나는 오류와 진단</a:t>
            </a:r>
          </a:p>
          <a:p>
            <a:pPr>
              <a:spcAft>
                <a:spcPts val="500"/>
              </a:spcAft>
            </a:pPr>
            <a:r>
              <a:rPr sz="1800" b="0">
                <a:solidFill>
                  <a:srgbClr val="202830"/>
                </a:solidFill>
                <a:latin typeface="Malgun Gothic"/>
                <a:ea typeface="Malgun Gothic"/>
                <a:cs typeface="Malgun Gothic"/>
              </a:rPr>
              <a:t>•  요약 · 이해도 점검 퀴즈 · 실습 개요(7개 트랜스크립트)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cs typeface="Malgun Gothic"/>
              </a:rPr>
              <a:t>2.1~2.2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cs typeface="Malgun Gothic"/>
              </a:rPr>
              <a:t>반복 제어 구조와 기본 LOOP</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cs typeface="Malgun Gothic"/>
              </a:rPr>
              <a:t>•  세 가지 반복문의 종류와 공통 규칙</a:t>
            </a:r>
          </a:p>
          <a:p>
            <a:pPr>
              <a:spcAft>
                <a:spcPts val="600"/>
              </a:spcAft>
            </a:pPr>
            <a:r>
              <a:rPr sz="1600" b="0">
                <a:solidFill>
                  <a:srgbClr val="C5CED6"/>
                </a:solidFill>
                <a:latin typeface="Malgun Gothic"/>
                <a:ea typeface="Malgun Gothic"/>
                <a:cs typeface="Malgun Gothic"/>
              </a:rPr>
              <a:t>•  기본 LOOP · EXIT와 EXIT WHEN</a:t>
            </a:r>
          </a:p>
          <a:p>
            <a:pPr>
              <a:spcAft>
                <a:spcPts val="600"/>
              </a:spcAft>
            </a:pPr>
            <a:r>
              <a:rPr sz="1600" b="0">
                <a:solidFill>
                  <a:srgbClr val="C5CED6"/>
                </a:solidFill>
                <a:latin typeface="Malgun Gothic"/>
                <a:ea typeface="Malgun Gothic"/>
                <a:cs typeface="Malgun Gothic"/>
              </a:rPr>
              <a:t>•  최소 1회 실행이 필요한 처리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반복 제어 구조 개요</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반복문은 하나의 문장 또는 문장 묶음을 여러 번 실행한다</a:t>
            </a:r>
          </a:p>
          <a:p>
            <a:pPr>
              <a:spcAft>
                <a:spcPts val="500"/>
              </a:spcAft>
            </a:pPr>
            <a:r>
              <a:rPr sz="1800" b="0">
                <a:solidFill>
                  <a:srgbClr val="202830"/>
                </a:solidFill>
                <a:latin typeface="Malgun Gothic"/>
                <a:ea typeface="Malgun Gothic"/>
                <a:cs typeface="Malgun Gothic"/>
              </a:rPr>
              <a:t>•  PL/SQL이 제공하는 세 가지 반복문</a:t>
            </a:r>
          </a:p>
          <a:p>
            <a:pPr>
              <a:spcAft>
                <a:spcPts val="300"/>
              </a:spcAft>
            </a:pPr>
            <a:r>
              <a:rPr sz="1600" b="0">
                <a:solidFill>
                  <a:srgbClr val="5A6672"/>
                </a:solidFill>
                <a:latin typeface="Malgun Gothic"/>
                <a:ea typeface="Malgun Gothic"/>
                <a:cs typeface="Malgun Gothic"/>
              </a:rPr>
              <a:t>    –  기본 LOOP : 조건 없이 시작, 내부 EXIT로만 종료. 최소 1회 실행</a:t>
            </a:r>
          </a:p>
          <a:p>
            <a:pPr>
              <a:spcAft>
                <a:spcPts val="300"/>
              </a:spcAft>
            </a:pPr>
            <a:r>
              <a:rPr sz="1600" b="0">
                <a:solidFill>
                  <a:srgbClr val="5A6672"/>
                </a:solidFill>
                <a:latin typeface="Malgun Gothic"/>
                <a:ea typeface="Malgun Gothic"/>
                <a:cs typeface="Malgun Gothic"/>
              </a:rPr>
              <a:t>    –  WHILE LOOP : 진입 전에 조건 평가. 0회 실행될 수 있음</a:t>
            </a:r>
          </a:p>
          <a:p>
            <a:pPr>
              <a:spcAft>
                <a:spcPts val="300"/>
              </a:spcAft>
            </a:pPr>
            <a:r>
              <a:rPr sz="1600" b="0">
                <a:solidFill>
                  <a:srgbClr val="5A6672"/>
                </a:solidFill>
                <a:latin typeface="Malgun Gothic"/>
                <a:ea typeface="Malgun Gothic"/>
                <a:cs typeface="Malgun Gothic"/>
              </a:rPr>
              <a:t>    –  FOR LOOP : 반복 횟수가 정해짐. 카운터를 암시적으로 선언</a:t>
            </a:r>
          </a:p>
          <a:p>
            <a:pPr>
              <a:spcAft>
                <a:spcPts val="500"/>
              </a:spcAft>
            </a:pPr>
            <a:r>
              <a:rPr sz="1800" b="0">
                <a:solidFill>
                  <a:srgbClr val="202830"/>
                </a:solidFill>
                <a:latin typeface="Malgun Gothic"/>
                <a:ea typeface="Malgun Gothic"/>
                <a:cs typeface="Malgun Gothic"/>
              </a:rPr>
              <a:t>•  공통 규칙 — 모든 루프는 END LOOP; 로 끝나고 반드시 종료 조건을 가져야 한다</a:t>
            </a:r>
          </a:p>
          <a:p>
            <a:pPr>
              <a:spcAft>
                <a:spcPts val="500"/>
              </a:spcAft>
            </a:pPr>
            <a:r>
              <a:rPr sz="1800" b="0">
                <a:solidFill>
                  <a:srgbClr val="202830"/>
                </a:solidFill>
                <a:latin typeface="Malgun Gothic"/>
                <a:ea typeface="Malgun Gothic"/>
                <a:cs typeface="Malgun Gothic"/>
              </a:rPr>
              <a:t>•  루프 안에는 SQL 문장과 PL/SQL 문장을 자유롭게 쓸 수 있고 중첩도 가능하다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ea typeface="Malgun Gothic"/>
                <a:cs typeface="Malgun Gothic"/>
              </a:rPr>
              <a:t>주의: </a:t>
            </a:r>
            <a:r>
              <a:rPr sz="1250" b="0">
                <a:solidFill>
                  <a:srgbClr val="202830"/>
                </a:solidFill>
                <a:latin typeface="Malgun Gothic"/>
                <a:ea typeface="Malgun Gothic"/>
                <a:cs typeface="Malgun Gothic"/>
              </a:rPr>
              <a:t>무한 루프는 컴파일 오류가 아니다. 실행 중에 멈추지 않을 뿐이며, Ctrl+C로 중단해도 이미 수행된 DML은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세 가지 반복문의 골격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언제 조건을 검사하는가가 핵심 차이다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7EC699"/>
                </a:solidFill>
                <a:latin typeface="Consolas"/>
                <a:ea typeface="Consolas"/>
                <a:cs typeface="Consolas"/>
              </a:rPr>
              <a:t>-- (1) 기본 LOOP : 조건 없이 시작, 내부의 EXIT로만 종료</a:t>
            </a:r>
          </a:p>
          <a:p>
            <a:pPr>
              <a:lnSpc>
                <a:spcPct val="100000"/>
              </a:lnSpc>
              <a:spcAft>
                <a:spcPts val="0"/>
              </a:spcAft>
            </a:pPr>
            <a:r>
              <a:rPr sz="1250" b="0">
                <a:solidFill>
                  <a:srgbClr val="E6E6E6"/>
                </a:solidFill>
                <a:latin typeface="Consolas"/>
                <a:ea typeface="Consolas"/>
                <a:cs typeface="Consolas"/>
              </a:rPr>
              <a:t>LOOP</a:t>
            </a:r>
          </a:p>
          <a:p>
            <a:pPr>
              <a:lnSpc>
                <a:spcPct val="100000"/>
              </a:lnSpc>
              <a:spcAft>
                <a:spcPts val="0"/>
              </a:spcAft>
            </a:pPr>
            <a:r>
              <a:rPr sz="1250" b="0">
                <a:solidFill>
                  <a:srgbClr val="E6E6E6"/>
                </a:solidFill>
                <a:latin typeface="Consolas"/>
                <a:ea typeface="Consolas"/>
                <a:cs typeface="Consolas"/>
              </a:rPr>
              <a:t>   처리문;</a:t>
            </a:r>
          </a:p>
          <a:p>
            <a:pPr>
              <a:lnSpc>
                <a:spcPct val="100000"/>
              </a:lnSpc>
              <a:spcAft>
                <a:spcPts val="0"/>
              </a:spcAft>
            </a:pPr>
            <a:r>
              <a:rPr sz="1250" b="0">
                <a:solidFill>
                  <a:srgbClr val="E6E6E6"/>
                </a:solidFill>
                <a:latin typeface="Consolas"/>
                <a:ea typeface="Consolas"/>
                <a:cs typeface="Consolas"/>
              </a:rPr>
              <a:t>   EXIT WHEN 종료조건;</a:t>
            </a:r>
          </a:p>
          <a:p>
            <a:pPr>
              <a:lnSpc>
                <a:spcPct val="100000"/>
              </a:lnSpc>
              <a:spcAft>
                <a:spcPts val="0"/>
              </a:spcAft>
            </a:pPr>
            <a:r>
              <a:rPr sz="1250" b="0">
                <a:solidFill>
                  <a:srgbClr val="E6E6E6"/>
                </a:solidFill>
                <a:latin typeface="Consolas"/>
                <a:ea typeface="Consolas"/>
                <a:cs typeface="Consolas"/>
              </a:rPr>
              <a:t>END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(2) WHILE LOOP : 진입 전에 조건 평가</a:t>
            </a:r>
          </a:p>
          <a:p>
            <a:pPr>
              <a:lnSpc>
                <a:spcPct val="100000"/>
              </a:lnSpc>
              <a:spcAft>
                <a:spcPts val="0"/>
              </a:spcAft>
            </a:pPr>
            <a:r>
              <a:rPr sz="1250" b="0">
                <a:solidFill>
                  <a:srgbClr val="E6E6E6"/>
                </a:solidFill>
                <a:latin typeface="Consolas"/>
                <a:ea typeface="Consolas"/>
                <a:cs typeface="Consolas"/>
              </a:rPr>
              <a:t>WHILE 조건 LOOP</a:t>
            </a:r>
          </a:p>
          <a:p>
            <a:pPr>
              <a:lnSpc>
                <a:spcPct val="100000"/>
              </a:lnSpc>
              <a:spcAft>
                <a:spcPts val="0"/>
              </a:spcAft>
            </a:pPr>
            <a:r>
              <a:rPr sz="1250" b="0">
                <a:solidFill>
                  <a:srgbClr val="E6E6E6"/>
                </a:solidFill>
                <a:latin typeface="Consolas"/>
                <a:ea typeface="Consolas"/>
                <a:cs typeface="Consolas"/>
              </a:rPr>
              <a:t>   처리문;</a:t>
            </a:r>
          </a:p>
          <a:p>
            <a:pPr>
              <a:lnSpc>
                <a:spcPct val="100000"/>
              </a:lnSpc>
              <a:spcAft>
                <a:spcPts val="0"/>
              </a:spcAft>
            </a:pPr>
            <a:r>
              <a:rPr sz="1250" b="0">
                <a:solidFill>
                  <a:srgbClr val="E6E6E6"/>
                </a:solidFill>
                <a:latin typeface="Consolas"/>
                <a:ea typeface="Consolas"/>
                <a:cs typeface="Consolas"/>
              </a:rPr>
              <a:t>END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(3) FOR LOOP : 반복 횟수가 정해짐, 카운터는 암시적 선언</a:t>
            </a:r>
          </a:p>
          <a:p>
            <a:pPr>
              <a:lnSpc>
                <a:spcPct val="100000"/>
              </a:lnSpc>
              <a:spcAft>
                <a:spcPts val="0"/>
              </a:spcAft>
            </a:pPr>
            <a:r>
              <a:rPr sz="1250" b="0">
                <a:solidFill>
                  <a:srgbClr val="E6E6E6"/>
                </a:solidFill>
                <a:latin typeface="Consolas"/>
                <a:ea typeface="Consolas"/>
                <a:cs typeface="Consolas"/>
              </a:rPr>
              <a:t>FOR i IN [REVERSE] 하한..상한 LOOP</a:t>
            </a:r>
          </a:p>
          <a:p>
            <a:pPr>
              <a:lnSpc>
                <a:spcPct val="100000"/>
              </a:lnSpc>
              <a:spcAft>
                <a:spcPts val="0"/>
              </a:spcAft>
            </a:pPr>
            <a:r>
              <a:rPr sz="1250" b="0">
                <a:solidFill>
                  <a:srgbClr val="E6E6E6"/>
                </a:solidFill>
                <a:latin typeface="Consolas"/>
                <a:ea typeface="Consolas"/>
                <a:cs typeface="Consolas"/>
              </a:rPr>
              <a:t>   처리문;</a:t>
            </a:r>
          </a:p>
          <a:p>
            <a:pPr>
              <a:lnSpc>
                <a:spcPct val="100000"/>
              </a:lnSpc>
              <a:spcAft>
                <a:spcPts val="0"/>
              </a:spcAft>
            </a:pPr>
            <a:r>
              <a:rPr sz="1250" b="0">
                <a:solidFill>
                  <a:srgbClr val="E6E6E6"/>
                </a:solidFill>
                <a:latin typeface="Consolas"/>
                <a:ea typeface="Consolas"/>
                <a:cs typeface="Consolas"/>
              </a:rPr>
              <a:t>END LOOP;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기본 LOOP와 EXIT · EXIT WHEN</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기본 LOOP : LOOP와 END LOOP 사이에 문장을 넣는 가장 단순한 형태</a:t>
            </a:r>
          </a:p>
          <a:p>
            <a:pPr>
              <a:spcAft>
                <a:spcPts val="300"/>
              </a:spcAft>
            </a:pPr>
            <a:r>
              <a:rPr sz="1600" b="0">
                <a:solidFill>
                  <a:srgbClr val="5A6672"/>
                </a:solidFill>
                <a:latin typeface="Malgun Gothic"/>
                <a:ea typeface="Malgun Gothic"/>
                <a:cs typeface="Malgun Gothic"/>
              </a:rPr>
              <a:t>    –  조건 검사가 앞에 없으므로 본문은 최소 한 번 실행된다</a:t>
            </a:r>
          </a:p>
          <a:p>
            <a:pPr>
              <a:spcAft>
                <a:spcPts val="300"/>
              </a:spcAft>
            </a:pPr>
            <a:r>
              <a:rPr sz="1600" b="0">
                <a:solidFill>
                  <a:srgbClr val="5A6672"/>
                </a:solidFill>
                <a:latin typeface="Malgun Gothic"/>
                <a:ea typeface="Malgun Gothic"/>
                <a:cs typeface="Malgun Gothic"/>
              </a:rPr>
              <a:t>    –  "일단 한 번은 해 보고 계속할지 결정한다"는 의미에 적합</a:t>
            </a:r>
          </a:p>
          <a:p>
            <a:pPr>
              <a:spcAft>
                <a:spcPts val="500"/>
              </a:spcAft>
            </a:pPr>
            <a:r>
              <a:rPr sz="1800" b="0">
                <a:solidFill>
                  <a:srgbClr val="202830"/>
                </a:solidFill>
                <a:latin typeface="Malgun Gothic"/>
                <a:ea typeface="Malgun Gothic"/>
                <a:cs typeface="Malgun Gothic"/>
              </a:rPr>
              <a:t>•  EXIT : 루프를 즉시 끝내고 END LOOP 다음 문장으로 제어를 넘긴다</a:t>
            </a:r>
          </a:p>
          <a:p>
            <a:pPr>
              <a:spcAft>
                <a:spcPts val="500"/>
              </a:spcAft>
            </a:pPr>
            <a:r>
              <a:rPr sz="1800" b="0">
                <a:solidFill>
                  <a:srgbClr val="202830"/>
                </a:solidFill>
                <a:latin typeface="Malgun Gothic"/>
                <a:ea typeface="Malgun Gothic"/>
                <a:cs typeface="Malgun Gothic"/>
              </a:rPr>
              <a:t>•  EXIT WHEN 조건 : 조건이 TRUE일 때만 종료. FALSE나 NULL이면 계속</a:t>
            </a:r>
          </a:p>
          <a:p>
            <a:pPr>
              <a:spcAft>
                <a:spcPts val="300"/>
              </a:spcAft>
            </a:pPr>
            <a:r>
              <a:rPr sz="1600" b="0">
                <a:solidFill>
                  <a:srgbClr val="5A6672"/>
                </a:solidFill>
                <a:latin typeface="Malgun Gothic"/>
                <a:ea typeface="Malgun Gothic"/>
                <a:cs typeface="Malgun Gothic"/>
              </a:rPr>
              <a:t>    –  IF 안의 단독 EXIT와 결과는 같지만 한 줄로 의도가 드러나 가독성이 좋다</a:t>
            </a:r>
          </a:p>
          <a:p>
            <a:pPr>
              <a:spcAft>
                <a:spcPts val="500"/>
              </a:spcAft>
            </a:pPr>
            <a:r>
              <a:rPr sz="1800" b="0">
                <a:solidFill>
                  <a:srgbClr val="202830"/>
                </a:solidFill>
                <a:latin typeface="Malgun Gothic"/>
                <a:ea typeface="Malgun Gothic"/>
                <a:cs typeface="Malgun Gothic"/>
              </a:rPr>
              <a:t>•  EXIT는 반드시 루프 안에 있어야 한다 → 밖에 쓰면 PLS-00376</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ea typeface="Malgun Gothic"/>
                <a:cs typeface="Malgun Gothic"/>
              </a:rPr>
              <a:t>Best Practice: </a:t>
            </a:r>
            <a:r>
              <a:rPr sz="1250" b="0">
                <a:solidFill>
                  <a:srgbClr val="202830"/>
                </a:solidFill>
                <a:latin typeface="Malgun Gothic"/>
                <a:ea typeface="Malgun Gothic"/>
                <a:cs typeface="Malgun Gothic"/>
              </a:rPr>
              <a:t>하나의 루프에 EXIT를 여러 개 둘 수 있지만, 종료 지점은 하나로 유지해야 흐름을 따라가기 쉽다.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기본 LOOP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LOCATIONS에 CA 지역 위치 3건 추가하기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v_countryid   locations.country_id%TYPE := 'CA';</a:t>
            </a:r>
          </a:p>
          <a:p>
            <a:pPr>
              <a:lnSpc>
                <a:spcPct val="100000"/>
              </a:lnSpc>
              <a:spcAft>
                <a:spcPts val="0"/>
              </a:spcAft>
            </a:pPr>
            <a:r>
              <a:rPr sz="1250" b="0">
                <a:solidFill>
                  <a:srgbClr val="E6E6E6"/>
                </a:solidFill>
                <a:latin typeface="Consolas"/>
                <a:ea typeface="Consolas"/>
                <a:cs typeface="Consolas"/>
              </a:rPr>
              <a:t>   v_loc_id      locations.location_id%TYPE;</a:t>
            </a:r>
          </a:p>
          <a:p>
            <a:pPr>
              <a:lnSpc>
                <a:spcPct val="100000"/>
              </a:lnSpc>
              <a:spcAft>
                <a:spcPts val="0"/>
              </a:spcAft>
            </a:pPr>
            <a:r>
              <a:rPr sz="1250" b="0">
                <a:solidFill>
                  <a:srgbClr val="E6E6E6"/>
                </a:solidFill>
                <a:latin typeface="Consolas"/>
                <a:ea typeface="Consolas"/>
                <a:cs typeface="Consolas"/>
              </a:rPr>
              <a:t>   v_counter     NUMBER(2) := 1;</a:t>
            </a:r>
          </a:p>
          <a:p>
            <a:pPr>
              <a:lnSpc>
                <a:spcPct val="100000"/>
              </a:lnSpc>
              <a:spcAft>
                <a:spcPts val="0"/>
              </a:spcAft>
            </a:pPr>
            <a:r>
              <a:rPr sz="1250" b="0">
                <a:solidFill>
                  <a:srgbClr val="E6E6E6"/>
                </a:solidFill>
                <a:latin typeface="Consolas"/>
                <a:ea typeface="Consolas"/>
                <a:cs typeface="Consolas"/>
              </a:rPr>
              <a:t>   v_new_city    locations.city%TYPE := 'Montreal';</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SELECT MAX(location_id) INTO v_loc_id</a:t>
            </a:r>
          </a:p>
          <a:p>
            <a:pPr>
              <a:lnSpc>
                <a:spcPct val="100000"/>
              </a:lnSpc>
              <a:spcAft>
                <a:spcPts val="0"/>
              </a:spcAft>
            </a:pPr>
            <a:r>
              <a:rPr sz="1250" b="0">
                <a:solidFill>
                  <a:srgbClr val="E6E6E6"/>
                </a:solidFill>
                <a:latin typeface="Consolas"/>
                <a:ea typeface="Consolas"/>
                <a:cs typeface="Consolas"/>
              </a:rPr>
              <a:t>     FROM locations WHERE country_id = v_countryid;</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LOOP</a:t>
            </a:r>
          </a:p>
          <a:p>
            <a:pPr>
              <a:lnSpc>
                <a:spcPct val="100000"/>
              </a:lnSpc>
              <a:spcAft>
                <a:spcPts val="0"/>
              </a:spcAft>
            </a:pPr>
            <a:r>
              <a:rPr sz="1250" b="0">
                <a:solidFill>
                  <a:srgbClr val="E6E6E6"/>
                </a:solidFill>
                <a:latin typeface="Consolas"/>
                <a:ea typeface="Consolas"/>
                <a:cs typeface="Consolas"/>
              </a:rPr>
              <a:t>      INSERT INTO locations(location_id, city, country_id)</a:t>
            </a:r>
          </a:p>
          <a:p>
            <a:pPr>
              <a:lnSpc>
                <a:spcPct val="100000"/>
              </a:lnSpc>
              <a:spcAft>
                <a:spcPts val="0"/>
              </a:spcAft>
            </a:pPr>
            <a:r>
              <a:rPr sz="1250" b="0">
                <a:solidFill>
                  <a:srgbClr val="E6E6E6"/>
                </a:solidFill>
                <a:latin typeface="Consolas"/>
                <a:ea typeface="Consolas"/>
                <a:cs typeface="Consolas"/>
              </a:rPr>
              <a:t>      VALUES ((v_loc_id + v_counter), v_new_city, v_countryid);</a:t>
            </a:r>
          </a:p>
          <a:p>
            <a:pPr>
              <a:lnSpc>
                <a:spcPct val="100000"/>
              </a:lnSpc>
              <a:spcAft>
                <a:spcPts val="0"/>
              </a:spcAft>
            </a:pPr>
            <a:r>
              <a:rPr sz="1250" b="0">
                <a:solidFill>
                  <a:srgbClr val="E6E6E6"/>
                </a:solidFill>
                <a:latin typeface="Consolas"/>
                <a:ea typeface="Consolas"/>
                <a:cs typeface="Consolas"/>
              </a:rPr>
              <a:t>      v_counter := v_counter + 1;</a:t>
            </a:r>
          </a:p>
          <a:p>
            <a:pPr>
              <a:lnSpc>
                <a:spcPct val="100000"/>
              </a:lnSpc>
              <a:spcAft>
                <a:spcPts val="0"/>
              </a:spcAft>
            </a:pPr>
            <a:r>
              <a:rPr sz="1250" b="0">
                <a:solidFill>
                  <a:srgbClr val="E6E6E6"/>
                </a:solidFill>
                <a:latin typeface="Consolas"/>
                <a:ea typeface="Consolas"/>
                <a:cs typeface="Consolas"/>
              </a:rPr>
              <a:t>      EXIT WHEN v_counter &gt; 3;      -- 세 건을 넣은 뒤 종료</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COMMIT;</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기본 LOOP 작성 원칙</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종료 조건에 쓰이는 변수는 루프 안에서 반드시 값이 바뀌어야 한다</a:t>
            </a:r>
          </a:p>
          <a:p>
            <a:pPr>
              <a:spcAft>
                <a:spcPts val="300"/>
              </a:spcAft>
            </a:pPr>
            <a:r>
              <a:rPr sz="1600" b="0">
                <a:solidFill>
                  <a:srgbClr val="5A6672"/>
                </a:solidFill>
                <a:latin typeface="Malgun Gothic"/>
                <a:ea typeface="Malgun Gothic"/>
                <a:cs typeface="Malgun Gothic"/>
              </a:rPr>
              <a:t>    –  갱신 문장을 IF 분기 안에 넣으면 특정 데이터에서 무한 루프가 된다</a:t>
            </a:r>
          </a:p>
          <a:p>
            <a:pPr>
              <a:spcAft>
                <a:spcPts val="500"/>
              </a:spcAft>
            </a:pPr>
            <a:r>
              <a:rPr sz="1800" b="0">
                <a:solidFill>
                  <a:srgbClr val="202830"/>
                </a:solidFill>
                <a:latin typeface="Malgun Gothic"/>
                <a:ea typeface="Malgun Gothic"/>
                <a:cs typeface="Malgun Gothic"/>
              </a:rPr>
              <a:t>•  카운터는 NUMBER로 선언하고 초기값을 명시한다</a:t>
            </a:r>
          </a:p>
          <a:p>
            <a:pPr>
              <a:spcAft>
                <a:spcPts val="300"/>
              </a:spcAft>
            </a:pPr>
            <a:r>
              <a:rPr sz="1600" b="0">
                <a:solidFill>
                  <a:srgbClr val="5A6672"/>
                </a:solidFill>
                <a:latin typeface="Malgun Gothic"/>
                <a:ea typeface="Malgun Gothic"/>
                <a:cs typeface="Malgun Gothic"/>
              </a:rPr>
              <a:t>    –  초기값이 없으면 NULL이며 NULL과의 비교는 항상 NULL → 종료되지 않는다</a:t>
            </a:r>
          </a:p>
          <a:p>
            <a:pPr>
              <a:spcAft>
                <a:spcPts val="500"/>
              </a:spcAft>
            </a:pPr>
            <a:r>
              <a:rPr sz="1800" b="0">
                <a:solidFill>
                  <a:srgbClr val="202830"/>
                </a:solidFill>
                <a:latin typeface="Malgun Gothic"/>
                <a:ea typeface="Malgun Gothic"/>
                <a:cs typeface="Malgun Gothic"/>
              </a:rPr>
              <a:t>•  EXIT 지점은 하나만 둔다</a:t>
            </a:r>
          </a:p>
          <a:p>
            <a:pPr>
              <a:spcAft>
                <a:spcPts val="300"/>
              </a:spcAft>
            </a:pPr>
            <a:r>
              <a:rPr sz="1600" b="0">
                <a:solidFill>
                  <a:srgbClr val="5A6672"/>
                </a:solidFill>
                <a:latin typeface="Malgun Gothic"/>
                <a:ea typeface="Malgun Gothic"/>
                <a:cs typeface="Malgun Gothic"/>
              </a:rPr>
              <a:t>    –  두 개 이상이면 WHILE LOOP나 FOR LOOP로 바꿀 수 있는지 검토한다</a:t>
            </a:r>
          </a:p>
          <a:p>
            <a:pPr>
              <a:spcAft>
                <a:spcPts val="500"/>
              </a:spcAft>
            </a:pPr>
            <a:r>
              <a:rPr sz="1800" b="0">
                <a:solidFill>
                  <a:srgbClr val="202830"/>
                </a:solidFill>
                <a:latin typeface="Malgun Gothic"/>
                <a:ea typeface="Malgun Gothic"/>
                <a:cs typeface="Malgun Gothic"/>
              </a:rPr>
              <a:t>•  방어적으로 최대 반복 횟수 카운터를 별도로 두는 패턴도 실무에서 흔히 쓴다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5CA8"/>
                </a:solidFill>
                <a:latin typeface="Malgun Gothic"/>
                <a:ea typeface="Malgun Gothic"/>
                <a:cs typeface="Malgun Gothic"/>
              </a:rPr>
              <a:t>실무 시나리오: </a:t>
            </a:r>
            <a:r>
              <a:rPr sz="1250" b="0">
                <a:solidFill>
                  <a:srgbClr val="202830"/>
                </a:solidFill>
                <a:latin typeface="Malgun Gothic"/>
                <a:ea typeface="Malgun Gothic"/>
                <a:cs typeface="Malgun Gothic"/>
              </a:rPr>
              <a:t>월말 정산 배치에서 카운터 증가 문장이 IF 안으로 들어가 배치가 끝나지 않은 사고가 있었다.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cs typeface="Malgun Gothic"/>
              </a:rPr>
              <a:t>2.3~2.4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cs typeface="Malgun Gothic"/>
              </a:rPr>
              <a:t>WHILE LOOP와 FOR LOOP</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cs typeface="Malgun Gothic"/>
              </a:rPr>
              <a:t>•  조건을 먼저 평가하는 WHILE LOOP</a:t>
            </a:r>
          </a:p>
          <a:p>
            <a:pPr>
              <a:spcAft>
                <a:spcPts val="600"/>
              </a:spcAft>
            </a:pPr>
            <a:r>
              <a:rPr sz="1600" b="0">
                <a:solidFill>
                  <a:srgbClr val="C5CED6"/>
                </a:solidFill>
                <a:latin typeface="Malgun Gothic"/>
                <a:ea typeface="Malgun Gothic"/>
                <a:cs typeface="Malgun Gothic"/>
              </a:rPr>
              <a:t>•  횟수가 정해진 FOR LOOP와 REVERSE</a:t>
            </a:r>
          </a:p>
          <a:p>
            <a:pPr>
              <a:spcAft>
                <a:spcPts val="600"/>
              </a:spcAft>
            </a:pPr>
            <a:r>
              <a:rPr sz="1600" b="0">
                <a:solidFill>
                  <a:srgbClr val="C5CED6"/>
                </a:solidFill>
                <a:latin typeface="Malgun Gothic"/>
                <a:ea typeface="Malgun Gothic"/>
                <a:cs typeface="Malgun Gothic"/>
              </a:rPr>
              <a:t>•  카운터 규칙과 경계값 평가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WHILE LOOP</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반복 시작 전에 조건을 평가한다 → 조건이 TRUE인 동안만 본문 실행</a:t>
            </a:r>
          </a:p>
          <a:p>
            <a:pPr>
              <a:spcAft>
                <a:spcPts val="500"/>
              </a:spcAft>
            </a:pPr>
            <a:r>
              <a:rPr sz="1800" b="0">
                <a:solidFill>
                  <a:srgbClr val="202830"/>
                </a:solidFill>
                <a:latin typeface="Malgun Gothic"/>
                <a:ea typeface="Malgun Gothic"/>
                <a:cs typeface="Malgun Gothic"/>
              </a:rPr>
              <a:t>•  조건이 처음부터 FALSE라면 본문은 단 한 번도 실행되지 않는다</a:t>
            </a:r>
          </a:p>
          <a:p>
            <a:pPr>
              <a:spcAft>
                <a:spcPts val="300"/>
              </a:spcAft>
            </a:pPr>
            <a:r>
              <a:rPr sz="1600" b="0">
                <a:solidFill>
                  <a:srgbClr val="5A6672"/>
                </a:solidFill>
                <a:latin typeface="Malgun Gothic"/>
                <a:ea typeface="Malgun Gothic"/>
                <a:cs typeface="Malgun Gothic"/>
              </a:rPr>
              <a:t>    –  "조건을 만족할 때만 처리해야 한다"는 요구에 정확히 대응</a:t>
            </a:r>
          </a:p>
          <a:p>
            <a:pPr>
              <a:spcAft>
                <a:spcPts val="500"/>
              </a:spcAft>
            </a:pPr>
            <a:r>
              <a:rPr sz="1800" b="0">
                <a:solidFill>
                  <a:srgbClr val="202830"/>
                </a:solidFill>
                <a:latin typeface="Malgun Gothic"/>
                <a:ea typeface="Malgun Gothic"/>
                <a:cs typeface="Malgun Gothic"/>
              </a:rPr>
              <a:t>•  조건이 NULL로 평가되면 루프는 아예 수행되지 않는다</a:t>
            </a:r>
          </a:p>
          <a:p>
            <a:pPr>
              <a:spcAft>
                <a:spcPts val="300"/>
              </a:spcAft>
            </a:pPr>
            <a:r>
              <a:rPr sz="1600" b="0">
                <a:solidFill>
                  <a:srgbClr val="5A6672"/>
                </a:solidFill>
                <a:latin typeface="Malgun Gothic"/>
                <a:ea typeface="Malgun Gothic"/>
                <a:cs typeface="Malgun Gothic"/>
              </a:rPr>
              <a:t>    –  PL/SQL 조건식은 TRUE·FALSE·NULL의 3값 논리 — WHILE은 TRUE에만 진입</a:t>
            </a:r>
          </a:p>
          <a:p>
            <a:pPr>
              <a:spcAft>
                <a:spcPts val="300"/>
              </a:spcAft>
            </a:pPr>
            <a:r>
              <a:rPr sz="1600" b="0">
                <a:solidFill>
                  <a:srgbClr val="5A6672"/>
                </a:solidFill>
                <a:latin typeface="Malgun Gothic"/>
                <a:ea typeface="Malgun Gothic"/>
                <a:cs typeface="Malgun Gothic"/>
              </a:rPr>
              <a:t>    –  초기화하지 않은 변수를 조건에 쓰면 루프가 통째로 건너뛰어진다</a:t>
            </a:r>
          </a:p>
          <a:p>
            <a:pPr>
              <a:spcAft>
                <a:spcPts val="500"/>
              </a:spcAft>
            </a:pPr>
            <a:r>
              <a:rPr sz="1800" b="0">
                <a:solidFill>
                  <a:srgbClr val="202830"/>
                </a:solidFill>
                <a:latin typeface="Malgun Gothic"/>
                <a:ea typeface="Malgun Gothic"/>
                <a:cs typeface="Malgun Gothic"/>
              </a:rPr>
              <a:t>•  종료 조건이 코드 맨 위에 드러나 본문을 다 읽지 않아도 끝을 알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ea typeface="Malgun Gothic"/>
                <a:cs typeface="Malgun Gothic"/>
              </a:rPr>
              <a:t>주의: </a:t>
            </a:r>
            <a:r>
              <a:rPr sz="1250" b="0">
                <a:solidFill>
                  <a:srgbClr val="202830"/>
                </a:solidFill>
                <a:latin typeface="Malgun Gothic"/>
                <a:ea typeface="Malgun Gothic"/>
                <a:cs typeface="Malgun Gothic"/>
              </a:rPr>
              <a:t>조건이 NULL이면 FALSE와 같은 효과를 낸다. 초기값 없는 NUMBER 변수를 조건에 쓰지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WHILE LOOP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진입 전 조건 평가와 조건 변수 갱신</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v_countryid   locations.country_id%TYPE := 'CA';</a:t>
            </a:r>
          </a:p>
          <a:p>
            <a:pPr>
              <a:lnSpc>
                <a:spcPct val="100000"/>
              </a:lnSpc>
              <a:spcAft>
                <a:spcPts val="0"/>
              </a:spcAft>
            </a:pPr>
            <a:r>
              <a:rPr sz="1250" b="0">
                <a:solidFill>
                  <a:srgbClr val="E6E6E6"/>
                </a:solidFill>
                <a:latin typeface="Consolas"/>
                <a:ea typeface="Consolas"/>
                <a:cs typeface="Consolas"/>
              </a:rPr>
              <a:t>   v_loc_id      locations.location_id%TYPE;</a:t>
            </a:r>
          </a:p>
          <a:p>
            <a:pPr>
              <a:lnSpc>
                <a:spcPct val="100000"/>
              </a:lnSpc>
              <a:spcAft>
                <a:spcPts val="0"/>
              </a:spcAft>
            </a:pPr>
            <a:r>
              <a:rPr sz="1250" b="0">
                <a:solidFill>
                  <a:srgbClr val="E6E6E6"/>
                </a:solidFill>
                <a:latin typeface="Consolas"/>
                <a:ea typeface="Consolas"/>
                <a:cs typeface="Consolas"/>
              </a:rPr>
              <a:t>   v_new_city    locations.city%TYPE := 'Montreal';</a:t>
            </a:r>
          </a:p>
          <a:p>
            <a:pPr>
              <a:lnSpc>
                <a:spcPct val="100000"/>
              </a:lnSpc>
              <a:spcAft>
                <a:spcPts val="0"/>
              </a:spcAft>
            </a:pPr>
            <a:r>
              <a:rPr sz="1250" b="0">
                <a:solidFill>
                  <a:srgbClr val="E6E6E6"/>
                </a:solidFill>
                <a:latin typeface="Consolas"/>
                <a:ea typeface="Consolas"/>
                <a:cs typeface="Consolas"/>
              </a:rPr>
              <a:t>   v_counter     NUMBER := 1;          -- 초기값을 반드시 지정</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SELECT MAX(location_id) INTO v_loc_id</a:t>
            </a:r>
          </a:p>
          <a:p>
            <a:pPr>
              <a:lnSpc>
                <a:spcPct val="100000"/>
              </a:lnSpc>
              <a:spcAft>
                <a:spcPts val="0"/>
              </a:spcAft>
            </a:pPr>
            <a:r>
              <a:rPr sz="1250" b="0">
                <a:solidFill>
                  <a:srgbClr val="E6E6E6"/>
                </a:solidFill>
                <a:latin typeface="Consolas"/>
                <a:ea typeface="Consolas"/>
                <a:cs typeface="Consolas"/>
              </a:rPr>
              <a:t>     FROM locations WHERE country_id = v_countryid;</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WHILE v_counter &lt;= 3 LOOP           -- 진입 전에 조건 검사</a:t>
            </a:r>
          </a:p>
          <a:p>
            <a:pPr>
              <a:lnSpc>
                <a:spcPct val="100000"/>
              </a:lnSpc>
              <a:spcAft>
                <a:spcPts val="0"/>
              </a:spcAft>
            </a:pPr>
            <a:r>
              <a:rPr sz="1250" b="0">
                <a:solidFill>
                  <a:srgbClr val="E6E6E6"/>
                </a:solidFill>
                <a:latin typeface="Consolas"/>
                <a:ea typeface="Consolas"/>
                <a:cs typeface="Consolas"/>
              </a:rPr>
              <a:t>      INSERT INTO locations(location_id, city, country_id)</a:t>
            </a:r>
          </a:p>
          <a:p>
            <a:pPr>
              <a:lnSpc>
                <a:spcPct val="100000"/>
              </a:lnSpc>
              <a:spcAft>
                <a:spcPts val="0"/>
              </a:spcAft>
            </a:pPr>
            <a:r>
              <a:rPr sz="1250" b="0">
                <a:solidFill>
                  <a:srgbClr val="E6E6E6"/>
                </a:solidFill>
                <a:latin typeface="Consolas"/>
                <a:ea typeface="Consolas"/>
                <a:cs typeface="Consolas"/>
              </a:rPr>
              <a:t>      VALUES ((v_loc_id + v_counter), v_new_city, v_countryid);</a:t>
            </a:r>
          </a:p>
          <a:p>
            <a:pPr>
              <a:lnSpc>
                <a:spcPct val="100000"/>
              </a:lnSpc>
              <a:spcAft>
                <a:spcPts val="0"/>
              </a:spcAft>
            </a:pPr>
            <a:r>
              <a:rPr sz="1250" b="0">
                <a:solidFill>
                  <a:srgbClr val="E6E6E6"/>
                </a:solidFill>
                <a:latin typeface="Consolas"/>
                <a:ea typeface="Consolas"/>
                <a:cs typeface="Consolas"/>
              </a:rPr>
              <a:t>      v_counter := v_counter + 1;      -- 갱신을 잊지 말 것</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DBMS_OUTPUT.PUT_LINE('반복 종료. v_counter = ' || v_counter);</a:t>
            </a:r>
          </a:p>
          <a:p>
            <a:pPr>
              <a:lnSpc>
                <a:spcPct val="100000"/>
              </a:lnSpc>
              <a:spcAft>
                <a:spcPts val="0"/>
              </a:spcAft>
            </a:pPr>
            <a:r>
              <a:rPr sz="1250" b="0">
                <a:solidFill>
                  <a:srgbClr val="E6E6E6"/>
                </a:solidFill>
                <a:latin typeface="Consolas"/>
                <a:ea typeface="Consolas"/>
                <a:cs typeface="Consolas"/>
              </a:rPr>
              <a:t>   COMMIT;</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FOR LOOP</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반복 횟수가 미리 정해져 있을 때 사용한다</a:t>
            </a:r>
          </a:p>
          <a:p>
            <a:pPr>
              <a:spcAft>
                <a:spcPts val="500"/>
              </a:spcAft>
            </a:pPr>
            <a:r>
              <a:rPr sz="1800" b="0">
                <a:solidFill>
                  <a:srgbClr val="202830"/>
                </a:solidFill>
                <a:latin typeface="Malgun Gothic"/>
                <a:ea typeface="Malgun Gothic"/>
                <a:cs typeface="Malgun Gothic"/>
              </a:rPr>
              <a:t>•  카운터를 선언할 필요도, 증가시킬 필요도, 종료 조건을 쓸 필요도 없다</a:t>
            </a:r>
          </a:p>
          <a:p>
            <a:pPr>
              <a:spcAft>
                <a:spcPts val="300"/>
              </a:spcAft>
            </a:pPr>
            <a:r>
              <a:rPr sz="1600" b="0">
                <a:solidFill>
                  <a:srgbClr val="5A6672"/>
                </a:solidFill>
                <a:latin typeface="Malgun Gothic"/>
                <a:ea typeface="Malgun Gothic"/>
                <a:cs typeface="Malgun Gothic"/>
              </a:rPr>
              <a:t>    –  counter는 암시적으로 정수형으로 선언되고 매 반복 1씩 증가한다</a:t>
            </a:r>
          </a:p>
          <a:p>
            <a:pPr>
              <a:spcAft>
                <a:spcPts val="300"/>
              </a:spcAft>
            </a:pPr>
            <a:r>
              <a:rPr sz="1600" b="0">
                <a:solidFill>
                  <a:srgbClr val="5A6672"/>
                </a:solidFill>
                <a:latin typeface="Malgun Gothic"/>
                <a:ea typeface="Malgun Gothic"/>
                <a:cs typeface="Malgun Gothic"/>
              </a:rPr>
              <a:t>    –  REVERSE를 붙이면 상한에서 하한으로 1씩 감소한다</a:t>
            </a:r>
          </a:p>
          <a:p>
            <a:pPr>
              <a:spcAft>
                <a:spcPts val="300"/>
              </a:spcAft>
            </a:pPr>
            <a:r>
              <a:rPr sz="1600" b="0">
                <a:solidFill>
                  <a:srgbClr val="5A6672"/>
                </a:solidFill>
                <a:latin typeface="Malgun Gothic"/>
                <a:ea typeface="Malgun Gothic"/>
                <a:cs typeface="Malgun Gothic"/>
              </a:rPr>
              <a:t>    –  REVERSE를 써도 범위는 여전히 "하한..상한" 순서로 적는다</a:t>
            </a:r>
          </a:p>
          <a:p>
            <a:pPr>
              <a:spcAft>
                <a:spcPts val="500"/>
              </a:spcAft>
            </a:pPr>
            <a:r>
              <a:rPr sz="1800" b="0">
                <a:solidFill>
                  <a:srgbClr val="202830"/>
                </a:solidFill>
                <a:latin typeface="Malgun Gothic"/>
                <a:ea typeface="Malgun Gothic"/>
                <a:cs typeface="Malgun Gothic"/>
              </a:rPr>
              <a:t>•  하한·상한에는 리터럴뿐 아니라 변수나 식도 올 수 있다</a:t>
            </a:r>
          </a:p>
          <a:p>
            <a:pPr>
              <a:spcAft>
                <a:spcPts val="300"/>
              </a:spcAft>
            </a:pPr>
            <a:r>
              <a:rPr sz="1600" b="0">
                <a:solidFill>
                  <a:srgbClr val="5A6672"/>
                </a:solidFill>
                <a:latin typeface="Malgun Gothic"/>
                <a:ea typeface="Malgun Gothic"/>
                <a:cs typeface="Malgun Gothic"/>
              </a:rPr>
              <a:t>    –  정수가 아니면 반올림되고, 하한 &gt; 상한이면 본문은 실행되지 않는다</a:t>
            </a:r>
          </a:p>
          <a:p>
            <a:pPr>
              <a:spcAft>
                <a:spcPts val="300"/>
              </a:spcAft>
            </a:pPr>
            <a:r>
              <a:rPr sz="1600" b="0">
                <a:solidFill>
                  <a:srgbClr val="5A6672"/>
                </a:solidFill>
                <a:latin typeface="Malgun Gothic"/>
                <a:ea typeface="Malgun Gothic"/>
                <a:cs typeface="Malgun Gothic"/>
              </a:rPr>
              <a:t>    –  경계 중 하나라도 NULL이면 ORA-06502가 발생한다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ea typeface="Malgun Gothic"/>
                <a:cs typeface="Malgun Gothic"/>
              </a:rPr>
              <a:t>참고: </a:t>
            </a:r>
            <a:r>
              <a:rPr sz="1250" b="0">
                <a:solidFill>
                  <a:srgbClr val="202830"/>
                </a:solidFill>
                <a:latin typeface="Malgun Gothic"/>
                <a:ea typeface="Malgun Gothic"/>
                <a:cs typeface="Malgun Gothic"/>
              </a:rPr>
              <a:t>경계값은 진입 시 한 번만 평가된다. 루프 안에서 상한 변수를 바꾸어도 반복 횟수는 변하지 않는다.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FOR LOOP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변수 경계와 REVERSE 역순 반복</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v_loc_id     locations.location_id%TYPE;</a:t>
            </a:r>
          </a:p>
          <a:p>
            <a:pPr>
              <a:lnSpc>
                <a:spcPct val="100000"/>
              </a:lnSpc>
              <a:spcAft>
                <a:spcPts val="0"/>
              </a:spcAft>
            </a:pPr>
            <a:r>
              <a:rPr sz="1250" b="0">
                <a:solidFill>
                  <a:srgbClr val="E6E6E6"/>
                </a:solidFill>
                <a:latin typeface="Consolas"/>
                <a:ea typeface="Consolas"/>
                <a:cs typeface="Consolas"/>
              </a:rPr>
              <a:t>   v_new_city   locations.city%TYPE := 'Montreal';</a:t>
            </a:r>
          </a:p>
          <a:p>
            <a:pPr>
              <a:lnSpc>
                <a:spcPct val="100000"/>
              </a:lnSpc>
              <a:spcAft>
                <a:spcPts val="0"/>
              </a:spcAft>
            </a:pPr>
            <a:r>
              <a:rPr sz="1250" b="0">
                <a:solidFill>
                  <a:srgbClr val="E6E6E6"/>
                </a:solidFill>
                <a:latin typeface="Consolas"/>
                <a:ea typeface="Consolas"/>
                <a:cs typeface="Consolas"/>
              </a:rPr>
              <a:t>   v_lower      NUMBER := 1;</a:t>
            </a:r>
          </a:p>
          <a:p>
            <a:pPr>
              <a:lnSpc>
                <a:spcPct val="100000"/>
              </a:lnSpc>
              <a:spcAft>
                <a:spcPts val="0"/>
              </a:spcAft>
            </a:pPr>
            <a:r>
              <a:rPr sz="1250" b="0">
                <a:solidFill>
                  <a:srgbClr val="E6E6E6"/>
                </a:solidFill>
                <a:latin typeface="Consolas"/>
                <a:ea typeface="Consolas"/>
                <a:cs typeface="Consolas"/>
              </a:rPr>
              <a:t>   v_upper      NUMBER := 3;</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SELECT MAX(location_id) INTO v_loc_id</a:t>
            </a:r>
          </a:p>
          <a:p>
            <a:pPr>
              <a:lnSpc>
                <a:spcPct val="100000"/>
              </a:lnSpc>
              <a:spcAft>
                <a:spcPts val="0"/>
              </a:spcAft>
            </a:pPr>
            <a:r>
              <a:rPr sz="1250" b="0">
                <a:solidFill>
                  <a:srgbClr val="E6E6E6"/>
                </a:solidFill>
                <a:latin typeface="Consolas"/>
                <a:ea typeface="Consolas"/>
                <a:cs typeface="Consolas"/>
              </a:rPr>
              <a:t>     FROM locations WHERE country_id = 'CA';</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 카운터 i는 선언하지 않는다. 암시적으로 만들어진다.</a:t>
            </a:r>
          </a:p>
          <a:p>
            <a:pPr>
              <a:lnSpc>
                <a:spcPct val="100000"/>
              </a:lnSpc>
              <a:spcAft>
                <a:spcPts val="0"/>
              </a:spcAft>
            </a:pPr>
            <a:r>
              <a:rPr sz="1250" b="0">
                <a:solidFill>
                  <a:srgbClr val="E6E6E6"/>
                </a:solidFill>
                <a:latin typeface="Consolas"/>
                <a:ea typeface="Consolas"/>
                <a:cs typeface="Consolas"/>
              </a:rPr>
              <a:t>   FOR i IN v_lower..v_upper LOOP</a:t>
            </a:r>
          </a:p>
          <a:p>
            <a:pPr>
              <a:lnSpc>
                <a:spcPct val="100000"/>
              </a:lnSpc>
              <a:spcAft>
                <a:spcPts val="0"/>
              </a:spcAft>
            </a:pPr>
            <a:r>
              <a:rPr sz="1250" b="0">
                <a:solidFill>
                  <a:srgbClr val="E6E6E6"/>
                </a:solidFill>
                <a:latin typeface="Consolas"/>
                <a:ea typeface="Consolas"/>
                <a:cs typeface="Consolas"/>
              </a:rPr>
              <a:t>      INSERT INTO locations(location_id, city, country_id)</a:t>
            </a:r>
          </a:p>
          <a:p>
            <a:pPr>
              <a:lnSpc>
                <a:spcPct val="100000"/>
              </a:lnSpc>
              <a:spcAft>
                <a:spcPts val="0"/>
              </a:spcAft>
            </a:pPr>
            <a:r>
              <a:rPr sz="1250" b="0">
                <a:solidFill>
                  <a:srgbClr val="E6E6E6"/>
                </a:solidFill>
                <a:latin typeface="Consolas"/>
                <a:ea typeface="Consolas"/>
                <a:cs typeface="Consolas"/>
              </a:rPr>
              <a:t>      VALUES ((v_loc_id + i), v_new_city, 'CA');</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 역순 반복: 3, 2, 1 순으로 출력된다</a:t>
            </a:r>
          </a:p>
          <a:p>
            <a:pPr>
              <a:lnSpc>
                <a:spcPct val="100000"/>
              </a:lnSpc>
              <a:spcAft>
                <a:spcPts val="0"/>
              </a:spcAft>
            </a:pPr>
            <a:r>
              <a:rPr sz="1250" b="0">
                <a:solidFill>
                  <a:srgbClr val="E6E6E6"/>
                </a:solidFill>
                <a:latin typeface="Consolas"/>
                <a:ea typeface="Consolas"/>
                <a:cs typeface="Consolas"/>
              </a:rPr>
              <a:t>   FOR i IN REVERSE 1..3 LOOP</a:t>
            </a:r>
          </a:p>
          <a:p>
            <a:pPr>
              <a:lnSpc>
                <a:spcPct val="100000"/>
              </a:lnSpc>
              <a:spcAft>
                <a:spcPts val="0"/>
              </a:spcAft>
            </a:pPr>
            <a:r>
              <a:rPr sz="1250" b="0">
                <a:solidFill>
                  <a:srgbClr val="E6E6E6"/>
                </a:solidFill>
                <a:latin typeface="Consolas"/>
                <a:ea typeface="Consolas"/>
                <a:cs typeface="Consolas"/>
              </a:rPr>
              <a:t>      DBMS_OUTPUT.PUT_LINE('REVERSE i = ' || i);</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COMMIT;</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FOR LOOP 카운터 규칙</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카운터는 루프 안에서만 유효하다</a:t>
            </a:r>
          </a:p>
          <a:p>
            <a:pPr>
              <a:spcAft>
                <a:spcPts val="300"/>
              </a:spcAft>
            </a:pPr>
            <a:r>
              <a:rPr sz="1600" b="0">
                <a:solidFill>
                  <a:srgbClr val="5A6672"/>
                </a:solidFill>
                <a:latin typeface="Malgun Gothic"/>
                <a:ea typeface="Malgun Gothic"/>
                <a:cs typeface="Malgun Gothic"/>
              </a:rPr>
              <a:t>    –  END LOOP 다음에서 참조하면 PLS-00201(선언하지 않은 식별자) 오류</a:t>
            </a:r>
          </a:p>
          <a:p>
            <a:pPr>
              <a:spcAft>
                <a:spcPts val="300"/>
              </a:spcAft>
            </a:pPr>
            <a:r>
              <a:rPr sz="1600" b="0">
                <a:solidFill>
                  <a:srgbClr val="5A6672"/>
                </a:solidFill>
                <a:latin typeface="Malgun Gothic"/>
                <a:ea typeface="Malgun Gothic"/>
                <a:cs typeface="Malgun Gothic"/>
              </a:rPr>
              <a:t>    –  값을 밖에서 써야 한다면 별도 변수에 복사해 둔다</a:t>
            </a:r>
          </a:p>
          <a:p>
            <a:pPr>
              <a:spcAft>
                <a:spcPts val="500"/>
              </a:spcAft>
            </a:pPr>
            <a:r>
              <a:rPr sz="1800" b="0">
                <a:solidFill>
                  <a:srgbClr val="202830"/>
                </a:solidFill>
                <a:latin typeface="Malgun Gothic"/>
                <a:ea typeface="Malgun Gothic"/>
                <a:cs typeface="Malgun Gothic"/>
              </a:rPr>
              <a:t>•  카운터에 값을 대입할 수 없다</a:t>
            </a:r>
          </a:p>
          <a:p>
            <a:pPr>
              <a:spcAft>
                <a:spcPts val="300"/>
              </a:spcAft>
            </a:pPr>
            <a:r>
              <a:rPr sz="1600" b="0">
                <a:solidFill>
                  <a:srgbClr val="5A6672"/>
                </a:solidFill>
                <a:latin typeface="Malgun Gothic"/>
                <a:ea typeface="Malgun Gothic"/>
                <a:cs typeface="Malgun Gothic"/>
              </a:rPr>
              <a:t>    –  i := i + 2; 같은 문장은 PLS-00363 컴파일 오류를 발생시킨다</a:t>
            </a:r>
          </a:p>
          <a:p>
            <a:pPr>
              <a:spcAft>
                <a:spcPts val="500"/>
              </a:spcAft>
            </a:pPr>
            <a:r>
              <a:rPr sz="1800" b="0">
                <a:solidFill>
                  <a:srgbClr val="202830"/>
                </a:solidFill>
                <a:latin typeface="Malgun Gothic"/>
                <a:ea typeface="Malgun Gothic"/>
                <a:cs typeface="Malgun Gothic"/>
              </a:rPr>
              <a:t>•  카운터와 같은 이름의 변수를 바깥에 선언하면 카운터가 그 변수를 가린다</a:t>
            </a:r>
          </a:p>
          <a:p>
            <a:pPr>
              <a:spcAft>
                <a:spcPts val="300"/>
              </a:spcAft>
            </a:pPr>
            <a:r>
              <a:rPr sz="1600" b="0">
                <a:solidFill>
                  <a:srgbClr val="5A6672"/>
                </a:solidFill>
                <a:latin typeface="Malgun Gothic"/>
                <a:ea typeface="Malgun Gothic"/>
                <a:cs typeface="Malgun Gothic"/>
              </a:rPr>
              <a:t>    –  바깥 변수에 접근하려면 블록 레이블 한정자(&lt;&lt;blk&gt;&gt; … blk.i)를 사용한다</a:t>
            </a:r>
          </a:p>
          <a:p>
            <a:pPr>
              <a:spcAft>
                <a:spcPts val="500"/>
              </a:spcAft>
            </a:pPr>
            <a:r>
              <a:rPr sz="1800" b="0">
                <a:solidFill>
                  <a:srgbClr val="202830"/>
                </a:solidFill>
                <a:latin typeface="Malgun Gothic"/>
                <a:ea typeface="Malgun Gothic"/>
                <a:cs typeface="Malgun Gothic"/>
              </a:rPr>
              <a:t>•  FOR LOOP 안에서도 EXIT·EXIT WHEN으로 조기 종료할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cs typeface="Malgun Gothic"/>
              </a:rPr>
              <a:t>2.5~2.6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cs typeface="Malgun Gothic"/>
              </a:rPr>
              <a:t>중첩 루프 · CONTINUE · 선택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cs typeface="Malgun Gothic"/>
              </a:rPr>
              <a:t>•  레이블을 사용한 중첩 루프 제어</a:t>
            </a:r>
          </a:p>
          <a:p>
            <a:pPr>
              <a:spcAft>
                <a:spcPts val="600"/>
              </a:spcAft>
            </a:pPr>
            <a:r>
              <a:rPr sz="1600" b="0">
                <a:solidFill>
                  <a:srgbClr val="C5CED6"/>
                </a:solidFill>
                <a:latin typeface="Malgun Gothic"/>
                <a:ea typeface="Malgun Gothic"/>
                <a:cs typeface="Malgun Gothic"/>
              </a:rPr>
              <a:t>•  CONTINUE와 CONTINUE WHEN</a:t>
            </a:r>
          </a:p>
          <a:p>
            <a:pPr>
              <a:spcAft>
                <a:spcPts val="600"/>
              </a:spcAft>
            </a:pPr>
            <a:r>
              <a:rPr sz="1600" b="0">
                <a:solidFill>
                  <a:srgbClr val="C5CED6"/>
                </a:solidFill>
                <a:latin typeface="Malgun Gothic"/>
                <a:ea typeface="Malgun Gothic"/>
                <a:cs typeface="Malgun Gothic"/>
              </a:rPr>
              <a:t>•  반복문 선택 기준과 컨텍스트 스위치 비용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중첩 루프와 레이블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루프 안에 다른 루프를 넣는 구조 — 이차원 데이터 처리에 자연스럽다</a:t>
            </a:r>
          </a:p>
          <a:p>
            <a:pPr>
              <a:spcAft>
                <a:spcPts val="300"/>
              </a:spcAft>
            </a:pPr>
            <a:r>
              <a:rPr sz="1600" b="0">
                <a:solidFill>
                  <a:srgbClr val="5A6672"/>
                </a:solidFill>
                <a:latin typeface="Malgun Gothic"/>
                <a:ea typeface="Malgun Gothic"/>
                <a:cs typeface="Malgun Gothic"/>
              </a:rPr>
              <a:t>    –  부서 목록을 돌면서 각 부서의 사원 목록을 다시 도는 처리가 대표적</a:t>
            </a:r>
          </a:p>
          <a:p>
            <a:pPr>
              <a:spcAft>
                <a:spcPts val="500"/>
              </a:spcAft>
            </a:pPr>
            <a:r>
              <a:rPr sz="1800" b="0">
                <a:solidFill>
                  <a:srgbClr val="202830"/>
                </a:solidFill>
                <a:latin typeface="Malgun Gothic"/>
                <a:ea typeface="Malgun Gothic"/>
                <a:cs typeface="Malgun Gothic"/>
              </a:rPr>
              <a:t>•  EXIT는 그 EXIT가 속한 가장 안쪽 루프만 종료한다</a:t>
            </a:r>
          </a:p>
          <a:p>
            <a:pPr>
              <a:spcAft>
                <a:spcPts val="500"/>
              </a:spcAft>
            </a:pPr>
            <a:r>
              <a:rPr sz="1800" b="0">
                <a:solidFill>
                  <a:srgbClr val="202830"/>
                </a:solidFill>
                <a:latin typeface="Malgun Gothic"/>
                <a:ea typeface="Malgun Gothic"/>
                <a:cs typeface="Malgun Gothic"/>
              </a:rPr>
              <a:t>•  바깥 루프까지 종료하려면 레이블을 붙이고 EXIT 레이블명 형태로 지정</a:t>
            </a:r>
          </a:p>
          <a:p>
            <a:pPr>
              <a:spcAft>
                <a:spcPts val="300"/>
              </a:spcAft>
            </a:pPr>
            <a:r>
              <a:rPr sz="1600" b="0">
                <a:solidFill>
                  <a:srgbClr val="5A6672"/>
                </a:solidFill>
                <a:latin typeface="Malgun Gothic"/>
                <a:ea typeface="Malgun Gothic"/>
                <a:cs typeface="Malgun Gothic"/>
              </a:rPr>
              <a:t>    –  &lt;&lt;outer_loop&gt;&gt; 처럼 루프 앞에 레이블을 선언한다</a:t>
            </a:r>
          </a:p>
          <a:p>
            <a:pPr>
              <a:spcAft>
                <a:spcPts val="300"/>
              </a:spcAft>
            </a:pPr>
            <a:r>
              <a:rPr sz="1600" b="0">
                <a:solidFill>
                  <a:srgbClr val="5A6672"/>
                </a:solidFill>
                <a:latin typeface="Malgun Gothic"/>
                <a:ea typeface="Malgun Gothic"/>
                <a:cs typeface="Malgun Gothic"/>
              </a:rPr>
              <a:t>    –  END LOOP outer_loop; 표기는 선택 사항이지만 가독성에 크게 기여한다</a:t>
            </a:r>
          </a:p>
          <a:p>
            <a:pPr>
              <a:spcAft>
                <a:spcPts val="500"/>
              </a:spcAft>
            </a:pPr>
            <a:r>
              <a:rPr sz="1800" b="0">
                <a:solidFill>
                  <a:srgbClr val="202830"/>
                </a:solidFill>
                <a:latin typeface="Malgun Gothic"/>
                <a:ea typeface="Malgun Gothic"/>
                <a:cs typeface="Malgun Gothic"/>
              </a:rPr>
              <a:t>•  중첩이 3단계를 넘어가면 로직을 프로시저로 분리하는 것을 검토한다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중첩 루프와 레이블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EXIT outer_loop 로 바깥 루프까지 종료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&lt;&lt;outer_loop&gt;&gt;                      -- 바깥 루프에 레이블</a:t>
            </a:r>
          </a:p>
          <a:p>
            <a:pPr>
              <a:lnSpc>
                <a:spcPct val="100000"/>
              </a:lnSpc>
              <a:spcAft>
                <a:spcPts val="0"/>
              </a:spcAft>
            </a:pPr>
            <a:r>
              <a:rPr sz="1250" b="0">
                <a:solidFill>
                  <a:srgbClr val="E6E6E6"/>
                </a:solidFill>
                <a:latin typeface="Consolas"/>
                <a:ea typeface="Consolas"/>
                <a:cs typeface="Consolas"/>
              </a:rPr>
              <a:t>   FOR i IN 1..3 LOOP</a:t>
            </a:r>
          </a:p>
          <a:p>
            <a:pPr>
              <a:lnSpc>
                <a:spcPct val="100000"/>
              </a:lnSpc>
              <a:spcAft>
                <a:spcPts val="0"/>
              </a:spcAft>
            </a:pPr>
            <a:r>
              <a:rPr sz="1250" b="0">
                <a:solidFill>
                  <a:srgbClr val="E6E6E6"/>
                </a:solidFill>
                <a:latin typeface="Consolas"/>
                <a:ea typeface="Consolas"/>
                <a:cs typeface="Consolas"/>
              </a:rPr>
              <a:t>      &lt;&lt;inner_loop&gt;&gt;</a:t>
            </a:r>
          </a:p>
          <a:p>
            <a:pPr>
              <a:lnSpc>
                <a:spcPct val="100000"/>
              </a:lnSpc>
              <a:spcAft>
                <a:spcPts val="0"/>
              </a:spcAft>
            </a:pPr>
            <a:r>
              <a:rPr sz="1250" b="0">
                <a:solidFill>
                  <a:srgbClr val="E6E6E6"/>
                </a:solidFill>
                <a:latin typeface="Consolas"/>
                <a:ea typeface="Consolas"/>
                <a:cs typeface="Consolas"/>
              </a:rPr>
              <a:t>      FOR j IN 1..3 LOOP</a:t>
            </a:r>
          </a:p>
          <a:p>
            <a:pPr>
              <a:lnSpc>
                <a:spcPct val="100000"/>
              </a:lnSpc>
              <a:spcAft>
                <a:spcPts val="0"/>
              </a:spcAft>
            </a:pPr>
            <a:r>
              <a:rPr sz="1250" b="0">
                <a:solidFill>
                  <a:srgbClr val="E6E6E6"/>
                </a:solidFill>
                <a:latin typeface="Consolas"/>
                <a:ea typeface="Consolas"/>
                <a:cs typeface="Consolas"/>
              </a:rPr>
              <a:t>         DBMS_OUTPUT.PUT_LINE('i=' || i || ', j=' || j);</a:t>
            </a:r>
          </a:p>
          <a:p>
            <a:pPr>
              <a:lnSpc>
                <a:spcPct val="100000"/>
              </a:lnSpc>
              <a:spcAft>
                <a:spcPts val="0"/>
              </a:spcAft>
            </a:pPr>
            <a:r>
              <a:rPr sz="1250" b="0">
                <a:solidFill>
                  <a:srgbClr val="E6E6E6"/>
                </a:solidFill>
                <a:latin typeface="Consolas"/>
                <a:ea typeface="Consolas"/>
                <a:cs typeface="Consolas"/>
              </a:rPr>
              <a:t>         EXIT outer_loop WHEN i * j &gt; 4;   -- 두 루프 모두 종료</a:t>
            </a:r>
          </a:p>
          <a:p>
            <a:pPr>
              <a:lnSpc>
                <a:spcPct val="100000"/>
              </a:lnSpc>
              <a:spcAft>
                <a:spcPts val="0"/>
              </a:spcAft>
            </a:pPr>
            <a:r>
              <a:rPr sz="1250" b="0">
                <a:solidFill>
                  <a:srgbClr val="E6E6E6"/>
                </a:solidFill>
                <a:latin typeface="Consolas"/>
                <a:ea typeface="Consolas"/>
                <a:cs typeface="Consolas"/>
              </a:rPr>
              <a:t>      END LOOP inner_loop;</a:t>
            </a:r>
          </a:p>
          <a:p>
            <a:pPr>
              <a:lnSpc>
                <a:spcPct val="100000"/>
              </a:lnSpc>
              <a:spcAft>
                <a:spcPts val="0"/>
              </a:spcAft>
            </a:pPr>
            <a:r>
              <a:rPr sz="1250" b="0">
                <a:solidFill>
                  <a:srgbClr val="E6E6E6"/>
                </a:solidFill>
                <a:latin typeface="Consolas"/>
                <a:ea typeface="Consolas"/>
                <a:cs typeface="Consolas"/>
              </a:rPr>
              <a:t>   END LOOP outer_loop;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DBMS_OUTPUT.PUT_LINE('두 루프를 모두 빠져나왔다.');</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CONTINUE와 CONTINUE WHEN</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CONTINUE : 이번 회차의 남은 문장을 건너뛰고 다음 반복으로 넘어간다</a:t>
            </a:r>
          </a:p>
          <a:p>
            <a:pPr>
              <a:spcAft>
                <a:spcPts val="300"/>
              </a:spcAft>
            </a:pPr>
            <a:r>
              <a:rPr sz="1600" b="0">
                <a:solidFill>
                  <a:srgbClr val="5A6672"/>
                </a:solidFill>
                <a:latin typeface="Malgun Gothic"/>
                <a:ea typeface="Malgun Gothic"/>
                <a:cs typeface="Malgun Gothic"/>
              </a:rPr>
              <a:t>    –  EXIT는 루프를 끝내지만 CONTINUE는 루프를 계속한다</a:t>
            </a:r>
          </a:p>
          <a:p>
            <a:pPr>
              <a:spcAft>
                <a:spcPts val="300"/>
              </a:spcAft>
            </a:pPr>
            <a:r>
              <a:rPr sz="1600" b="0">
                <a:solidFill>
                  <a:srgbClr val="5A6672"/>
                </a:solidFill>
                <a:latin typeface="Malgun Gothic"/>
                <a:ea typeface="Malgun Gothic"/>
                <a:cs typeface="Malgun Gothic"/>
              </a:rPr>
              <a:t>    –  Oracle Database 11g에서 도입되어 19c에서도 동일하게 사용</a:t>
            </a:r>
          </a:p>
          <a:p>
            <a:pPr>
              <a:spcAft>
                <a:spcPts val="500"/>
              </a:spcAft>
            </a:pPr>
            <a:r>
              <a:rPr sz="1800" b="0">
                <a:solidFill>
                  <a:srgbClr val="202830"/>
                </a:solidFill>
                <a:latin typeface="Malgun Gothic"/>
                <a:ea typeface="Malgun Gothic"/>
                <a:cs typeface="Malgun Gothic"/>
              </a:rPr>
              <a:t>•  CONTINUE WHEN 조건 : 조건이 참일 때만 건너뛴다</a:t>
            </a:r>
          </a:p>
          <a:p>
            <a:pPr>
              <a:spcAft>
                <a:spcPts val="500"/>
              </a:spcAft>
            </a:pPr>
            <a:r>
              <a:rPr sz="1800" b="0">
                <a:solidFill>
                  <a:srgbClr val="202830"/>
                </a:solidFill>
                <a:latin typeface="Malgun Gothic"/>
                <a:ea typeface="Malgun Gothic"/>
                <a:cs typeface="Malgun Gothic"/>
              </a:rPr>
              <a:t>•  레이블을 지정하면 바깥 루프의 다음 회차로 건너뛸 수 있다</a:t>
            </a:r>
          </a:p>
          <a:p>
            <a:pPr>
              <a:spcAft>
                <a:spcPts val="500"/>
              </a:spcAft>
            </a:pPr>
            <a:r>
              <a:rPr sz="1800" b="0">
                <a:solidFill>
                  <a:srgbClr val="202830"/>
                </a:solidFill>
                <a:latin typeface="Malgun Gothic"/>
                <a:ea typeface="Malgun Gothic"/>
                <a:cs typeface="Malgun Gothic"/>
              </a:rPr>
              <a:t>•  제약 사항</a:t>
            </a:r>
          </a:p>
          <a:p>
            <a:pPr>
              <a:spcAft>
                <a:spcPts val="300"/>
              </a:spcAft>
            </a:pPr>
            <a:r>
              <a:rPr sz="1600" b="0">
                <a:solidFill>
                  <a:srgbClr val="5A6672"/>
                </a:solidFill>
                <a:latin typeface="Malgun Gothic"/>
                <a:ea typeface="Malgun Gothic"/>
                <a:cs typeface="Malgun Gothic"/>
              </a:rPr>
              <a:t>    –  루프 밖에서 사용하면 PLS-00375 계열 컴파일 오류</a:t>
            </a:r>
          </a:p>
          <a:p>
            <a:pPr>
              <a:spcAft>
                <a:spcPts val="300"/>
              </a:spcAft>
            </a:pPr>
            <a:r>
              <a:rPr sz="1600" b="0">
                <a:solidFill>
                  <a:srgbClr val="5A6672"/>
                </a:solidFill>
                <a:latin typeface="Malgun Gothic"/>
                <a:ea typeface="Malgun Gothic"/>
                <a:cs typeface="Malgun Gothic"/>
              </a:rPr>
              <a:t>    –  프로시저·함수 경계를 넘어 바깥 루프로 건너뛸 수 없다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ea typeface="Malgun Gothic"/>
                <a:cs typeface="Malgun Gothic"/>
              </a:rPr>
              <a:t>참고: </a:t>
            </a:r>
            <a:r>
              <a:rPr sz="1250" b="0">
                <a:solidFill>
                  <a:srgbClr val="202830"/>
                </a:solidFill>
                <a:latin typeface="Malgun Gothic"/>
                <a:ea typeface="Malgun Gothic"/>
                <a:cs typeface="Malgun Gothic"/>
              </a:rPr>
              <a:t>EXIT는 루프를 완전히 종료하고, CONTINUE는 이번 회차만 중단한다. 루프 자체는 계속된다.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CONTINUE WHEN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짝수 회차만 건너뛰기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v_total   NUMBER := 0;</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FOR i IN 1..10 LOOP</a:t>
            </a:r>
          </a:p>
          <a:p>
            <a:pPr>
              <a:lnSpc>
                <a:spcPct val="100000"/>
              </a:lnSpc>
              <a:spcAft>
                <a:spcPts val="0"/>
              </a:spcAft>
            </a:pPr>
            <a:r>
              <a:rPr sz="1250" b="0">
                <a:solidFill>
                  <a:srgbClr val="E6E6E6"/>
                </a:solidFill>
                <a:latin typeface="Consolas"/>
                <a:ea typeface="Consolas"/>
                <a:cs typeface="Consolas"/>
              </a:rPr>
              <a:t>      v_total := v_total + i;</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 짝수는 아래 출력 문장을 건너뛰고 다음 회차로</a:t>
            </a:r>
          </a:p>
          <a:p>
            <a:pPr>
              <a:lnSpc>
                <a:spcPct val="100000"/>
              </a:lnSpc>
              <a:spcAft>
                <a:spcPts val="0"/>
              </a:spcAft>
            </a:pPr>
            <a:r>
              <a:rPr sz="1250" b="0">
                <a:solidFill>
                  <a:srgbClr val="E6E6E6"/>
                </a:solidFill>
                <a:latin typeface="Consolas"/>
                <a:ea typeface="Consolas"/>
                <a:cs typeface="Consolas"/>
              </a:rPr>
              <a:t>      CONTINUE WHEN MOD(i, 2) = 0;</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DBMS_OUTPUT.PUT_LINE('홀수 ' || i || ' 처리, 누적=' || v_total);</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DBMS_OUTPUT.PUT_LINE('최종 합계 = ' || v_total);   -- 55</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반복문 선택 기준</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본문이 최소 한 번은 실행되어야 한다 → 기본 LOOP</a:t>
            </a:r>
          </a:p>
          <a:p>
            <a:pPr>
              <a:spcAft>
                <a:spcPts val="500"/>
              </a:spcAft>
            </a:pPr>
            <a:r>
              <a:rPr sz="1800" b="0">
                <a:solidFill>
                  <a:srgbClr val="202830"/>
                </a:solidFill>
                <a:latin typeface="Malgun Gothic"/>
                <a:ea typeface="Malgun Gothic"/>
                <a:cs typeface="Malgun Gothic"/>
              </a:rPr>
              <a:t>•  매 회차 시작 전에 조건을 검사해야 한다 → WHILE LOOP</a:t>
            </a:r>
          </a:p>
          <a:p>
            <a:pPr>
              <a:spcAft>
                <a:spcPts val="500"/>
              </a:spcAft>
            </a:pPr>
            <a:r>
              <a:rPr sz="1800" b="0">
                <a:solidFill>
                  <a:srgbClr val="202830"/>
                </a:solidFill>
                <a:latin typeface="Malgun Gothic"/>
                <a:ea typeface="Malgun Gothic"/>
                <a:cs typeface="Malgun Gothic"/>
              </a:rPr>
              <a:t>•  반복 횟수가 미리 정해져 있다 → FOR LOOP</a:t>
            </a:r>
          </a:p>
          <a:p>
            <a:pPr>
              <a:spcAft>
                <a:spcPts val="500"/>
              </a:spcAft>
            </a:pPr>
            <a:r>
              <a:rPr sz="1800" b="0">
                <a:solidFill>
                  <a:srgbClr val="202830"/>
                </a:solidFill>
                <a:latin typeface="Malgun Gothic"/>
                <a:ea typeface="Malgun Gothic"/>
                <a:cs typeface="Malgun Gothic"/>
              </a:rPr>
              <a:t>•  더 이상 데이터가 없을 때까지 처리해야 한다</a:t>
            </a:r>
          </a:p>
          <a:p>
            <a:pPr>
              <a:spcAft>
                <a:spcPts val="300"/>
              </a:spcAft>
            </a:pPr>
            <a:r>
              <a:rPr sz="1600" b="0">
                <a:solidFill>
                  <a:srgbClr val="5A6672"/>
                </a:solidFill>
                <a:latin typeface="Malgun Gothic"/>
                <a:ea typeface="Malgun Gothic"/>
                <a:cs typeface="Malgun Gothic"/>
              </a:rPr>
              <a:t>    –  기본 LOOP + EXIT WHEN 커서%NOTFOUND 조합</a:t>
            </a:r>
          </a:p>
          <a:p>
            <a:pPr>
              <a:spcAft>
                <a:spcPts val="300"/>
              </a:spcAft>
            </a:pPr>
            <a:r>
              <a:rPr sz="1600" b="0">
                <a:solidFill>
                  <a:srgbClr val="5A6672"/>
                </a:solidFill>
                <a:latin typeface="Malgun Gothic"/>
                <a:ea typeface="Malgun Gothic"/>
                <a:cs typeface="Malgun Gothic"/>
              </a:rPr>
              <a:t>    –  또는 커서 FOR LOOP (2.11절)</a:t>
            </a:r>
          </a:p>
          <a:p>
            <a:pPr>
              <a:spcAft>
                <a:spcPts val="500"/>
              </a:spcAft>
            </a:pPr>
            <a:r>
              <a:rPr sz="1800" b="0">
                <a:solidFill>
                  <a:srgbClr val="202830"/>
                </a:solidFill>
                <a:latin typeface="Malgun Gothic"/>
                <a:ea typeface="Malgun Gothic"/>
                <a:cs typeface="Malgun Gothic"/>
              </a:rPr>
              <a:t>•  어떤 반복문을 쓰든 종료 조건이 반드시 언젠가 참이 되는지 확인한다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ea typeface="Malgun Gothic"/>
                <a:cs typeface="Malgun Gothic"/>
              </a:rPr>
              <a:t>Best Practice: </a:t>
            </a:r>
            <a:r>
              <a:rPr sz="1250" b="0">
                <a:solidFill>
                  <a:srgbClr val="202830"/>
                </a:solidFill>
                <a:latin typeface="Malgun Gothic"/>
                <a:ea typeface="Malgun Gothic"/>
                <a:cs typeface="Malgun Gothic"/>
              </a:rPr>
              <a:t>이 반복을 단일 SQL 문장(UPDATE·MERGE·INSERT SELECT)으로 바꿀 수 있는지 먼저 검토한다.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행 단위 처리의 비용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컨텍스트 스위치 — 루프냐 집합 SQL이냐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7EC699"/>
                </a:solidFill>
                <a:latin typeface="Consolas"/>
                <a:ea typeface="Consolas"/>
                <a:cs typeface="Consolas"/>
              </a:rPr>
              <a:t>-- (나쁜 예) 루프 안에서 한 건씩 UPDATE</a:t>
            </a:r>
          </a:p>
          <a:p>
            <a:pPr>
              <a:lnSpc>
                <a:spcPct val="100000"/>
              </a:lnSpc>
              <a:spcAft>
                <a:spcPts val="0"/>
              </a:spcAft>
            </a:pPr>
            <a:r>
              <a:rPr sz="1250" b="0">
                <a:solidFill>
                  <a:srgbClr val="7EC699"/>
                </a:solidFill>
                <a:latin typeface="Consolas"/>
                <a:ea typeface="Consolas"/>
                <a:cs typeface="Consolas"/>
              </a:rPr>
              <a:t>-- 컨텍스트 스위치가 반복 횟수만큼 발생한다</a:t>
            </a:r>
          </a:p>
          <a:p>
            <a:pPr>
              <a:lnSpc>
                <a:spcPct val="100000"/>
              </a:lnSpc>
              <a:spcAft>
                <a:spcPts val="0"/>
              </a:spcAft>
            </a:pPr>
            <a:r>
              <a:rPr sz="1250" b="0">
                <a:solidFill>
                  <a:srgbClr val="E6E6E6"/>
                </a:solidFill>
                <a:latin typeface="Consolas"/>
                <a:ea typeface="Consolas"/>
                <a:cs typeface="Consolas"/>
              </a:rPr>
              <a:t>FOR rec IN (SELECT employee_id FROM employees) LOOP</a:t>
            </a:r>
          </a:p>
          <a:p>
            <a:pPr>
              <a:lnSpc>
                <a:spcPct val="100000"/>
              </a:lnSpc>
              <a:spcAft>
                <a:spcPts val="0"/>
              </a:spcAft>
            </a:pPr>
            <a:r>
              <a:rPr sz="1250" b="0">
                <a:solidFill>
                  <a:srgbClr val="E6E6E6"/>
                </a:solidFill>
                <a:latin typeface="Consolas"/>
                <a:ea typeface="Consolas"/>
                <a:cs typeface="Consolas"/>
              </a:rPr>
              <a:t>   UPDATE employees SET salary = salary * 1.05</a:t>
            </a:r>
          </a:p>
          <a:p>
            <a:pPr>
              <a:lnSpc>
                <a:spcPct val="100000"/>
              </a:lnSpc>
              <a:spcAft>
                <a:spcPts val="0"/>
              </a:spcAft>
            </a:pPr>
            <a:r>
              <a:rPr sz="1250" b="0">
                <a:solidFill>
                  <a:srgbClr val="E6E6E6"/>
                </a:solidFill>
                <a:latin typeface="Consolas"/>
                <a:ea typeface="Consolas"/>
                <a:cs typeface="Consolas"/>
              </a:rPr>
              <a:t>    WHERE employee_id = rec.employee_id;</a:t>
            </a:r>
          </a:p>
          <a:p>
            <a:pPr>
              <a:lnSpc>
                <a:spcPct val="100000"/>
              </a:lnSpc>
              <a:spcAft>
                <a:spcPts val="0"/>
              </a:spcAft>
            </a:pPr>
            <a:r>
              <a:rPr sz="1250" b="0">
                <a:solidFill>
                  <a:srgbClr val="E6E6E6"/>
                </a:solidFill>
                <a:latin typeface="Consolas"/>
                <a:ea typeface="Consolas"/>
                <a:cs typeface="Consolas"/>
              </a:rPr>
              <a:t>END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(좋은 예) 집합으로 한 번에 처리</a:t>
            </a:r>
          </a:p>
          <a:p>
            <a:pPr>
              <a:lnSpc>
                <a:spcPct val="100000"/>
              </a:lnSpc>
              <a:spcAft>
                <a:spcPts val="0"/>
              </a:spcAft>
            </a:pPr>
            <a:r>
              <a:rPr sz="1250" b="0">
                <a:solidFill>
                  <a:srgbClr val="7EC699"/>
                </a:solidFill>
                <a:latin typeface="Consolas"/>
                <a:ea typeface="Consolas"/>
                <a:cs typeface="Consolas"/>
              </a:rPr>
              <a:t>-- 컨텍스트 스위치 1번으로 끝난다</a:t>
            </a:r>
          </a:p>
          <a:p>
            <a:pPr>
              <a:lnSpc>
                <a:spcPct val="100000"/>
              </a:lnSpc>
              <a:spcAft>
                <a:spcPts val="0"/>
              </a:spcAft>
            </a:pPr>
            <a:r>
              <a:rPr sz="1250" b="0">
                <a:solidFill>
                  <a:srgbClr val="E6E6E6"/>
                </a:solidFill>
                <a:latin typeface="Consolas"/>
                <a:ea typeface="Consolas"/>
                <a:cs typeface="Consolas"/>
              </a:rPr>
              <a:t>UPDATE employees SET salary = salary * 1.05;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cs typeface="Malgun Gothic"/>
              </a:rPr>
              <a:t>2.7~2.9</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cs typeface="Malgun Gothic"/>
              </a:rPr>
              <a:t>커서의 개념과 명시적 커서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cs typeface="Malgun Gothic"/>
              </a:rPr>
              <a:t>•  암시적 커서와 명시적 커서의 구분</a:t>
            </a:r>
          </a:p>
          <a:p>
            <a:pPr>
              <a:spcAft>
                <a:spcPts val="600"/>
              </a:spcAft>
            </a:pPr>
            <a:r>
              <a:rPr sz="1600" b="0">
                <a:solidFill>
                  <a:srgbClr val="C5CED6"/>
                </a:solidFill>
                <a:latin typeface="Malgun Gothic"/>
                <a:ea typeface="Malgun Gothic"/>
                <a:cs typeface="Malgun Gothic"/>
              </a:rPr>
              <a:t>•  SQL%ROWCOUNT로 DML 건수 확인</a:t>
            </a:r>
          </a:p>
          <a:p>
            <a:pPr>
              <a:spcAft>
                <a:spcPts val="600"/>
              </a:spcAft>
            </a:pPr>
            <a:r>
              <a:rPr sz="1600" b="0">
                <a:solidFill>
                  <a:srgbClr val="C5CED6"/>
                </a:solidFill>
                <a:latin typeface="Malgun Gothic"/>
                <a:ea typeface="Malgun Gothic"/>
                <a:cs typeface="Malgun Gothic"/>
              </a:rPr>
              <a:t>•  DECLARE · OPEN · FETCH · CLOSE 네 단계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커서란 무엇인가</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Oracle 서버는 SQL 실행을 위해 개인 SQL 영역(Private SQL Area)을 확보한다</a:t>
            </a:r>
          </a:p>
          <a:p>
            <a:pPr>
              <a:spcAft>
                <a:spcPts val="300"/>
              </a:spcAft>
            </a:pPr>
            <a:r>
              <a:rPr sz="1600" b="0">
                <a:solidFill>
                  <a:srgbClr val="5A6672"/>
                </a:solidFill>
                <a:latin typeface="Malgun Gothic"/>
                <a:ea typeface="Malgun Gothic"/>
                <a:cs typeface="Malgun Gothic"/>
              </a:rPr>
              <a:t>    –  커서는 이 작업 공간을 가리키는 이름표이자 포인터다</a:t>
            </a:r>
          </a:p>
          <a:p>
            <a:pPr>
              <a:spcAft>
                <a:spcPts val="500"/>
              </a:spcAft>
            </a:pPr>
            <a:r>
              <a:rPr sz="1800" b="0">
                <a:solidFill>
                  <a:srgbClr val="202830"/>
                </a:solidFill>
                <a:latin typeface="Malgun Gothic"/>
                <a:ea typeface="Malgun Gothic"/>
                <a:cs typeface="Malgun Gothic"/>
              </a:rPr>
              <a:t>•  암시적 커서(Implicit Cursor)</a:t>
            </a:r>
          </a:p>
          <a:p>
            <a:pPr>
              <a:spcAft>
                <a:spcPts val="300"/>
              </a:spcAft>
            </a:pPr>
            <a:r>
              <a:rPr sz="1600" b="0">
                <a:solidFill>
                  <a:srgbClr val="5A6672"/>
                </a:solidFill>
                <a:latin typeface="Malgun Gothic"/>
                <a:ea typeface="Malgun Gothic"/>
                <a:cs typeface="Malgun Gothic"/>
              </a:rPr>
              <a:t>    –  PL/SQL이 자동으로 열고 닫는다</a:t>
            </a:r>
          </a:p>
          <a:p>
            <a:pPr>
              <a:spcAft>
                <a:spcPts val="300"/>
              </a:spcAft>
            </a:pPr>
            <a:r>
              <a:rPr sz="1600" b="0">
                <a:solidFill>
                  <a:srgbClr val="5A6672"/>
                </a:solidFill>
                <a:latin typeface="Malgun Gothic"/>
                <a:ea typeface="Malgun Gothic"/>
                <a:cs typeface="Malgun Gothic"/>
              </a:rPr>
              <a:t>    –  모든 DML 문장과 SELECT INTO 문장에 대해 만들어진다</a:t>
            </a:r>
          </a:p>
          <a:p>
            <a:pPr>
              <a:spcAft>
                <a:spcPts val="300"/>
              </a:spcAft>
            </a:pPr>
            <a:r>
              <a:rPr sz="1600" b="0">
                <a:solidFill>
                  <a:srgbClr val="5A6672"/>
                </a:solidFill>
                <a:latin typeface="Malgun Gothic"/>
                <a:ea typeface="Malgun Gothic"/>
                <a:cs typeface="Malgun Gothic"/>
              </a:rPr>
              <a:t>    –  이름이 없으므로 예약된 이름 SQL 로 참조한다</a:t>
            </a:r>
          </a:p>
          <a:p>
            <a:pPr>
              <a:spcAft>
                <a:spcPts val="500"/>
              </a:spcAft>
            </a:pPr>
            <a:r>
              <a:rPr sz="1800" b="0">
                <a:solidFill>
                  <a:srgbClr val="202830"/>
                </a:solidFill>
                <a:latin typeface="Malgun Gothic"/>
                <a:ea typeface="Malgun Gothic"/>
                <a:cs typeface="Malgun Gothic"/>
              </a:rPr>
              <a:t>•  명시적 커서(Explicit Cursor)</a:t>
            </a:r>
          </a:p>
          <a:p>
            <a:pPr>
              <a:spcAft>
                <a:spcPts val="300"/>
              </a:spcAft>
            </a:pPr>
            <a:r>
              <a:rPr sz="1600" b="0">
                <a:solidFill>
                  <a:srgbClr val="5A6672"/>
                </a:solidFill>
                <a:latin typeface="Malgun Gothic"/>
                <a:ea typeface="Malgun Gothic"/>
                <a:cs typeface="Malgun Gothic"/>
              </a:rPr>
              <a:t>    –  개발자가 DECLARE 절에 선언하고 OPEN·FETCH·CLOSE로 직접 제어</a:t>
            </a:r>
          </a:p>
          <a:p>
            <a:pPr>
              <a:spcAft>
                <a:spcPts val="300"/>
              </a:spcAft>
            </a:pPr>
            <a:r>
              <a:rPr sz="1600" b="0">
                <a:solidFill>
                  <a:srgbClr val="5A6672"/>
                </a:solidFill>
                <a:latin typeface="Malgun Gothic"/>
                <a:ea typeface="Malgun Gothic"/>
                <a:cs typeface="Malgun Gothic"/>
              </a:rPr>
              <a:t>    –  여러 행을 돌려주는 질의를 한 행씩 처리할 때 사용한다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ea typeface="Malgun Gothic"/>
                <a:cs typeface="Malgun Gothic"/>
              </a:rPr>
              <a:t>참고: </a:t>
            </a:r>
            <a:r>
              <a:rPr sz="1250" b="0">
                <a:solidFill>
                  <a:srgbClr val="202830"/>
                </a:solidFill>
                <a:latin typeface="Malgun Gothic"/>
                <a:ea typeface="Malgun Gothic"/>
                <a:cs typeface="Malgun Gothic"/>
              </a:rPr>
              <a:t>명시적 커서는 여러 행을 돌려주는 질의를 다룰 때 사용하지만, 한 행만 나오는 질의에도 쓸 수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암시적 커서 속성 SQL%</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DML이 몇 행을 처리했는지 확인하기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v_dept_id   employees.department_id%TYPE := 60;</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UPDATE employees</a:t>
            </a:r>
          </a:p>
          <a:p>
            <a:pPr>
              <a:lnSpc>
                <a:spcPct val="100000"/>
              </a:lnSpc>
              <a:spcAft>
                <a:spcPts val="0"/>
              </a:spcAft>
            </a:pPr>
            <a:r>
              <a:rPr sz="1250" b="0">
                <a:solidFill>
                  <a:srgbClr val="E6E6E6"/>
                </a:solidFill>
                <a:latin typeface="Consolas"/>
                <a:ea typeface="Consolas"/>
                <a:cs typeface="Consolas"/>
              </a:rPr>
              <a:t>      SET salary = salary * 1.03</a:t>
            </a:r>
          </a:p>
          <a:p>
            <a:pPr>
              <a:lnSpc>
                <a:spcPct val="100000"/>
              </a:lnSpc>
              <a:spcAft>
                <a:spcPts val="0"/>
              </a:spcAft>
            </a:pPr>
            <a:r>
              <a:rPr sz="1250" b="0">
                <a:solidFill>
                  <a:srgbClr val="E6E6E6"/>
                </a:solidFill>
                <a:latin typeface="Consolas"/>
                <a:ea typeface="Consolas"/>
                <a:cs typeface="Consolas"/>
              </a:rPr>
              <a:t>    WHERE department_id = v_dept_id;</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 방금 실행한 UPDATE가 몇 행을 갱신했는지 확인</a:t>
            </a:r>
          </a:p>
          <a:p>
            <a:pPr>
              <a:lnSpc>
                <a:spcPct val="100000"/>
              </a:lnSpc>
              <a:spcAft>
                <a:spcPts val="0"/>
              </a:spcAft>
            </a:pPr>
            <a:r>
              <a:rPr sz="1250" b="0">
                <a:solidFill>
                  <a:srgbClr val="E6E6E6"/>
                </a:solidFill>
                <a:latin typeface="Consolas"/>
                <a:ea typeface="Consolas"/>
                <a:cs typeface="Consolas"/>
              </a:rPr>
              <a:t>   DBMS_OUTPUT.PUT_LINE('갱신 건수 : ' || SQL%ROWCOUNT);</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IF SQL%NOTFOUND THEN</a:t>
            </a:r>
          </a:p>
          <a:p>
            <a:pPr>
              <a:lnSpc>
                <a:spcPct val="100000"/>
              </a:lnSpc>
              <a:spcAft>
                <a:spcPts val="0"/>
              </a:spcAft>
            </a:pPr>
            <a:r>
              <a:rPr sz="1250" b="0">
                <a:solidFill>
                  <a:srgbClr val="E6E6E6"/>
                </a:solidFill>
                <a:latin typeface="Consolas"/>
                <a:ea typeface="Consolas"/>
                <a:cs typeface="Consolas"/>
              </a:rPr>
              <a:t>      DBMS_OUTPUT.PUT_LINE('해당 부서에 사원이 없습니다.');</a:t>
            </a:r>
          </a:p>
          <a:p>
            <a:pPr>
              <a:lnSpc>
                <a:spcPct val="100000"/>
              </a:lnSpc>
              <a:spcAft>
                <a:spcPts val="0"/>
              </a:spcAft>
            </a:pPr>
            <a:r>
              <a:rPr sz="1250" b="0">
                <a:solidFill>
                  <a:srgbClr val="E6E6E6"/>
                </a:solidFill>
                <a:latin typeface="Consolas"/>
                <a:ea typeface="Consolas"/>
                <a:cs typeface="Consolas"/>
              </a:rPr>
              <a:t>      ROLLBACK;</a:t>
            </a:r>
          </a:p>
          <a:p>
            <a:pPr>
              <a:lnSpc>
                <a:spcPct val="100000"/>
              </a:lnSpc>
              <a:spcAft>
                <a:spcPts val="0"/>
              </a:spcAft>
            </a:pPr>
            <a:r>
              <a:rPr sz="1250" b="0">
                <a:solidFill>
                  <a:srgbClr val="E6E6E6"/>
                </a:solidFill>
                <a:latin typeface="Consolas"/>
                <a:ea typeface="Consolas"/>
                <a:cs typeface="Consolas"/>
              </a:rPr>
              <a:t>   ELSE</a:t>
            </a:r>
          </a:p>
          <a:p>
            <a:pPr>
              <a:lnSpc>
                <a:spcPct val="100000"/>
              </a:lnSpc>
              <a:spcAft>
                <a:spcPts val="0"/>
              </a:spcAft>
            </a:pPr>
            <a:r>
              <a:rPr sz="1250" b="0">
                <a:solidFill>
                  <a:srgbClr val="E6E6E6"/>
                </a:solidFill>
                <a:latin typeface="Consolas"/>
                <a:ea typeface="Consolas"/>
                <a:cs typeface="Consolas"/>
              </a:rPr>
              <a:t>      COMMIT;</a:t>
            </a:r>
          </a:p>
          <a:p>
            <a:pPr>
              <a:lnSpc>
                <a:spcPct val="100000"/>
              </a:lnSpc>
              <a:spcAft>
                <a:spcPts val="0"/>
              </a:spcAft>
            </a:pPr>
            <a:r>
              <a:rPr sz="1250" b="0">
                <a:solidFill>
                  <a:srgbClr val="E6E6E6"/>
                </a:solidFill>
                <a:latin typeface="Consolas"/>
                <a:ea typeface="Consolas"/>
                <a:cs typeface="Consolas"/>
              </a:rPr>
              <a:t>   END IF;</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명시적 커서 제어 4단계</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1) DECLARE — 선언부에서 커서 이름과 질의를 정의한다</a:t>
            </a:r>
          </a:p>
          <a:p>
            <a:pPr>
              <a:spcAft>
                <a:spcPts val="300"/>
              </a:spcAft>
            </a:pPr>
            <a:r>
              <a:rPr sz="1600" b="0">
                <a:solidFill>
                  <a:srgbClr val="5A6672"/>
                </a:solidFill>
                <a:latin typeface="Malgun Gothic"/>
                <a:ea typeface="Malgun Gothic"/>
                <a:cs typeface="Malgun Gothic"/>
              </a:rPr>
              <a:t>    –  CURSOR 커서명 IS SELECT 문장;  — INTO 절을 쓸 수 없다</a:t>
            </a:r>
          </a:p>
          <a:p>
            <a:pPr>
              <a:spcAft>
                <a:spcPts val="500"/>
              </a:spcAft>
            </a:pPr>
            <a:r>
              <a:rPr sz="1800" b="0">
                <a:solidFill>
                  <a:srgbClr val="202830"/>
                </a:solidFill>
                <a:latin typeface="Malgun Gothic"/>
                <a:ea typeface="Malgun Gothic"/>
                <a:cs typeface="Malgun Gothic"/>
              </a:rPr>
              <a:t>•  2) OPEN — 질의를 실행하고 활성 집합을 확정한다</a:t>
            </a:r>
          </a:p>
          <a:p>
            <a:pPr>
              <a:spcAft>
                <a:spcPts val="300"/>
              </a:spcAft>
            </a:pPr>
            <a:r>
              <a:rPr sz="1600" b="0">
                <a:solidFill>
                  <a:srgbClr val="5A6672"/>
                </a:solidFill>
                <a:latin typeface="Malgun Gothic"/>
                <a:ea typeface="Malgun Gothic"/>
                <a:cs typeface="Malgun Gothic"/>
              </a:rPr>
              <a:t>    –  메모리 할당 → 파싱 → 변수 바인드 → 활성 집합 확정 → 포인터 위치</a:t>
            </a:r>
          </a:p>
          <a:p>
            <a:pPr>
              <a:spcAft>
                <a:spcPts val="300"/>
              </a:spcAft>
            </a:pPr>
            <a:r>
              <a:rPr sz="1600" b="0">
                <a:solidFill>
                  <a:srgbClr val="5A6672"/>
                </a:solidFill>
                <a:latin typeface="Malgun Gothic"/>
                <a:ea typeface="Malgun Gothic"/>
                <a:cs typeface="Malgun Gothic"/>
              </a:rPr>
              <a:t>    –  행이 0건이어도 예외는 발생하지 않는다 (SELECT INTO와 다른 점)</a:t>
            </a:r>
          </a:p>
          <a:p>
            <a:pPr>
              <a:spcAft>
                <a:spcPts val="500"/>
              </a:spcAft>
            </a:pPr>
            <a:r>
              <a:rPr sz="1800" b="0">
                <a:solidFill>
                  <a:srgbClr val="202830"/>
                </a:solidFill>
                <a:latin typeface="Malgun Gothic"/>
                <a:ea typeface="Malgun Gothic"/>
                <a:cs typeface="Malgun Gothic"/>
              </a:rPr>
              <a:t>•  3) FETCH — 현재 행을 변수에 담고 포인터를 다음 행으로 전진시킨다</a:t>
            </a:r>
          </a:p>
          <a:p>
            <a:pPr>
              <a:spcAft>
                <a:spcPts val="300"/>
              </a:spcAft>
            </a:pPr>
            <a:r>
              <a:rPr sz="1600" b="0">
                <a:solidFill>
                  <a:srgbClr val="5A6672"/>
                </a:solidFill>
                <a:latin typeface="Malgun Gothic"/>
                <a:ea typeface="Malgun Gothic"/>
                <a:cs typeface="Malgun Gothic"/>
              </a:rPr>
              <a:t>    –  모든 행을 처리하려면 반복문이 필요하다</a:t>
            </a:r>
          </a:p>
          <a:p>
            <a:pPr>
              <a:spcAft>
                <a:spcPts val="500"/>
              </a:spcAft>
            </a:pPr>
            <a:r>
              <a:rPr sz="1800" b="0">
                <a:solidFill>
                  <a:srgbClr val="202830"/>
                </a:solidFill>
                <a:latin typeface="Malgun Gothic"/>
                <a:ea typeface="Malgun Gothic"/>
                <a:cs typeface="Malgun Gothic"/>
              </a:rPr>
              <a:t>•  4) CLOSE — 컨텍스트 영역을 해제하고 활성 집합을 무효화한다</a:t>
            </a:r>
          </a:p>
          <a:p>
            <a:pPr>
              <a:spcAft>
                <a:spcPts val="300"/>
              </a:spcAft>
            </a:pPr>
            <a:r>
              <a:rPr sz="1600" b="0">
                <a:solidFill>
                  <a:srgbClr val="5A6672"/>
                </a:solidFill>
                <a:latin typeface="Malgun Gothic"/>
                <a:ea typeface="Malgun Gothic"/>
                <a:cs typeface="Malgun Gothic"/>
              </a:rPr>
              <a:t>    –  닫은 커서는 다시 OPEN하여 새 활성 집합을 만들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ea typeface="Malgun Gothic"/>
                <a:cs typeface="Malgun Gothic"/>
              </a:rPr>
              <a:t>주의: </a:t>
            </a:r>
            <a:r>
              <a:rPr sz="1250" b="0">
                <a:solidFill>
                  <a:srgbClr val="202830"/>
                </a:solidFill>
                <a:latin typeface="Malgun Gothic"/>
                <a:ea typeface="Malgun Gothic"/>
                <a:cs typeface="Malgun Gothic"/>
              </a:rPr>
              <a:t>커서 선언의 SELECT에 INTO 절을 넣으면 PLS-00103 계열 컴파일 오류가 발생한다.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커서 선언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INTO 절 금지 · 선언부 변수는 OPEN 시점에 바인드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7EC699"/>
                </a:solidFill>
                <a:latin typeface="Consolas"/>
                <a:ea typeface="Consolas"/>
                <a:cs typeface="Consolas"/>
              </a:rPr>
              <a:t>   -- (1) 가장 단순한 형태</a:t>
            </a:r>
          </a:p>
          <a:p>
            <a:pPr>
              <a:lnSpc>
                <a:spcPct val="100000"/>
              </a:lnSpc>
              <a:spcAft>
                <a:spcPts val="0"/>
              </a:spcAft>
            </a:pPr>
            <a:r>
              <a:rPr sz="1250" b="0">
                <a:solidFill>
                  <a:srgbClr val="E6E6E6"/>
                </a:solidFill>
                <a:latin typeface="Consolas"/>
                <a:ea typeface="Consolas"/>
                <a:cs typeface="Consolas"/>
              </a:rPr>
              <a:t>   CURSOR c_emp_cursor IS</a:t>
            </a:r>
          </a:p>
          <a:p>
            <a:pPr>
              <a:lnSpc>
                <a:spcPct val="100000"/>
              </a:lnSpc>
              <a:spcAft>
                <a:spcPts val="0"/>
              </a:spcAft>
            </a:pPr>
            <a:r>
              <a:rPr sz="1250" b="0">
                <a:solidFill>
                  <a:srgbClr val="E6E6E6"/>
                </a:solidFill>
                <a:latin typeface="Consolas"/>
                <a:ea typeface="Consolas"/>
                <a:cs typeface="Consolas"/>
              </a:rPr>
              <a:t>      SELECT employee_id, last_name</a:t>
            </a:r>
          </a:p>
          <a:p>
            <a:pPr>
              <a:lnSpc>
                <a:spcPct val="100000"/>
              </a:lnSpc>
              <a:spcAft>
                <a:spcPts val="0"/>
              </a:spcAft>
            </a:pPr>
            <a:r>
              <a:rPr sz="1250" b="0">
                <a:solidFill>
                  <a:srgbClr val="E6E6E6"/>
                </a:solidFill>
                <a:latin typeface="Consolas"/>
                <a:ea typeface="Consolas"/>
                <a:cs typeface="Consolas"/>
              </a:rPr>
              <a:t>        FROM employees</a:t>
            </a:r>
          </a:p>
          <a:p>
            <a:pPr>
              <a:lnSpc>
                <a:spcPct val="100000"/>
              </a:lnSpc>
              <a:spcAft>
                <a:spcPts val="0"/>
              </a:spcAft>
            </a:pPr>
            <a:r>
              <a:rPr sz="1250" b="0">
                <a:solidFill>
                  <a:srgbClr val="E6E6E6"/>
                </a:solidFill>
                <a:latin typeface="Consolas"/>
                <a:ea typeface="Consolas"/>
                <a:cs typeface="Consolas"/>
              </a:rPr>
              <a:t>       WHERE department_id = 30</a:t>
            </a:r>
          </a:p>
          <a:p>
            <a:pPr>
              <a:lnSpc>
                <a:spcPct val="100000"/>
              </a:lnSpc>
              <a:spcAft>
                <a:spcPts val="0"/>
              </a:spcAft>
            </a:pPr>
            <a:r>
              <a:rPr sz="1250" b="0">
                <a:solidFill>
                  <a:srgbClr val="E6E6E6"/>
                </a:solidFill>
                <a:latin typeface="Consolas"/>
                <a:ea typeface="Consolas"/>
                <a:cs typeface="Consolas"/>
              </a:rPr>
              <a:t>       ORDER BY employee_id;</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 (2) 선언부 변수를 조건에 사용 (바인드 변수처럼 동작)</a:t>
            </a:r>
          </a:p>
          <a:p>
            <a:pPr>
              <a:lnSpc>
                <a:spcPct val="100000"/>
              </a:lnSpc>
              <a:spcAft>
                <a:spcPts val="0"/>
              </a:spcAft>
            </a:pPr>
            <a:r>
              <a:rPr sz="1250" b="0">
                <a:solidFill>
                  <a:srgbClr val="E6E6E6"/>
                </a:solidFill>
                <a:latin typeface="Consolas"/>
                <a:ea typeface="Consolas"/>
                <a:cs typeface="Consolas"/>
              </a:rPr>
              <a:t>   v_locid   NUMBER := 1700;</a:t>
            </a:r>
          </a:p>
          <a:p>
            <a:pPr>
              <a:lnSpc>
                <a:spcPct val="100000"/>
              </a:lnSpc>
              <a:spcAft>
                <a:spcPts val="0"/>
              </a:spcAft>
            </a:pPr>
            <a:r>
              <a:rPr sz="1250" b="0">
                <a:solidFill>
                  <a:srgbClr val="E6E6E6"/>
                </a:solidFill>
                <a:latin typeface="Consolas"/>
                <a:ea typeface="Consolas"/>
                <a:cs typeface="Consolas"/>
              </a:rPr>
              <a:t>   CURSOR c_dept_cursor IS</a:t>
            </a:r>
          </a:p>
          <a:p>
            <a:pPr>
              <a:lnSpc>
                <a:spcPct val="100000"/>
              </a:lnSpc>
              <a:spcAft>
                <a:spcPts val="0"/>
              </a:spcAft>
            </a:pPr>
            <a:r>
              <a:rPr sz="1250" b="0">
                <a:solidFill>
                  <a:srgbClr val="E6E6E6"/>
                </a:solidFill>
                <a:latin typeface="Consolas"/>
                <a:ea typeface="Consolas"/>
                <a:cs typeface="Consolas"/>
              </a:rPr>
              <a:t>      SELECT department_id, department_name</a:t>
            </a:r>
          </a:p>
          <a:p>
            <a:pPr>
              <a:lnSpc>
                <a:spcPct val="100000"/>
              </a:lnSpc>
              <a:spcAft>
                <a:spcPts val="0"/>
              </a:spcAft>
            </a:pPr>
            <a:r>
              <a:rPr sz="1250" b="0">
                <a:solidFill>
                  <a:srgbClr val="E6E6E6"/>
                </a:solidFill>
                <a:latin typeface="Consolas"/>
                <a:ea typeface="Consolas"/>
                <a:cs typeface="Consolas"/>
              </a:rPr>
              <a:t>        FROM departments</a:t>
            </a:r>
          </a:p>
          <a:p>
            <a:pPr>
              <a:lnSpc>
                <a:spcPct val="100000"/>
              </a:lnSpc>
              <a:spcAft>
                <a:spcPts val="0"/>
              </a:spcAft>
            </a:pPr>
            <a:r>
              <a:rPr sz="1250" b="0">
                <a:solidFill>
                  <a:srgbClr val="E6E6E6"/>
                </a:solidFill>
                <a:latin typeface="Consolas"/>
                <a:ea typeface="Consolas"/>
                <a:cs typeface="Consolas"/>
              </a:rPr>
              <a:t>       WHERE location_id = v_locid;</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NULL;</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FETCH와 CLOSE</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FETCH 커서명 INTO 변수목록;</a:t>
            </a:r>
          </a:p>
          <a:p>
            <a:pPr>
              <a:spcAft>
                <a:spcPts val="300"/>
              </a:spcAft>
            </a:pPr>
            <a:r>
              <a:rPr sz="1600" b="0">
                <a:solidFill>
                  <a:srgbClr val="5A6672"/>
                </a:solidFill>
                <a:latin typeface="Malgun Gothic"/>
                <a:ea typeface="Malgun Gothic"/>
                <a:cs typeface="Malgun Gothic"/>
              </a:rPr>
              <a:t>    –  SELECT 목록의 컬럼 개수와 같은 수를, 위치 순서대로, 호환 타입으로</a:t>
            </a:r>
          </a:p>
          <a:p>
            <a:pPr>
              <a:spcAft>
                <a:spcPts val="300"/>
              </a:spcAft>
            </a:pPr>
            <a:r>
              <a:rPr sz="1600" b="0">
                <a:solidFill>
                  <a:srgbClr val="5A6672"/>
                </a:solidFill>
                <a:latin typeface="Malgun Gothic"/>
                <a:ea typeface="Malgun Gothic"/>
                <a:cs typeface="Malgun Gothic"/>
              </a:rPr>
              <a:t>    –  개수가 다르면 PLS-00394(wrong number of values) 컴파일 오류</a:t>
            </a:r>
          </a:p>
          <a:p>
            <a:pPr>
              <a:spcAft>
                <a:spcPts val="500"/>
              </a:spcAft>
            </a:pPr>
            <a:r>
              <a:rPr sz="1800" b="0">
                <a:solidFill>
                  <a:srgbClr val="202830"/>
                </a:solidFill>
                <a:latin typeface="Malgun Gothic"/>
                <a:ea typeface="Malgun Gothic"/>
                <a:cs typeface="Malgun Gothic"/>
              </a:rPr>
              <a:t>•  마지막 행 다음의 FETCH는 실패하지만 오류는 나지 않는다</a:t>
            </a:r>
          </a:p>
          <a:p>
            <a:pPr>
              <a:spcAft>
                <a:spcPts val="300"/>
              </a:spcAft>
            </a:pPr>
            <a:r>
              <a:rPr sz="1600" b="0">
                <a:solidFill>
                  <a:srgbClr val="5A6672"/>
                </a:solidFill>
                <a:latin typeface="Malgun Gothic"/>
                <a:ea typeface="Malgun Gothic"/>
                <a:cs typeface="Malgun Gothic"/>
              </a:rPr>
              <a:t>    –  변수 값은 직전 그대로 남고 %NOTFOUND가 TRUE로 바뀔 뿐이다</a:t>
            </a:r>
          </a:p>
          <a:p>
            <a:pPr>
              <a:spcAft>
                <a:spcPts val="300"/>
              </a:spcAft>
            </a:pPr>
            <a:r>
              <a:rPr sz="1600" b="0">
                <a:solidFill>
                  <a:srgbClr val="5A6672"/>
                </a:solidFill>
                <a:latin typeface="Malgun Gothic"/>
                <a:ea typeface="Malgun Gothic"/>
                <a:cs typeface="Malgun Gothic"/>
              </a:rPr>
              <a:t>    –  → EXIT WHEN 커서%NOTFOUND 는 반드시 FETCH 바로 다음 줄에</a:t>
            </a:r>
          </a:p>
          <a:p>
            <a:pPr>
              <a:spcAft>
                <a:spcPts val="500"/>
              </a:spcAft>
            </a:pPr>
            <a:r>
              <a:rPr sz="1800" b="0">
                <a:solidFill>
                  <a:srgbClr val="202830"/>
                </a:solidFill>
                <a:latin typeface="Malgun Gothic"/>
                <a:ea typeface="Malgun Gothic"/>
                <a:cs typeface="Malgun Gothic"/>
              </a:rPr>
              <a:t>•  CLOSE 커서명; — 컨텍스트 영역 해제, 활성 집합 무효화</a:t>
            </a:r>
          </a:p>
          <a:p>
            <a:pPr>
              <a:spcAft>
                <a:spcPts val="300"/>
              </a:spcAft>
            </a:pPr>
            <a:r>
              <a:rPr sz="1600" b="0">
                <a:solidFill>
                  <a:srgbClr val="5A6672"/>
                </a:solidFill>
                <a:latin typeface="Malgun Gothic"/>
                <a:ea typeface="Malgun Gothic"/>
                <a:cs typeface="Malgun Gothic"/>
              </a:rPr>
              <a:t>    –  이미 열린 커서를 다시 OPEN → ORA-06511 (CURSOR_ALREADY_OPEN)</a:t>
            </a:r>
          </a:p>
          <a:p>
            <a:pPr>
              <a:spcAft>
                <a:spcPts val="300"/>
              </a:spcAft>
            </a:pPr>
            <a:r>
              <a:rPr sz="1600" b="0">
                <a:solidFill>
                  <a:srgbClr val="5A6672"/>
                </a:solidFill>
                <a:latin typeface="Malgun Gothic"/>
                <a:ea typeface="Malgun Gothic"/>
                <a:cs typeface="Malgun Gothic"/>
              </a:rPr>
              <a:t>    –  닫힌 커서에 FETCH·CLOSE → ORA-01001 (INVALID_CURSOR)</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ea typeface="Malgun Gothic"/>
                <a:cs typeface="Malgun Gothic"/>
              </a:rPr>
              <a:t>주의: </a:t>
            </a:r>
            <a:r>
              <a:rPr sz="1250" b="0">
                <a:solidFill>
                  <a:srgbClr val="202830"/>
                </a:solidFill>
                <a:latin typeface="Malgun Gothic"/>
                <a:ea typeface="Malgun Gothic"/>
                <a:cs typeface="Malgun Gothic"/>
              </a:rPr>
              <a:t>FETCH 다음 줄에 EXIT WHEN을 두지 않으면 마지막 행이 두 번 처리되는 논리 오류가 생긴다.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명시적 커서 전체 흐름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OPEN → LOOP FETCH → EXIT WHEN → CLOSE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c_emp_cursor IS</a:t>
            </a:r>
          </a:p>
          <a:p>
            <a:pPr>
              <a:lnSpc>
                <a:spcPct val="100000"/>
              </a:lnSpc>
              <a:spcAft>
                <a:spcPts val="0"/>
              </a:spcAft>
            </a:pPr>
            <a:r>
              <a:rPr sz="1250" b="0">
                <a:solidFill>
                  <a:srgbClr val="E6E6E6"/>
                </a:solidFill>
                <a:latin typeface="Consolas"/>
                <a:ea typeface="Consolas"/>
                <a:cs typeface="Consolas"/>
              </a:rPr>
              <a:t>      SELECT employee_id, last_name</a:t>
            </a:r>
          </a:p>
          <a:p>
            <a:pPr>
              <a:lnSpc>
                <a:spcPct val="100000"/>
              </a:lnSpc>
              <a:spcAft>
                <a:spcPts val="0"/>
              </a:spcAft>
            </a:pPr>
            <a:r>
              <a:rPr sz="1250" b="0">
                <a:solidFill>
                  <a:srgbClr val="E6E6E6"/>
                </a:solidFill>
                <a:latin typeface="Consolas"/>
                <a:ea typeface="Consolas"/>
                <a:cs typeface="Consolas"/>
              </a:rPr>
              <a:t>        FROM employees</a:t>
            </a:r>
          </a:p>
          <a:p>
            <a:pPr>
              <a:lnSpc>
                <a:spcPct val="100000"/>
              </a:lnSpc>
              <a:spcAft>
                <a:spcPts val="0"/>
              </a:spcAft>
            </a:pPr>
            <a:r>
              <a:rPr sz="1250" b="0">
                <a:solidFill>
                  <a:srgbClr val="E6E6E6"/>
                </a:solidFill>
                <a:latin typeface="Consolas"/>
                <a:ea typeface="Consolas"/>
                <a:cs typeface="Consolas"/>
              </a:rPr>
              <a:t>       WHERE department_id = 30</a:t>
            </a:r>
          </a:p>
          <a:p>
            <a:pPr>
              <a:lnSpc>
                <a:spcPct val="100000"/>
              </a:lnSpc>
              <a:spcAft>
                <a:spcPts val="0"/>
              </a:spcAft>
            </a:pPr>
            <a:r>
              <a:rPr sz="1250" b="0">
                <a:solidFill>
                  <a:srgbClr val="E6E6E6"/>
                </a:solidFill>
                <a:latin typeface="Consolas"/>
                <a:ea typeface="Consolas"/>
                <a:cs typeface="Consolas"/>
              </a:rPr>
              <a:t>       ORDER BY employee_id;</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v_empno   employees.employee_id%TYPE;</a:t>
            </a:r>
          </a:p>
          <a:p>
            <a:pPr>
              <a:lnSpc>
                <a:spcPct val="100000"/>
              </a:lnSpc>
              <a:spcAft>
                <a:spcPts val="0"/>
              </a:spcAft>
            </a:pPr>
            <a:r>
              <a:rPr sz="1250" b="0">
                <a:solidFill>
                  <a:srgbClr val="E6E6E6"/>
                </a:solidFill>
                <a:latin typeface="Consolas"/>
                <a:ea typeface="Consolas"/>
                <a:cs typeface="Consolas"/>
              </a:rPr>
              <a:t>   v_lname   employees.last_name%TYPE;</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OPEN c_emp_cursor;                       -- 1) 활성 집합 확정</a:t>
            </a:r>
          </a:p>
          <a:p>
            <a:pPr>
              <a:lnSpc>
                <a:spcPct val="100000"/>
              </a:lnSpc>
              <a:spcAft>
                <a:spcPts val="0"/>
              </a:spcAft>
            </a:pPr>
            <a:r>
              <a:rPr sz="1250" b="0">
                <a:solidFill>
                  <a:srgbClr val="E6E6E6"/>
                </a:solidFill>
                <a:latin typeface="Consolas"/>
                <a:ea typeface="Consolas"/>
                <a:cs typeface="Consolas"/>
              </a:rPr>
              <a:t>   LOOP</a:t>
            </a:r>
          </a:p>
          <a:p>
            <a:pPr>
              <a:lnSpc>
                <a:spcPct val="100000"/>
              </a:lnSpc>
              <a:spcAft>
                <a:spcPts val="0"/>
              </a:spcAft>
            </a:pPr>
            <a:r>
              <a:rPr sz="1250" b="0">
                <a:solidFill>
                  <a:srgbClr val="E6E6E6"/>
                </a:solidFill>
                <a:latin typeface="Consolas"/>
                <a:ea typeface="Consolas"/>
                <a:cs typeface="Consolas"/>
              </a:rPr>
              <a:t>      FETCH c_emp_cursor INTO v_empno, v_lname;   -- 2) 한 행씩</a:t>
            </a:r>
          </a:p>
          <a:p>
            <a:pPr>
              <a:lnSpc>
                <a:spcPct val="100000"/>
              </a:lnSpc>
              <a:spcAft>
                <a:spcPts val="0"/>
              </a:spcAft>
            </a:pPr>
            <a:r>
              <a:rPr sz="1250" b="0">
                <a:solidFill>
                  <a:srgbClr val="E6E6E6"/>
                </a:solidFill>
                <a:latin typeface="Consolas"/>
                <a:ea typeface="Consolas"/>
                <a:cs typeface="Consolas"/>
              </a:rPr>
              <a:t>      EXIT WHEN c_emp_cursor%NOTFOUND;            -- 3) 즉시 검사</a:t>
            </a:r>
          </a:p>
          <a:p>
            <a:pPr>
              <a:lnSpc>
                <a:spcPct val="100000"/>
              </a:lnSpc>
              <a:spcAft>
                <a:spcPts val="0"/>
              </a:spcAft>
            </a:pPr>
            <a:r>
              <a:rPr sz="1250" b="0">
                <a:solidFill>
                  <a:srgbClr val="E6E6E6"/>
                </a:solidFill>
                <a:latin typeface="Consolas"/>
                <a:ea typeface="Consolas"/>
                <a:cs typeface="Consolas"/>
              </a:rPr>
              <a:t>      DBMS_OUTPUT.PUT_LINE(v_empno || '  ' || v_lname);</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CLOSE c_emp_cursor;                      -- 4) 자원 해제</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cs typeface="Malgun Gothic"/>
              </a:rPr>
              <a:t>2.10~2.12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cs typeface="Malgun Gothic"/>
              </a:rPr>
              <a:t>레코드 · 커서 FOR LOOP · 커서 속성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cs typeface="Malgun Gothic"/>
              </a:rPr>
              <a:t>•  커서%ROWTYPE 레코드로 FETCH하기</a:t>
            </a:r>
          </a:p>
          <a:p>
            <a:pPr>
              <a:spcAft>
                <a:spcPts val="600"/>
              </a:spcAft>
            </a:pPr>
            <a:r>
              <a:rPr sz="1600" b="0">
                <a:solidFill>
                  <a:srgbClr val="C5CED6"/>
                </a:solidFill>
                <a:latin typeface="Malgun Gothic"/>
                <a:ea typeface="Malgun Gothic"/>
                <a:cs typeface="Malgun Gothic"/>
              </a:rPr>
              <a:t>•  OPEN·FETCH·EXIT·CLOSE를 자동화하는 커서 FOR LOOP</a:t>
            </a:r>
          </a:p>
          <a:p>
            <a:pPr>
              <a:spcAft>
                <a:spcPts val="600"/>
              </a:spcAft>
            </a:pPr>
            <a:r>
              <a:rPr sz="1600" b="0">
                <a:solidFill>
                  <a:srgbClr val="C5CED6"/>
                </a:solidFill>
                <a:latin typeface="Malgun Gothic"/>
                <a:ea typeface="Malgun Gothic"/>
                <a:cs typeface="Malgun Gothic"/>
              </a:rPr>
              <a:t>•  %FOUND · %NOTFOUND · %ROWCOUNT · %ISOPEN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커서와 레코드 (%ROWTYPE)</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FETCH INTO에 변수를 하나씩 나열하는 방식의 문제</a:t>
            </a:r>
          </a:p>
          <a:p>
            <a:pPr>
              <a:spcAft>
                <a:spcPts val="300"/>
              </a:spcAft>
            </a:pPr>
            <a:r>
              <a:rPr sz="1600" b="0">
                <a:solidFill>
                  <a:srgbClr val="5A6672"/>
                </a:solidFill>
                <a:latin typeface="Malgun Gothic"/>
                <a:ea typeface="Malgun Gothic"/>
                <a:cs typeface="Malgun Gothic"/>
              </a:rPr>
              <a:t>    –  컬럼이 늘거나 순서가 바뀔 때마다 코드를 고쳐야 한다</a:t>
            </a:r>
          </a:p>
          <a:p>
            <a:pPr>
              <a:spcAft>
                <a:spcPts val="500"/>
              </a:spcAft>
            </a:pPr>
            <a:r>
              <a:rPr sz="1800" b="0">
                <a:solidFill>
                  <a:srgbClr val="202830"/>
                </a:solidFill>
                <a:latin typeface="Malgun Gothic"/>
                <a:ea typeface="Malgun Gothic"/>
                <a:cs typeface="Malgun Gothic"/>
              </a:rPr>
              <a:t>•  커서명%ROWTYPE — 커서의 SELECT 목록과 똑같은 구조의 레코드 타입</a:t>
            </a:r>
          </a:p>
          <a:p>
            <a:pPr>
              <a:spcAft>
                <a:spcPts val="300"/>
              </a:spcAft>
            </a:pPr>
            <a:r>
              <a:rPr sz="1600" b="0">
                <a:solidFill>
                  <a:srgbClr val="5A6672"/>
                </a:solidFill>
                <a:latin typeface="Malgun Gothic"/>
                <a:ea typeface="Malgun Gothic"/>
                <a:cs typeface="Malgun Gothic"/>
              </a:rPr>
              <a:t>    –  FETCH INTO에 레코드 변수 하나만 적으면 된다</a:t>
            </a:r>
          </a:p>
          <a:p>
            <a:pPr>
              <a:spcAft>
                <a:spcPts val="300"/>
              </a:spcAft>
            </a:pPr>
            <a:r>
              <a:rPr sz="1600" b="0">
                <a:solidFill>
                  <a:srgbClr val="5A6672"/>
                </a:solidFill>
                <a:latin typeface="Malgun Gothic"/>
                <a:ea typeface="Malgun Gothic"/>
                <a:cs typeface="Malgun Gothic"/>
              </a:rPr>
              <a:t>    –  각 필드는 컬럼 별칭(없으면 컬럼 이름)으로 접근한다</a:t>
            </a:r>
          </a:p>
          <a:p>
            <a:pPr>
              <a:spcAft>
                <a:spcPts val="500"/>
              </a:spcAft>
            </a:pPr>
            <a:r>
              <a:rPr sz="1800" b="0">
                <a:solidFill>
                  <a:srgbClr val="202830"/>
                </a:solidFill>
                <a:latin typeface="Malgun Gothic"/>
                <a:ea typeface="Malgun Gothic"/>
                <a:cs typeface="Malgun Gothic"/>
              </a:rPr>
              <a:t>•  계산식·함수 결과에는 반드시 컬럼 별칭을 붙인다</a:t>
            </a:r>
          </a:p>
          <a:p>
            <a:pPr>
              <a:spcAft>
                <a:spcPts val="300"/>
              </a:spcAft>
            </a:pPr>
            <a:r>
              <a:rPr sz="1600" b="0">
                <a:solidFill>
                  <a:srgbClr val="5A6672"/>
                </a:solidFill>
                <a:latin typeface="Malgun Gothic"/>
                <a:ea typeface="Malgun Gothic"/>
                <a:cs typeface="Malgun Gothic"/>
              </a:rPr>
              <a:t>    –  SELECT salary * 12 → 필드 이름을 정할 수 없어 컴파일 오류</a:t>
            </a:r>
          </a:p>
          <a:p>
            <a:pPr>
              <a:spcAft>
                <a:spcPts val="300"/>
              </a:spcAft>
            </a:pPr>
            <a:r>
              <a:rPr sz="1600" b="0">
                <a:solidFill>
                  <a:srgbClr val="5A6672"/>
                </a:solidFill>
                <a:latin typeface="Malgun Gothic"/>
                <a:ea typeface="Malgun Gothic"/>
                <a:cs typeface="Malgun Gothic"/>
              </a:rPr>
              <a:t>    –  SELECT salary * 12 AS annual_salary → v_rec.annual_salary 로 접근</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ea typeface="Malgun Gothic"/>
                <a:cs typeface="Malgun Gothic"/>
              </a:rPr>
              <a:t>Best Practice: </a:t>
            </a:r>
            <a:r>
              <a:rPr sz="1250" b="0">
                <a:solidFill>
                  <a:srgbClr val="202830"/>
                </a:solidFill>
                <a:latin typeface="Malgun Gothic"/>
                <a:ea typeface="Malgun Gothic"/>
                <a:cs typeface="Malgun Gothic"/>
              </a:rPr>
              <a:t>FETCH 대상은 개별 변수 대신 커서%ROWTYPE 레코드로 받는다. 컬럼 변화에 강한 코드가 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%ROWTYPE 레코드 FETCH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레코드 하나로 세 컬럼을 받는다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c_emp_cursor IS</a:t>
            </a:r>
          </a:p>
          <a:p>
            <a:pPr>
              <a:lnSpc>
                <a:spcPct val="100000"/>
              </a:lnSpc>
              <a:spcAft>
                <a:spcPts val="0"/>
              </a:spcAft>
            </a:pPr>
            <a:r>
              <a:rPr sz="1250" b="0">
                <a:solidFill>
                  <a:srgbClr val="E6E6E6"/>
                </a:solidFill>
                <a:latin typeface="Consolas"/>
                <a:ea typeface="Consolas"/>
                <a:cs typeface="Consolas"/>
              </a:rPr>
              <a:t>      SELECT employee_id, last_name, salary</a:t>
            </a:r>
          </a:p>
          <a:p>
            <a:pPr>
              <a:lnSpc>
                <a:spcPct val="100000"/>
              </a:lnSpc>
              <a:spcAft>
                <a:spcPts val="0"/>
              </a:spcAft>
            </a:pPr>
            <a:r>
              <a:rPr sz="1250" b="0">
                <a:solidFill>
                  <a:srgbClr val="E6E6E6"/>
                </a:solidFill>
                <a:latin typeface="Consolas"/>
                <a:ea typeface="Consolas"/>
                <a:cs typeface="Consolas"/>
              </a:rPr>
              <a:t>        FROM employees</a:t>
            </a:r>
          </a:p>
          <a:p>
            <a:pPr>
              <a:lnSpc>
                <a:spcPct val="100000"/>
              </a:lnSpc>
              <a:spcAft>
                <a:spcPts val="0"/>
              </a:spcAft>
            </a:pPr>
            <a:r>
              <a:rPr sz="1250" b="0">
                <a:solidFill>
                  <a:srgbClr val="E6E6E6"/>
                </a:solidFill>
                <a:latin typeface="Consolas"/>
                <a:ea typeface="Consolas"/>
                <a:cs typeface="Consolas"/>
              </a:rPr>
              <a:t>       WHERE department_id = 30</a:t>
            </a:r>
          </a:p>
          <a:p>
            <a:pPr>
              <a:lnSpc>
                <a:spcPct val="100000"/>
              </a:lnSpc>
              <a:spcAft>
                <a:spcPts val="0"/>
              </a:spcAft>
            </a:pPr>
            <a:r>
              <a:rPr sz="1250" b="0">
                <a:solidFill>
                  <a:srgbClr val="E6E6E6"/>
                </a:solidFill>
                <a:latin typeface="Consolas"/>
                <a:ea typeface="Consolas"/>
                <a:cs typeface="Consolas"/>
              </a:rPr>
              <a:t>       ORDER BY salary DESC;</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 커서의 SELECT 목록과 동일한 구조의 레코드</a:t>
            </a:r>
          </a:p>
          <a:p>
            <a:pPr>
              <a:lnSpc>
                <a:spcPct val="100000"/>
              </a:lnSpc>
              <a:spcAft>
                <a:spcPts val="0"/>
              </a:spcAft>
            </a:pPr>
            <a:r>
              <a:rPr sz="1250" b="0">
                <a:solidFill>
                  <a:srgbClr val="E6E6E6"/>
                </a:solidFill>
                <a:latin typeface="Consolas"/>
                <a:ea typeface="Consolas"/>
                <a:cs typeface="Consolas"/>
              </a:rPr>
              <a:t>   v_emp_record   c_emp_cursor%ROWTYPE;</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OPEN c_emp_cursor;</a:t>
            </a:r>
          </a:p>
          <a:p>
            <a:pPr>
              <a:lnSpc>
                <a:spcPct val="100000"/>
              </a:lnSpc>
              <a:spcAft>
                <a:spcPts val="0"/>
              </a:spcAft>
            </a:pPr>
            <a:r>
              <a:rPr sz="1250" b="0">
                <a:solidFill>
                  <a:srgbClr val="E6E6E6"/>
                </a:solidFill>
                <a:latin typeface="Consolas"/>
                <a:ea typeface="Consolas"/>
                <a:cs typeface="Consolas"/>
              </a:rPr>
              <a:t>   LOOP</a:t>
            </a:r>
          </a:p>
          <a:p>
            <a:pPr>
              <a:lnSpc>
                <a:spcPct val="100000"/>
              </a:lnSpc>
              <a:spcAft>
                <a:spcPts val="0"/>
              </a:spcAft>
            </a:pPr>
            <a:r>
              <a:rPr sz="1250" b="0">
                <a:solidFill>
                  <a:srgbClr val="E6E6E6"/>
                </a:solidFill>
                <a:latin typeface="Consolas"/>
                <a:ea typeface="Consolas"/>
                <a:cs typeface="Consolas"/>
              </a:rPr>
              <a:t>      FETCH c_emp_cursor INTO v_emp_record;</a:t>
            </a:r>
          </a:p>
          <a:p>
            <a:pPr>
              <a:lnSpc>
                <a:spcPct val="100000"/>
              </a:lnSpc>
              <a:spcAft>
                <a:spcPts val="0"/>
              </a:spcAft>
            </a:pPr>
            <a:r>
              <a:rPr sz="1250" b="0">
                <a:solidFill>
                  <a:srgbClr val="E6E6E6"/>
                </a:solidFill>
                <a:latin typeface="Consolas"/>
                <a:ea typeface="Consolas"/>
                <a:cs typeface="Consolas"/>
              </a:rPr>
              <a:t>      EXIT WHEN c_emp_cursor%NOTFOUND;</a:t>
            </a:r>
          </a:p>
          <a:p>
            <a:pPr>
              <a:lnSpc>
                <a:spcPct val="100000"/>
              </a:lnSpc>
              <a:spcAft>
                <a:spcPts val="0"/>
              </a:spcAft>
            </a:pPr>
            <a:r>
              <a:rPr sz="1250" b="0">
                <a:solidFill>
                  <a:srgbClr val="E6E6E6"/>
                </a:solidFill>
                <a:latin typeface="Consolas"/>
                <a:ea typeface="Consolas"/>
                <a:cs typeface="Consolas"/>
              </a:rPr>
              <a:t>      DBMS_OUTPUT.PUT_LINE(</a:t>
            </a:r>
          </a:p>
          <a:p>
            <a:pPr>
              <a:lnSpc>
                <a:spcPct val="100000"/>
              </a:lnSpc>
              <a:spcAft>
                <a:spcPts val="0"/>
              </a:spcAft>
            </a:pPr>
            <a:r>
              <a:rPr sz="1250" b="0">
                <a:solidFill>
                  <a:srgbClr val="E6E6E6"/>
                </a:solidFill>
                <a:latin typeface="Consolas"/>
                <a:ea typeface="Consolas"/>
                <a:cs typeface="Consolas"/>
              </a:rPr>
              <a:t>         RPAD(v_emp_record.last_name, 15) || ' : ' ||</a:t>
            </a:r>
          </a:p>
          <a:p>
            <a:pPr>
              <a:lnSpc>
                <a:spcPct val="100000"/>
              </a:lnSpc>
              <a:spcAft>
                <a:spcPts val="0"/>
              </a:spcAft>
            </a:pPr>
            <a:r>
              <a:rPr sz="1250" b="0">
                <a:solidFill>
                  <a:srgbClr val="E6E6E6"/>
                </a:solidFill>
                <a:latin typeface="Consolas"/>
                <a:ea typeface="Consolas"/>
                <a:cs typeface="Consolas"/>
              </a:rPr>
              <a:t>         TO_CHAR(v_emp_record.salary, '999,999'));</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CLOSE c_emp_cursor;</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커서 FOR LOOP</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명시적 커서를 다루는 가장 간결한 방법</a:t>
            </a:r>
          </a:p>
          <a:p>
            <a:pPr>
              <a:spcAft>
                <a:spcPts val="300"/>
              </a:spcAft>
            </a:pPr>
            <a:r>
              <a:rPr sz="1600" b="0">
                <a:solidFill>
                  <a:srgbClr val="5A6672"/>
                </a:solidFill>
                <a:latin typeface="Malgun Gothic"/>
                <a:ea typeface="Malgun Gothic"/>
                <a:cs typeface="Malgun Gothic"/>
              </a:rPr>
              <a:t>    –  OPEN · FETCH · EXIT · CLOSE 네 가지가 모두 자동으로 처리된다</a:t>
            </a:r>
          </a:p>
          <a:p>
            <a:pPr>
              <a:spcAft>
                <a:spcPts val="300"/>
              </a:spcAft>
            </a:pPr>
            <a:r>
              <a:rPr sz="1600" b="0">
                <a:solidFill>
                  <a:srgbClr val="5A6672"/>
                </a:solidFill>
                <a:latin typeface="Malgun Gothic"/>
                <a:ea typeface="Malgun Gothic"/>
                <a:cs typeface="Malgun Gothic"/>
              </a:rPr>
              <a:t>    –  행을 담을 레코드도 암시적으로 선언된다 (선언하면 안 된다)</a:t>
            </a:r>
          </a:p>
          <a:p>
            <a:pPr>
              <a:spcAft>
                <a:spcPts val="500"/>
              </a:spcAft>
            </a:pPr>
            <a:r>
              <a:rPr sz="1800" b="0">
                <a:solidFill>
                  <a:srgbClr val="202830"/>
                </a:solidFill>
                <a:latin typeface="Malgun Gothic"/>
                <a:ea typeface="Malgun Gothic"/>
                <a:cs typeface="Malgun Gothic"/>
              </a:rPr>
              <a:t>•  문법: FOR record_name IN cursor_name LOOP … END LOOP;</a:t>
            </a:r>
          </a:p>
          <a:p>
            <a:pPr>
              <a:spcAft>
                <a:spcPts val="500"/>
              </a:spcAft>
            </a:pPr>
            <a:r>
              <a:rPr sz="1800" b="0">
                <a:solidFill>
                  <a:srgbClr val="202830"/>
                </a:solidFill>
                <a:latin typeface="Malgun Gothic"/>
                <a:ea typeface="Malgun Gothic"/>
                <a:cs typeface="Malgun Gothic"/>
              </a:rPr>
              <a:t>•  커서를 닫는 것을 잊어 생기는 사고를 원천적으로 막아 준다</a:t>
            </a:r>
          </a:p>
          <a:p>
            <a:pPr>
              <a:spcAft>
                <a:spcPts val="500"/>
              </a:spcAft>
            </a:pPr>
            <a:r>
              <a:rPr sz="1800" b="0">
                <a:solidFill>
                  <a:srgbClr val="202830"/>
                </a:solidFill>
                <a:latin typeface="Malgun Gothic"/>
                <a:ea typeface="Malgun Gothic"/>
                <a:cs typeface="Malgun Gothic"/>
              </a:rPr>
              <a:t>•  암시적 레코드는 루프 안에서만 유효하다</a:t>
            </a:r>
          </a:p>
          <a:p>
            <a:pPr>
              <a:spcAft>
                <a:spcPts val="300"/>
              </a:spcAft>
            </a:pPr>
            <a:r>
              <a:rPr sz="1600" b="0">
                <a:solidFill>
                  <a:srgbClr val="5A6672"/>
                </a:solidFill>
                <a:latin typeface="Malgun Gothic"/>
                <a:ea typeface="Malgun Gothic"/>
                <a:cs typeface="Malgun Gothic"/>
              </a:rPr>
              <a:t>    –  END LOOP 다음에서 참조하면 PLS-00201 오류</a:t>
            </a:r>
          </a:p>
          <a:p>
            <a:pPr>
              <a:spcAft>
                <a:spcPts val="500"/>
              </a:spcAft>
            </a:pPr>
            <a:r>
              <a:rPr sz="1800" b="0">
                <a:solidFill>
                  <a:srgbClr val="202830"/>
                </a:solidFill>
                <a:latin typeface="Malgun Gothic"/>
                <a:ea typeface="Malgun Gothic"/>
                <a:cs typeface="Malgun Gothic"/>
              </a:rPr>
              <a:t>•  루프 안에서 EXIT·EXIT WHEN으로 조기 종료해도 커서는 정상적으로 닫힌다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ea typeface="Malgun Gothic"/>
                <a:cs typeface="Malgun Gothic"/>
              </a:rPr>
              <a:t>Best Practice: </a:t>
            </a:r>
            <a:r>
              <a:rPr sz="1250" b="0">
                <a:solidFill>
                  <a:srgbClr val="202830"/>
                </a:solidFill>
                <a:latin typeface="Malgun Gothic"/>
                <a:ea typeface="Malgun Gothic"/>
                <a:cs typeface="Malgun Gothic"/>
              </a:rPr>
              <a:t>활성 집합 전체를 순회하는 단순 처리라면 커서 FOR LOOP를 기본 선택으로 삼는다.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커서 FOR LOOP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OPEN·FETCH·CLOSE 문장이 하나도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c_emp_cursor IS</a:t>
            </a:r>
          </a:p>
          <a:p>
            <a:pPr>
              <a:lnSpc>
                <a:spcPct val="100000"/>
              </a:lnSpc>
              <a:spcAft>
                <a:spcPts val="0"/>
              </a:spcAft>
            </a:pPr>
            <a:r>
              <a:rPr sz="1250" b="0">
                <a:solidFill>
                  <a:srgbClr val="E6E6E6"/>
                </a:solidFill>
                <a:latin typeface="Consolas"/>
                <a:ea typeface="Consolas"/>
                <a:cs typeface="Consolas"/>
              </a:rPr>
              <a:t>      SELECT employee_id, last_name, salary</a:t>
            </a:r>
          </a:p>
          <a:p>
            <a:pPr>
              <a:lnSpc>
                <a:spcPct val="100000"/>
              </a:lnSpc>
              <a:spcAft>
                <a:spcPts val="0"/>
              </a:spcAft>
            </a:pPr>
            <a:r>
              <a:rPr sz="1250" b="0">
                <a:solidFill>
                  <a:srgbClr val="E6E6E6"/>
                </a:solidFill>
                <a:latin typeface="Consolas"/>
                <a:ea typeface="Consolas"/>
                <a:cs typeface="Consolas"/>
              </a:rPr>
              <a:t>        FROM employees</a:t>
            </a:r>
          </a:p>
          <a:p>
            <a:pPr>
              <a:lnSpc>
                <a:spcPct val="100000"/>
              </a:lnSpc>
              <a:spcAft>
                <a:spcPts val="0"/>
              </a:spcAft>
            </a:pPr>
            <a:r>
              <a:rPr sz="1250" b="0">
                <a:solidFill>
                  <a:srgbClr val="E6E6E6"/>
                </a:solidFill>
                <a:latin typeface="Consolas"/>
                <a:ea typeface="Consolas"/>
                <a:cs typeface="Consolas"/>
              </a:rPr>
              <a:t>       WHERE department_id = 30</a:t>
            </a:r>
          </a:p>
          <a:p>
            <a:pPr>
              <a:lnSpc>
                <a:spcPct val="100000"/>
              </a:lnSpc>
              <a:spcAft>
                <a:spcPts val="0"/>
              </a:spcAft>
            </a:pPr>
            <a:r>
              <a:rPr sz="1250" b="0">
                <a:solidFill>
                  <a:srgbClr val="E6E6E6"/>
                </a:solidFill>
                <a:latin typeface="Consolas"/>
                <a:ea typeface="Consolas"/>
                <a:cs typeface="Consolas"/>
              </a:rPr>
              <a:t>       ORDER BY employee_id;</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7EC699"/>
                </a:solidFill>
                <a:latin typeface="Consolas"/>
                <a:ea typeface="Consolas"/>
                <a:cs typeface="Consolas"/>
              </a:rPr>
              <a:t>   -- emp_record는 선언하지 않는다. 암시적으로 만들어진다.</a:t>
            </a:r>
          </a:p>
          <a:p>
            <a:pPr>
              <a:lnSpc>
                <a:spcPct val="100000"/>
              </a:lnSpc>
              <a:spcAft>
                <a:spcPts val="0"/>
              </a:spcAft>
            </a:pPr>
            <a:r>
              <a:rPr sz="1250" b="0">
                <a:solidFill>
                  <a:srgbClr val="E6E6E6"/>
                </a:solidFill>
                <a:latin typeface="Consolas"/>
                <a:ea typeface="Consolas"/>
                <a:cs typeface="Consolas"/>
              </a:rPr>
              <a:t>   FOR emp_record IN c_emp_cursor LOOP</a:t>
            </a:r>
          </a:p>
          <a:p>
            <a:pPr>
              <a:lnSpc>
                <a:spcPct val="100000"/>
              </a:lnSpc>
              <a:spcAft>
                <a:spcPts val="0"/>
              </a:spcAft>
            </a:pPr>
            <a:r>
              <a:rPr sz="1250" b="0">
                <a:solidFill>
                  <a:srgbClr val="E6E6E6"/>
                </a:solidFill>
                <a:latin typeface="Consolas"/>
                <a:ea typeface="Consolas"/>
                <a:cs typeface="Consolas"/>
              </a:rPr>
              <a:t>      DBMS_OUTPUT.PUT_LINE(emp_record.employee_id || ' ' ||</a:t>
            </a:r>
          </a:p>
          <a:p>
            <a:pPr>
              <a:lnSpc>
                <a:spcPct val="100000"/>
              </a:lnSpc>
              <a:spcAft>
                <a:spcPts val="0"/>
              </a:spcAft>
            </a:pPr>
            <a:r>
              <a:rPr sz="1250" b="0">
                <a:solidFill>
                  <a:srgbClr val="E6E6E6"/>
                </a:solidFill>
                <a:latin typeface="Consolas"/>
                <a:ea typeface="Consolas"/>
                <a:cs typeface="Consolas"/>
              </a:rPr>
              <a:t>                           emp_record.last_name  || ' ' ||</a:t>
            </a:r>
          </a:p>
          <a:p>
            <a:pPr>
              <a:lnSpc>
                <a:spcPct val="100000"/>
              </a:lnSpc>
              <a:spcAft>
                <a:spcPts val="0"/>
              </a:spcAft>
            </a:pPr>
            <a:r>
              <a:rPr sz="1250" b="0">
                <a:solidFill>
                  <a:srgbClr val="E6E6E6"/>
                </a:solidFill>
                <a:latin typeface="Consolas"/>
                <a:ea typeface="Consolas"/>
                <a:cs typeface="Consolas"/>
              </a:rPr>
              <a:t>                           emp_record.salary);</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7EC699"/>
                </a:solidFill>
                <a:latin typeface="Consolas"/>
                <a:ea typeface="Consolas"/>
                <a:cs typeface="Consolas"/>
              </a:rPr>
              <a:t>   -- OPEN·FETCH·CLOSE 문장이 하나도 없다</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서브쿼리를 사용한 커서 FOR LOOP</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커서 선언 없이 SELECT를 직접 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FOR emp_record IN (SELECT employee_id, last_name</a:t>
            </a:r>
          </a:p>
          <a:p>
            <a:pPr>
              <a:lnSpc>
                <a:spcPct val="100000"/>
              </a:lnSpc>
              <a:spcAft>
                <a:spcPts val="0"/>
              </a:spcAft>
            </a:pPr>
            <a:r>
              <a:rPr sz="1250" b="0">
                <a:solidFill>
                  <a:srgbClr val="E6E6E6"/>
                </a:solidFill>
                <a:latin typeface="Consolas"/>
                <a:ea typeface="Consolas"/>
                <a:cs typeface="Consolas"/>
              </a:rPr>
              <a:t>                        FROM employees</a:t>
            </a:r>
          </a:p>
          <a:p>
            <a:pPr>
              <a:lnSpc>
                <a:spcPct val="100000"/>
              </a:lnSpc>
              <a:spcAft>
                <a:spcPts val="0"/>
              </a:spcAft>
            </a:pPr>
            <a:r>
              <a:rPr sz="1250" b="0">
                <a:solidFill>
                  <a:srgbClr val="E6E6E6"/>
                </a:solidFill>
                <a:latin typeface="Consolas"/>
                <a:ea typeface="Consolas"/>
                <a:cs typeface="Consolas"/>
              </a:rPr>
              <a:t>                       WHERE department_id = 30</a:t>
            </a:r>
          </a:p>
          <a:p>
            <a:pPr>
              <a:lnSpc>
                <a:spcPct val="100000"/>
              </a:lnSpc>
              <a:spcAft>
                <a:spcPts val="0"/>
              </a:spcAft>
            </a:pPr>
            <a:r>
              <a:rPr sz="1250" b="0">
                <a:solidFill>
                  <a:srgbClr val="E6E6E6"/>
                </a:solidFill>
                <a:latin typeface="Consolas"/>
                <a:ea typeface="Consolas"/>
                <a:cs typeface="Consolas"/>
              </a:rPr>
              <a:t>                       ORDER BY employee_id)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DBMS_OUTPUT.PUT_LINE(emp_record.employee_id || ' ' ||</a:t>
            </a:r>
          </a:p>
          <a:p>
            <a:pPr>
              <a:lnSpc>
                <a:spcPct val="100000"/>
              </a:lnSpc>
              <a:spcAft>
                <a:spcPts val="0"/>
              </a:spcAft>
            </a:pPr>
            <a:r>
              <a:rPr sz="1250" b="0">
                <a:solidFill>
                  <a:srgbClr val="E6E6E6"/>
                </a:solidFill>
                <a:latin typeface="Consolas"/>
                <a:ea typeface="Consolas"/>
                <a:cs typeface="Consolas"/>
              </a:rPr>
              <a:t>                           emp_record.last_name);</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장점 : 선언부 자체가 필요 없어 코드가 매우 짧다</a:t>
            </a:r>
          </a:p>
          <a:p>
            <a:pPr>
              <a:lnSpc>
                <a:spcPct val="100000"/>
              </a:lnSpc>
              <a:spcAft>
                <a:spcPts val="0"/>
              </a:spcAft>
            </a:pPr>
            <a:r>
              <a:rPr sz="1250" b="0">
                <a:solidFill>
                  <a:srgbClr val="7EC699"/>
                </a:solidFill>
                <a:latin typeface="Consolas"/>
                <a:ea typeface="Consolas"/>
                <a:cs typeface="Consolas"/>
              </a:rPr>
              <a:t>-- 제약 : 커서 이름이 없어 %ROWCOUNT 등 속성을 참조할 수 없다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명시적 커서 속성</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커서명%속성 형태로 참조한다 — PL/SQL 문장 안에서만 사용 가능</a:t>
            </a:r>
          </a:p>
          <a:p>
            <a:pPr>
              <a:spcAft>
                <a:spcPts val="500"/>
              </a:spcAft>
            </a:pPr>
            <a:r>
              <a:rPr sz="1800" b="0">
                <a:solidFill>
                  <a:srgbClr val="202830"/>
                </a:solidFill>
                <a:latin typeface="Malgun Gothic"/>
                <a:ea typeface="Malgun Gothic"/>
                <a:cs typeface="Malgun Gothic"/>
              </a:rPr>
              <a:t>•  %FOUND (BOOLEAN) : 가장 최근 FETCH가 행을 가져왔으면 TRUE</a:t>
            </a:r>
          </a:p>
          <a:p>
            <a:pPr>
              <a:spcAft>
                <a:spcPts val="500"/>
              </a:spcAft>
            </a:pPr>
            <a:r>
              <a:rPr sz="1800" b="0">
                <a:solidFill>
                  <a:srgbClr val="202830"/>
                </a:solidFill>
                <a:latin typeface="Malgun Gothic"/>
                <a:ea typeface="Malgun Gothic"/>
                <a:cs typeface="Malgun Gothic"/>
              </a:rPr>
              <a:t>•  %NOTFOUND (BOOLEAN) : 가장 최근 FETCH가 행을 못 가져왔으면 TRUE</a:t>
            </a:r>
          </a:p>
          <a:p>
            <a:pPr>
              <a:spcAft>
                <a:spcPts val="300"/>
              </a:spcAft>
            </a:pPr>
            <a:r>
              <a:rPr sz="1600" b="0">
                <a:solidFill>
                  <a:srgbClr val="5A6672"/>
                </a:solidFill>
                <a:latin typeface="Malgun Gothic"/>
                <a:ea typeface="Malgun Gothic"/>
                <a:cs typeface="Malgun Gothic"/>
              </a:rPr>
              <a:t>    –  루프 종료 조건으로 가장 많이 사용된다</a:t>
            </a:r>
          </a:p>
          <a:p>
            <a:pPr>
              <a:spcAft>
                <a:spcPts val="500"/>
              </a:spcAft>
            </a:pPr>
            <a:r>
              <a:rPr sz="1800" b="0">
                <a:solidFill>
                  <a:srgbClr val="202830"/>
                </a:solidFill>
                <a:latin typeface="Malgun Gothic"/>
                <a:ea typeface="Malgun Gothic"/>
                <a:cs typeface="Malgun Gothic"/>
              </a:rPr>
              <a:t>•  %ROWCOUNT (NUMBER) : 지금까지 FETCH한 행의 누적 개수</a:t>
            </a:r>
          </a:p>
          <a:p>
            <a:pPr>
              <a:spcAft>
                <a:spcPts val="300"/>
              </a:spcAft>
            </a:pPr>
            <a:r>
              <a:rPr sz="1600" b="0">
                <a:solidFill>
                  <a:srgbClr val="5A6672"/>
                </a:solidFill>
                <a:latin typeface="Malgun Gothic"/>
                <a:ea typeface="Malgun Gothic"/>
                <a:cs typeface="Malgun Gothic"/>
              </a:rPr>
              <a:t>    –  OPEN 직후에는 0, FETCH가 성공할 때마다 1씩 증가</a:t>
            </a:r>
          </a:p>
          <a:p>
            <a:pPr>
              <a:spcAft>
                <a:spcPts val="300"/>
              </a:spcAft>
            </a:pPr>
            <a:r>
              <a:rPr sz="1600" b="0">
                <a:solidFill>
                  <a:srgbClr val="5A6672"/>
                </a:solidFill>
                <a:latin typeface="Malgun Gothic"/>
                <a:ea typeface="Malgun Gothic"/>
                <a:cs typeface="Malgun Gothic"/>
              </a:rPr>
              <a:t>    –  EXIT WHEN 커서%ROWCOUNT &gt; N 으로 정확히 N건만 처리 가능</a:t>
            </a:r>
          </a:p>
          <a:p>
            <a:pPr>
              <a:spcAft>
                <a:spcPts val="500"/>
              </a:spcAft>
            </a:pPr>
            <a:r>
              <a:rPr sz="1800" b="0">
                <a:solidFill>
                  <a:srgbClr val="202830"/>
                </a:solidFill>
                <a:latin typeface="Malgun Gothic"/>
                <a:ea typeface="Malgun Gothic"/>
                <a:cs typeface="Malgun Gothic"/>
              </a:rPr>
              <a:t>•  %ISOPEN (BOOLEAN) : 커서가 열려 있으면 TRUE</a:t>
            </a:r>
          </a:p>
          <a:p>
            <a:pPr>
              <a:spcAft>
                <a:spcPts val="300"/>
              </a:spcAft>
            </a:pPr>
            <a:r>
              <a:rPr sz="1600" b="0">
                <a:solidFill>
                  <a:srgbClr val="5A6672"/>
                </a:solidFill>
                <a:latin typeface="Malgun Gothic"/>
                <a:ea typeface="Malgun Gothic"/>
                <a:cs typeface="Malgun Gothic"/>
              </a:rPr>
              <a:t>    –  OPEN 전과 CLOSE 후에는 FALSE — 재OPEN 방어 코드에 사용</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ea typeface="Malgun Gothic"/>
                <a:cs typeface="Malgun Gothic"/>
              </a:rPr>
              <a:t>주의: </a:t>
            </a:r>
            <a:r>
              <a:rPr sz="1250" b="0">
                <a:solidFill>
                  <a:srgbClr val="202830"/>
                </a:solidFill>
                <a:latin typeface="Malgun Gothic"/>
                <a:ea typeface="Malgun Gothic"/>
                <a:cs typeface="Malgun Gothic"/>
              </a:rPr>
              <a:t>모든 커서 속성은 OPEN부터 CLOSE 직전까지만 유효하다. CLOSE 후 참조하면 ORA-01001이 발생한다.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커서 속성 활용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%ISOPEN 방어 · %ROWCOUNT로 상위 5건만 처리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c_emp_cursor IS</a:t>
            </a:r>
          </a:p>
          <a:p>
            <a:pPr>
              <a:lnSpc>
                <a:spcPct val="100000"/>
              </a:lnSpc>
              <a:spcAft>
                <a:spcPts val="0"/>
              </a:spcAft>
            </a:pPr>
            <a:r>
              <a:rPr sz="1250" b="0">
                <a:solidFill>
                  <a:srgbClr val="E6E6E6"/>
                </a:solidFill>
                <a:latin typeface="Consolas"/>
                <a:ea typeface="Consolas"/>
                <a:cs typeface="Consolas"/>
              </a:rPr>
              <a:t>      SELECT employee_id, last_name, salary</a:t>
            </a:r>
          </a:p>
          <a:p>
            <a:pPr>
              <a:lnSpc>
                <a:spcPct val="100000"/>
              </a:lnSpc>
              <a:spcAft>
                <a:spcPts val="0"/>
              </a:spcAft>
            </a:pPr>
            <a:r>
              <a:rPr sz="1250" b="0">
                <a:solidFill>
                  <a:srgbClr val="E6E6E6"/>
                </a:solidFill>
                <a:latin typeface="Consolas"/>
                <a:ea typeface="Consolas"/>
                <a:cs typeface="Consolas"/>
              </a:rPr>
              <a:t>        FROM employees ORDER BY salary DESC;</a:t>
            </a:r>
          </a:p>
          <a:p>
            <a:pPr>
              <a:lnSpc>
                <a:spcPct val="100000"/>
              </a:lnSpc>
              <a:spcAft>
                <a:spcPts val="0"/>
              </a:spcAft>
            </a:pPr>
            <a:r>
              <a:rPr sz="1250" b="0">
                <a:solidFill>
                  <a:srgbClr val="E6E6E6"/>
                </a:solidFill>
                <a:latin typeface="Consolas"/>
                <a:ea typeface="Consolas"/>
                <a:cs typeface="Consolas"/>
              </a:rPr>
              <a:t>   v_rec   c_emp_cursor%ROWTYPE;</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IF NOT c_emp_cursor%ISOPEN THEN      -- 열려 있지 않을 때만 연다</a:t>
            </a:r>
          </a:p>
          <a:p>
            <a:pPr>
              <a:lnSpc>
                <a:spcPct val="100000"/>
              </a:lnSpc>
              <a:spcAft>
                <a:spcPts val="0"/>
              </a:spcAft>
            </a:pPr>
            <a:r>
              <a:rPr sz="1250" b="0">
                <a:solidFill>
                  <a:srgbClr val="E6E6E6"/>
                </a:solidFill>
                <a:latin typeface="Consolas"/>
                <a:ea typeface="Consolas"/>
                <a:cs typeface="Consolas"/>
              </a:rPr>
              <a:t>      OPEN c_emp_cursor;</a:t>
            </a:r>
          </a:p>
          <a:p>
            <a:pPr>
              <a:lnSpc>
                <a:spcPct val="100000"/>
              </a:lnSpc>
              <a:spcAft>
                <a:spcPts val="0"/>
              </a:spcAft>
            </a:pPr>
            <a:r>
              <a:rPr sz="1250" b="0">
                <a:solidFill>
                  <a:srgbClr val="E6E6E6"/>
                </a:solidFill>
                <a:latin typeface="Consolas"/>
                <a:ea typeface="Consolas"/>
                <a:cs typeface="Consolas"/>
              </a:rPr>
              <a:t>   END IF;</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LOOP</a:t>
            </a:r>
          </a:p>
          <a:p>
            <a:pPr>
              <a:lnSpc>
                <a:spcPct val="100000"/>
              </a:lnSpc>
              <a:spcAft>
                <a:spcPts val="0"/>
              </a:spcAft>
            </a:pPr>
            <a:r>
              <a:rPr sz="1250" b="0">
                <a:solidFill>
                  <a:srgbClr val="E6E6E6"/>
                </a:solidFill>
                <a:latin typeface="Consolas"/>
                <a:ea typeface="Consolas"/>
                <a:cs typeface="Consolas"/>
              </a:rPr>
              <a:t>      FETCH c_emp_cursor INTO v_rec;</a:t>
            </a:r>
          </a:p>
          <a:p>
            <a:pPr>
              <a:lnSpc>
                <a:spcPct val="100000"/>
              </a:lnSpc>
              <a:spcAft>
                <a:spcPts val="0"/>
              </a:spcAft>
            </a:pPr>
            <a:r>
              <a:rPr sz="1250" b="0">
                <a:solidFill>
                  <a:srgbClr val="E6E6E6"/>
                </a:solidFill>
                <a:latin typeface="Consolas"/>
                <a:ea typeface="Consolas"/>
                <a:cs typeface="Consolas"/>
              </a:rPr>
              <a:t>      EXIT WHEN c_emp_cursor%NOTFOUND OR c_emp_cursor%ROWCOUNT &gt; 5;</a:t>
            </a:r>
          </a:p>
          <a:p>
            <a:pPr>
              <a:lnSpc>
                <a:spcPct val="100000"/>
              </a:lnSpc>
              <a:spcAft>
                <a:spcPts val="0"/>
              </a:spcAft>
            </a:pPr>
            <a:r>
              <a:rPr sz="1250" b="0">
                <a:solidFill>
                  <a:srgbClr val="E6E6E6"/>
                </a:solidFill>
                <a:latin typeface="Consolas"/>
                <a:ea typeface="Consolas"/>
                <a:cs typeface="Consolas"/>
              </a:rPr>
              <a:t>      DBMS_OUTPUT.PUT_LINE(c_emp_cursor%ROWCOUNT || '위 : ' ||</a:t>
            </a:r>
          </a:p>
          <a:p>
            <a:pPr>
              <a:lnSpc>
                <a:spcPct val="100000"/>
              </a:lnSpc>
              <a:spcAft>
                <a:spcPts val="0"/>
              </a:spcAft>
            </a:pPr>
            <a:r>
              <a:rPr sz="1250" b="0">
                <a:solidFill>
                  <a:srgbClr val="E6E6E6"/>
                </a:solidFill>
                <a:latin typeface="Consolas"/>
                <a:ea typeface="Consolas"/>
                <a:cs typeface="Consolas"/>
              </a:rPr>
              <a:t>                           v_rec.last_name || ' (' || v_rec.salary || ')');</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DBMS_OUTPUT.PUT_LINE('처리 행 수 = ' || c_emp_cursor%ROWCOUNT);</a:t>
            </a:r>
          </a:p>
          <a:p>
            <a:pPr>
              <a:lnSpc>
                <a:spcPct val="100000"/>
              </a:lnSpc>
              <a:spcAft>
                <a:spcPts val="0"/>
              </a:spcAft>
            </a:pPr>
            <a:r>
              <a:rPr sz="1250" b="0">
                <a:solidFill>
                  <a:srgbClr val="E6E6E6"/>
                </a:solidFill>
                <a:latin typeface="Consolas"/>
                <a:ea typeface="Consolas"/>
                <a:cs typeface="Consolas"/>
              </a:rPr>
              <a:t>   CLOSE c_emp_cursor;</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cs typeface="Malgun Gothic"/>
              </a:rPr>
              <a:t>2.13~2.15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cs typeface="Malgun Gothic"/>
              </a:rPr>
              <a:t>파라미터 커서 · FOR UPDATE · 중첩 커서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cs typeface="Malgun Gothic"/>
              </a:rPr>
              <a:t>•  조건을 바꿔 가며 재사용하는 파라미터 커서</a:t>
            </a:r>
          </a:p>
          <a:p>
            <a:pPr>
              <a:spcAft>
                <a:spcPts val="600"/>
              </a:spcAft>
            </a:pPr>
            <a:r>
              <a:rPr sz="1600" b="0">
                <a:solidFill>
                  <a:srgbClr val="C5CED6"/>
                </a:solidFill>
                <a:latin typeface="Malgun Gothic"/>
                <a:ea typeface="Malgun Gothic"/>
                <a:cs typeface="Malgun Gothic"/>
              </a:rPr>
              <a:t>•  FOR UPDATE와 WHERE CURRENT OF로 안전하게 갱신</a:t>
            </a:r>
          </a:p>
          <a:p>
            <a:pPr>
              <a:spcAft>
                <a:spcPts val="600"/>
              </a:spcAft>
            </a:pPr>
            <a:r>
              <a:rPr sz="1600" b="0">
                <a:solidFill>
                  <a:srgbClr val="C5CED6"/>
                </a:solidFill>
                <a:latin typeface="Malgun Gothic"/>
                <a:ea typeface="Malgun Gothic"/>
                <a:cs typeface="Malgun Gothic"/>
              </a:rPr>
              <a:t>•  마스터-디테일 처리와 N+1 문제</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파라미터 커서</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하나의 커서를 조건만 바꿔 가며 여러 번 사용하고 싶을 때</a:t>
            </a:r>
          </a:p>
          <a:p>
            <a:pPr>
              <a:spcAft>
                <a:spcPts val="500"/>
              </a:spcAft>
            </a:pPr>
            <a:r>
              <a:rPr sz="1800" b="0">
                <a:solidFill>
                  <a:srgbClr val="202830"/>
                </a:solidFill>
                <a:latin typeface="Malgun Gothic"/>
                <a:ea typeface="Malgun Gothic"/>
                <a:cs typeface="Malgun Gothic"/>
              </a:rPr>
              <a:t>•  문법: CURSOR 커서명 (파라미터명 데이터타입 [:= 기본값], …) IS SELECT …</a:t>
            </a:r>
          </a:p>
          <a:p>
            <a:pPr>
              <a:spcAft>
                <a:spcPts val="500"/>
              </a:spcAft>
            </a:pPr>
            <a:r>
              <a:rPr sz="1800" b="0">
                <a:solidFill>
                  <a:srgbClr val="202830"/>
                </a:solidFill>
                <a:latin typeface="Malgun Gothic"/>
                <a:ea typeface="Malgun Gothic"/>
                <a:cs typeface="Malgun Gothic"/>
              </a:rPr>
              <a:t>•  OPEN 커서명(실제값); 또는 FOR rec IN 커서명(실제값) LOOP</a:t>
            </a:r>
          </a:p>
          <a:p>
            <a:pPr>
              <a:spcAft>
                <a:spcPts val="500"/>
              </a:spcAft>
            </a:pPr>
            <a:r>
              <a:rPr sz="1800" b="0">
                <a:solidFill>
                  <a:srgbClr val="202830"/>
                </a:solidFill>
                <a:latin typeface="Malgun Gothic"/>
                <a:ea typeface="Malgun Gothic"/>
                <a:cs typeface="Malgun Gothic"/>
              </a:rPr>
              <a:t>•  파라미터에는 크기를 지정할 수 없다</a:t>
            </a:r>
          </a:p>
          <a:p>
            <a:pPr>
              <a:spcAft>
                <a:spcPts val="300"/>
              </a:spcAft>
            </a:pPr>
            <a:r>
              <a:rPr sz="1600" b="0">
                <a:solidFill>
                  <a:srgbClr val="5A6672"/>
                </a:solidFill>
                <a:latin typeface="Malgun Gothic"/>
                <a:ea typeface="Malgun Gothic"/>
                <a:cs typeface="Malgun Gothic"/>
              </a:rPr>
              <a:t>    –  VARCHAR2(20)이 아니라 VARCHAR2, NUMBER(6)이 아니라 NUMBER</a:t>
            </a:r>
          </a:p>
          <a:p>
            <a:pPr>
              <a:spcAft>
                <a:spcPts val="300"/>
              </a:spcAft>
            </a:pPr>
            <a:r>
              <a:rPr sz="1600" b="0">
                <a:solidFill>
                  <a:srgbClr val="5A6672"/>
                </a:solidFill>
                <a:latin typeface="Malgun Gothic"/>
                <a:ea typeface="Malgun Gothic"/>
                <a:cs typeface="Malgun Gothic"/>
              </a:rPr>
              <a:t>    –  크기를 적으면 PLS-00491 계열 컴파일 오류</a:t>
            </a:r>
          </a:p>
          <a:p>
            <a:pPr>
              <a:spcAft>
                <a:spcPts val="500"/>
              </a:spcAft>
            </a:pPr>
            <a:r>
              <a:rPr sz="1800" b="0">
                <a:solidFill>
                  <a:srgbClr val="202830"/>
                </a:solidFill>
                <a:latin typeface="Malgun Gothic"/>
                <a:ea typeface="Malgun Gothic"/>
                <a:cs typeface="Malgun Gothic"/>
              </a:rPr>
              <a:t>•  모드는 언제나 IN — OUT이나 IN OUT은 쓸 수 없다</a:t>
            </a:r>
          </a:p>
          <a:p>
            <a:pPr>
              <a:spcAft>
                <a:spcPts val="500"/>
              </a:spcAft>
            </a:pPr>
            <a:r>
              <a:rPr sz="1800" b="0">
                <a:solidFill>
                  <a:srgbClr val="202830"/>
                </a:solidFill>
                <a:latin typeface="Malgun Gothic"/>
                <a:ea typeface="Malgun Gothic"/>
                <a:cs typeface="Malgun Gothic"/>
              </a:rPr>
              <a:t>•  기본값을 지정하면 OPEN 시점에 값을 생략할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ea typeface="Malgun Gothic"/>
                <a:cs typeface="Malgun Gothic"/>
              </a:rPr>
              <a:t>참고: </a:t>
            </a:r>
            <a:r>
              <a:rPr sz="1250" b="0">
                <a:solidFill>
                  <a:srgbClr val="202830"/>
                </a:solidFill>
                <a:latin typeface="Malgun Gothic"/>
                <a:ea typeface="Malgun Gothic"/>
                <a:cs typeface="Malgun Gothic"/>
              </a:rPr>
              <a:t>파라미터에는 크기를 지정할 수 없다. 크기는 실제 전달되는 값에 따라 정해진다.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파라미터 커서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같은 커서를 두 부서에 재사용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c_emp_by_dept (p_dept_id NUMBER, p_min_sal NUMBER := 0) IS</a:t>
            </a:r>
          </a:p>
          <a:p>
            <a:pPr>
              <a:lnSpc>
                <a:spcPct val="100000"/>
              </a:lnSpc>
              <a:spcAft>
                <a:spcPts val="0"/>
              </a:spcAft>
            </a:pPr>
            <a:r>
              <a:rPr sz="1250" b="0">
                <a:solidFill>
                  <a:srgbClr val="E6E6E6"/>
                </a:solidFill>
                <a:latin typeface="Consolas"/>
                <a:ea typeface="Consolas"/>
                <a:cs typeface="Consolas"/>
              </a:rPr>
              <a:t>      SELECT employee_id, last_name, salary</a:t>
            </a:r>
          </a:p>
          <a:p>
            <a:pPr>
              <a:lnSpc>
                <a:spcPct val="100000"/>
              </a:lnSpc>
              <a:spcAft>
                <a:spcPts val="0"/>
              </a:spcAft>
            </a:pPr>
            <a:r>
              <a:rPr sz="1250" b="0">
                <a:solidFill>
                  <a:srgbClr val="E6E6E6"/>
                </a:solidFill>
                <a:latin typeface="Consolas"/>
                <a:ea typeface="Consolas"/>
                <a:cs typeface="Consolas"/>
              </a:rPr>
              <a:t>        FROM employees</a:t>
            </a:r>
          </a:p>
          <a:p>
            <a:pPr>
              <a:lnSpc>
                <a:spcPct val="100000"/>
              </a:lnSpc>
              <a:spcAft>
                <a:spcPts val="0"/>
              </a:spcAft>
            </a:pPr>
            <a:r>
              <a:rPr sz="1250" b="0">
                <a:solidFill>
                  <a:srgbClr val="E6E6E6"/>
                </a:solidFill>
                <a:latin typeface="Consolas"/>
                <a:ea typeface="Consolas"/>
                <a:cs typeface="Consolas"/>
              </a:rPr>
              <a:t>       WHERE department_id = p_dept_id</a:t>
            </a:r>
          </a:p>
          <a:p>
            <a:pPr>
              <a:lnSpc>
                <a:spcPct val="100000"/>
              </a:lnSpc>
              <a:spcAft>
                <a:spcPts val="0"/>
              </a:spcAft>
            </a:pPr>
            <a:r>
              <a:rPr sz="1250" b="0">
                <a:solidFill>
                  <a:srgbClr val="E6E6E6"/>
                </a:solidFill>
                <a:latin typeface="Consolas"/>
                <a:ea typeface="Consolas"/>
                <a:cs typeface="Consolas"/>
              </a:rPr>
              <a:t>         AND salary &gt;= p_min_sal</a:t>
            </a:r>
          </a:p>
          <a:p>
            <a:pPr>
              <a:lnSpc>
                <a:spcPct val="100000"/>
              </a:lnSpc>
              <a:spcAft>
                <a:spcPts val="0"/>
              </a:spcAft>
            </a:pPr>
            <a:r>
              <a:rPr sz="1250" b="0">
                <a:solidFill>
                  <a:srgbClr val="E6E6E6"/>
                </a:solidFill>
                <a:latin typeface="Consolas"/>
                <a:ea typeface="Consolas"/>
                <a:cs typeface="Consolas"/>
              </a:rPr>
              <a:t>       ORDER BY salary DESC;</a:t>
            </a:r>
          </a:p>
          <a:p>
            <a:pPr>
              <a:lnSpc>
                <a:spcPct val="100000"/>
              </a:lnSpc>
              <a:spcAft>
                <a:spcPts val="0"/>
              </a:spcAft>
            </a:pPr>
            <a:r>
              <a:rPr sz="1250" b="0">
                <a:solidFill>
                  <a:srgbClr val="E6E6E6"/>
                </a:solidFill>
                <a:latin typeface="Consolas"/>
                <a:ea typeface="Consolas"/>
                <a:cs typeface="Consolas"/>
              </a:rPr>
              <a:t>   v_rec   c_emp_by_dept%ROWTYPE;</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FOR i IN 1..2 LOOP</a:t>
            </a:r>
          </a:p>
          <a:p>
            <a:pPr>
              <a:lnSpc>
                <a:spcPct val="100000"/>
              </a:lnSpc>
              <a:spcAft>
                <a:spcPts val="0"/>
              </a:spcAft>
            </a:pPr>
            <a:r>
              <a:rPr sz="1250" b="0">
                <a:solidFill>
                  <a:srgbClr val="E6E6E6"/>
                </a:solidFill>
                <a:latin typeface="Consolas"/>
                <a:ea typeface="Consolas"/>
                <a:cs typeface="Consolas"/>
              </a:rPr>
              <a:t>      OPEN c_emp_by_dept(CASE i WHEN 1 THEN 60 ELSE 90 END, 5000);</a:t>
            </a:r>
          </a:p>
          <a:p>
            <a:pPr>
              <a:lnSpc>
                <a:spcPct val="100000"/>
              </a:lnSpc>
              <a:spcAft>
                <a:spcPts val="0"/>
              </a:spcAft>
            </a:pPr>
            <a:r>
              <a:rPr sz="1250" b="0">
                <a:solidFill>
                  <a:srgbClr val="E6E6E6"/>
                </a:solidFill>
                <a:latin typeface="Consolas"/>
                <a:ea typeface="Consolas"/>
                <a:cs typeface="Consolas"/>
              </a:rPr>
              <a:t>      DBMS_OUTPUT.PUT_LINE('--- 조회 ' || i || ' ---');</a:t>
            </a:r>
          </a:p>
          <a:p>
            <a:pPr>
              <a:lnSpc>
                <a:spcPct val="100000"/>
              </a:lnSpc>
              <a:spcAft>
                <a:spcPts val="0"/>
              </a:spcAft>
            </a:pPr>
            <a:r>
              <a:rPr sz="1250" b="0">
                <a:solidFill>
                  <a:srgbClr val="E6E6E6"/>
                </a:solidFill>
                <a:latin typeface="Consolas"/>
                <a:ea typeface="Consolas"/>
                <a:cs typeface="Consolas"/>
              </a:rPr>
              <a:t>      LOOP</a:t>
            </a:r>
          </a:p>
          <a:p>
            <a:pPr>
              <a:lnSpc>
                <a:spcPct val="100000"/>
              </a:lnSpc>
              <a:spcAft>
                <a:spcPts val="0"/>
              </a:spcAft>
            </a:pPr>
            <a:r>
              <a:rPr sz="1250" b="0">
                <a:solidFill>
                  <a:srgbClr val="E6E6E6"/>
                </a:solidFill>
                <a:latin typeface="Consolas"/>
                <a:ea typeface="Consolas"/>
                <a:cs typeface="Consolas"/>
              </a:rPr>
              <a:t>         FETCH c_emp_by_dept INTO v_rec;</a:t>
            </a:r>
          </a:p>
          <a:p>
            <a:pPr>
              <a:lnSpc>
                <a:spcPct val="100000"/>
              </a:lnSpc>
              <a:spcAft>
                <a:spcPts val="0"/>
              </a:spcAft>
            </a:pPr>
            <a:r>
              <a:rPr sz="1250" b="0">
                <a:solidFill>
                  <a:srgbClr val="E6E6E6"/>
                </a:solidFill>
                <a:latin typeface="Consolas"/>
                <a:ea typeface="Consolas"/>
                <a:cs typeface="Consolas"/>
              </a:rPr>
              <a:t>         EXIT WHEN c_emp_by_dept%NOTFOUND;</a:t>
            </a:r>
          </a:p>
          <a:p>
            <a:pPr>
              <a:lnSpc>
                <a:spcPct val="100000"/>
              </a:lnSpc>
              <a:spcAft>
                <a:spcPts val="0"/>
              </a:spcAft>
            </a:pPr>
            <a:r>
              <a:rPr sz="1250" b="0">
                <a:solidFill>
                  <a:srgbClr val="E6E6E6"/>
                </a:solidFill>
                <a:latin typeface="Consolas"/>
                <a:ea typeface="Consolas"/>
                <a:cs typeface="Consolas"/>
              </a:rPr>
              <a:t>         DBMS_OUTPUT.PUT_LINE(v_rec.last_name || ' / ' || v_rec.salary);</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CLOSE c_emp_by_dept;   -- 닫아야 다음 OPEN이 가능하다</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FOR UPDATE와 WHERE CURRENT OF</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커서로 조회한 행을 그대로 갱신할 때의 문제</a:t>
            </a:r>
          </a:p>
          <a:p>
            <a:pPr>
              <a:spcAft>
                <a:spcPts val="300"/>
              </a:spcAft>
            </a:pPr>
            <a:r>
              <a:rPr sz="1600" b="0">
                <a:solidFill>
                  <a:srgbClr val="5A6672"/>
                </a:solidFill>
                <a:latin typeface="Malgun Gothic"/>
                <a:ea typeface="Malgun Gothic"/>
                <a:cs typeface="Malgun Gothic"/>
              </a:rPr>
              <a:t>    –  조회 시점과 갱신 시점 사이에 다른 세션이 같은 행을 바꿀 수 있다</a:t>
            </a:r>
          </a:p>
          <a:p>
            <a:pPr>
              <a:spcAft>
                <a:spcPts val="500"/>
              </a:spcAft>
            </a:pPr>
            <a:r>
              <a:rPr sz="1800" b="0">
                <a:solidFill>
                  <a:srgbClr val="202830"/>
                </a:solidFill>
                <a:latin typeface="Malgun Gothic"/>
                <a:ea typeface="Malgun Gothic"/>
                <a:cs typeface="Malgun Gothic"/>
              </a:rPr>
              <a:t>•  FOR UPDATE [OF 컬럼] [NOWAIT | WAIT n | SKIP LOCKED]</a:t>
            </a:r>
          </a:p>
          <a:p>
            <a:pPr>
              <a:spcAft>
                <a:spcPts val="300"/>
              </a:spcAft>
            </a:pPr>
            <a:r>
              <a:rPr sz="1600" b="0">
                <a:solidFill>
                  <a:srgbClr val="5A6672"/>
                </a:solidFill>
                <a:latin typeface="Malgun Gothic"/>
                <a:ea typeface="Malgun Gothic"/>
                <a:cs typeface="Malgun Gothic"/>
              </a:rPr>
              <a:t>    –  OPEN 시점에 활성 집합의 모든 행에 배타적 행 잠금을 건다</a:t>
            </a:r>
          </a:p>
          <a:p>
            <a:pPr>
              <a:spcAft>
                <a:spcPts val="300"/>
              </a:spcAft>
            </a:pPr>
            <a:r>
              <a:rPr sz="1600" b="0">
                <a:solidFill>
                  <a:srgbClr val="5A6672"/>
                </a:solidFill>
                <a:latin typeface="Malgun Gothic"/>
                <a:ea typeface="Malgun Gothic"/>
                <a:cs typeface="Malgun Gothic"/>
              </a:rPr>
              <a:t>    –  COMMIT 또는 ROLLBACK될 때까지 잠금이 유지된다</a:t>
            </a:r>
          </a:p>
          <a:p>
            <a:pPr>
              <a:spcAft>
                <a:spcPts val="300"/>
              </a:spcAft>
            </a:pPr>
            <a:r>
              <a:rPr sz="1600" b="0">
                <a:solidFill>
                  <a:srgbClr val="5A6672"/>
                </a:solidFill>
                <a:latin typeface="Malgun Gothic"/>
                <a:ea typeface="Malgun Gothic"/>
                <a:cs typeface="Malgun Gothic"/>
              </a:rPr>
              <a:t>    –  NOWAIT: 즉시 ORA-00054 / WAIT n: n초 대기 / SKIP LOCKED: 잠긴 행 건너뜀</a:t>
            </a:r>
          </a:p>
          <a:p>
            <a:pPr>
              <a:spcAft>
                <a:spcPts val="500"/>
              </a:spcAft>
            </a:pPr>
            <a:r>
              <a:rPr sz="1800" b="0">
                <a:solidFill>
                  <a:srgbClr val="202830"/>
                </a:solidFill>
                <a:latin typeface="Malgun Gothic"/>
                <a:ea typeface="Malgun Gothic"/>
                <a:cs typeface="Malgun Gothic"/>
              </a:rPr>
              <a:t>•  WHERE CURRENT OF 커서명 — 커서가 현재 가리키는 행만 지정</a:t>
            </a:r>
          </a:p>
          <a:p>
            <a:pPr>
              <a:spcAft>
                <a:spcPts val="300"/>
              </a:spcAft>
            </a:pPr>
            <a:r>
              <a:rPr sz="1600" b="0">
                <a:solidFill>
                  <a:srgbClr val="5A6672"/>
                </a:solidFill>
                <a:latin typeface="Malgun Gothic"/>
                <a:ea typeface="Malgun Gothic"/>
                <a:cs typeface="Malgun Gothic"/>
              </a:rPr>
              <a:t>    –  기본 키 조건을 다시 쓸 필요가 없고 잘못된 행을 갱신할 위험도 없다</a:t>
            </a:r>
          </a:p>
          <a:p>
            <a:pPr>
              <a:spcAft>
                <a:spcPts val="300"/>
              </a:spcAft>
            </a:pPr>
            <a:r>
              <a:rPr sz="1600" b="0">
                <a:solidFill>
                  <a:srgbClr val="5A6672"/>
                </a:solidFill>
                <a:latin typeface="Malgun Gothic"/>
                <a:ea typeface="Malgun Gothic"/>
                <a:cs typeface="Malgun Gothic"/>
              </a:rPr>
              <a:t>    –  FOR UPDATE로 선언된 커서에서만 사용할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ea typeface="Malgun Gothic"/>
                <a:cs typeface="Malgun Gothic"/>
              </a:rPr>
              <a:t>주의: </a:t>
            </a:r>
            <a:r>
              <a:rPr sz="1250" b="0">
                <a:solidFill>
                  <a:srgbClr val="202830"/>
                </a:solidFill>
                <a:latin typeface="Malgun Gothic"/>
                <a:ea typeface="Malgun Gothic"/>
                <a:cs typeface="Malgun Gothic"/>
              </a:rPr>
              <a:t>FOR UPDATE 커서 루프 안에서 COMMIT하면 잠금이 풀려 다음 FETCH에서 ORA-01002가 발생한다.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FOR UPDATE 예제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행 잠금 후 WHERE CURRENT OF로 갱신</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c_low_sal IS</a:t>
            </a:r>
          </a:p>
          <a:p>
            <a:pPr>
              <a:lnSpc>
                <a:spcPct val="100000"/>
              </a:lnSpc>
              <a:spcAft>
                <a:spcPts val="0"/>
              </a:spcAft>
            </a:pPr>
            <a:r>
              <a:rPr sz="1250" b="0">
                <a:solidFill>
                  <a:srgbClr val="E6E6E6"/>
                </a:solidFill>
                <a:latin typeface="Consolas"/>
                <a:ea typeface="Consolas"/>
                <a:cs typeface="Consolas"/>
              </a:rPr>
              <a:t>      SELECT employee_id, last_name, salary</a:t>
            </a:r>
          </a:p>
          <a:p>
            <a:pPr>
              <a:lnSpc>
                <a:spcPct val="100000"/>
              </a:lnSpc>
              <a:spcAft>
                <a:spcPts val="0"/>
              </a:spcAft>
            </a:pPr>
            <a:r>
              <a:rPr sz="1250" b="0">
                <a:solidFill>
                  <a:srgbClr val="E6E6E6"/>
                </a:solidFill>
                <a:latin typeface="Consolas"/>
                <a:ea typeface="Consolas"/>
                <a:cs typeface="Consolas"/>
              </a:rPr>
              <a:t>        FROM employees</a:t>
            </a:r>
          </a:p>
          <a:p>
            <a:pPr>
              <a:lnSpc>
                <a:spcPct val="100000"/>
              </a:lnSpc>
              <a:spcAft>
                <a:spcPts val="0"/>
              </a:spcAft>
            </a:pPr>
            <a:r>
              <a:rPr sz="1250" b="0">
                <a:solidFill>
                  <a:srgbClr val="E6E6E6"/>
                </a:solidFill>
                <a:latin typeface="Consolas"/>
                <a:ea typeface="Consolas"/>
                <a:cs typeface="Consolas"/>
              </a:rPr>
              <a:t>       WHERE department_id = 50 AND salary &lt; 3000</a:t>
            </a:r>
          </a:p>
          <a:p>
            <a:pPr>
              <a:lnSpc>
                <a:spcPct val="100000"/>
              </a:lnSpc>
              <a:spcAft>
                <a:spcPts val="0"/>
              </a:spcAft>
            </a:pPr>
            <a:r>
              <a:rPr sz="1250" b="0">
                <a:solidFill>
                  <a:srgbClr val="E6E6E6"/>
                </a:solidFill>
                <a:latin typeface="Consolas"/>
                <a:ea typeface="Consolas"/>
                <a:cs typeface="Consolas"/>
              </a:rPr>
              <a:t>         FOR UPDATE OF salary NOWAIT;    -- 행 잠금, 대기 안 함</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FOR emp_rec IN c_low_sal LOOP</a:t>
            </a:r>
          </a:p>
          <a:p>
            <a:pPr>
              <a:lnSpc>
                <a:spcPct val="100000"/>
              </a:lnSpc>
              <a:spcAft>
                <a:spcPts val="0"/>
              </a:spcAft>
            </a:pPr>
            <a:r>
              <a:rPr sz="1250" b="0">
                <a:solidFill>
                  <a:srgbClr val="E6E6E6"/>
                </a:solidFill>
                <a:latin typeface="Consolas"/>
                <a:ea typeface="Consolas"/>
                <a:cs typeface="Consolas"/>
              </a:rPr>
              <a:t>      UPDATE employees</a:t>
            </a:r>
          </a:p>
          <a:p>
            <a:pPr>
              <a:lnSpc>
                <a:spcPct val="100000"/>
              </a:lnSpc>
              <a:spcAft>
                <a:spcPts val="0"/>
              </a:spcAft>
            </a:pPr>
            <a:r>
              <a:rPr sz="1250" b="0">
                <a:solidFill>
                  <a:srgbClr val="E6E6E6"/>
                </a:solidFill>
                <a:latin typeface="Consolas"/>
                <a:ea typeface="Consolas"/>
                <a:cs typeface="Consolas"/>
              </a:rPr>
              <a:t>         SET salary = emp_rec.salary * 1.10</a:t>
            </a:r>
          </a:p>
          <a:p>
            <a:pPr>
              <a:lnSpc>
                <a:spcPct val="100000"/>
              </a:lnSpc>
              <a:spcAft>
                <a:spcPts val="0"/>
              </a:spcAft>
            </a:pPr>
            <a:r>
              <a:rPr sz="1250" b="0">
                <a:solidFill>
                  <a:srgbClr val="E6E6E6"/>
                </a:solidFill>
                <a:latin typeface="Consolas"/>
                <a:ea typeface="Consolas"/>
                <a:cs typeface="Consolas"/>
              </a:rPr>
              <a:t>       WHERE CURRENT OF c_low_sal;       -- 현재 행만 갱신</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COMMIT;                                -- 루프 밖에서 한 번만</a:t>
            </a:r>
          </a:p>
          <a:p>
            <a:pPr>
              <a:lnSpc>
                <a:spcPct val="100000"/>
              </a:lnSpc>
              <a:spcAft>
                <a:spcPts val="0"/>
              </a:spcAft>
            </a:pPr>
            <a:r>
              <a:rPr sz="1250" b="0">
                <a:solidFill>
                  <a:srgbClr val="E6E6E6"/>
                </a:solidFill>
                <a:latin typeface="Consolas"/>
                <a:ea typeface="Consolas"/>
                <a:cs typeface="Consolas"/>
              </a:rPr>
              <a:t>EXCEPTION</a:t>
            </a:r>
          </a:p>
          <a:p>
            <a:pPr>
              <a:lnSpc>
                <a:spcPct val="100000"/>
              </a:lnSpc>
              <a:spcAft>
                <a:spcPts val="0"/>
              </a:spcAft>
            </a:pPr>
            <a:r>
              <a:rPr sz="1250" b="0">
                <a:solidFill>
                  <a:srgbClr val="E6E6E6"/>
                </a:solidFill>
                <a:latin typeface="Consolas"/>
                <a:ea typeface="Consolas"/>
                <a:cs typeface="Consolas"/>
              </a:rPr>
              <a:t>   WHEN OTHERS THEN</a:t>
            </a:r>
          </a:p>
          <a:p>
            <a:pPr>
              <a:lnSpc>
                <a:spcPct val="100000"/>
              </a:lnSpc>
              <a:spcAft>
                <a:spcPts val="0"/>
              </a:spcAft>
            </a:pPr>
            <a:r>
              <a:rPr sz="1250" b="0">
                <a:solidFill>
                  <a:srgbClr val="E6E6E6"/>
                </a:solidFill>
                <a:latin typeface="Consolas"/>
                <a:ea typeface="Consolas"/>
                <a:cs typeface="Consolas"/>
              </a:rPr>
              <a:t>      IF SQLCODE = -54 THEN</a:t>
            </a:r>
          </a:p>
          <a:p>
            <a:pPr>
              <a:lnSpc>
                <a:spcPct val="100000"/>
              </a:lnSpc>
              <a:spcAft>
                <a:spcPts val="0"/>
              </a:spcAft>
            </a:pPr>
            <a:r>
              <a:rPr sz="1250" b="0">
                <a:solidFill>
                  <a:srgbClr val="E6E6E6"/>
                </a:solidFill>
                <a:latin typeface="Consolas"/>
                <a:ea typeface="Consolas"/>
                <a:cs typeface="Consolas"/>
              </a:rPr>
              <a:t>         DBMS_OUTPUT.PUT_LINE('다른 세션이 사용 중입니다.');</a:t>
            </a:r>
          </a:p>
          <a:p>
            <a:pPr>
              <a:lnSpc>
                <a:spcPct val="100000"/>
              </a:lnSpc>
              <a:spcAft>
                <a:spcPts val="0"/>
              </a:spcAft>
            </a:pPr>
            <a:r>
              <a:rPr sz="1250" b="0">
                <a:solidFill>
                  <a:srgbClr val="E6E6E6"/>
                </a:solidFill>
                <a:latin typeface="Consolas"/>
                <a:ea typeface="Consolas"/>
                <a:cs typeface="Consolas"/>
              </a:rPr>
              <a:t>         ROLLBACK;</a:t>
            </a:r>
          </a:p>
          <a:p>
            <a:pPr>
              <a:lnSpc>
                <a:spcPct val="100000"/>
              </a:lnSpc>
              <a:spcAft>
                <a:spcPts val="0"/>
              </a:spcAft>
            </a:pPr>
            <a:r>
              <a:rPr sz="1250" b="0">
                <a:solidFill>
                  <a:srgbClr val="E6E6E6"/>
                </a:solidFill>
                <a:latin typeface="Consolas"/>
                <a:ea typeface="Consolas"/>
                <a:cs typeface="Consolas"/>
              </a:rPr>
              <a:t>      ELSE RAISE;</a:t>
            </a:r>
          </a:p>
          <a:p>
            <a:pPr>
              <a:lnSpc>
                <a:spcPct val="100000"/>
              </a:lnSpc>
              <a:spcAft>
                <a:spcPts val="0"/>
              </a:spcAft>
            </a:pPr>
            <a:r>
              <a:rPr sz="1250" b="0">
                <a:solidFill>
                  <a:srgbClr val="E6E6E6"/>
                </a:solidFill>
                <a:latin typeface="Consolas"/>
                <a:ea typeface="Consolas"/>
                <a:cs typeface="Consolas"/>
              </a:rPr>
              <a:t>      END IF;</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중첩 커서 — 마스터-디테일</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부서를 돌면서 각 부서의 사원 출력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c_dept IS</a:t>
            </a:r>
          </a:p>
          <a:p>
            <a:pPr>
              <a:lnSpc>
                <a:spcPct val="100000"/>
              </a:lnSpc>
              <a:spcAft>
                <a:spcPts val="0"/>
              </a:spcAft>
            </a:pPr>
            <a:r>
              <a:rPr sz="1250" b="0">
                <a:solidFill>
                  <a:srgbClr val="E6E6E6"/>
                </a:solidFill>
                <a:latin typeface="Consolas"/>
                <a:ea typeface="Consolas"/>
                <a:cs typeface="Consolas"/>
              </a:rPr>
              <a:t>      SELECT department_id, department_name FROM departments</a:t>
            </a:r>
          </a:p>
          <a:p>
            <a:pPr>
              <a:lnSpc>
                <a:spcPct val="100000"/>
              </a:lnSpc>
              <a:spcAft>
                <a:spcPts val="0"/>
              </a:spcAft>
            </a:pPr>
            <a:r>
              <a:rPr sz="1250" b="0">
                <a:solidFill>
                  <a:srgbClr val="E6E6E6"/>
                </a:solidFill>
                <a:latin typeface="Consolas"/>
                <a:ea typeface="Consolas"/>
                <a:cs typeface="Consolas"/>
              </a:rPr>
              <a:t>       WHERE location_id = 1700 ORDER BY department_id;</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CURSOR c_emp (p_dept_id departments.department_id%TYPE) IS</a:t>
            </a:r>
          </a:p>
          <a:p>
            <a:pPr>
              <a:lnSpc>
                <a:spcPct val="100000"/>
              </a:lnSpc>
              <a:spcAft>
                <a:spcPts val="0"/>
              </a:spcAft>
            </a:pPr>
            <a:r>
              <a:rPr sz="1250" b="0">
                <a:solidFill>
                  <a:srgbClr val="E6E6E6"/>
                </a:solidFill>
                <a:latin typeface="Consolas"/>
                <a:ea typeface="Consolas"/>
                <a:cs typeface="Consolas"/>
              </a:rPr>
              <a:t>      SELECT last_name, job_id, salary FROM employees</a:t>
            </a:r>
          </a:p>
          <a:p>
            <a:pPr>
              <a:lnSpc>
                <a:spcPct val="100000"/>
              </a:lnSpc>
              <a:spcAft>
                <a:spcPts val="0"/>
              </a:spcAft>
            </a:pPr>
            <a:r>
              <a:rPr sz="1250" b="0">
                <a:solidFill>
                  <a:srgbClr val="E6E6E6"/>
                </a:solidFill>
                <a:latin typeface="Consolas"/>
                <a:ea typeface="Consolas"/>
                <a:cs typeface="Consolas"/>
              </a:rPr>
              <a:t>       WHERE department_id = p_dept_id ORDER BY salary DESC;</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v_dept_total   NUMBER;</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FOR dept_rec IN c_dept LOOP</a:t>
            </a:r>
          </a:p>
          <a:p>
            <a:pPr>
              <a:lnSpc>
                <a:spcPct val="100000"/>
              </a:lnSpc>
              <a:spcAft>
                <a:spcPts val="0"/>
              </a:spcAft>
            </a:pPr>
            <a:r>
              <a:rPr sz="1250" b="0">
                <a:solidFill>
                  <a:srgbClr val="E6E6E6"/>
                </a:solidFill>
                <a:latin typeface="Consolas"/>
                <a:ea typeface="Consolas"/>
                <a:cs typeface="Consolas"/>
              </a:rPr>
              <a:t>      DBMS_OUTPUT.PUT_LINE('=== ' || dept_rec.department_name || ' ===');</a:t>
            </a:r>
          </a:p>
          <a:p>
            <a:pPr>
              <a:lnSpc>
                <a:spcPct val="100000"/>
              </a:lnSpc>
              <a:spcAft>
                <a:spcPts val="0"/>
              </a:spcAft>
            </a:pPr>
            <a:r>
              <a:rPr sz="1250" b="0">
                <a:solidFill>
                  <a:srgbClr val="E6E6E6"/>
                </a:solidFill>
                <a:latin typeface="Consolas"/>
                <a:ea typeface="Consolas"/>
                <a:cs typeface="Consolas"/>
              </a:rPr>
              <a:t>      v_dept_total := 0;</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FOR emp_rec IN c_emp(dept_rec.department_id) LOOP</a:t>
            </a:r>
          </a:p>
          <a:p>
            <a:pPr>
              <a:lnSpc>
                <a:spcPct val="100000"/>
              </a:lnSpc>
              <a:spcAft>
                <a:spcPts val="0"/>
              </a:spcAft>
            </a:pPr>
            <a:r>
              <a:rPr sz="1250" b="0">
                <a:solidFill>
                  <a:srgbClr val="E6E6E6"/>
                </a:solidFill>
                <a:latin typeface="Consolas"/>
                <a:ea typeface="Consolas"/>
                <a:cs typeface="Consolas"/>
              </a:rPr>
              <a:t>         DBMS_OUTPUT.PUT_LINE('   ' || RPAD(emp_rec.last_name, 15) ||</a:t>
            </a:r>
          </a:p>
          <a:p>
            <a:pPr>
              <a:lnSpc>
                <a:spcPct val="100000"/>
              </a:lnSpc>
              <a:spcAft>
                <a:spcPts val="0"/>
              </a:spcAft>
            </a:pPr>
            <a:r>
              <a:rPr sz="1250" b="0">
                <a:solidFill>
                  <a:srgbClr val="E6E6E6"/>
                </a:solidFill>
                <a:latin typeface="Consolas"/>
                <a:ea typeface="Consolas"/>
                <a:cs typeface="Consolas"/>
              </a:rPr>
              <a:t>                              emp_rec.salary);</a:t>
            </a:r>
          </a:p>
          <a:p>
            <a:pPr>
              <a:lnSpc>
                <a:spcPct val="100000"/>
              </a:lnSpc>
              <a:spcAft>
                <a:spcPts val="0"/>
              </a:spcAft>
            </a:pPr>
            <a:r>
              <a:rPr sz="1250" b="0">
                <a:solidFill>
                  <a:srgbClr val="E6E6E6"/>
                </a:solidFill>
                <a:latin typeface="Consolas"/>
                <a:ea typeface="Consolas"/>
                <a:cs typeface="Consolas"/>
              </a:rPr>
              <a:t>         v_dept_total := v_dept_total + emp_rec.salary;</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DBMS_OUTPUT.PUT_LINE('   소계 : ' || NVL(v_dept_total, 0));</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중첩 커서를 조인으로 대체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N+1 질의를 질의 1회로 줄인다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7EC699"/>
                </a:solidFill>
                <a:latin typeface="Consolas"/>
                <a:ea typeface="Consolas"/>
                <a:cs typeface="Consolas"/>
              </a:rPr>
              <a:t>-- 중첩 커서: 부서가 N개면 질의가 N+1번 실행된다 (N+1 문제)</a:t>
            </a:r>
          </a:p>
          <a:p>
            <a:pPr>
              <a:lnSpc>
                <a:spcPct val="100000"/>
              </a:lnSpc>
              <a:spcAft>
                <a:spcPts val="0"/>
              </a:spcAft>
            </a:pPr>
            <a:r>
              <a:rPr sz="1250" b="0">
                <a:solidFill>
                  <a:srgbClr val="7EC699"/>
                </a:solidFill>
                <a:latin typeface="Consolas"/>
                <a:ea typeface="Consolas"/>
                <a:cs typeface="Consolas"/>
              </a:rPr>
              <a:t>-- 계층 구분이 출력에만 필요하다면 조인 한 번으로 충분하다</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FOR rec IN (SELECT d.department_name, e.last_name, e.salary</a:t>
            </a:r>
          </a:p>
          <a:p>
            <a:pPr>
              <a:lnSpc>
                <a:spcPct val="100000"/>
              </a:lnSpc>
              <a:spcAft>
                <a:spcPts val="0"/>
              </a:spcAft>
            </a:pPr>
            <a:r>
              <a:rPr sz="1250" b="0">
                <a:solidFill>
                  <a:srgbClr val="E6E6E6"/>
                </a:solidFill>
                <a:latin typeface="Consolas"/>
                <a:ea typeface="Consolas"/>
                <a:cs typeface="Consolas"/>
              </a:rPr>
              <a:t>                 FROM departments d</a:t>
            </a:r>
          </a:p>
          <a:p>
            <a:pPr>
              <a:lnSpc>
                <a:spcPct val="100000"/>
              </a:lnSpc>
              <a:spcAft>
                <a:spcPts val="0"/>
              </a:spcAft>
            </a:pPr>
            <a:r>
              <a:rPr sz="1250" b="0">
                <a:solidFill>
                  <a:srgbClr val="E6E6E6"/>
                </a:solidFill>
                <a:latin typeface="Consolas"/>
                <a:ea typeface="Consolas"/>
                <a:cs typeface="Consolas"/>
              </a:rPr>
              <a:t>                 JOIN employees   e</a:t>
            </a:r>
          </a:p>
          <a:p>
            <a:pPr>
              <a:lnSpc>
                <a:spcPct val="100000"/>
              </a:lnSpc>
              <a:spcAft>
                <a:spcPts val="0"/>
              </a:spcAft>
            </a:pPr>
            <a:r>
              <a:rPr sz="1250" b="0">
                <a:solidFill>
                  <a:srgbClr val="E6E6E6"/>
                </a:solidFill>
                <a:latin typeface="Consolas"/>
                <a:ea typeface="Consolas"/>
                <a:cs typeface="Consolas"/>
              </a:rPr>
              <a:t>                   ON e.department_id = d.department_id</a:t>
            </a:r>
          </a:p>
          <a:p>
            <a:pPr>
              <a:lnSpc>
                <a:spcPct val="100000"/>
              </a:lnSpc>
              <a:spcAft>
                <a:spcPts val="0"/>
              </a:spcAft>
            </a:pPr>
            <a:r>
              <a:rPr sz="1250" b="0">
                <a:solidFill>
                  <a:srgbClr val="E6E6E6"/>
                </a:solidFill>
                <a:latin typeface="Consolas"/>
                <a:ea typeface="Consolas"/>
                <a:cs typeface="Consolas"/>
              </a:rPr>
              <a:t>                WHERE d.location_id = 1700</a:t>
            </a:r>
          </a:p>
          <a:p>
            <a:pPr>
              <a:lnSpc>
                <a:spcPct val="100000"/>
              </a:lnSpc>
              <a:spcAft>
                <a:spcPts val="0"/>
              </a:spcAft>
            </a:pPr>
            <a:r>
              <a:rPr sz="1250" b="0">
                <a:solidFill>
                  <a:srgbClr val="E6E6E6"/>
                </a:solidFill>
                <a:latin typeface="Consolas"/>
                <a:ea typeface="Consolas"/>
                <a:cs typeface="Consolas"/>
              </a:rPr>
              <a:t>                ORDER BY d.department_name, e.salary DESC) LOOP</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E6E6E6"/>
                </a:solidFill>
                <a:latin typeface="Consolas"/>
                <a:ea typeface="Consolas"/>
                <a:cs typeface="Consolas"/>
              </a:rPr>
              <a:t>      DBMS_OUTPUT.PUT_LINE(RPAD(rec.department_name, 20) ||</a:t>
            </a:r>
          </a:p>
          <a:p>
            <a:pPr>
              <a:lnSpc>
                <a:spcPct val="100000"/>
              </a:lnSpc>
              <a:spcAft>
                <a:spcPts val="0"/>
              </a:spcAft>
            </a:pPr>
            <a:r>
              <a:rPr sz="1250" b="0">
                <a:solidFill>
                  <a:srgbClr val="E6E6E6"/>
                </a:solidFill>
                <a:latin typeface="Consolas"/>
                <a:ea typeface="Consolas"/>
                <a:cs typeface="Consolas"/>
              </a:rPr>
              <a:t>                           RPAD(rec.last_name, 15) || rec.salary);</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cs typeface="Malgun Gothic"/>
              </a:rPr>
              <a:t>2.16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cs typeface="Malgun Gothic"/>
              </a:rPr>
              <a:t>자주 만나는 오류와 진단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cs typeface="Malgun Gothic"/>
              </a:rPr>
              <a:t>•  컴파일 오류(PLS-) · 런타임 오류(ORA-) · 논리 오류</a:t>
            </a:r>
          </a:p>
          <a:p>
            <a:pPr>
              <a:spcAft>
                <a:spcPts val="600"/>
              </a:spcAft>
            </a:pPr>
            <a:r>
              <a:rPr sz="1600" b="0">
                <a:solidFill>
                  <a:srgbClr val="C5CED6"/>
                </a:solidFill>
                <a:latin typeface="Malgun Gothic"/>
                <a:ea typeface="Malgun Gothic"/>
                <a:cs typeface="Malgun Gothic"/>
              </a:rPr>
              <a:t>•  오류 → 원인 → 수정의 흐름</a:t>
            </a:r>
          </a:p>
          <a:p>
            <a:pPr>
              <a:spcAft>
                <a:spcPts val="600"/>
              </a:spcAft>
            </a:pPr>
            <a:r>
              <a:rPr sz="1600" b="0">
                <a:solidFill>
                  <a:srgbClr val="C5CED6"/>
                </a:solidFill>
                <a:latin typeface="Malgun Gothic"/>
                <a:ea typeface="Malgun Gothic"/>
                <a:cs typeface="Malgun Gothic"/>
              </a:rPr>
              <a:t>•  커서를 안전하게 다루는 습관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반복문 · 커서 관련 주요 오류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ORA-06511 (CURSOR_ALREADY_OPEN) : 이미 열린 커서를 다시 OPEN했다</a:t>
            </a:r>
          </a:p>
          <a:p>
            <a:pPr>
              <a:spcAft>
                <a:spcPts val="300"/>
              </a:spcAft>
            </a:pPr>
            <a:r>
              <a:rPr sz="1600" b="0">
                <a:solidFill>
                  <a:srgbClr val="5A6672"/>
                </a:solidFill>
                <a:latin typeface="Malgun Gothic"/>
                <a:ea typeface="Malgun Gothic"/>
                <a:cs typeface="Malgun Gothic"/>
              </a:rPr>
              <a:t>    –  CLOSE를 하거나 %ISOPEN으로 확인 후 OPEN한다</a:t>
            </a:r>
          </a:p>
          <a:p>
            <a:pPr>
              <a:spcAft>
                <a:spcPts val="500"/>
              </a:spcAft>
            </a:pPr>
            <a:r>
              <a:rPr sz="1800" b="0">
                <a:solidFill>
                  <a:srgbClr val="202830"/>
                </a:solidFill>
                <a:latin typeface="Malgun Gothic"/>
                <a:ea typeface="Malgun Gothic"/>
                <a:cs typeface="Malgun Gothic"/>
              </a:rPr>
              <a:t>•  ORA-01001 (INVALID_CURSOR) : 닫힌 커서에 FETCH·CLOSE하거나 속성 참조</a:t>
            </a:r>
          </a:p>
          <a:p>
            <a:pPr>
              <a:spcAft>
                <a:spcPts val="500"/>
              </a:spcAft>
            </a:pPr>
            <a:r>
              <a:rPr sz="1800" b="0">
                <a:solidFill>
                  <a:srgbClr val="202830"/>
                </a:solidFill>
                <a:latin typeface="Malgun Gothic"/>
                <a:ea typeface="Malgun Gothic"/>
                <a:cs typeface="Malgun Gothic"/>
              </a:rPr>
              <a:t>•  ORA-01002 : FOR UPDATE 커서 루프 안에서 COMMIT한 뒤 FETCH했다</a:t>
            </a:r>
          </a:p>
          <a:p>
            <a:pPr>
              <a:spcAft>
                <a:spcPts val="500"/>
              </a:spcAft>
            </a:pPr>
            <a:r>
              <a:rPr sz="1800" b="0">
                <a:solidFill>
                  <a:srgbClr val="202830"/>
                </a:solidFill>
                <a:latin typeface="Malgun Gothic"/>
                <a:ea typeface="Malgun Gothic"/>
                <a:cs typeface="Malgun Gothic"/>
              </a:rPr>
              <a:t>•  ORA-01000 : 세션의 열린 커서 수가 OPEN_CURSORS를 초과했다</a:t>
            </a:r>
          </a:p>
          <a:p>
            <a:pPr>
              <a:spcAft>
                <a:spcPts val="500"/>
              </a:spcAft>
            </a:pPr>
            <a:r>
              <a:rPr sz="1800" b="0">
                <a:solidFill>
                  <a:srgbClr val="202830"/>
                </a:solidFill>
                <a:latin typeface="Malgun Gothic"/>
                <a:ea typeface="Malgun Gothic"/>
                <a:cs typeface="Malgun Gothic"/>
              </a:rPr>
              <a:t>•  PLS-00376 : EXIT 또는 CONTINUE를 루프 밖에서 사용했다</a:t>
            </a:r>
          </a:p>
          <a:p>
            <a:pPr>
              <a:spcAft>
                <a:spcPts val="500"/>
              </a:spcAft>
            </a:pPr>
            <a:r>
              <a:rPr sz="1800" b="0">
                <a:solidFill>
                  <a:srgbClr val="202830"/>
                </a:solidFill>
                <a:latin typeface="Malgun Gothic"/>
                <a:ea typeface="Malgun Gothic"/>
                <a:cs typeface="Malgun Gothic"/>
              </a:rPr>
              <a:t>•  PLS-00363 : FOR LOOP 카운터에 값을 대입하려 했다</a:t>
            </a:r>
          </a:p>
          <a:p>
            <a:pPr>
              <a:spcAft>
                <a:spcPts val="500"/>
              </a:spcAft>
            </a:pPr>
            <a:r>
              <a:rPr sz="1800" b="0">
                <a:solidFill>
                  <a:srgbClr val="202830"/>
                </a:solidFill>
                <a:latin typeface="Malgun Gothic"/>
                <a:ea typeface="Malgun Gothic"/>
                <a:cs typeface="Malgun Gothic"/>
              </a:rPr>
              <a:t>•  PLS-00394 : FETCH INTO의 변수 개수가 SELECT 목록과 다르다</a:t>
            </a:r>
          </a:p>
          <a:p>
            <a:pPr>
              <a:spcAft>
                <a:spcPts val="500"/>
              </a:spcAft>
            </a:pPr>
            <a:r>
              <a:rPr sz="1800" b="0">
                <a:solidFill>
                  <a:srgbClr val="202830"/>
                </a:solidFill>
                <a:latin typeface="Malgun Gothic"/>
                <a:ea typeface="Malgun Gothic"/>
                <a:cs typeface="Malgun Gothic"/>
              </a:rPr>
              <a:t>•  논리 오류 : FETCH 다음에 %NOTFOUND를 검사하지 않아 마지막 행이 두 번 처리</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오류 → 원인 → 수정 (1)</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마지막 행이 두 번 처리되는 논리 오류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7EC699"/>
                </a:solidFill>
                <a:latin typeface="Consolas"/>
                <a:ea typeface="Consolas"/>
                <a:cs typeface="Consolas"/>
              </a:rPr>
              <a:t>-- (오류) EXIT WHEN을 처리문 뒤에 두었다</a:t>
            </a:r>
          </a:p>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c_emp IS SELECT last_name FROM employees</a:t>
            </a:r>
          </a:p>
          <a:p>
            <a:pPr>
              <a:lnSpc>
                <a:spcPct val="100000"/>
              </a:lnSpc>
              <a:spcAft>
                <a:spcPts val="0"/>
              </a:spcAft>
            </a:pPr>
            <a:r>
              <a:rPr sz="1250" b="0">
                <a:solidFill>
                  <a:srgbClr val="E6E6E6"/>
                </a:solidFill>
                <a:latin typeface="Consolas"/>
                <a:ea typeface="Consolas"/>
                <a:cs typeface="Consolas"/>
              </a:rPr>
              <a:t>                    WHERE department_id = 30;</a:t>
            </a:r>
          </a:p>
          <a:p>
            <a:pPr>
              <a:lnSpc>
                <a:spcPct val="100000"/>
              </a:lnSpc>
              <a:spcAft>
                <a:spcPts val="0"/>
              </a:spcAft>
            </a:pPr>
            <a:r>
              <a:rPr sz="1250" b="0">
                <a:solidFill>
                  <a:srgbClr val="E6E6E6"/>
                </a:solidFill>
                <a:latin typeface="Consolas"/>
                <a:ea typeface="Consolas"/>
                <a:cs typeface="Consolas"/>
              </a:rPr>
              <a:t>   v_name   employees.last_name%TYPE;</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OPEN c_emp;</a:t>
            </a:r>
          </a:p>
          <a:p>
            <a:pPr>
              <a:lnSpc>
                <a:spcPct val="100000"/>
              </a:lnSpc>
              <a:spcAft>
                <a:spcPts val="0"/>
              </a:spcAft>
            </a:pPr>
            <a:r>
              <a:rPr sz="1250" b="0">
                <a:solidFill>
                  <a:srgbClr val="E6E6E6"/>
                </a:solidFill>
                <a:latin typeface="Consolas"/>
                <a:ea typeface="Consolas"/>
                <a:cs typeface="Consolas"/>
              </a:rPr>
              <a:t>   LOOP</a:t>
            </a:r>
          </a:p>
          <a:p>
            <a:pPr>
              <a:lnSpc>
                <a:spcPct val="100000"/>
              </a:lnSpc>
              <a:spcAft>
                <a:spcPts val="0"/>
              </a:spcAft>
            </a:pPr>
            <a:r>
              <a:rPr sz="1250" b="0">
                <a:solidFill>
                  <a:srgbClr val="E6E6E6"/>
                </a:solidFill>
                <a:latin typeface="Consolas"/>
                <a:ea typeface="Consolas"/>
                <a:cs typeface="Consolas"/>
              </a:rPr>
              <a:t>      FETCH c_emp INTO v_name;</a:t>
            </a:r>
          </a:p>
          <a:p>
            <a:pPr>
              <a:lnSpc>
                <a:spcPct val="100000"/>
              </a:lnSpc>
              <a:spcAft>
                <a:spcPts val="0"/>
              </a:spcAft>
            </a:pPr>
            <a:r>
              <a:rPr sz="1250" b="0">
                <a:solidFill>
                  <a:srgbClr val="E6E6E6"/>
                </a:solidFill>
                <a:latin typeface="Consolas"/>
                <a:ea typeface="Consolas"/>
                <a:cs typeface="Consolas"/>
              </a:rPr>
              <a:t>      DBMS_OUTPUT.PUT_LINE(v_name);   -- 먼저 출력하고</a:t>
            </a:r>
          </a:p>
          <a:p>
            <a:pPr>
              <a:lnSpc>
                <a:spcPct val="100000"/>
              </a:lnSpc>
              <a:spcAft>
                <a:spcPts val="0"/>
              </a:spcAft>
            </a:pPr>
            <a:r>
              <a:rPr sz="1250" b="0">
                <a:solidFill>
                  <a:srgbClr val="E6E6E6"/>
                </a:solidFill>
                <a:latin typeface="Consolas"/>
                <a:ea typeface="Consolas"/>
                <a:cs typeface="Consolas"/>
              </a:rPr>
              <a:t>      EXIT WHEN c_emp%NOTFOUND;       -- 나중에 검사 → 중복</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   CLOSE c_emp;</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(원인) 마지막 FETCH가 실패해도 v_name에는 직전 값이 남는다</a:t>
            </a:r>
          </a:p>
          <a:p>
            <a:pPr>
              <a:lnSpc>
                <a:spcPct val="100000"/>
              </a:lnSpc>
              <a:spcAft>
                <a:spcPts val="0"/>
              </a:spcAft>
            </a:pPr>
            <a:r>
              <a:rPr sz="1250" b="0">
                <a:solidFill>
                  <a:srgbClr val="7EC699"/>
                </a:solidFill>
                <a:latin typeface="Consolas"/>
                <a:ea typeface="Consolas"/>
                <a:cs typeface="Consolas"/>
              </a:rPr>
              <a:t>-- (수정) EXIT WHEN을 FETCH 바로 다음 줄로 옮긴다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오류 → 원인 → 수정 (2)</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cs typeface="Malgun Gothic"/>
              </a:rPr>
              <a:t>커서를 닫지 않고 다시 OPEN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lnSpc>
                <a:spcPct val="100000"/>
              </a:lnSpc>
              <a:spcAft>
                <a:spcPts val="0"/>
              </a:spcAft>
            </a:pPr>
            <a:r>
              <a:rPr sz="1250" b="0">
                <a:solidFill>
                  <a:srgbClr val="7EC699"/>
                </a:solidFill>
                <a:latin typeface="Consolas"/>
                <a:ea typeface="Consolas"/>
                <a:cs typeface="Consolas"/>
              </a:rPr>
              <a:t>-- (오류) 루프 안에서 CLOSE를 빠뜨렸다</a:t>
            </a:r>
          </a:p>
          <a:p>
            <a:pPr>
              <a:lnSpc>
                <a:spcPct val="100000"/>
              </a:lnSpc>
              <a:spcAft>
                <a:spcPts val="0"/>
              </a:spcAft>
            </a:pPr>
            <a:r>
              <a:rPr sz="1250" b="0">
                <a:solidFill>
                  <a:srgbClr val="E6E6E6"/>
                </a:solidFill>
                <a:latin typeface="Consolas"/>
                <a:ea typeface="Consolas"/>
                <a:cs typeface="Consolas"/>
              </a:rPr>
              <a:t>DECLARE</a:t>
            </a:r>
          </a:p>
          <a:p>
            <a:pPr>
              <a:lnSpc>
                <a:spcPct val="100000"/>
              </a:lnSpc>
              <a:spcAft>
                <a:spcPts val="0"/>
              </a:spcAft>
            </a:pPr>
            <a:r>
              <a:rPr sz="1250" b="0">
                <a:solidFill>
                  <a:srgbClr val="E6E6E6"/>
                </a:solidFill>
                <a:latin typeface="Consolas"/>
                <a:ea typeface="Consolas"/>
                <a:cs typeface="Consolas"/>
              </a:rPr>
              <a:t>   CURSOR c_emp (p_id NUMBER) IS</a:t>
            </a:r>
          </a:p>
          <a:p>
            <a:pPr>
              <a:lnSpc>
                <a:spcPct val="100000"/>
              </a:lnSpc>
              <a:spcAft>
                <a:spcPts val="0"/>
              </a:spcAft>
            </a:pPr>
            <a:r>
              <a:rPr sz="1250" b="0">
                <a:solidFill>
                  <a:srgbClr val="E6E6E6"/>
                </a:solidFill>
                <a:latin typeface="Consolas"/>
                <a:ea typeface="Consolas"/>
                <a:cs typeface="Consolas"/>
              </a:rPr>
              <a:t>      SELECT last_name FROM employees WHERE department_id = p_id;</a:t>
            </a:r>
          </a:p>
          <a:p>
            <a:pPr>
              <a:lnSpc>
                <a:spcPct val="100000"/>
              </a:lnSpc>
              <a:spcAft>
                <a:spcPts val="0"/>
              </a:spcAft>
            </a:pPr>
            <a:r>
              <a:rPr sz="1250" b="0">
                <a:solidFill>
                  <a:srgbClr val="E6E6E6"/>
                </a:solidFill>
                <a:latin typeface="Consolas"/>
                <a:ea typeface="Consolas"/>
                <a:cs typeface="Consolas"/>
              </a:rPr>
              <a:t>   v_name   employees.last_name%TYPE;</a:t>
            </a:r>
          </a:p>
          <a:p>
            <a:pPr>
              <a:lnSpc>
                <a:spcPct val="100000"/>
              </a:lnSpc>
              <a:spcAft>
                <a:spcPts val="0"/>
              </a:spcAft>
            </a:pPr>
            <a:r>
              <a:rPr sz="1250" b="0">
                <a:solidFill>
                  <a:srgbClr val="E6E6E6"/>
                </a:solidFill>
                <a:latin typeface="Consolas"/>
                <a:ea typeface="Consolas"/>
                <a:cs typeface="Consolas"/>
              </a:rPr>
              <a:t>BEGIN</a:t>
            </a:r>
          </a:p>
          <a:p>
            <a:pPr>
              <a:lnSpc>
                <a:spcPct val="100000"/>
              </a:lnSpc>
              <a:spcAft>
                <a:spcPts val="0"/>
              </a:spcAft>
            </a:pPr>
            <a:r>
              <a:rPr sz="1250" b="0">
                <a:solidFill>
                  <a:srgbClr val="E6E6E6"/>
                </a:solidFill>
                <a:latin typeface="Consolas"/>
                <a:ea typeface="Consolas"/>
                <a:cs typeface="Consolas"/>
              </a:rPr>
              <a:t>   FOR i IN 1..2 LOOP</a:t>
            </a:r>
          </a:p>
          <a:p>
            <a:pPr>
              <a:lnSpc>
                <a:spcPct val="100000"/>
              </a:lnSpc>
              <a:spcAft>
                <a:spcPts val="0"/>
              </a:spcAft>
            </a:pPr>
            <a:r>
              <a:rPr sz="1250" b="0">
                <a:solidFill>
                  <a:srgbClr val="E6E6E6"/>
                </a:solidFill>
                <a:latin typeface="Consolas"/>
                <a:ea typeface="Consolas"/>
                <a:cs typeface="Consolas"/>
              </a:rPr>
              <a:t>      OPEN c_emp(i * 30);</a:t>
            </a:r>
          </a:p>
          <a:p>
            <a:pPr>
              <a:lnSpc>
                <a:spcPct val="100000"/>
              </a:lnSpc>
              <a:spcAft>
                <a:spcPts val="0"/>
              </a:spcAft>
            </a:pPr>
            <a:r>
              <a:rPr sz="1250" b="0">
                <a:solidFill>
                  <a:srgbClr val="E6E6E6"/>
                </a:solidFill>
                <a:latin typeface="Consolas"/>
                <a:ea typeface="Consolas"/>
                <a:cs typeface="Consolas"/>
              </a:rPr>
              <a:t>      FETCH c_emp INTO v_name;</a:t>
            </a:r>
          </a:p>
          <a:p>
            <a:pPr>
              <a:lnSpc>
                <a:spcPct val="100000"/>
              </a:lnSpc>
              <a:spcAft>
                <a:spcPts val="0"/>
              </a:spcAft>
            </a:pPr>
            <a:r>
              <a:rPr sz="1250" b="0">
                <a:solidFill>
                  <a:srgbClr val="E6E6E6"/>
                </a:solidFill>
                <a:latin typeface="Consolas"/>
                <a:ea typeface="Consolas"/>
                <a:cs typeface="Consolas"/>
              </a:rPr>
              <a:t>      DBMS_OUTPUT.PUT_LINE(v_name);</a:t>
            </a:r>
          </a:p>
          <a:p>
            <a:pPr>
              <a:lnSpc>
                <a:spcPct val="100000"/>
              </a:lnSpc>
              <a:spcAft>
                <a:spcPts val="0"/>
              </a:spcAft>
            </a:pPr>
            <a:r>
              <a:rPr sz="1250" b="0">
                <a:solidFill>
                  <a:srgbClr val="7EC699"/>
                </a:solidFill>
                <a:latin typeface="Consolas"/>
                <a:ea typeface="Consolas"/>
                <a:cs typeface="Consolas"/>
              </a:rPr>
              <a:t>      -- CLOSE c_emp;   &lt;-- 빠졌다</a:t>
            </a:r>
          </a:p>
          <a:p>
            <a:pPr>
              <a:lnSpc>
                <a:spcPct val="100000"/>
              </a:lnSpc>
              <a:spcAft>
                <a:spcPts val="0"/>
              </a:spcAft>
            </a:pPr>
            <a:r>
              <a:rPr sz="1250" b="0">
                <a:solidFill>
                  <a:srgbClr val="E6E6E6"/>
                </a:solidFill>
                <a:latin typeface="Consolas"/>
                <a:ea typeface="Consolas"/>
                <a:cs typeface="Consolas"/>
              </a:rPr>
              <a:t>   END LOOP;</a:t>
            </a:r>
          </a:p>
          <a:p>
            <a:pPr>
              <a:lnSpc>
                <a:spcPct val="100000"/>
              </a:lnSpc>
              <a:spcAft>
                <a:spcPts val="0"/>
              </a:spcAft>
            </a:pPr>
            <a:r>
              <a:rPr sz="1250" b="0">
                <a:solidFill>
                  <a:srgbClr val="E6E6E6"/>
                </a:solidFill>
                <a:latin typeface="Consolas"/>
                <a:ea typeface="Consolas"/>
                <a:cs typeface="Consolas"/>
              </a:rPr>
              <a:t>END;</a:t>
            </a:r>
          </a:p>
          <a:p>
            <a:pPr>
              <a:lnSpc>
                <a:spcPct val="100000"/>
              </a:lnSpc>
              <a:spcAft>
                <a:spcPts val="0"/>
              </a:spcAft>
            </a:pPr>
            <a:r>
              <a:rPr sz="1250" b="0">
                <a:solidFill>
                  <a:srgbClr val="E6E6E6"/>
                </a:solidFill>
                <a:latin typeface="Consolas"/>
                <a:ea typeface="Consolas"/>
                <a:cs typeface="Consolas"/>
              </a:rPr>
              <a:t>/</a:t>
            </a:r>
          </a:p>
          <a:p>
            <a:pPr>
              <a:lnSpc>
                <a:spcPct val="100000"/>
              </a:lnSpc>
              <a:spcAft>
                <a:spcPts val="0"/>
              </a:spcAft>
            </a:pPr>
            <a:r>
              <a:rPr sz="1250" b="0">
                <a:solidFill>
                  <a:srgbClr val="7EC699"/>
                </a:solidFill>
                <a:latin typeface="Consolas"/>
                <a:ea typeface="Consolas"/>
                <a:cs typeface="Consolas"/>
              </a:rPr>
              <a:t>-- ORA-06511: PL/SQL: 커서가 이미 열려 있습니다</a:t>
            </a:r>
          </a:p>
          <a:p>
            <a:pPr>
              <a:lnSpc>
                <a:spcPct val="100000"/>
              </a:lnSpc>
              <a:spcAft>
                <a:spcPts val="0"/>
              </a:spcAft>
            </a:pPr>
            <a:r>
              <a:rPr sz="1250" b="0">
                <a:solidFill>
                  <a:srgbClr val="E6E6E6"/>
                </a:solidFill>
                <a:latin typeface="Consolas"/>
                <a:ea typeface="Consolas"/>
                <a:cs typeface="Consolas"/>
              </a:rPr>
              <a:t> </a:t>
            </a:r>
          </a:p>
          <a:p>
            <a:pPr>
              <a:lnSpc>
                <a:spcPct val="100000"/>
              </a:lnSpc>
              <a:spcAft>
                <a:spcPts val="0"/>
              </a:spcAft>
            </a:pPr>
            <a:r>
              <a:rPr sz="1250" b="0">
                <a:solidFill>
                  <a:srgbClr val="7EC699"/>
                </a:solidFill>
                <a:latin typeface="Consolas"/>
                <a:ea typeface="Consolas"/>
                <a:cs typeface="Consolas"/>
              </a:rPr>
              <a:t>-- (수정 1) 루프 끝에서 반드시 CLOSE한다</a:t>
            </a:r>
          </a:p>
          <a:p>
            <a:pPr>
              <a:lnSpc>
                <a:spcPct val="100000"/>
              </a:lnSpc>
              <a:spcAft>
                <a:spcPts val="0"/>
              </a:spcAft>
            </a:pPr>
            <a:r>
              <a:rPr sz="1250" b="0">
                <a:solidFill>
                  <a:srgbClr val="7EC699"/>
                </a:solidFill>
                <a:latin typeface="Consolas"/>
                <a:ea typeface="Consolas"/>
                <a:cs typeface="Consolas"/>
              </a:rPr>
              <a:t>-- (수정 2) OPEN 앞에서 IF c_emp%ISOPEN THEN CLOSE c_emp; END IF;</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커서를 안전하게 다루는 습관</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기본 선택은 커서 FOR LOOP — 명시적 제어는 필요한 경우에만</a:t>
            </a:r>
          </a:p>
          <a:p>
            <a:pPr>
              <a:spcAft>
                <a:spcPts val="500"/>
              </a:spcAft>
            </a:pPr>
            <a:r>
              <a:rPr sz="1800" b="0">
                <a:solidFill>
                  <a:srgbClr val="202830"/>
                </a:solidFill>
                <a:latin typeface="Malgun Gothic"/>
                <a:ea typeface="Malgun Gothic"/>
                <a:cs typeface="Malgun Gothic"/>
              </a:rPr>
              <a:t>•  OPEN을 적는 순간 CLOSE를 먼저 적어 두고 그 사이를 채운다</a:t>
            </a:r>
          </a:p>
          <a:p>
            <a:pPr>
              <a:spcAft>
                <a:spcPts val="500"/>
              </a:spcAft>
            </a:pPr>
            <a:r>
              <a:rPr sz="1800" b="0">
                <a:solidFill>
                  <a:srgbClr val="202830"/>
                </a:solidFill>
                <a:latin typeface="Malgun Gothic"/>
                <a:ea typeface="Malgun Gothic"/>
                <a:cs typeface="Malgun Gothic"/>
              </a:rPr>
              <a:t>•  EXCEPTION 절에서도 자원을 회수한다</a:t>
            </a:r>
          </a:p>
          <a:p>
            <a:pPr>
              <a:spcAft>
                <a:spcPts val="300"/>
              </a:spcAft>
            </a:pPr>
            <a:r>
              <a:rPr sz="1600" b="0">
                <a:solidFill>
                  <a:srgbClr val="5A6672"/>
                </a:solidFill>
                <a:latin typeface="Malgun Gothic"/>
                <a:ea typeface="Malgun Gothic"/>
                <a:cs typeface="Malgun Gothic"/>
              </a:rPr>
              <a:t>    –  IF 커서%ISOPEN THEN CLOSE 커서; END IF;</a:t>
            </a:r>
          </a:p>
          <a:p>
            <a:pPr>
              <a:spcAft>
                <a:spcPts val="500"/>
              </a:spcAft>
            </a:pPr>
            <a:r>
              <a:rPr sz="1800" b="0">
                <a:solidFill>
                  <a:srgbClr val="202830"/>
                </a:solidFill>
                <a:latin typeface="Malgun Gothic"/>
                <a:ea typeface="Malgun Gothic"/>
                <a:cs typeface="Malgun Gothic"/>
              </a:rPr>
              <a:t>•  FETCH 다음 줄은 언제나 EXIT WHEN 커서%NOTFOUND — 규칙으로 굳힌다</a:t>
            </a:r>
          </a:p>
          <a:p>
            <a:pPr>
              <a:spcAft>
                <a:spcPts val="500"/>
              </a:spcAft>
            </a:pPr>
            <a:r>
              <a:rPr sz="1800" b="0">
                <a:solidFill>
                  <a:srgbClr val="202830"/>
                </a:solidFill>
                <a:latin typeface="Malgun Gothic"/>
                <a:ea typeface="Malgun Gothic"/>
                <a:cs typeface="Malgun Gothic"/>
              </a:rPr>
              <a:t>•  커서 속성이 필요한 값은 CLOSE 전에 변수로 복사해 둔다</a:t>
            </a:r>
          </a:p>
          <a:p>
            <a:pPr>
              <a:spcAft>
                <a:spcPts val="500"/>
              </a:spcAft>
            </a:pPr>
            <a:r>
              <a:rPr sz="1800" b="0">
                <a:solidFill>
                  <a:srgbClr val="202830"/>
                </a:solidFill>
                <a:latin typeface="Malgun Gothic"/>
                <a:ea typeface="Malgun Gothic"/>
                <a:cs typeface="Malgun Gothic"/>
              </a:rPr>
              <a:t>•  WHEN OTHERS THEN NULL; 로 예외를 삼키지 않는다</a:t>
            </a:r>
          </a:p>
          <a:p>
            <a:pPr>
              <a:spcAft>
                <a:spcPts val="300"/>
              </a:spcAft>
            </a:pPr>
            <a:r>
              <a:rPr sz="1600" b="0">
                <a:solidFill>
                  <a:srgbClr val="5A6672"/>
                </a:solidFill>
                <a:latin typeface="Malgun Gothic"/>
                <a:ea typeface="Malgun Gothic"/>
                <a:cs typeface="Malgun Gothic"/>
              </a:rPr>
              <a:t>    –  커서 관련 오류는 대부분 이 안에 숨어 발견이 늦어진다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1F7A55"/>
                </a:solidFill>
                <a:latin typeface="Malgun Gothic"/>
                <a:ea typeface="Malgun Gothic"/>
                <a:cs typeface="Malgun Gothic"/>
              </a:rPr>
              <a:t>Best Practice: </a:t>
            </a:r>
            <a:r>
              <a:rPr sz="1250" b="0">
                <a:solidFill>
                  <a:srgbClr val="202830"/>
                </a:solidFill>
                <a:latin typeface="Malgun Gothic"/>
                <a:ea typeface="Malgun Gothic"/>
                <a:cs typeface="Malgun Gothic"/>
              </a:rPr>
              <a:t>특별한 이유가 없다면 커서 FOR LOOP를 사용한다. 커서 관련 사고의 대부분이 원천적으로 사라진다.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이해도 점검 퀴즈 (1/2)</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300"/>
              </a:spcAft>
            </a:pPr>
            <a:r>
              <a:rPr sz="1700" b="1">
                <a:solidFill>
                  <a:srgbClr val="202830"/>
                </a:solidFill>
                <a:latin typeface="Malgun Gothic"/>
                <a:ea typeface="Malgun Gothic"/>
                <a:cs typeface="Malgun Gothic"/>
              </a:rPr>
              <a:t>Q1. 본문이 최소 한 번은 반드시 실행되어야 하는 처리에는 어떤 반복문을 쓰는가?</a:t>
            </a:r>
          </a:p>
          <a:p>
            <a:pPr>
              <a:spcAft>
                <a:spcPts val="1000"/>
              </a:spcAft>
            </a:pPr>
            <a:r>
              <a:rPr sz="1500" b="0">
                <a:solidFill>
                  <a:srgbClr val="5A6672"/>
                </a:solidFill>
                <a:latin typeface="Malgun Gothic"/>
                <a:ea typeface="Malgun Gothic"/>
                <a:cs typeface="Malgun Gothic"/>
              </a:rPr>
              <a:t>    → 기본 LOOP. 단, EXIT WHEN을 본문 끝에 두었을 때만 최소 1회 실행이 보장된다.</a:t>
            </a:r>
          </a:p>
          <a:p>
            <a:pPr>
              <a:spcAft>
                <a:spcPts val="300"/>
              </a:spcAft>
            </a:pPr>
            <a:r>
              <a:rPr sz="1700" b="1">
                <a:solidFill>
                  <a:srgbClr val="202830"/>
                </a:solidFill>
                <a:latin typeface="Malgun Gothic"/>
                <a:ea typeface="Malgun Gothic"/>
                <a:cs typeface="Malgun Gothic"/>
              </a:rPr>
              <a:t>Q2. WHILE LOOP의 조건이 NULL로 평가되면 루프는 어떻게 동작하는가?</a:t>
            </a:r>
          </a:p>
          <a:p>
            <a:pPr>
              <a:spcAft>
                <a:spcPts val="1000"/>
              </a:spcAft>
            </a:pPr>
            <a:r>
              <a:rPr sz="1500" b="0">
                <a:solidFill>
                  <a:srgbClr val="5A6672"/>
                </a:solidFill>
                <a:latin typeface="Malgun Gothic"/>
                <a:ea typeface="Malgun Gothic"/>
                <a:cs typeface="Malgun Gothic"/>
              </a:rPr>
              <a:t>    → TRUE가 아니므로 진입하지 않는다. 본문이 한 번도 실행되지 않고 오류도 나지 않는다.</a:t>
            </a:r>
          </a:p>
          <a:p>
            <a:pPr>
              <a:spcAft>
                <a:spcPts val="300"/>
              </a:spcAft>
            </a:pPr>
            <a:r>
              <a:rPr sz="1700" b="1">
                <a:solidFill>
                  <a:srgbClr val="202830"/>
                </a:solidFill>
                <a:latin typeface="Malgun Gothic"/>
                <a:ea typeface="Malgun Gothic"/>
                <a:cs typeface="Malgun Gothic"/>
              </a:rPr>
              <a:t>Q3. FOR LOOP 카운터에 v_i := v_i + 2; 처럼 값을 대입하면?</a:t>
            </a:r>
          </a:p>
          <a:p>
            <a:pPr>
              <a:spcAft>
                <a:spcPts val="1000"/>
              </a:spcAft>
            </a:pPr>
            <a:r>
              <a:rPr sz="1500" b="0">
                <a:solidFill>
                  <a:srgbClr val="5A6672"/>
                </a:solidFill>
                <a:latin typeface="Malgun Gothic"/>
                <a:ea typeface="Malgun Gothic"/>
                <a:cs typeface="Malgun Gothic"/>
              </a:rPr>
              <a:t>    → PLS-00363 컴파일 오류가 발생한다. 카운터는 읽기 전용이며 대입 대상이 될 수 없다.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이해도 점검 퀴즈 (2/2)</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300"/>
              </a:spcAft>
            </a:pPr>
            <a:r>
              <a:rPr sz="1700" b="1">
                <a:solidFill>
                  <a:srgbClr val="202830"/>
                </a:solidFill>
                <a:latin typeface="Malgun Gothic"/>
                <a:ea typeface="Malgun Gothic"/>
                <a:cs typeface="Malgun Gothic"/>
              </a:rPr>
              <a:t>Q4. 명시적 커서 선언의 SELECT에 INTO 절을 쓸 수 없는 이유는?</a:t>
            </a:r>
          </a:p>
          <a:p>
            <a:pPr>
              <a:spcAft>
                <a:spcPts val="1000"/>
              </a:spcAft>
            </a:pPr>
            <a:r>
              <a:rPr sz="1500" b="0">
                <a:solidFill>
                  <a:srgbClr val="5A6672"/>
                </a:solidFill>
                <a:latin typeface="Malgun Gothic"/>
                <a:ea typeface="Malgun Gothic"/>
                <a:cs typeface="Malgun Gothic"/>
              </a:rPr>
              <a:t>    → 선언 시점에는 행을 가져오지 않기 때문이다. 값을 담을 대상은 FETCH 문장에서 정한다.</a:t>
            </a:r>
          </a:p>
          <a:p>
            <a:pPr>
              <a:spcAft>
                <a:spcPts val="300"/>
              </a:spcAft>
            </a:pPr>
            <a:r>
              <a:rPr sz="1700" b="1">
                <a:solidFill>
                  <a:srgbClr val="202830"/>
                </a:solidFill>
                <a:latin typeface="Malgun Gothic"/>
                <a:ea typeface="Malgun Gothic"/>
                <a:cs typeface="Malgun Gothic"/>
              </a:rPr>
              <a:t>Q5. FETCH 다음 줄에 EXIT WHEN 커서%NOTFOUND를 두지 않으면?</a:t>
            </a:r>
          </a:p>
          <a:p>
            <a:pPr>
              <a:spcAft>
                <a:spcPts val="1000"/>
              </a:spcAft>
            </a:pPr>
            <a:r>
              <a:rPr sz="1500" b="0">
                <a:solidFill>
                  <a:srgbClr val="5A6672"/>
                </a:solidFill>
                <a:latin typeface="Malgun Gothic"/>
                <a:ea typeface="Malgun Gothic"/>
                <a:cs typeface="Malgun Gothic"/>
              </a:rPr>
              <a:t>    → 마지막 FETCH 실패 후에도 변수에 직전 값이 남아 마지막 행이 두 번 처리된다.</a:t>
            </a:r>
          </a:p>
          <a:p>
            <a:pPr>
              <a:spcAft>
                <a:spcPts val="300"/>
              </a:spcAft>
            </a:pPr>
            <a:r>
              <a:rPr sz="1700" b="1">
                <a:solidFill>
                  <a:srgbClr val="202830"/>
                </a:solidFill>
                <a:latin typeface="Malgun Gothic"/>
                <a:ea typeface="Malgun Gothic"/>
                <a:cs typeface="Malgun Gothic"/>
              </a:rPr>
              <a:t>Q6. 이미 열려 있는 커서를 다시 OPEN하면 발생하는 오류와 예방법은?</a:t>
            </a:r>
          </a:p>
          <a:p>
            <a:pPr>
              <a:spcAft>
                <a:spcPts val="1000"/>
              </a:spcAft>
            </a:pPr>
            <a:r>
              <a:rPr sz="1500" b="0">
                <a:solidFill>
                  <a:srgbClr val="5A6672"/>
                </a:solidFill>
                <a:latin typeface="Malgun Gothic"/>
                <a:ea typeface="Malgun Gothic"/>
                <a:cs typeface="Malgun Gothic"/>
              </a:rPr>
              <a:t>    → ORA-06511(CURSOR_ALREADY_OPEN). CLOSE하거나 %ISOPEN 확인 후 OPEN, 또는 커서 FOR LOOP 사용.</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기본 LOOP·WHILE LOOP·FOR LOOP 모두 종료 조건이 반드시 있어야 한다</a:t>
            </a:r>
          </a:p>
          <a:p>
            <a:pPr>
              <a:spcAft>
                <a:spcPts val="500"/>
              </a:spcAft>
            </a:pPr>
            <a:r>
              <a:rPr sz="1800" b="0">
                <a:solidFill>
                  <a:srgbClr val="202830"/>
                </a:solidFill>
                <a:latin typeface="Malgun Gothic"/>
                <a:ea typeface="Malgun Gothic"/>
                <a:cs typeface="Malgun Gothic"/>
              </a:rPr>
              <a:t>•  기본 LOOP는 최소 1회 실행, WHILE LOOP는 0회 실행될 수 있다</a:t>
            </a:r>
          </a:p>
          <a:p>
            <a:pPr>
              <a:spcAft>
                <a:spcPts val="500"/>
              </a:spcAft>
            </a:pPr>
            <a:r>
              <a:rPr sz="1800" b="0">
                <a:solidFill>
                  <a:srgbClr val="202830"/>
                </a:solidFill>
                <a:latin typeface="Malgun Gothic"/>
                <a:ea typeface="Malgun Gothic"/>
                <a:cs typeface="Malgun Gothic"/>
              </a:rPr>
              <a:t>•  FOR LOOP 카운터는 암시적 선언이며 루프 밖 참조·대입이 불가능하다</a:t>
            </a:r>
          </a:p>
          <a:p>
            <a:pPr>
              <a:spcAft>
                <a:spcPts val="500"/>
              </a:spcAft>
            </a:pPr>
            <a:r>
              <a:rPr sz="1800" b="0">
                <a:solidFill>
                  <a:srgbClr val="202830"/>
                </a:solidFill>
                <a:latin typeface="Malgun Gothic"/>
                <a:ea typeface="Malgun Gothic"/>
                <a:cs typeface="Malgun Gothic"/>
              </a:rPr>
              <a:t>•  중첩 루프는 레이블로, 회차 건너뛰기는 CONTINUE로 제어한다</a:t>
            </a:r>
          </a:p>
          <a:p>
            <a:pPr>
              <a:spcAft>
                <a:spcPts val="500"/>
              </a:spcAft>
            </a:pPr>
            <a:r>
              <a:rPr sz="1800" b="0">
                <a:solidFill>
                  <a:srgbClr val="202830"/>
                </a:solidFill>
                <a:latin typeface="Malgun Gothic"/>
                <a:ea typeface="Malgun Gothic"/>
                <a:cs typeface="Malgun Gothic"/>
              </a:rPr>
              <a:t>•  루프 안의 한 건씩 DML은 컨텍스트 스위치를 반복 횟수만큼 발생시킨다</a:t>
            </a:r>
          </a:p>
          <a:p>
            <a:pPr>
              <a:spcAft>
                <a:spcPts val="500"/>
              </a:spcAft>
            </a:pPr>
            <a:r>
              <a:rPr sz="1800" b="0">
                <a:solidFill>
                  <a:srgbClr val="202830"/>
                </a:solidFill>
                <a:latin typeface="Malgun Gothic"/>
                <a:ea typeface="Malgun Gothic"/>
                <a:cs typeface="Malgun Gothic"/>
              </a:rPr>
              <a:t>•  커서는 개인 SQL 영역을 가리키는 포인터 — 암시적 / 명시적으로 나뉜다</a:t>
            </a:r>
          </a:p>
          <a:p>
            <a:pPr>
              <a:spcAft>
                <a:spcPts val="500"/>
              </a:spcAft>
            </a:pPr>
            <a:r>
              <a:rPr sz="1800" b="0">
                <a:solidFill>
                  <a:srgbClr val="202830"/>
                </a:solidFill>
                <a:latin typeface="Malgun Gothic"/>
                <a:ea typeface="Malgun Gothic"/>
                <a:cs typeface="Malgun Gothic"/>
              </a:rPr>
              <a:t>•  명시적 커서는 DECLARE(INTO 금지) → OPEN → FETCH → CLOSE 네 단계</a:t>
            </a:r>
          </a:p>
          <a:p>
            <a:pPr>
              <a:spcAft>
                <a:spcPts val="500"/>
              </a:spcAft>
            </a:pPr>
            <a:r>
              <a:rPr sz="1800" b="0">
                <a:solidFill>
                  <a:srgbClr val="202830"/>
                </a:solidFill>
                <a:latin typeface="Malgun Gothic"/>
                <a:ea typeface="Malgun Gothic"/>
                <a:cs typeface="Malgun Gothic"/>
              </a:rPr>
              <a:t>•  EXIT WHEN 커서%NOTFOUND는 FETCH 바로 다음 줄에 둔다</a:t>
            </a:r>
          </a:p>
          <a:p>
            <a:pPr>
              <a:spcAft>
                <a:spcPts val="500"/>
              </a:spcAft>
            </a:pPr>
            <a:r>
              <a:rPr sz="1800" b="0">
                <a:solidFill>
                  <a:srgbClr val="202830"/>
                </a:solidFill>
                <a:latin typeface="Malgun Gothic"/>
                <a:ea typeface="Malgun Gothic"/>
                <a:cs typeface="Malgun Gothic"/>
              </a:rPr>
              <a:t>•  커서 FOR LOOP는 네 단계를 자동 처리하고 레코드도 암시적으로 선언한다</a:t>
            </a:r>
          </a:p>
          <a:p>
            <a:pPr>
              <a:spcAft>
                <a:spcPts val="500"/>
              </a:spcAft>
            </a:pPr>
            <a:r>
              <a:rPr sz="1800" b="0">
                <a:solidFill>
                  <a:srgbClr val="202830"/>
                </a:solidFill>
                <a:latin typeface="Malgun Gothic"/>
                <a:ea typeface="Malgun Gothic"/>
                <a:cs typeface="Malgun Gothic"/>
              </a:rPr>
              <a:t>•  커서 속성 네 가지는 OPEN부터 CLOSE 직전까지만 유효하다</a:t>
            </a:r>
          </a:p>
          <a:p>
            <a:pPr>
              <a:spcAft>
                <a:spcPts val="500"/>
              </a:spcAft>
            </a:pPr>
            <a:r>
              <a:rPr sz="1800" b="0">
                <a:solidFill>
                  <a:srgbClr val="202830"/>
                </a:solidFill>
                <a:latin typeface="Malgun Gothic"/>
                <a:ea typeface="Malgun Gothic"/>
                <a:cs typeface="Malgun Gothic"/>
              </a:rPr>
              <a:t>•  파라미터 커서는 크기 지정 불가, 모드는 IN뿐이며 기본값을 줄 수 있다</a:t>
            </a:r>
          </a:p>
          <a:p>
            <a:pPr>
              <a:spcAft>
                <a:spcPts val="500"/>
              </a:spcAft>
            </a:pPr>
            <a:r>
              <a:rPr sz="1800" b="0">
                <a:solidFill>
                  <a:srgbClr val="202830"/>
                </a:solidFill>
                <a:latin typeface="Malgun Gothic"/>
                <a:ea typeface="Malgun Gothic"/>
                <a:cs typeface="Malgun Gothic"/>
              </a:rPr>
              <a:t>•  FOR UPDATE 루프 안의 COMMIT은 ORA-01002를 부른다</a:t>
            </a:r>
          </a:p>
          <a:p>
            <a:pPr>
              <a:spcAft>
                <a:spcPts val="500"/>
              </a:spcAft>
            </a:pPr>
            <a:r>
              <a:rPr sz="1800" b="0">
                <a:solidFill>
                  <a:srgbClr val="202830"/>
                </a:solidFill>
                <a:latin typeface="Malgun Gothic"/>
                <a:ea typeface="Malgun Gothic"/>
                <a:cs typeface="Malgun Gothic"/>
              </a:rPr>
              <a:t>•  중첩 커서는 N+1 질의를 유발한다. 가능하면 조인 한 번으로 대체한다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cs typeface="Malgun Gothic"/>
              </a:rPr>
              <a:t>실습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cs typeface="Malgun Gothic"/>
              </a:rPr>
              <a:t>•  실습 01 — 기본 LOOP / EXIT WHEN 구조 실습</a:t>
            </a:r>
          </a:p>
          <a:p>
            <a:pPr>
              <a:spcAft>
                <a:spcPts val="500"/>
              </a:spcAft>
            </a:pPr>
            <a:r>
              <a:rPr sz="1800" b="0">
                <a:solidFill>
                  <a:srgbClr val="202830"/>
                </a:solidFill>
                <a:latin typeface="Malgun Gothic"/>
                <a:ea typeface="Malgun Gothic"/>
                <a:cs typeface="Malgun Gothic"/>
              </a:rPr>
              <a:t>•  실습 02 — WHILE LOOP와 FOR LOOP 비교 실습</a:t>
            </a:r>
          </a:p>
          <a:p>
            <a:pPr>
              <a:spcAft>
                <a:spcPts val="500"/>
              </a:spcAft>
            </a:pPr>
            <a:r>
              <a:rPr sz="1800" b="0">
                <a:solidFill>
                  <a:srgbClr val="202830"/>
                </a:solidFill>
                <a:latin typeface="Malgun Gothic"/>
                <a:ea typeface="Malgun Gothic"/>
                <a:cs typeface="Malgun Gothic"/>
              </a:rPr>
              <a:t>•  실습 03 — Explicit Cursor 선언·OPEN·FETCH·CLOSE 실습</a:t>
            </a:r>
          </a:p>
          <a:p>
            <a:pPr>
              <a:spcAft>
                <a:spcPts val="500"/>
              </a:spcAft>
            </a:pPr>
            <a:r>
              <a:rPr sz="1800" b="0">
                <a:solidFill>
                  <a:srgbClr val="202830"/>
                </a:solidFill>
                <a:latin typeface="Malgun Gothic"/>
                <a:ea typeface="Malgun Gothic"/>
                <a:cs typeface="Malgun Gothic"/>
              </a:rPr>
              <a:t>•  실습 04 — Cursor FOR LOOP 실습</a:t>
            </a:r>
          </a:p>
          <a:p>
            <a:pPr>
              <a:spcAft>
                <a:spcPts val="500"/>
              </a:spcAft>
            </a:pPr>
            <a:r>
              <a:rPr sz="1800" b="0">
                <a:solidFill>
                  <a:srgbClr val="202830"/>
                </a:solidFill>
                <a:latin typeface="Malgun Gothic"/>
                <a:ea typeface="Malgun Gothic"/>
                <a:cs typeface="Malgun Gothic"/>
              </a:rPr>
              <a:t>•  실습 05 — Parameterized Cursor 실습</a:t>
            </a:r>
          </a:p>
          <a:p>
            <a:pPr>
              <a:spcAft>
                <a:spcPts val="500"/>
              </a:spcAft>
            </a:pPr>
            <a:r>
              <a:rPr sz="1800" b="0">
                <a:solidFill>
                  <a:srgbClr val="202830"/>
                </a:solidFill>
                <a:latin typeface="Malgun Gothic"/>
                <a:ea typeface="Malgun Gothic"/>
                <a:cs typeface="Malgun Gothic"/>
              </a:rPr>
              <a:t>•  실습 06 — Cursor Attribute(%FOUND/%NOTFOUND/%ROWCOUNT/%ISOPEN) 실습</a:t>
            </a:r>
          </a:p>
          <a:p>
            <a:pPr>
              <a:spcAft>
                <a:spcPts val="500"/>
              </a:spcAft>
            </a:pPr>
            <a:r>
              <a:rPr sz="1800" b="0">
                <a:solidFill>
                  <a:srgbClr val="202830"/>
                </a:solidFill>
                <a:latin typeface="Malgun Gothic"/>
                <a:ea typeface="Malgun Gothic"/>
                <a:cs typeface="Malgun Gothic"/>
              </a:rPr>
              <a:t>•  실습 07 — EMPLOYEES-DEPARTMENTS 조인 기반 중첩 Cursor 처리 실습</a:t>
            </a:r>
          </a:p>
          <a:p>
            <a:pPr>
              <a:spcAft>
                <a:spcPts val="300"/>
              </a:spcAft>
            </a:pPr>
            <a:r>
              <a:rPr sz="1600" b="0">
                <a:solidFill>
                  <a:srgbClr val="5A6672"/>
                </a:solidFill>
                <a:latin typeface="Malgun Gothic"/>
                <a:ea typeface="Malgun Gothic"/>
                <a:cs typeface="Malgun Gothic"/>
              </a:rPr>
              <a:t>    –  각 실습에는 컴파일 오류 또는 런타임 예외 → 원인 파악 → 수정 흐름이 포함된다</a:t>
            </a:r>
          </a:p>
          <a:p>
            <a:pPr>
              <a:spcAft>
                <a:spcPts val="300"/>
              </a:spcAft>
            </a:pPr>
            <a:r>
              <a:rPr sz="1600" b="0">
                <a:solidFill>
                  <a:srgbClr val="5A6672"/>
                </a:solidFill>
                <a:latin typeface="Malgun Gothic"/>
                <a:ea typeface="Malgun Gothic"/>
                <a:cs typeface="Malgun Gothic"/>
              </a:rPr>
              <a:t>    –  기준 스키마: HR (EMPLOYEES / DEPARTMENTS / JOBS / LOCATIONS 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
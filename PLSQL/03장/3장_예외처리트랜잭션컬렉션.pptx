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2309171"/>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3장은 PL/SQL 프로그램을 실제 운영 환경에 올릴 수 있는 수준으로 끌어올리는 장이다. 1장에서 블록 구조를, 2장에서 반복문과 커서를 익혔다면 이제는 실행 중에 발생하는 오류를 다루는 방법, 변경을 확정하거나 되돌리는 트랜잭션 제어, 여러 값을 메모리에 담아 한꺼번에 처리하는 컬렉션을 배운다. 세 주제는 서로 독립적으로 보이지만 실무 배치 프로그램에서는 항상 함께 등장한다는 점을 강조하며 시작한다.</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학습 목표는 이 장을 마쳤을 때 수강생이 할 수 있어야 하는 행동을 기준으로 작성되었다. 개념을 아는 것과 코드를 작성하는 것은 다르므로, 각 목표는 모두 실제 코드 작성으로 확인할 수 있는 형태로 진술했다. 실습 트랜스크립트 8개와 실습문제 70문항이 이 목표를 그대로 따라가므로, 강의 중간에 목표를 다시 보여 주며 진도 위치를 확인시키면 학습 효과가 높아진다.</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장은 크게 세 덩어리로 나뉜다. 앞부분(3.1~3.10)은 예외 처리, 가운데(3.11~3.13)는 트랜잭션 제어, 뒷부분(3.14~3.17)은 컬렉션이다. 세 덩어리는 마지막 3.18에서 다시 만나 하나의 배치 프로그램 패턴으로 정리된다. 강의 시간이 부족하면 3.7의 PRAGMA EXCEPTION_INIT과 3.13의 자율 트랜잭션을 참고 항목으로 돌리고, 예외·트랜잭션·컬렉션의 핵심 흐름을 우선 다루는 편이 좋다.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섹션에서는 예외라는 개념 자체를 정확히 정의한다. 수강생들은 흔히 예외 처리를 '오류를 없애는 것'으로 오해하는데, 실제로는 '오류가 났을 때 프로그램이 어떻게 끝날지 결정하는 것'이다. 이 차이를 초반에 확실히 각인시켜야 뒤의 OTHERS 안티패턴 논의가 자연스럽게 이어진다. 예외 처리를 오류 제거로 오해하면 OTHERS로 모든 것을 감싸는 코드가 나오므로, 개념 정의 단계에서 방향을 잡아 주는 것이 이 섹션의 목표다.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예외의 정의를 설명할 때는 반드시 컴파일 오류와 대비시켜야 한다. 컴파일이 성공했다는 사실이 프로그램의 정확성을 보장하지 않는다는 점을 예제로 보여 주면 이해가 빠르다. 특히 SELECT INTO는 문법적으로 완벽해도 데이터 상태에 따라 언제든 실패할 수 있다는 사실이 이 장 전체의 출발점이다. 실무에서는 어제까지 정상이던 조회가 데이터 한 건이 추가되면서 오늘 실패하는 일이 흔하므로, 코드 검증뿐 아니라 데이터 전제 조건 검증도 함께 필요하다는 점을 덧붙인다.</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HR 스키마의 EMPLOYEES 테이블에는 first_name이 John인 사원이 여러 명 있으므로 이 예제는 실제로 재현된다. 두 블록의 유일한 차이는 EXCEPTION 절의 존재이며, 그 결과 하나는 ORA-01422를 호출 환경으로 던지고 다른 하나는 성공적으로 완료된다. 다만 두 번째 블록도 원하던 데이터를 얻지 못한 것은 마찬가지이므로, 예외 처리가 문제를 해결한 것이 아니라는 점을 반드시 덧붙여야 한다.</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예외 처리 흐름에서 가장 자주 오해되는 부분은 '핸들러 실행 후 원래 자리로 돌아가지 않는다'는 점이다. 루프 안에서 예외가 발생했는데 EXCEPTION 절이 루프 바깥에 있으면 남은 반복은 전부 수행되지 않는다. 이 성질은 다음 슬라이드에서 중첩 블록으로 해결하는 방법과 함께 설명하면 효과적이다. 이 규칙을 이해하지 못하면 배치가 첫 실패에서 통째로 멈추는 원인을 찾지 못하므로, 흐름도를 그려 가며 한 번 더 확인시키는 것이 좋다.</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유형을 구분하는 기준은 두 가지다. 첫째 이름이 미리 정의되어 있는가, 둘째 누가 예외를 발생시키는가이다. 사전 정의 예외만 선언 없이 바로 쓸 수 있고 나머지 둘은 선언부에서 선언해야 한다. 발생 주체로 보면 앞의 둘은 오라클 서버가 암시적으로 발생시키고 사용자 정의 예외만 프로그램이 RAISE로 발생시킨다는 점을 표로 정리해 주면 기억하기 쉽다. 실무에서 만나는 오류의 대부분은 사전 정의 예외로 해결되지만, 참조 무결성 관련 오류처럼 자주 쓰이는 것은 이름을 붙여 두면 코드 가독성이 크게 향상된다.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EXCEPTION 절 문법 자체는 단순하지만 세부 규칙에서 컴파일 오류가 자주 발생한다. 특히 OTHERS를 중간에 두는 실수는 PLS-00370으로 즉시 잡히지만, 선언부에서 발생한 예외를 같은 블록이 잡지 못한다는 규칙은 컴파일 시점에 드러나지 않아 운영에서 문제가 된다. 초기값이 외부 입력에 좌우되는 변수는 선언 시 기본값만 주고 실행부에서 대입하도록 지도한다.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실무 배치에서 가장 흔한 요구사항은 '한 건이 실패해도 나머지는 처리하라'이다. 이를 구현하려면 예외 처리의 위치를 반복 단위 안쪽으로 내려야 한다. 반대로 '하나라도 실패하면 전체를 취소하라'는 요구라면 바깥 블록에서 한 번에 잡는 것이 맞다. 두 요구사항 중 어느 쪽인지 확인하지 않고 코드를 작성하는 것이 사고의 출발점이라는 점을 강조한다. 요구사항을 확인하는 질문은 간단하다. 한 건이 실패하면 나머지도 취소해야 하는가, 아니면 나머지는 그대로 반영해야 하는가를 먼저 묻고 코드 구조를 결정한다.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번째 섹션은 실무에서 가장 자주 만나는 네 개의 사전 정의 예외를 다룬다. 네 예외는 단순히 이름을 외우는 것이 아니라 각각이 어떤 설계 문제를 알려 주는 신호인지 이해하는 것이 중요하다. 이어서 OTHERS 핸들러의 올바른 사용법과, 현장에서 가장 많은 장애를 만든 예외 삼킴 안티패턴을 다룬다. 네 예외의 오류 번호와 SQLCODE 값은 실습문제에도 반복 출제되므로, 섹션을 시작하면서 표로 정리해 두게 하면 이후 학습이 수월해진다.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두 예외는 방향이 반대이므로 대응도 달라야 한다. NO_DATA_FOUND는 데이터 상태의 문제이므로 보정이 어울리지만, TOO_MANY_ROWS는 조회 조건 설계의 문제이므로 코드를 고쳐야 한다. 실제 사고 사례로는 이메일로 사번을 찾던 조회가 퇴사자 이메일 재사용 정책 도입 후 TOO_MANY_ROWS를 일으켰고, OTHERS로 잡아 0을 반환하는 바람에 조직도가 어긋난 경우가 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부서 번호만 바꾸어 두 핸들러가 각각 동작하는 것을 보여 주면 이해가 빠르다. 999는 존재하지 않는 부서이므로 NO_DATA_FOUND가, 50은 사원이 많은 부서이므로 TOO_MANY_ROWS가 발생한다. 두 경우 모두 WHEN OTHERS 하나로 뭉뚱그리면 로그만 보고는 어느 쪽인지 알 수 없다는 점이 핸들러를 나누어야 하는 이유다. 실습에서는 부서 번호를 999와 50으로 바꿔 가며 두 핸들러가 각각 실행되는 것을 눈으로 확인하게 하고, 각 상황에서 어떤 조치를 취해야 하는지 말로 설명하게 한다.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ZERO_DIVIDE를 설명할 때는 NULL과 0의 차이를 반드시 짚어야 한다. 예외가 발생하지 않았다고 계산이 옳은 것은 아니며, NULL로 나눈 결과가 조용히 NULL이 되어 이후 집계를 망치는 경우가 오히려 더 위험하다. VALUE_ERROR는 데이터 길이가 서서히 늘어나는 운영 환경에서 몇 년 뒤에 터지는 지연성 오류라는 점도 강조한다. 커미션 비율이 NULL인 사원이 대부분인 HR 스키마 특성상, NULL로 나눈 결과가 조용히 NULL이 되는 상황을 실습에서 반드시 재현해 보여 준다.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가지 실패를 한 블록에서 보여 주되 각각을 중첩 블록으로 감싼 이유는, 하나가 실패해도 다음 검증이 계속 실행되도록 하기 위해서다. 이 구조 자체가 앞에서 배운 '예외 처리 위치' 원칙의 응용이다. 실습에서는 (3)의 대입을 선언부로 옮겨 보게 하여, 선언부 예외는 같은 블록이 잡지 못한다는 규칙을 직접 확인시키면 좋다. SQLERRM 메시지 문구가 변환 오류인지 크기 초과인지에 따라 다르게 나온다는 점도 함께 확인시키면 로그만 보고 원인을 좁히는 훈련이 된다.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OTHERS는 안전장치이면서 동시에 가장 위험한 문법이다. 예상되는 예외는 이름 있는 WHEN 절로 먼저 처리하고 OTHERS에는 '예상하지 못한 것'만 남기는 것이 원칙이다. 여기에 DBMS_UTILITY.FORMAT_ERROR_BACKTRACE를 함께 기록하면 오류가 발생한 실제 줄 번호까지 남길 수 있어 원인 추적 시간이 크게 줄어든다. 예상되는 예외를 이름으로 먼저 처리하고 OTHERS를 최후의 안전망으로 남기는 구조가 되어 있는지, 기존 코드를 검토하는 습관을 들이도록 지도한다.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안티패턴은 교육 자료의 예시가 아니라 현장에서 실제로 가장 많이 발견되는 코드다. 개발자는 '오류로 프로그램이 죽지 않게 하려고' 넣었지만 결과적으로 실패를 감추는 장치가 된다. 야간 배치가 매일 성공으로 기록되는데 데이터는 갱신되지 않는 장애가 이 코드에서 시작되며, 원인 규명에 며칠이 걸리는 경우도 흔하다. 코드 리뷰 체크리스트에 'WHEN OTHERS THEN NULL 금지' 항목을 넣는 조직이 많다는 사실을 알려 주면 이 안티패턴의 심각성이 더 잘 전달된다.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개선 코드의 핵심은 세 가지다. 첫째 SQLCODE와 SQLERRM을 변수에 담아 로그 테이블에 기록한다. 둘째 로깅 자체가 실패할 가능성에 대비해 로깅 블록을 다시 중첩 블록으로 감싼다. 셋째 인자 없는 RAISE로 원래 예외를 그대로 재발생시켜 호출자가 실패를 인지하게 한다. 이 세 요소가 갖춰져야 비로소 운영 가능한 예외 처리라고 할 수 있다. 실습 04에서 이 패턴을 직접 작성해 보고, RAISE를 뺐을 때와 넣었을 때 호출자가 받는 결과가 어떻게 달라지는지 비교하게 한다.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섹션은 '무슨 오류가 났는지'를 프로그램이 스스로 알아내는 방법을 다룬다. SQLCODE와 SQLERRM은 로깅의 기본 재료이며, PRAGMA EXCEPTION_INIT은 이름 없는 오라클 오류를 이름 있는 예외로 바꾸어 코드의 의도를 드러내는 도구다. 두 주제 모두 실무 코드 품질을 크게 좌우한다. 두 도구를 익히면 오류가 발생했을 때 '무슨 일이 있었는지'를 프로그램이 스스로 기록할 수 있게 되어 운영 대응 속도가 크게 달라진다.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SQLCODE의 부호 규칙은 시험에도 자주 나오고 실무에서도 조건 분기에 쓰이므로 반드시 짚어야 한다. NO_DATA_FOUND만 +100인 이유는 ANSI SQL의 SQLSTATE 규약을 따랐기 때문이다. 또한 INSERT INTO log VALUES(SQLCODE, SQLERRM) 형태가 PLS-00204로 실패한다는 점은 실습에서 직접 겪어 보게 하면 오래 기억한다.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SQLERRM에 SUBSTR을 씌운 이유는 메시지가 로그 컬럼 길이를 초과해 또 다른 VALUE_ERROR를 일으키는 것을 막기 위해서다. 오류 처리 코드가 다시 오류를 내면 원인 파악이 훨씬 어려워지므로, 로깅 코드는 언제나 방어적으로 작성해야 한다. 주요 예외의 SQLCODE 값은 실습문제에도 자주 등장하므로 표로 정리해 두게 한다. 실습 03에서는 SQLCODE와 SQLERRM을 SQL 문장에 직접 넣어 PLS-00204를 발생시킨 뒤 변수로 옮겨 해결하는 흐름을 그대로 따라간다.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PRAGMA는 실행문이 아니라 컴파일러 지시어이므로 선언부에만 올 수 있고, 대상 예외 선언보다 뒤에 와야 한다. 실무에서는 자주 쓰는 오류 이름을 패키지 스펙에 모아 선언해 여러 프로그램에서 재사용하는데, 이는 5장 패키지에서 다시 다룬다. 오류 번호를 양수로 잘못 적으면 컴파일은 통과하지만 핸들러가 절대 동작하지 않는다는 함정을 반드시 경고한다. 이름을 붙이는 순간 코드가 문서가 된다는 점이 이 기능의 본질이므로, SQLCODE 비교 방식과 나란히 놓고 가독성 차이를 비교해 보여 주면 효과적이다.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기법의 가치는 오류를 사용자 언어로 번역할 수 있다는 데 있다. ORA-02292라는 메시지를 그대로 화면에 띄우면 사용자는 아무것도 이해하지 못하지만, '소속 사원이 남아 있어 부서를 삭제할 수 없다'로 바꾸면 즉시 다음 행동을 결정할 수 있다. 오류 메시지를 업무 언어로 옮기는 작업이 애플리케이션 품질의 상당 부분을 좌우한다. 실습 02에서는 PRAGMA를 빠뜨렸을 때 발생하는 PLS-00201 컴파일 오류도 함께 재현하므로, 선언 순서 규칙을 여기서 미리 짚어 둔다.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네 번째 섹션은 개발자가 직접 예외를 만들어 던지는 방법과, 던져진 예외가 블록을 타고 올라가는 경로를 다룬다. 업무 규칙 위반을 예외로 표현하면 검증 로직과 처리 로직이 깔끔하게 분리되며, 예외 전파를 이해해야 프로시저 계층 구조에서 실패를 올바르게 전달할 수 있다. 예외를 어느 계층에서 처리할지 결정하는 것은 설계 문제이며, 4장 프로시저와 5장 패키지에서 이 판단이 더 중요해진다는 점을 예고해 둔다.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사용자 정의 예외의 가치는 검증과 처리를 분리하는 데 있다. IF 문으로 검증하고 그 자리에서 메시지를 출력하면 로직이 뒤엉키지만, RAISE로 던지고 EXCEPTION 절에서 처리하면 정상 흐름과 예외 흐름이 시각적으로 분리된다. 예외의 유효 범위 규칙도 실습에서 PLS-00201을 직접 만나 보게 하면 확실히 기억한다. 검증 로직이 여러 개일 때 각 규칙마다 전용 예외를 선언하면, 나중에 어떤 규칙이 얼마나 자주 위반되는지 통계를 내기도 쉬워진다.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주석이 이 슬라이드의 핵심이다. 사용자 정의 예외를 OTHERS로 잡으면 SQLCODE는 일률적으로 1이고 SQLERRM은 'User-Defined Exception'이라는 무의미한 문구만 돌려준다. 어떤 업무 규칙을 위반했는지 전혀 알 수 없으므로, 호출자에게 원인을 전달해야 하는 상황에서는 다음 슬라이드의 RAISE_APPLICATION_ERROR가 필요하다.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RAISE_APPLICATION_ERROR는 PL/SQL 프로그램과 애플리케이션 사이의 계약이다. 애플리케이션은 -20001이라는 번호를 보고 화면에 표시할 안내 문구를 결정할 수 있다. 실무에서는 -20000~-20999 구간을 업무 영역별로 미리 배분하고, 번호와 메시지를 상수나 메시지 테이블로 관리해 문구 변경과 다국어 지원에 대비한다. 번호 체계를 설계하지 않고 즉흥적으로 -20001부터 쓰다 보면 서로 다른 업무가 같은 번호를 쓰게 되므로, 프로젝트 초기에 구간을 배분하도록 안내한다.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번째 인자 keep_errors를 TRUE로 지정하면 원래의 ORA-00001이 오류 스택에 함께 남는다. 사용자에게는 친절한 메시지를 보여 주면서 운영자는 근본 원인을 추적할 수 있으므로, 원인을 감춰야 할 특별한 이유가 없다면 TRUE를 기본으로 사용하도록 지도한다. 이 인자를 생략하면 원인 오류가 사라져 디버깅이 어려워진다. 실습 02에서는 RAISE만 사용한 경우와 RAISE_APPLICATION_ERROR를 사용한 경우의 SQLERRM 출력을 비교해 차이를 직접 확인한다.</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예외 전파는 프로시저 계층 구조에서 특히 중요하다. 하위 프로시저가 예외를 잡고 아무 조치 없이 끝내면 상위는 성공으로 인식한다. 반대로 하위에서 잡지 않고 그대로 올리면 상위가 판단할 수 있다. 어느 계층에서 무엇을 책임질지 설계하는 것이 예외 처리 설계의 본질이며, 이 판단이 없는 코드는 반드시 문제가 된다. 이 원칙은 6장의 DBA 자동화와 7장의 스케줄러에서 잡 실행 결과를 판정할 때 그대로 적용되므로, 지금 확실히 이해해 두어야 한다.</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첫 번째 예제에서 '이 줄도 실행되지 않는다'가 출력되지 않는 것이 핵심이다. 안쪽 블록에서 예외가 전파되면 바깥 블록의 나머지 실행부도 건너뛰고 바로 EXCEPTION 절로 이동한다. 두 번째 조각은 실무의 표준 패턴으로, 안쪽에서는 로컬 로깅만 하고 실패 판단은 바깥에 맡긴다. 이 RAISE를 빠뜨리는 것이 3.18의 첫 번째 장애 사례다. 실습 04에서 RAISE를 주석 처리해 보고 바깥 블록의 출력이 어떻게 달라지는지 확인하면, 재발생의 의미가 코드 수준에서 명확해진다.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다섯 번째 섹션은 데이터 변경을 언제 확정하고 언제 되돌릴지를 다룬다. 예외 처리만 잘 되어 있고 트랜잭션 경계가 없으면 절반만 반영된 데이터가 남는다. 반대로 트랜잭션만 있고 예외 처리가 없으면 실패 시 무엇이 남았는지 알 수 없다. 두 주제는 반드시 함께 설계해야 한다. 트랜잭션 경계를 어디에 둘지는 성능과 데이터 정합성을 동시에 결정하는 문제이므로, 코드를 작성하기 전에 업무 단위를 먼저 정의하도록 지도한다.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DDL이 암묵적 커밋을 유발한다는 점은 실무에서 사고로 이어지기 쉽다. 테스트 중 임시로 CREATE TABLE을 실행하는 순간 앞의 미확정 DML까지 확정되기 때문이다. 또한 프로시저 안에서 무조건 COMMIT하면 상위 트랜잭션의 경계를 끊어 버리므로, 트랜잭션 제어는 최상위 호출자에게 맡기는 것이 일반적인 설계 원칙이다. SQL*Plus에서 두 세션을 띄우고 한쪽에서 UPDATE 후 COMMIT 전후로 다른 세션의 조회 결과를 비교해 보면 읽기 일관성이 직관적으로 이해된다.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부서를 만들고 사원을 그 부서로 옮기는 두 문장은 업무적으로 하나의 작업이다. 부서만 생기고 사원이 옮겨지지 않으면 빈 부서가 남고, 반대면 존재하지 않는 부서를 참조하게 된다. 그래서 두 문장을 한 트랜잭션으로 묶고, 실패 시 ROLLBACK으로 원상 복구한다. SQL%ROWCOUNT로 처리 건수를 누적해 로그에 남기는 것도 실무에서 유용한 습관이다. 실습 05에서는 COMMIT 없이 SQL*Plus를 강제 종료했을 때 변경이 사라지는 것도 확인하므로, 여기서 미리 예고해 두면 흐름이 자연스럽다.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SAVEPOINT는 여러 단계를 순차 처리하는 배치에서 특정 단계만 되돌릴 때 유용하다. 다만 이름 관리가 허술하면 ORA-01086으로 실패하므로, SAVEPOINT 선언은 조건문 밖에 두어 항상 실행되도록 하고 sp_ 접두사와 단계명을 조합한 명명 규칙을 정해 두는 것이 좋다. 루프 안에서 같은 이름을 반복 사용할 때의 의미도 정확히 이해시켜야 한다. ROLLBACK TO는 트랜잭션을 끝내지 않는다는 사실을 놓쳐 마지막 COMMIT을 빠뜨리는 실수가 잦으므로 이 점을 반복해서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부분 롤백 예제는 SELECT로 결과를 확인하게 하면 이해가 확실해진다. ROLLBACK TO sp_step2 이후 남는 부서는 910과 920 두 건이다. 두 번째 조각의 ORA-01086은 실습 05에서 직접 재현하는 오류이며, 오타뿐 아니라 조건 분기 때문에 SAVEPOINT 문이 실행되지 않은 경우에도 같은 오류가 발생한다는 점을 함께 설명한다. 실습 05에서 이 두 코드를 그대로 실행해 보고, 남은 부서 번호를 SELECT로 확인하는 과정까지 포함되어 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패턴은 실무 배치 프로그램의 표준 골격이다. 행 단위 SAVEPOINT로 실패한 건만 취소하고, 오류 정보를 로그 테이블에 남긴 뒤, 마지막에 성공분과 로그를 한 번에 커밋한다. 로그 INSERT가 ROLLBACK TO 이후에 위치해야 롤백 대상이 되지 않는다는 순서가 특히 중요하며, 순서를 바꿔 보게 하면 그 이유를 체감할 수 있다. 이 골격을 한 번 손으로 작성해 두면 4장 이후의 프로시저 작성에서 그대로 재사용할 수 있으므로, 템플릿으로 저장해 두도록 권한다.</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자율 트랜잭션은 강력하지만 남용하면 데이터 일관성을 해친다. 본 트랜잭션이 롤백되어도 반드시 남아야 하는 기록, 즉 오류 로그나 감사 로그에만 사용하는 것이 원칙이다. 특히 호출자가 이미 잠근 행을 자율 트랜잭션에서 갱신하려 하면 자기 자신을 기다리는 상황이 되어 세션이 멈추므로, 대상 테이블을 분리해 설계해야 한다. PRAGMA AUTONOMOUS_TRANSACTION은 6장과 7장의 운영 자동화 프로시저에서 다시 등장하므로, 지금은 개념과 주의사항 위주로 이해하면 충분하다.</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여섯 번째 섹션은 여러 값을 메모리에 담아 다루는 컬렉션이다. 컬렉션은 조견표를 만들어 반복 조회를 줄이거나, 대량 데이터를 한 번에 가져와 처리 성능을 끌어올리는 데 쓰인다. 세 가지 유형의 차이를 정확히 이해해야 상황에 맞는 선택을 할 수 있고, 각 유형이 던지는 고유한 예외도 구분할 수 있다. 컬렉션은 4장 이후의 프로시저 파라미터와 5장의 패키지 상태 변수로도 이어지므로, 여기서 기본기를 확실히 다져 두어야 한다.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유형을 구분하는 실질적 기준은 세 가지다. 초기화가 필요한가, 데이터베이스 컬럼으로 저장할 수 있는가, 크기 제한이 있는가이다. 입문자에게는 Associative Array만 쓰면 대부분의 요구를 해결할 수 있다고 안내하되, Nested Table과 VARRAY는 SQL 타입으로 만들어 컬럼에 저장할 수 있다는 차별점을 명확히 알려 준다. 선택이 어렵다면 Associative Array로 시작하고, 컬럼 저장이나 SQL 사용이 필요해지는 시점에 Nested Table로 바꾸는 방식이 실무에서 무난하다.</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첨자가 1부터 시작하지 않고 100, 101, 102로 흩어져 있다는 점이 핵심이다. 이런 희소 배열은 FOR i IN 1..COUNT 방식으로 순회할 수 없으며 반드시 FIRST와 NEXT를 사용해야 한다. 초기화 없이 곧바로 대입할 수 있다는 편리함 때문에 실무에서 가장 많이 쓰이는 컬렉션이지만, SQL 문장에서 직접 사용할 수 없다는 제약은 기억해야 한다.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존재하지 않는 첨자를 읽으면 SELECT INTO와 똑같이 NO_DATA_FOUND가 발생한다는 점이 이 슬라이드의 핵심이다. 반면 쓰기는 예외가 나지 않고 새 원소가 만들어진다. 읽기와 쓰기의 동작이 다르다는 사실을 모르면 조견표 코드가 예기치 않게 실패한다. 문자열 첨자는 대소문자와 공백까지 정확히 일치해야 하므로 UPPER 등으로 키를 정규화한다. 조견표 기법은 반복 조회를 없애 성능을 개선하는 대표적인 방법이므로, 부서가 많은 대규모 스키마에서 특히 효과가 크다는 점을 덧붙인다.</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세 개의 오류 번호는 컬렉션 실습에서 반드시 재현해 보게 해야 한다. ORA-06531은 컬렉션 자체가 NULL인 상태, ORA-06533은 컬렉션은 존재하지만 원소가 없는 상태로 서로 다르다. 이 차이를 이해하면 '원소가 0개인 것'과 '컬렉션이 NULL인 것'이 다르다는 개념이 자연스럽게 잡힌다. EXISTS만 NULL 컬렉션에도 사용할 수 있다는 점도 함께 짚는다.</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예제는 컬렉션의 세 가지 상태를 순서대로 보여 준다. NULL 상태, 초기화되었지만 비어 있는 상태, 공간이 확보된 상태다. VARRAY(3)에서 네 번째 EXTEND를 시도하면 ORA-06532가 추가로 발생하는데, 이는 선언 시점에 정한 최대 크기를 넘겼기 때문이다. 세 오류를 실습에서 직접 만들어 보게 하면 컬렉션의 동작 원리가 확실히 정리된다. 실습 07에서는 이 세 오류를 순서대로 재현한 뒤 EXTEND와 생성자를 추가해 해결하는 과정을 그대로 따라간다.</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벌크 바인드는 대량 처리 성능을 수 배에서 수십 배까지 개선하는 기법이다. 다만 한 번에 모두 가져오면 PGA 메모리를 그만큼 소비하므로 LIMIT으로 나누는 것이 정석이다. FORALL을 반복문으로 오해해 여러 문장을 넣으려다 컴파일 오류를 만나는 경우가 많으므로, 구조적으로 반복문과 다르다는 점을 분명히 설명한다. 벌크 처리는 성능 튜닝의 기본기이므로, 행 단위 처리와 벌크 처리의 실행 시간을 비교해 보여 주면 필요성이 즉시 전달된다.</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SELECT INTO와 BULK COLLECT INTO의 가장 큰 차이가 바로 이것이다. SELECT INTO는 0건일 때 NO_DATA_FOUND를 발생시키지만 BULK COLLECT INTO는 원소가 0개인 빈 컬렉션을 조용히 돌려준다. 이 차이를 모르고 예외 처리에 기대어 흐름을 제어하면, 첫 원소 접근에서 ORA-06533이 발생해 배치가 중단된다. COUNT 검사는 선택이 아니라 필수다.</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루프 종료 조건에 %NOTFOUND를 쓰면 마지막 묶음을 놓친다. LIMIT 20으로 107건을 가져오면 마지막 FETCH에서 7건을 가져오면서 %NOTFOUND가 TRUE가 되기 때문이다. 반드시 COUNT = 0으로 판단해야 한다. 이는 2장의 커서 속성에서 배운 %NOTFOUND의 의미를 벌크 처리 맥락에서 다시 확인하는 좋은 사례다. LIMIT 값은 보통 100에서 1000 사이를 쓰며, 값이 클수록 메모리를 많이 쓰고 작을수록 컨텍스트 스위치가 늘어난다는 트레이드오프를 설명한다.</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마지막 섹션은 이 장의 세 주제가 실제 장애 상황에서 어떻게 얽히는지 보여 준다. 두 사례 모두 문법 오류가 아니라 개발자의 잘못된 가정에서 비롯된 논리 오류이며, 오류 메시지만으로는 원인을 알기 어렵다. 오류 → 원인 → 수정의 흐름으로 정리해 진단 습관을 만들어 준다. 두 사례 모두 실습 04와 실습 08에서 직접 재현하므로, 강의에서는 원인 분석 과정을 함께 따라가며 진단 사고방식을 익히게 한다.</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사례의 수정 코드에는 이 장에서 배운 요소가 모두 들어 있다. SQLCODE와 SQLERRM으로 원인을 취득하고, ROLLBACK으로 데이터 상태를 정리하고, 자율 트랜잭션 프로시저로 로그를 남기고, RAISE_APPLICATION_ERROR로 호출자에게 업무 오류를 전달한다. keep_errors를 TRUE로 주어 원인 오류까지 스택에 남긴 점도 함께 짚어 준다.</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 사례는 '예외 처리를 했는데도 실패했다'는 점에서 교훈이 크다. 핸들러를 작성했지만 실제로 발생하는 예외와 종류가 달랐기 때문이다. 예외 처리는 어떤 예외가 실제로 발생하는지 정확히 알아야 의미가 있으며, 문서와 실습으로 확인하지 않은 가정에 기대면 안 된다는 점을 강조하며 마무리한다. 실습 08에서는 이 두 코드를 순서대로 실행해 ORA-06533을 직접 만난 뒤 COUNT 검사로 해결하는 과정을 그대로 따라간다.</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퀴즈는 강의 후반 복습용으로 사용한다. Q1은 SELECT INTO의 전제 조건과 두 예외의 성격 차이를, Q2는 이 장에서 가장 강조한 안티패턴을, Q3은 SQLCODE의 부호 규칙을 확인한다. 정답을 바로 알려 주기보다 수강생에게 코드를 작성해 확인하게 하면 학습 효과가 크다. 정답과 해설은 실습문제 정답 문서에 수록되어 있다. 각 문항은 단순 암기가 아니라 이유를 설명하도록 구성되어 있으므로, 짝을 지어 서로에게 설명하게 하는 방식도 효과적이다.</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Q4는 RAISE_APPLICATION_ERROR의 필요성을, Q5는 SAVEPOINT 이름 관리와 ROLLBACK TO 이후 트랜잭션이 계속 열려 있다는 사실을, Q6은 BULK COLLECT의 가장 중요한 함정을 묻는다. 세 문항 모두 실습 트랜스크립트에서 직접 재현한 내용이므로, 실습을 성실히 따라온 수강생이라면 어렵지 않게 답할 수 있다. 여섯 문항을 모두 설명할 수 있으면 이 장의 학습 목표를 달성한 것으로 보아도 무방하다고 안내하면 학습 동기가 높아진다.</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요약은 이 장의 핵심 여덟 가지를 한 화면에 모은 것이다. 강의를 마치며 각 항목을 짚어 가면서 해당 슬라이드 번호를 알려 주면 복습 동선을 만들어 줄 수 있다. 특히 마지막 두 항목은 실무에서 사고로 이어지는 빈도가 높으므로 다시 한 번 강조한다. 여덟 항목 중 예외 삼킴 안티패턴과 BULK COLLECT의 0건 처리는 실무 장애로 직결되는 내용이므로 반드시 기억하도록 다시 강조한다.</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여덟 개의 실습 트랜스크립트는 이 장의 절 순서와 그대로 대응한다. 각 실습에는 최소 한 곳 이상 오류가 발생하고 그 원인을 파악해 수정하는 흐름이 포함되어 있으므로, 정답 코드만 따라 치지 말고 오류가 나는 지점에서 잠시 멈추어 원인을 스스로 설명해 보도록 지도한다. 모든 실습은 HR 스키마 기준이다. 실습을 마친 뒤에는 각자 담당 업무의 배치 프로그램을 떠올리며 이 장의 패턴을 어떻게 적용할지 정리해 보게 하면 학습이 실무로 연결된다.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188720" y="1463040"/>
            <a:ext cx="10058400" cy="369332"/>
          </a:xfrm>
          <a:prstGeom prst="rect">
            <a:avLst/>
          </a:prstGeom>
          <a:noFill/>
        </p:spPr>
        <p:txBody>
          <a:bodyPr wrap="square">
            <a:spAutoFit/>
          </a:bodyPr>
          <a:lstStyle/>
          <a:p>
            <a:r>
              <a:rPr sz="1800" b="1">
                <a:solidFill>
                  <a:srgbClr val="C0392B"/>
                </a:solidFill>
                <a:latin typeface="Malgun Gothic"/>
              </a:rPr>
              <a:t>Oracle PL/SQL </a:t>
            </a:r>
            <a:r>
              <a:rPr sz="1800" b="1" dirty="0" err="1">
                <a:solidFill>
                  <a:srgbClr val="C0392B"/>
                </a:solidFill>
                <a:latin typeface="Malgun Gothic"/>
              </a:rPr>
              <a:t>실무·DBA</a:t>
            </a:r>
            <a:r>
              <a:rPr sz="1800" b="1" dirty="0">
                <a:solidFill>
                  <a:srgbClr val="C0392B"/>
                </a:solidFill>
                <a:latin typeface="Malgun Gothic"/>
              </a:rPr>
              <a:t> </a:t>
            </a:r>
            <a:r>
              <a:rPr sz="1800" b="1" dirty="0" err="1">
                <a:solidFill>
                  <a:srgbClr val="C0392B"/>
                </a:solidFill>
                <a:latin typeface="Malgun Gothic"/>
              </a:rPr>
              <a:t>운영자동화</a:t>
            </a:r>
            <a:r>
              <a:rPr sz="1800" b="1" dirty="0">
                <a:solidFill>
                  <a:srgbClr val="C0392B"/>
                </a:solidFill>
                <a:latin typeface="Malgun Gothic"/>
              </a:rPr>
              <a:t> </a:t>
            </a:r>
            <a:r>
              <a:rPr sz="1800" b="1" dirty="0" err="1">
                <a:solidFill>
                  <a:srgbClr val="C0392B"/>
                </a:solidFill>
                <a:latin typeface="Malgun Gothic"/>
              </a:rPr>
              <a:t>과정</a:t>
            </a:r>
            <a:r>
              <a:rPr sz="1800" b="1" dirty="0">
                <a:solidFill>
                  <a:srgbClr val="C0392B"/>
                </a:solidFill>
                <a:latin typeface="Malgun Gothic"/>
              </a:rPr>
              <a:t>  ·  제3장</a:t>
            </a:r>
          </a:p>
        </p:txBody>
      </p:sp>
      <p:sp>
        <p:nvSpPr>
          <p:cNvPr id="4" name="TextBox 3"/>
          <p:cNvSpPr txBox="1"/>
          <p:nvPr/>
        </p:nvSpPr>
        <p:spPr>
          <a:xfrm>
            <a:off x="1188720" y="2194560"/>
            <a:ext cx="10332720" cy="2011680"/>
          </a:xfrm>
          <a:prstGeom prst="rect">
            <a:avLst/>
          </a:prstGeom>
          <a:noFill/>
        </p:spPr>
        <p:txBody>
          <a:bodyPr wrap="square">
            <a:spAutoFit/>
          </a:bodyPr>
          <a:lstStyle/>
          <a:p>
            <a:r>
              <a:rPr sz="4400" b="1">
                <a:solidFill>
                  <a:srgbClr val="FFFFFF"/>
                </a:solidFill>
                <a:latin typeface="Malgun Gothic"/>
              </a:rPr>
              <a:t>예외 처리·트랜잭션·컬렉션</a:t>
            </a:r>
          </a:p>
        </p:txBody>
      </p:sp>
      <p:sp>
        <p:nvSpPr>
          <p:cNvPr id="5" name="TextBox 4"/>
          <p:cNvSpPr txBox="1"/>
          <p:nvPr/>
        </p:nvSpPr>
        <p:spPr>
          <a:xfrm>
            <a:off x="1188720" y="4297680"/>
            <a:ext cx="10058400" cy="1097280"/>
          </a:xfrm>
          <a:prstGeom prst="rect">
            <a:avLst/>
          </a:prstGeom>
          <a:noFill/>
        </p:spPr>
        <p:txBody>
          <a:bodyPr wrap="square">
            <a:spAutoFit/>
          </a:bodyPr>
          <a:lstStyle/>
          <a:p>
            <a:r>
              <a:rPr sz="1800" b="0">
                <a:solidFill>
                  <a:srgbClr val="C5CED6"/>
                </a:solidFill>
                <a:latin typeface="Malgun Gothic"/>
              </a:rPr>
              <a:t>사전 정의 예외 · 사용자 정의 예외 · SQLCODE/SQLERRM · 예외 전파 · COMMIT/ROLLBACK/SAVEPOINT · Associative Array · Nested Table · VARRAY · BULK COLLECT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이 장을 마치면 다음을 수행할 수 있어야 한다.</a:t>
            </a:r>
          </a:p>
          <a:p>
            <a:pPr>
              <a:spcAft>
                <a:spcPts val="300"/>
              </a:spcAft>
            </a:pPr>
            <a:r>
              <a:rPr sz="1600" b="0">
                <a:solidFill>
                  <a:srgbClr val="5A6672"/>
                </a:solidFill>
                <a:latin typeface="Malgun Gothic"/>
              </a:rPr>
              <a:t>    –  예외가 언제 발생하는지 설명하고 처리 유무에 따른 블록 종료 방식을 구분한다</a:t>
            </a:r>
          </a:p>
          <a:p>
            <a:pPr>
              <a:spcAft>
                <a:spcPts val="300"/>
              </a:spcAft>
            </a:pPr>
            <a:r>
              <a:rPr sz="1600" b="0">
                <a:solidFill>
                  <a:srgbClr val="5A6672"/>
                </a:solidFill>
                <a:latin typeface="Malgun Gothic"/>
              </a:rPr>
              <a:t>    –  NO_DATA_FOUND·TOO_MANY_ROWS·ZERO_DIVIDE·VALUE_ERROR를 이름으로 포착한다</a:t>
            </a:r>
          </a:p>
          <a:p>
            <a:pPr>
              <a:spcAft>
                <a:spcPts val="300"/>
              </a:spcAft>
            </a:pPr>
            <a:r>
              <a:rPr sz="1600" b="0">
                <a:solidFill>
                  <a:srgbClr val="5A6672"/>
                </a:solidFill>
                <a:latin typeface="Malgun Gothic"/>
              </a:rPr>
              <a:t>    –  OTHERS 핸들러를 올바르게 쓰고 SQLCODE·SQLERRM으로 오류 정보를 로그로 남긴다</a:t>
            </a:r>
          </a:p>
          <a:p>
            <a:pPr>
              <a:spcAft>
                <a:spcPts val="300"/>
              </a:spcAft>
            </a:pPr>
            <a:r>
              <a:rPr sz="1600" b="0">
                <a:solidFill>
                  <a:srgbClr val="5A6672"/>
                </a:solidFill>
                <a:latin typeface="Malgun Gothic"/>
              </a:rPr>
              <a:t>    –  PRAGMA EXCEPTION_INIT과 사용자 정의 예외, RAISE_APPLICATION_ERROR를 사용한다</a:t>
            </a:r>
          </a:p>
          <a:p>
            <a:pPr>
              <a:spcAft>
                <a:spcPts val="300"/>
              </a:spcAft>
            </a:pPr>
            <a:r>
              <a:rPr sz="1600" b="0">
                <a:solidFill>
                  <a:srgbClr val="5A6672"/>
                </a:solidFill>
                <a:latin typeface="Malgun Gothic"/>
              </a:rPr>
              <a:t>    –  중첩 블록의 예외 전파 경로를 추적하고 RAISE로 실패를 감추지 않는 코드를 작성한다</a:t>
            </a:r>
          </a:p>
          <a:p>
            <a:pPr>
              <a:spcAft>
                <a:spcPts val="300"/>
              </a:spcAft>
            </a:pPr>
            <a:r>
              <a:rPr sz="1600" b="0">
                <a:solidFill>
                  <a:srgbClr val="5A6672"/>
                </a:solidFill>
                <a:latin typeface="Malgun Gothic"/>
              </a:rPr>
              <a:t>    –  COMMIT·ROLLBACK·SAVEPOINT로 트랜잭션 경계를 설계하고 부분 롤백을 적용한다</a:t>
            </a:r>
          </a:p>
          <a:p>
            <a:pPr>
              <a:spcAft>
                <a:spcPts val="300"/>
              </a:spcAft>
            </a:pPr>
            <a:r>
              <a:rPr sz="1600" b="0">
                <a:solidFill>
                  <a:srgbClr val="5A6672"/>
                </a:solidFill>
                <a:latin typeface="Malgun Gothic"/>
              </a:rPr>
              <a:t>    –  Associative Array·Nested Table·VARRAY를 비교하고 상황에 맞게 선택한다</a:t>
            </a:r>
          </a:p>
          <a:p>
            <a:pPr>
              <a:spcAft>
                <a:spcPts val="300"/>
              </a:spcAft>
            </a:pPr>
            <a:r>
              <a:rPr sz="1600" b="0">
                <a:solidFill>
                  <a:srgbClr val="5A6672"/>
                </a:solidFill>
                <a:latin typeface="Malgun Gothic"/>
              </a:rPr>
              <a:t>    –  BULK COLLECT와 FORALL로 컨텍스트 스위치를 줄여 대량 데이터를 처리한다</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 장의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3.1~3.2  예외의 개념과 처리 흐름 · 예외의 세 가지 유형과 EXCEPTION 절</a:t>
            </a:r>
          </a:p>
          <a:p>
            <a:pPr>
              <a:spcAft>
                <a:spcPts val="500"/>
              </a:spcAft>
            </a:pPr>
            <a:r>
              <a:rPr sz="1800" b="0">
                <a:solidFill>
                  <a:srgbClr val="202830"/>
                </a:solidFill>
                <a:latin typeface="Malgun Gothic"/>
              </a:rPr>
              <a:t>•  3.3~3.5  사전 정의 예외 · OTHERS 핸들러와 안티패턴</a:t>
            </a:r>
          </a:p>
          <a:p>
            <a:pPr>
              <a:spcAft>
                <a:spcPts val="500"/>
              </a:spcAft>
            </a:pPr>
            <a:r>
              <a:rPr sz="1800" b="0">
                <a:solidFill>
                  <a:srgbClr val="202830"/>
                </a:solidFill>
                <a:latin typeface="Malgun Gothic"/>
              </a:rPr>
              <a:t>•  3.6~3.7  SQLCODE와 SQLERRM · PRAGMA EXCEPTION_INIT</a:t>
            </a:r>
          </a:p>
          <a:p>
            <a:pPr>
              <a:spcAft>
                <a:spcPts val="500"/>
              </a:spcAft>
            </a:pPr>
            <a:r>
              <a:rPr sz="1800" b="0">
                <a:solidFill>
                  <a:srgbClr val="202830"/>
                </a:solidFill>
                <a:latin typeface="Malgun Gothic"/>
              </a:rPr>
              <a:t>•  3.8~3.10  사용자 정의 예외와 RAISE · RAISE_APPLICATION_ERROR · 예외 전파</a:t>
            </a:r>
          </a:p>
          <a:p>
            <a:pPr>
              <a:spcAft>
                <a:spcPts val="500"/>
              </a:spcAft>
            </a:pPr>
            <a:r>
              <a:rPr sz="1800" b="0">
                <a:solidFill>
                  <a:srgbClr val="202830"/>
                </a:solidFill>
                <a:latin typeface="Malgun Gothic"/>
              </a:rPr>
              <a:t>•  3.11~3.13  트랜잭션과 COMMIT/ROLLBACK · SAVEPOINT · 예외와 트랜잭션의 결합</a:t>
            </a:r>
          </a:p>
          <a:p>
            <a:pPr>
              <a:spcAft>
                <a:spcPts val="500"/>
              </a:spcAft>
            </a:pPr>
            <a:r>
              <a:rPr sz="1800" b="0">
                <a:solidFill>
                  <a:srgbClr val="202830"/>
                </a:solidFill>
                <a:latin typeface="Malgun Gothic"/>
              </a:rPr>
              <a:t>•  3.14~3.17  컬렉션 개요 · Associative Array · Nested Table/VARRAY · BULK COLLECT</a:t>
            </a:r>
          </a:p>
          <a:p>
            <a:pPr>
              <a:spcAft>
                <a:spcPts val="500"/>
              </a:spcAft>
            </a:pPr>
            <a:r>
              <a:rPr sz="1800" b="0">
                <a:solidFill>
                  <a:srgbClr val="202830"/>
                </a:solidFill>
                <a:latin typeface="Malgun Gothic"/>
              </a:rPr>
              <a:t>•  3.18  자주 만나는 오류와 진단 · 요약 · 퀴즈 · 실습 개요</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4377113" cy="1107996"/>
          </a:xfrm>
          <a:prstGeom prst="rect">
            <a:avLst/>
          </a:prstGeom>
          <a:noFill/>
        </p:spPr>
        <p:txBody>
          <a:bodyPr wrap="square">
            <a:spAutoFit/>
          </a:bodyPr>
          <a:lstStyle/>
          <a:p>
            <a:r>
              <a:rPr sz="6600" b="1" dirty="0">
                <a:solidFill>
                  <a:srgbClr val="C0392B"/>
                </a:solidFill>
                <a:latin typeface="Malgun Gothic"/>
              </a:rPr>
              <a:t>3.1~3.2</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예외의 개념과 EXCEPTION 절</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예외란 무엇이며 언제 발생하는가</a:t>
            </a:r>
          </a:p>
          <a:p>
            <a:pPr>
              <a:spcAft>
                <a:spcPts val="600"/>
              </a:spcAft>
            </a:pPr>
            <a:r>
              <a:rPr sz="1600" b="0">
                <a:solidFill>
                  <a:srgbClr val="C5CED6"/>
                </a:solidFill>
                <a:latin typeface="Malgun Gothic"/>
              </a:rPr>
              <a:t>•  예외 처리 유무에 따른 블록 종료 방식</a:t>
            </a:r>
          </a:p>
          <a:p>
            <a:pPr>
              <a:spcAft>
                <a:spcPts val="600"/>
              </a:spcAft>
            </a:pPr>
            <a:r>
              <a:rPr sz="1600" b="0">
                <a:solidFill>
                  <a:srgbClr val="C5CED6"/>
                </a:solidFill>
                <a:latin typeface="Malgun Gothic"/>
              </a:rPr>
              <a:t>•  예외의 세 가지 유형과 EXCEPTION 절 문법</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예외란 무엇인가</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rPr>
              <a:t>•  컴파일 오류와 실행 시 오류는 성격이 다르다</a:t>
            </a:r>
          </a:p>
          <a:p>
            <a:pPr>
              <a:spcAft>
                <a:spcPts val="300"/>
              </a:spcAft>
            </a:pPr>
            <a:r>
              <a:rPr sz="1600" b="0">
                <a:solidFill>
                  <a:srgbClr val="5A6672"/>
                </a:solidFill>
                <a:latin typeface="Malgun Gothic"/>
              </a:rPr>
              <a:t>    –  컴파일 오류 : 구문 오류, 선언되지 않은 식별자 등 — 소스를 고치면 사라진다</a:t>
            </a:r>
          </a:p>
          <a:p>
            <a:pPr>
              <a:spcAft>
                <a:spcPts val="300"/>
              </a:spcAft>
            </a:pPr>
            <a:r>
              <a:rPr sz="1600" b="0">
                <a:solidFill>
                  <a:srgbClr val="5A6672"/>
                </a:solidFill>
                <a:latin typeface="Malgun Gothic"/>
              </a:rPr>
              <a:t>    –  실행 시 오류 : 소스가 완벽해도 데이터·입력값·자원 상황에 따라 발생한다</a:t>
            </a:r>
          </a:p>
          <a:p>
            <a:pPr>
              <a:spcAft>
                <a:spcPts val="500"/>
              </a:spcAft>
            </a:pPr>
            <a:r>
              <a:rPr sz="1800" b="0">
                <a:solidFill>
                  <a:srgbClr val="202830"/>
                </a:solidFill>
                <a:latin typeface="Malgun Gothic"/>
              </a:rPr>
              <a:t>•  PL/SQL에서 실행 중 발생하는 오류를 예외(exception)라고 부른다</a:t>
            </a:r>
          </a:p>
          <a:p>
            <a:pPr>
              <a:spcAft>
                <a:spcPts val="500"/>
              </a:spcAft>
            </a:pPr>
            <a:r>
              <a:rPr sz="1800" b="0">
                <a:solidFill>
                  <a:srgbClr val="202830"/>
                </a:solidFill>
                <a:latin typeface="Malgun Gothic"/>
              </a:rPr>
              <a:t>•  예외는 두 가지 방식으로 발생한다</a:t>
            </a:r>
          </a:p>
          <a:p>
            <a:pPr>
              <a:spcAft>
                <a:spcPts val="300"/>
              </a:spcAft>
            </a:pPr>
            <a:r>
              <a:rPr sz="1600" b="0">
                <a:solidFill>
                  <a:srgbClr val="5A6672"/>
                </a:solidFill>
                <a:latin typeface="Malgun Gothic"/>
              </a:rPr>
              <a:t>    –  오라클 서버가 암시적으로 발생시킨다 (예: SELECT INTO가 행을 못 찾으면 ORA-01403)</a:t>
            </a:r>
          </a:p>
          <a:p>
            <a:pPr>
              <a:spcAft>
                <a:spcPts val="300"/>
              </a:spcAft>
            </a:pPr>
            <a:r>
              <a:rPr sz="1600" b="0">
                <a:solidFill>
                  <a:srgbClr val="5A6672"/>
                </a:solidFill>
                <a:latin typeface="Malgun Gothic"/>
              </a:rPr>
              <a:t>    –  프로그램이 RAISE 문으로 명시적으로 발생시킨다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컴파일 성공은 정확성의 보장이 아니다. 데이터 상태가 바뀌면 어제 잘 돌던 코드가 오늘 실패할 수 있다</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 처리 전 · 후 비교</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EXCEPTION 절 하나가 종료 방식을 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(1) 예외 처리가 없으면 오류가 그대로 호출 환경으로 나간다</a:t>
            </a:r>
          </a:p>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v_lname   employees.last_name%TYPE;</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last_name INTO v_lname FROM employees WHERE first_name = 'John';</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ORA-01422: exact fetch returns more than requested number of rows</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EXCEPTION 절을 추가하면 블록이 스스로 마무리한다</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last_name INTO v_lname FROM employees WHERE first_name = 'John';</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TOO_MANY_ROWS THEN</a:t>
            </a:r>
          </a:p>
          <a:p>
            <a:pPr>
              <a:spcAft>
                <a:spcPts val="0"/>
              </a:spcAft>
            </a:pPr>
            <a:r>
              <a:rPr sz="1250" b="0">
                <a:solidFill>
                  <a:srgbClr val="E6E6E6"/>
                </a:solidFill>
                <a:latin typeface="Consolas"/>
              </a:rPr>
              <a:t>      DBMS_OUTPUT.PUT_LINE('여러 행이 조회되었다. 커서 사용을 검토하라.');</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여러 행이 조회되었다. 커서 사용을 검토하라.</a:t>
            </a:r>
          </a:p>
          <a:p>
            <a:pPr>
              <a:spcAft>
                <a:spcPts val="0"/>
              </a:spcAft>
            </a:pPr>
            <a:r>
              <a:rPr sz="1250" b="0">
                <a:solidFill>
                  <a:srgbClr val="7EC699"/>
                </a:solidFill>
                <a:latin typeface="Consolas"/>
              </a:rPr>
              <a:t>-- PL/SQL procedure successfully completed.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 처리 흐름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예외 발생 → 현재 문장 즉시 중단 → 해당 블록의 EXCEPTION 절 검사</a:t>
            </a:r>
          </a:p>
          <a:p>
            <a:pPr>
              <a:spcAft>
                <a:spcPts val="300"/>
              </a:spcAft>
            </a:pPr>
            <a:r>
              <a:rPr sz="1600" b="0">
                <a:solidFill>
                  <a:srgbClr val="5A6672"/>
                </a:solidFill>
                <a:latin typeface="Malgun Gothic"/>
              </a:rPr>
              <a:t>    –  일치하는 핸들러가 있으면 : 핸들러 실행 후 블록을 정상 종료(normal completion)</a:t>
            </a:r>
          </a:p>
          <a:p>
            <a:pPr>
              <a:spcAft>
                <a:spcPts val="300"/>
              </a:spcAft>
            </a:pPr>
            <a:r>
              <a:rPr sz="1600" b="0">
                <a:solidFill>
                  <a:srgbClr val="5A6672"/>
                </a:solidFill>
                <a:latin typeface="Malgun Gothic"/>
              </a:rPr>
              <a:t>    –  핸들러가 없으면 : 블록은 비정상 종료되고 예외가 바깥 블록·호출 환경으로 전파</a:t>
            </a:r>
          </a:p>
          <a:p>
            <a:pPr>
              <a:spcAft>
                <a:spcPts val="500"/>
              </a:spcAft>
            </a:pPr>
            <a:r>
              <a:rPr sz="1800" b="0">
                <a:solidFill>
                  <a:srgbClr val="202830"/>
                </a:solidFill>
                <a:latin typeface="Malgun Gothic"/>
              </a:rPr>
              <a:t>•  핸들러는 위에서부터 검사해 처음 일치하는 하나만 실행한다</a:t>
            </a:r>
          </a:p>
          <a:p>
            <a:pPr>
              <a:spcAft>
                <a:spcPts val="300"/>
              </a:spcAft>
            </a:pPr>
            <a:r>
              <a:rPr sz="1600" b="0">
                <a:solidFill>
                  <a:srgbClr val="5A6672"/>
                </a:solidFill>
                <a:latin typeface="Malgun Gothic"/>
              </a:rPr>
              <a:t>    –  switch 문처럼 아래로 흘러내리지 않는다</a:t>
            </a:r>
          </a:p>
          <a:p>
            <a:pPr>
              <a:spcAft>
                <a:spcPts val="300"/>
              </a:spcAft>
            </a:pPr>
            <a:r>
              <a:rPr sz="1600" b="0">
                <a:solidFill>
                  <a:srgbClr val="5A6672"/>
                </a:solidFill>
                <a:latin typeface="Malgun Gothic"/>
              </a:rPr>
              <a:t>    –  핸들러 실행 후 예외가 발생한 지점으로 되돌아가지 않는다</a:t>
            </a:r>
          </a:p>
          <a:p>
            <a:pPr>
              <a:spcAft>
                <a:spcPts val="500"/>
              </a:spcAft>
            </a:pPr>
            <a:r>
              <a:rPr sz="1800" b="0">
                <a:solidFill>
                  <a:srgbClr val="202830"/>
                </a:solidFill>
                <a:latin typeface="Malgun Gothic"/>
              </a:rPr>
              <a:t>•  예외를 잡았다면 기록·보정·재발생 중 최소 하나는 반드시 해야 한다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예외의 세 가지 유형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사전 정의 예외 (Predefined)</a:t>
            </a:r>
          </a:p>
          <a:p>
            <a:pPr>
              <a:spcAft>
                <a:spcPts val="300"/>
              </a:spcAft>
            </a:pPr>
            <a:r>
              <a:rPr sz="1600" b="0">
                <a:solidFill>
                  <a:srgbClr val="5A6672"/>
                </a:solidFill>
                <a:latin typeface="Malgun Gothic"/>
              </a:rPr>
              <a:t>    –  STANDARD 패키지에 이름이 정의된 20여 개 — 선언 불필요, 암시적 발생</a:t>
            </a:r>
          </a:p>
          <a:p>
            <a:pPr>
              <a:spcAft>
                <a:spcPts val="300"/>
              </a:spcAft>
            </a:pPr>
            <a:r>
              <a:rPr sz="1600" b="0">
                <a:solidFill>
                  <a:srgbClr val="5A6672"/>
                </a:solidFill>
                <a:latin typeface="Malgun Gothic"/>
              </a:rPr>
              <a:t>    –  NO_DATA_FOUND, TOO_MANY_ROWS, ZERO_DIVIDE, VALUE_ERROR, DUP_VAL_ON_INDEX ...</a:t>
            </a:r>
          </a:p>
          <a:p>
            <a:pPr>
              <a:spcAft>
                <a:spcPts val="500"/>
              </a:spcAft>
            </a:pPr>
            <a:r>
              <a:rPr sz="1800" b="0">
                <a:solidFill>
                  <a:srgbClr val="202830"/>
                </a:solidFill>
                <a:latin typeface="Malgun Gothic"/>
              </a:rPr>
              <a:t>•  비사전 정의 예외 (Non-predefined)</a:t>
            </a:r>
          </a:p>
          <a:p>
            <a:pPr>
              <a:spcAft>
                <a:spcPts val="300"/>
              </a:spcAft>
            </a:pPr>
            <a:r>
              <a:rPr sz="1600" b="0">
                <a:solidFill>
                  <a:srgbClr val="5A6672"/>
                </a:solidFill>
                <a:latin typeface="Malgun Gothic"/>
              </a:rPr>
              <a:t>    –  이름이 없는 나머지 표준 오라클 오류 — PRAGMA EXCEPTION_INIT으로 이름을 붙인다</a:t>
            </a:r>
          </a:p>
          <a:p>
            <a:pPr>
              <a:spcAft>
                <a:spcPts val="300"/>
              </a:spcAft>
            </a:pPr>
            <a:r>
              <a:rPr sz="1600" b="0">
                <a:solidFill>
                  <a:srgbClr val="5A6672"/>
                </a:solidFill>
                <a:latin typeface="Malgun Gothic"/>
              </a:rPr>
              <a:t>    –  예: ORA-01400(NULL 입력 불가), ORA-02292(자식 레코드 존재)</a:t>
            </a:r>
          </a:p>
          <a:p>
            <a:pPr>
              <a:spcAft>
                <a:spcPts val="500"/>
              </a:spcAft>
            </a:pPr>
            <a:r>
              <a:rPr sz="1800" b="0">
                <a:solidFill>
                  <a:srgbClr val="202830"/>
                </a:solidFill>
                <a:latin typeface="Malgun Gothic"/>
              </a:rPr>
              <a:t>•  사용자 정의 예외 (User-defined)</a:t>
            </a:r>
          </a:p>
          <a:p>
            <a:pPr>
              <a:spcAft>
                <a:spcPts val="300"/>
              </a:spcAft>
            </a:pPr>
            <a:r>
              <a:rPr sz="1600" b="0">
                <a:solidFill>
                  <a:srgbClr val="5A6672"/>
                </a:solidFill>
                <a:latin typeface="Malgun Gothic"/>
              </a:rPr>
              <a:t>    –  오라클 오류가 아닌 업무 규칙 위반 — 선언 후 RAISE로 명시적 발생</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EXCEPTION 절 문법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WHEN 절은 여러 개, OTHERS는 마지막에 하나만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예외1 [OR 예외2 ...] THEN</a:t>
            </a:r>
          </a:p>
          <a:p>
            <a:pPr>
              <a:spcAft>
                <a:spcPts val="0"/>
              </a:spcAft>
            </a:pPr>
            <a:r>
              <a:rPr sz="1250" b="0">
                <a:solidFill>
                  <a:srgbClr val="E6E6E6"/>
                </a:solidFill>
                <a:latin typeface="Consolas"/>
              </a:rPr>
              <a:t>      문장; ...</a:t>
            </a:r>
          </a:p>
          <a:p>
            <a:pPr>
              <a:spcAft>
                <a:spcPts val="0"/>
              </a:spcAft>
            </a:pPr>
            <a:r>
              <a:rPr sz="1250" b="0">
                <a:solidFill>
                  <a:srgbClr val="E6E6E6"/>
                </a:solidFill>
                <a:latin typeface="Consolas"/>
              </a:rPr>
              <a:t>   WHEN 예외3 THEN</a:t>
            </a:r>
          </a:p>
          <a:p>
            <a:pPr>
              <a:spcAft>
                <a:spcPts val="0"/>
              </a:spcAft>
            </a:pPr>
            <a:r>
              <a:rPr sz="1250" b="0">
                <a:solidFill>
                  <a:srgbClr val="E6E6E6"/>
                </a:solidFill>
                <a:latin typeface="Consolas"/>
              </a:rPr>
              <a:t>      문장; ...</a:t>
            </a:r>
          </a:p>
          <a:p>
            <a:pPr>
              <a:spcAft>
                <a:spcPts val="0"/>
              </a:spcAft>
            </a:pPr>
            <a:r>
              <a:rPr sz="1250" b="0">
                <a:solidFill>
                  <a:srgbClr val="E6E6E6"/>
                </a:solidFill>
                <a:latin typeface="Consolas"/>
              </a:rPr>
              <a:t>   WHEN OTHERS THEN                 -- 반드시 마지막, 한 번만</a:t>
            </a:r>
          </a:p>
          <a:p>
            <a:pPr>
              <a:spcAft>
                <a:spcPts val="0"/>
              </a:spcAft>
            </a:pPr>
            <a:r>
              <a:rPr sz="1250" b="0">
                <a:solidFill>
                  <a:srgbClr val="E6E6E6"/>
                </a:solidFill>
                <a:latin typeface="Consolas"/>
              </a:rPr>
              <a:t>      문장; ...</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규칙</a:t>
            </a:r>
          </a:p>
          <a:p>
            <a:pPr>
              <a:spcAft>
                <a:spcPts val="0"/>
              </a:spcAft>
            </a:pPr>
            <a:r>
              <a:rPr sz="1250" b="0">
                <a:solidFill>
                  <a:srgbClr val="7EC699"/>
                </a:solidFill>
                <a:latin typeface="Consolas"/>
              </a:rPr>
              <a:t>--   같은 예외를 두 WHEN 절에 중복해서 쓸 수 없다</a:t>
            </a:r>
          </a:p>
          <a:p>
            <a:pPr>
              <a:spcAft>
                <a:spcPts val="0"/>
              </a:spcAft>
            </a:pPr>
            <a:r>
              <a:rPr sz="1250" b="0">
                <a:solidFill>
                  <a:srgbClr val="7EC699"/>
                </a:solidFill>
                <a:latin typeface="Consolas"/>
              </a:rPr>
              <a:t>--   하나의 WHEN 절에 OR로 여러 예외를 묶을 수 있다</a:t>
            </a:r>
          </a:p>
          <a:p>
            <a:pPr>
              <a:spcAft>
                <a:spcPts val="0"/>
              </a:spcAft>
            </a:pPr>
            <a:r>
              <a:rPr sz="1250" b="0">
                <a:solidFill>
                  <a:srgbClr val="7EC699"/>
                </a:solidFill>
                <a:latin typeface="Consolas"/>
              </a:rPr>
              <a:t>--   OTHERS를 앞에 두면 PLS-00370 컴파일 오류가 발생한다</a:t>
            </a:r>
          </a:p>
          <a:p>
            <a:pPr>
              <a:spcAft>
                <a:spcPts val="0"/>
              </a:spcAft>
            </a:pPr>
            <a:r>
              <a:rPr sz="1250" b="0">
                <a:solidFill>
                  <a:srgbClr val="7EC699"/>
                </a:solidFill>
                <a:latin typeface="Consolas"/>
              </a:rPr>
              <a:t>--   선언부(DECLARE)에서 발생한 예외는 그 블록이 잡지 못한다</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EXCEPTION 절을 어디에 둘 것인가</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한 건 실패가 전체를 멈추지 않게 하려면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반복 단위마다 중첩 블록을 두면 한 건 실패해도 나머지를 계속 처리한다</a:t>
            </a:r>
          </a:p>
          <a:p>
            <a:pPr>
              <a:spcAft>
                <a:spcPts val="0"/>
              </a:spcAft>
            </a:pPr>
            <a:r>
              <a:rPr sz="1250" b="0">
                <a:solidFill>
                  <a:srgbClr val="E6E6E6"/>
                </a:solidFill>
                <a:latin typeface="Consolas"/>
              </a:rPr>
              <a:t>FOR rec IN (SELECT employee_id, salary, commission_pct FROM employees) LOOP</a:t>
            </a:r>
          </a:p>
          <a:p>
            <a:pPr>
              <a:spcAft>
                <a:spcPts val="0"/>
              </a:spcAft>
            </a:pPr>
            <a:r>
              <a:rPr sz="1250" b="0">
                <a:solidFill>
                  <a:srgbClr val="E6E6E6"/>
                </a:solidFill>
                <a:latin typeface="Consolas"/>
              </a:rPr>
              <a:t>   BEGIN                                        -- 반복 1회분의 중첩 블록</a:t>
            </a:r>
          </a:p>
          <a:p>
            <a:pPr>
              <a:spcAft>
                <a:spcPts val="0"/>
              </a:spcAft>
            </a:pPr>
            <a:r>
              <a:rPr sz="1250" b="0">
                <a:solidFill>
                  <a:srgbClr val="E6E6E6"/>
                </a:solidFill>
                <a:latin typeface="Consolas"/>
              </a:rPr>
              <a:t>      DBMS_OUTPUT.PUT_LINE(ROUND(rec.salary / rec.commission_pct));</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ZERO_DIVIDE THEN</a:t>
            </a:r>
          </a:p>
          <a:p>
            <a:pPr>
              <a:spcAft>
                <a:spcPts val="0"/>
              </a:spcAft>
            </a:pPr>
            <a:r>
              <a:rPr sz="1250" b="0">
                <a:solidFill>
                  <a:srgbClr val="E6E6E6"/>
                </a:solidFill>
                <a:latin typeface="Consolas"/>
              </a:rPr>
              <a:t>         DBMS_OUTPUT.PUT_LINE(rec.employee_id || ' : 커미션 0, 건너뜀');</a:t>
            </a:r>
          </a:p>
          <a:p>
            <a:pPr>
              <a:spcAft>
                <a:spcPts val="0"/>
              </a:spcAft>
            </a:pPr>
            <a:r>
              <a:rPr sz="1250" b="0">
                <a:solidFill>
                  <a:srgbClr val="E6E6E6"/>
                </a:solidFill>
                <a:latin typeface="Consolas"/>
              </a:rPr>
              <a:t>   END;                                         -- 처리하고 다음 행으로</a:t>
            </a:r>
          </a:p>
          <a:p>
            <a:pPr>
              <a:spcAft>
                <a:spcPts val="0"/>
              </a:spcAft>
            </a:pPr>
            <a:r>
              <a:rPr sz="1250" b="0">
                <a:solidFill>
                  <a:srgbClr val="E6E6E6"/>
                </a:solidFill>
                <a:latin typeface="Consolas"/>
              </a:rPr>
              <a:t>END LOOP;</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만약 EXCEPTION 절이 루프 바깥에만 있으면?</a:t>
            </a:r>
          </a:p>
          <a:p>
            <a:pPr>
              <a:spcAft>
                <a:spcPts val="0"/>
              </a:spcAft>
            </a:pPr>
            <a:r>
              <a:rPr sz="1250" b="0">
                <a:solidFill>
                  <a:srgbClr val="7EC699"/>
                </a:solidFill>
                <a:latin typeface="Consolas"/>
              </a:rPr>
              <a:t>--   첫 실패에서 루프 전체가 중단되고 남은 행은 처리되지 않는다</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414058" cy="1107996"/>
          </a:xfrm>
          <a:prstGeom prst="rect">
            <a:avLst/>
          </a:prstGeom>
          <a:noFill/>
        </p:spPr>
        <p:txBody>
          <a:bodyPr wrap="square">
            <a:spAutoFit/>
          </a:bodyPr>
          <a:lstStyle/>
          <a:p>
            <a:r>
              <a:rPr sz="6600" b="1" dirty="0">
                <a:solidFill>
                  <a:srgbClr val="C0392B"/>
                </a:solidFill>
                <a:latin typeface="Malgun Gothic"/>
              </a:rPr>
              <a:t>3.3~3.5</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사전 정의 예외와 OTHERS</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NO_DATA_FOUND와 TOO_MANY_ROWS</a:t>
            </a:r>
          </a:p>
          <a:p>
            <a:pPr>
              <a:spcAft>
                <a:spcPts val="600"/>
              </a:spcAft>
            </a:pPr>
            <a:r>
              <a:rPr sz="1600" b="0">
                <a:solidFill>
                  <a:srgbClr val="C5CED6"/>
                </a:solidFill>
                <a:latin typeface="Malgun Gothic"/>
              </a:rPr>
              <a:t>•  ZERO_DIVIDE와 VALUE_ERROR</a:t>
            </a:r>
          </a:p>
          <a:p>
            <a:pPr>
              <a:spcAft>
                <a:spcPts val="600"/>
              </a:spcAft>
            </a:pPr>
            <a:r>
              <a:rPr sz="1600" b="0">
                <a:solidFill>
                  <a:srgbClr val="C5CED6"/>
                </a:solidFill>
                <a:latin typeface="Malgun Gothic"/>
              </a:rPr>
              <a:t>•  OTHERS 핸들러와 예외 삼킴 안티패턴</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NO_DATA_FOUND와 TOO_MANY_ROWS</a:t>
            </a:r>
          </a:p>
        </p:txBody>
      </p:sp>
      <p:sp>
        <p:nvSpPr>
          <p:cNvPr id="4" name="TextBox 3"/>
          <p:cNvSpPr txBox="1"/>
          <p:nvPr/>
        </p:nvSpPr>
        <p:spPr>
          <a:xfrm>
            <a:off x="640080" y="1234440"/>
            <a:ext cx="10881360" cy="4200000"/>
          </a:xfrm>
          <a:prstGeom prst="rect">
            <a:avLst/>
          </a:prstGeom>
          <a:noFill/>
        </p:spPr>
        <p:txBody>
          <a:bodyPr wrap="square">
            <a:spAutoFit/>
          </a:bodyPr>
          <a:lstStyle/>
          <a:p>
            <a:pPr>
              <a:spcAft>
                <a:spcPts val="500"/>
              </a:spcAft>
            </a:pPr>
            <a:r>
              <a:rPr sz="1800" b="0">
                <a:solidFill>
                  <a:srgbClr val="202830"/>
                </a:solidFill>
                <a:latin typeface="Malgun Gothic"/>
              </a:rPr>
              <a:t>•  SELECT INTO는 정확히 한 행을 반환해야 한다는 강한 전제를 가진다</a:t>
            </a:r>
          </a:p>
          <a:p>
            <a:pPr>
              <a:spcAft>
                <a:spcPts val="500"/>
              </a:spcAft>
            </a:pPr>
            <a:r>
              <a:rPr sz="1800" b="0">
                <a:solidFill>
                  <a:srgbClr val="202830"/>
                </a:solidFill>
                <a:latin typeface="Malgun Gothic"/>
              </a:rPr>
              <a:t>•  NO_DATA_FOUND (ORA-01403, SQLCODE = +100)</a:t>
            </a:r>
          </a:p>
          <a:p>
            <a:pPr>
              <a:spcAft>
                <a:spcPts val="300"/>
              </a:spcAft>
            </a:pPr>
            <a:r>
              <a:rPr sz="1600" b="0">
                <a:solidFill>
                  <a:srgbClr val="5A6672"/>
                </a:solidFill>
                <a:latin typeface="Malgun Gothic"/>
              </a:rPr>
              <a:t>    –  조회 결과가 0건 — 데이터가 아직 없거나 이미 삭제된 상황</a:t>
            </a:r>
          </a:p>
          <a:p>
            <a:pPr>
              <a:spcAft>
                <a:spcPts val="300"/>
              </a:spcAft>
            </a:pPr>
            <a:r>
              <a:rPr sz="1600" b="0">
                <a:solidFill>
                  <a:srgbClr val="5A6672"/>
                </a:solidFill>
                <a:latin typeface="Malgun Gothic"/>
              </a:rPr>
              <a:t>    –  대응: 기본값 대입, 건너뛰기, 또는 사용자에게 '없음'을 안내</a:t>
            </a:r>
          </a:p>
          <a:p>
            <a:pPr>
              <a:spcAft>
                <a:spcPts val="500"/>
              </a:spcAft>
            </a:pPr>
            <a:r>
              <a:rPr sz="1800" b="0">
                <a:solidFill>
                  <a:srgbClr val="202830"/>
                </a:solidFill>
                <a:latin typeface="Malgun Gothic"/>
              </a:rPr>
              <a:t>•  TOO_MANY_ROWS (ORA-01422, SQLCODE = -1422)</a:t>
            </a:r>
          </a:p>
          <a:p>
            <a:pPr>
              <a:spcAft>
                <a:spcPts val="300"/>
              </a:spcAft>
            </a:pPr>
            <a:r>
              <a:rPr sz="1600" b="0">
                <a:solidFill>
                  <a:srgbClr val="5A6672"/>
                </a:solidFill>
                <a:latin typeface="Malgun Gothic"/>
              </a:rPr>
              <a:t>    –  조회 결과가 2건 이상 — 조회 조건이 유일성을 보장하지 못하는 설계 문제</a:t>
            </a:r>
          </a:p>
          <a:p>
            <a:pPr>
              <a:spcAft>
                <a:spcPts val="300"/>
              </a:spcAft>
            </a:pPr>
            <a:r>
              <a:rPr sz="1600" b="0">
                <a:solidFill>
                  <a:srgbClr val="5A6672"/>
                </a:solidFill>
                <a:latin typeface="Malgun Gothic"/>
              </a:rPr>
              <a:t>    –  대응: 조건 보강, 커서로 전환. 보정값을 조용히 반환하면 안 된다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5623560"/>
            <a:ext cx="109728"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680" y="5696712"/>
            <a:ext cx="10515600" cy="822960"/>
          </a:xfrm>
          <a:prstGeom prst="rect">
            <a:avLst/>
          </a:prstGeom>
          <a:noFill/>
        </p:spPr>
        <p:txBody>
          <a:bodyPr wrap="square">
            <a:spAutoFit/>
          </a:bodyPr>
          <a:lstStyle/>
          <a:p>
            <a:r>
              <a:rPr sz="1300" b="1">
                <a:solidFill>
                  <a:srgbClr val="C0392B"/>
                </a:solidFill>
                <a:latin typeface="Malgun Gothic"/>
              </a:rPr>
              <a:t>주의: </a:t>
            </a:r>
            <a:r>
              <a:rPr sz="1250" b="0">
                <a:solidFill>
                  <a:srgbClr val="202830"/>
                </a:solidFill>
                <a:latin typeface="Malgun Gothic"/>
              </a:rPr>
              <a:t>집계 함수만 있는 SELECT INTO는 대상이 없어도 NO_DATA_FOUND가 아니라 COUNT는 0, SUM은 NULL을 한 행으로 반환한다</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두 방향의 실패를 각각 처리하기</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핸들러를 나누면 원인이 로그에 남는다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v_dept_id   employees.department_id%TYPE := 999;   -- 존재하지 않는 부서</a:t>
            </a:r>
          </a:p>
          <a:p>
            <a:pPr>
              <a:spcAft>
                <a:spcPts val="0"/>
              </a:spcAft>
            </a:pPr>
            <a:r>
              <a:rPr sz="1250" b="0">
                <a:solidFill>
                  <a:srgbClr val="E6E6E6"/>
                </a:solidFill>
                <a:latin typeface="Consolas"/>
              </a:rPr>
              <a:t>   v_name      employees.last_name%TYPE;</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last_name INTO v_name</a:t>
            </a:r>
          </a:p>
          <a:p>
            <a:pPr>
              <a:spcAft>
                <a:spcPts val="0"/>
              </a:spcAft>
            </a:pPr>
            <a:r>
              <a:rPr sz="1250" b="0">
                <a:solidFill>
                  <a:srgbClr val="E6E6E6"/>
                </a:solidFill>
                <a:latin typeface="Consolas"/>
              </a:rPr>
              <a:t>     FROM employees WHERE department_id = v_dept_id;</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NO_DATA_FOUND THEN</a:t>
            </a:r>
          </a:p>
          <a:p>
            <a:pPr>
              <a:spcAft>
                <a:spcPts val="0"/>
              </a:spcAft>
            </a:pPr>
            <a:r>
              <a:rPr sz="1250" b="0">
                <a:solidFill>
                  <a:srgbClr val="E6E6E6"/>
                </a:solidFill>
                <a:latin typeface="Consolas"/>
              </a:rPr>
              <a:t>      DBMS_OUTPUT.PUT_LINE('소속 사원이 없다. 기본값 처리.');</a:t>
            </a:r>
          </a:p>
          <a:p>
            <a:pPr>
              <a:spcAft>
                <a:spcPts val="0"/>
              </a:spcAft>
            </a:pPr>
            <a:r>
              <a:rPr sz="1250" b="0">
                <a:solidFill>
                  <a:srgbClr val="E6E6E6"/>
                </a:solidFill>
                <a:latin typeface="Consolas"/>
              </a:rPr>
              <a:t>   WHEN TOO_MANY_ROWS THEN</a:t>
            </a:r>
          </a:p>
          <a:p>
            <a:pPr>
              <a:spcAft>
                <a:spcPts val="0"/>
              </a:spcAft>
            </a:pPr>
            <a:r>
              <a:rPr sz="1250" b="0">
                <a:solidFill>
                  <a:srgbClr val="E6E6E6"/>
                </a:solidFill>
                <a:latin typeface="Consolas"/>
              </a:rPr>
              <a:t>      DBMS_OUTPUT.PUT_LINE('사원이 여러 명이다. 커서로 전환 필요.');</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소속 사원이 없다. 기본값 처리.</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부서 번호를 50으로 바꾸면 TOO_MANY_ROWS 쪽이 실행된다</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ZERO_DIVIDE와 VALUE_ERROR</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ZERO_DIVIDE (ORA-01476, SQLCODE = -1476)</a:t>
            </a:r>
          </a:p>
          <a:p>
            <a:pPr>
              <a:spcAft>
                <a:spcPts val="300"/>
              </a:spcAft>
            </a:pPr>
            <a:r>
              <a:rPr sz="1600" b="0">
                <a:solidFill>
                  <a:srgbClr val="5A6672"/>
                </a:solidFill>
                <a:latin typeface="Malgun Gothic"/>
              </a:rPr>
              <a:t>    –  0으로 나눌 때 발생 — HR의 commission_pct 기반 계산에서 쉽게 재현된다</a:t>
            </a:r>
          </a:p>
          <a:p>
            <a:pPr>
              <a:spcAft>
                <a:spcPts val="300"/>
              </a:spcAft>
            </a:pPr>
            <a:r>
              <a:rPr sz="1600" b="0">
                <a:solidFill>
                  <a:srgbClr val="5A6672"/>
                </a:solidFill>
                <a:latin typeface="Malgun Gothic"/>
              </a:rPr>
              <a:t>    –  NULL로 나누면 결과가 NULL일 뿐 예외는 발생하지 않는다</a:t>
            </a:r>
          </a:p>
          <a:p>
            <a:pPr>
              <a:spcAft>
                <a:spcPts val="500"/>
              </a:spcAft>
            </a:pPr>
            <a:r>
              <a:rPr sz="1800" b="0">
                <a:solidFill>
                  <a:srgbClr val="202830"/>
                </a:solidFill>
                <a:latin typeface="Malgun Gothic"/>
              </a:rPr>
              <a:t>•  VALUE_ERROR (ORA-06502, SQLCODE = -6502)</a:t>
            </a:r>
          </a:p>
          <a:p>
            <a:pPr>
              <a:spcAft>
                <a:spcPts val="300"/>
              </a:spcAft>
            </a:pPr>
            <a:r>
              <a:rPr sz="1600" b="0">
                <a:solidFill>
                  <a:srgbClr val="5A6672"/>
                </a:solidFill>
                <a:latin typeface="Malgun Gothic"/>
              </a:rPr>
              <a:t>    –  산술·변환·잘림·크기 제약 오류의 통칭</a:t>
            </a:r>
          </a:p>
          <a:p>
            <a:pPr>
              <a:spcAft>
                <a:spcPts val="300"/>
              </a:spcAft>
            </a:pPr>
            <a:r>
              <a:rPr sz="1600" b="0">
                <a:solidFill>
                  <a:srgbClr val="5A6672"/>
                </a:solidFill>
                <a:latin typeface="Malgun Gothic"/>
              </a:rPr>
              <a:t>    –  TO_NUMBER('A100'), VARCHAR2(5) 변수에 10자 대입 등</a:t>
            </a:r>
          </a:p>
          <a:p>
            <a:pPr>
              <a:spcAft>
                <a:spcPts val="500"/>
              </a:spcAft>
            </a:pPr>
            <a:r>
              <a:rPr sz="1800" b="0">
                <a:solidFill>
                  <a:srgbClr val="202830"/>
                </a:solidFill>
                <a:latin typeface="Malgun Gothic"/>
              </a:rPr>
              <a:t>•  SQL 문장 안의 문자-숫자 변환 실패는 INVALID_NUMBER(ORA-01722)로 보고된다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ZERO_DIVIDE · VALUE_ERROR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발생 위치에 따라 예외 이름이 달라진다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v_result   NUMBER;</a:t>
            </a:r>
          </a:p>
          <a:p>
            <a:pPr>
              <a:spcAft>
                <a:spcPts val="0"/>
              </a:spcAft>
            </a:pPr>
            <a:r>
              <a:rPr sz="1250" b="0">
                <a:solidFill>
                  <a:srgbClr val="E6E6E6"/>
                </a:solidFill>
                <a:latin typeface="Consolas"/>
              </a:rPr>
              <a:t>   v_short    VARCHAR2(5);</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v_result := 1000 / 0;                    -- (1) 0으로 나누기</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ZERO_DIVIDE THEN</a:t>
            </a:r>
          </a:p>
          <a:p>
            <a:pPr>
              <a:spcAft>
                <a:spcPts val="0"/>
              </a:spcAft>
            </a:pPr>
            <a:r>
              <a:rPr sz="1250" b="0">
                <a:solidFill>
                  <a:srgbClr val="E6E6E6"/>
                </a:solidFill>
                <a:latin typeface="Consolas"/>
              </a:rPr>
              <a:t>         DBMS_OUTPUT.PUT_LINE('ZERO_DIVIDE : ' || SQLERRM);</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v_result := TO_NUMBER('A100');           -- (2) 숫자가 아닌 문자열 변환</a:t>
            </a:r>
          </a:p>
          <a:p>
            <a:pPr>
              <a:spcAft>
                <a:spcPts val="0"/>
              </a:spcAft>
            </a:pPr>
            <a:r>
              <a:rPr sz="1250" b="0">
                <a:solidFill>
                  <a:srgbClr val="E6E6E6"/>
                </a:solidFill>
                <a:latin typeface="Consolas"/>
              </a:rPr>
              <a:t>      v_short  := 'ABCDEFGHIJ';                -- (3) 변수 크기 초과 대입</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VALUE_ERROR THEN</a:t>
            </a:r>
          </a:p>
          <a:p>
            <a:pPr>
              <a:spcAft>
                <a:spcPts val="0"/>
              </a:spcAft>
            </a:pPr>
            <a:r>
              <a:rPr sz="1250" b="0">
                <a:solidFill>
                  <a:srgbClr val="E6E6E6"/>
                </a:solidFill>
                <a:latin typeface="Consolas"/>
              </a:rPr>
              <a:t>         DBMS_OUTPUT.PUT_LINE('VALUE_ERROR : ' || SQLERRM);</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ZERO_DIVIDE : ORA-01476: divisor is equal to zero</a:t>
            </a:r>
          </a:p>
          <a:p>
            <a:pPr>
              <a:spcAft>
                <a:spcPts val="0"/>
              </a:spcAft>
            </a:pPr>
            <a:r>
              <a:rPr sz="1250" b="0">
                <a:solidFill>
                  <a:srgbClr val="7EC699"/>
                </a:solidFill>
                <a:latin typeface="Consolas"/>
              </a:rPr>
              <a:t>-- VALUE_ERROR : ORA-06502: PL/SQL: numeric or value error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OTHERS 핸들러</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OTHERS는 앞의 WHEN 절에서 잡히지 않은 모든 예외를 포착한다</a:t>
            </a:r>
          </a:p>
          <a:p>
            <a:pPr>
              <a:spcAft>
                <a:spcPts val="300"/>
              </a:spcAft>
            </a:pPr>
            <a:r>
              <a:rPr sz="1600" b="0">
                <a:solidFill>
                  <a:srgbClr val="5A6672"/>
                </a:solidFill>
                <a:latin typeface="Malgun Gothic"/>
              </a:rPr>
              <a:t>    –  예상하지 못한 오류로 배치가 통째로 중단되는 것을 막아 준다</a:t>
            </a:r>
          </a:p>
          <a:p>
            <a:pPr>
              <a:spcAft>
                <a:spcPts val="300"/>
              </a:spcAft>
            </a:pPr>
            <a:r>
              <a:rPr sz="1600" b="0">
                <a:solidFill>
                  <a:srgbClr val="5A6672"/>
                </a:solidFill>
                <a:latin typeface="Malgun Gothic"/>
              </a:rPr>
              <a:t>    –  반드시 마지막에, 한 번만 — 앞에 두면 PLS-00370</a:t>
            </a:r>
          </a:p>
          <a:p>
            <a:pPr>
              <a:spcAft>
                <a:spcPts val="500"/>
              </a:spcAft>
            </a:pPr>
            <a:r>
              <a:rPr sz="1800" b="0">
                <a:solidFill>
                  <a:srgbClr val="202830"/>
                </a:solidFill>
                <a:latin typeface="Malgun Gothic"/>
              </a:rPr>
              <a:t>•  가장 자주 오용되는 문법이기도 하다</a:t>
            </a:r>
          </a:p>
          <a:p>
            <a:pPr>
              <a:spcAft>
                <a:spcPts val="300"/>
              </a:spcAft>
            </a:pPr>
            <a:r>
              <a:rPr sz="1600" b="0">
                <a:solidFill>
                  <a:srgbClr val="5A6672"/>
                </a:solidFill>
                <a:latin typeface="Malgun Gothic"/>
              </a:rPr>
              <a:t>    –  WHEN OTHERS THEN NULL; — 오류가 흔적 없이 사라진다</a:t>
            </a:r>
          </a:p>
          <a:p>
            <a:pPr>
              <a:spcAft>
                <a:spcPts val="300"/>
              </a:spcAft>
            </a:pPr>
            <a:r>
              <a:rPr sz="1600" b="0">
                <a:solidFill>
                  <a:srgbClr val="5A6672"/>
                </a:solidFill>
                <a:latin typeface="Malgun Gothic"/>
              </a:rPr>
              <a:t>    –  운영자는 왜 데이터가 없는지 영원히 알 수 없게 된다</a:t>
            </a:r>
          </a:p>
          <a:p>
            <a:pPr>
              <a:spcAft>
                <a:spcPts val="500"/>
              </a:spcAft>
            </a:pPr>
            <a:r>
              <a:rPr sz="1800" b="0">
                <a:solidFill>
                  <a:srgbClr val="202830"/>
                </a:solidFill>
                <a:latin typeface="Malgun Gothic"/>
              </a:rPr>
              <a:t>•  최소 원칙: SQLCODE·SQLERRM 기록 + RAISE로 재발생 또는 업무 오류로 변환</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안티패턴 : 예외를 삼키는 OTHERS</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실패가 성공으로 보고되는 구조</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안티패턴</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UPDATE employees SET salary = salary * 1.1 WHERE department_id = 60;</a:t>
            </a:r>
          </a:p>
          <a:p>
            <a:pPr>
              <a:spcAft>
                <a:spcPts val="0"/>
              </a:spcAft>
            </a:pPr>
            <a:r>
              <a:rPr sz="1250" b="0">
                <a:solidFill>
                  <a:srgbClr val="7EC699"/>
                </a:solidFill>
                <a:latin typeface="Consolas"/>
              </a:rPr>
              <a:t>   -- ... 여러 처리 ...</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NULL;                       -- 아무 것도 하지 않는다. 원인 추적 불가</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PL/SQL procedure successfully completed.   &lt;- 호출자는 성공으로 인식</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무엇이 문제인가</a:t>
            </a:r>
          </a:p>
          <a:p>
            <a:pPr>
              <a:spcAft>
                <a:spcPts val="0"/>
              </a:spcAft>
            </a:pPr>
            <a:r>
              <a:rPr sz="1250" b="0">
                <a:solidFill>
                  <a:srgbClr val="7EC699"/>
                </a:solidFill>
                <a:latin typeface="Consolas"/>
              </a:rPr>
              <a:t>--   1) 어떤 오류였는지 아무도 모른다</a:t>
            </a:r>
          </a:p>
          <a:p>
            <a:pPr>
              <a:spcAft>
                <a:spcPts val="0"/>
              </a:spcAft>
            </a:pPr>
            <a:r>
              <a:rPr sz="1250" b="0">
                <a:solidFill>
                  <a:srgbClr val="7EC699"/>
                </a:solidFill>
                <a:latin typeface="Consolas"/>
              </a:rPr>
              <a:t>--   2) 스케줄러·애플리케이션은 성공으로 판정한다</a:t>
            </a:r>
          </a:p>
          <a:p>
            <a:pPr>
              <a:spcAft>
                <a:spcPts val="0"/>
              </a:spcAft>
            </a:pPr>
            <a:r>
              <a:rPr sz="1250" b="0">
                <a:solidFill>
                  <a:srgbClr val="7EC699"/>
                </a:solidFill>
                <a:latin typeface="Consolas"/>
              </a:rPr>
              <a:t>--   3) 데이터는 반영되지 않았는데 배치 이력은 정상으로 남는다</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개선 : 기록하고 다시 던진다</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로깅 실패가 본 오류를 가리지 않도록</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UPDATE employees SET salary = salary * 1.1 WHERE department_id = 60;</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v_code := SQLCODE;  v_msg := SQLERRM;</a:t>
            </a:r>
          </a:p>
          <a:p>
            <a:pPr>
              <a:spcAft>
                <a:spcPts val="0"/>
              </a:spcAft>
            </a:pPr>
            <a:r>
              <a:rPr sz="1250" b="0">
                <a:solidFill>
                  <a:srgbClr val="E6E6E6"/>
                </a:solidFill>
                <a:latin typeface="Consolas"/>
              </a:rPr>
              <a:t>         INSERT INTO plsql_job_log(job_name, log_time, err_code, err_msg)</a:t>
            </a:r>
          </a:p>
          <a:p>
            <a:pPr>
              <a:spcAft>
                <a:spcPts val="0"/>
              </a:spcAft>
            </a:pPr>
            <a:r>
              <a:rPr sz="1250" b="0">
                <a:solidFill>
                  <a:srgbClr val="E6E6E6"/>
                </a:solidFill>
                <a:latin typeface="Consolas"/>
              </a:rPr>
              <a:t>         VALUES ('SALARY_RAISE', SYSTIMESTAMP, v_code, v_msg);</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OTHERS THEN NULL;          -- 로깅 실패가 본 오류를 가리지 않도록</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RAISE;                             -- 원래 예외를 그대로 재발생</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571076" cy="1107996"/>
          </a:xfrm>
          <a:prstGeom prst="rect">
            <a:avLst/>
          </a:prstGeom>
          <a:noFill/>
        </p:spPr>
        <p:txBody>
          <a:bodyPr wrap="square">
            <a:spAutoFit/>
          </a:bodyPr>
          <a:lstStyle/>
          <a:p>
            <a:r>
              <a:rPr sz="6600" b="1" dirty="0">
                <a:solidFill>
                  <a:srgbClr val="C0392B"/>
                </a:solidFill>
                <a:latin typeface="Malgun Gothic"/>
              </a:rPr>
              <a:t>3.6~3.7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오류 정보 조회와 오류 이름 붙이기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SQLCODE와 SQLERRM</a:t>
            </a:r>
          </a:p>
          <a:p>
            <a:pPr>
              <a:spcAft>
                <a:spcPts val="600"/>
              </a:spcAft>
            </a:pPr>
            <a:r>
              <a:rPr sz="1600" b="0">
                <a:solidFill>
                  <a:srgbClr val="C5CED6"/>
                </a:solidFill>
                <a:latin typeface="Malgun Gothic"/>
              </a:rPr>
              <a:t>•  주요 예외의 SQLCODE 값</a:t>
            </a:r>
          </a:p>
          <a:p>
            <a:pPr>
              <a:spcAft>
                <a:spcPts val="600"/>
              </a:spcAft>
            </a:pPr>
            <a:r>
              <a:rPr sz="1600" b="0">
                <a:solidFill>
                  <a:srgbClr val="C5CED6"/>
                </a:solidFill>
                <a:latin typeface="Malgun Gothic"/>
              </a:rPr>
              <a:t>•  PRAGMA EXCEPTION_INIT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SQLCODE와 SQLERRM</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SQLCODE : 현재 처리 중인 예외의 오라클 오류 번호를 반환한다</a:t>
            </a:r>
          </a:p>
          <a:p>
            <a:pPr>
              <a:spcAft>
                <a:spcPts val="500"/>
              </a:spcAft>
            </a:pPr>
            <a:r>
              <a:rPr sz="1800" b="0">
                <a:solidFill>
                  <a:srgbClr val="202830"/>
                </a:solidFill>
                <a:latin typeface="Malgun Gothic"/>
              </a:rPr>
              <a:t>•  SQLERRM : 그 번호에 해당하는 메시지 문자열을 반환한다</a:t>
            </a:r>
          </a:p>
          <a:p>
            <a:pPr>
              <a:spcAft>
                <a:spcPts val="300"/>
              </a:spcAft>
            </a:pPr>
            <a:r>
              <a:rPr sz="1600" b="0">
                <a:solidFill>
                  <a:srgbClr val="5A6672"/>
                </a:solidFill>
                <a:latin typeface="Malgun Gothic"/>
              </a:rPr>
              <a:t>    –  SQLERRM(-1422)처럼 인자를 주면 임의 오류의 메시지를 조회할 수 있다</a:t>
            </a:r>
          </a:p>
          <a:p>
            <a:pPr>
              <a:spcAft>
                <a:spcPts val="500"/>
              </a:spcAft>
            </a:pPr>
            <a:r>
              <a:rPr sz="1800" b="0">
                <a:solidFill>
                  <a:srgbClr val="202830"/>
                </a:solidFill>
                <a:latin typeface="Malgun Gothic"/>
              </a:rPr>
              <a:t>•  EXCEPTION 절 안에서만 의미 있는 값을 가진다</a:t>
            </a:r>
          </a:p>
          <a:p>
            <a:pPr>
              <a:spcAft>
                <a:spcPts val="300"/>
              </a:spcAft>
            </a:pPr>
            <a:r>
              <a:rPr sz="1600" b="0">
                <a:solidFill>
                  <a:srgbClr val="5A6672"/>
                </a:solidFill>
                <a:latin typeface="Malgun Gothic"/>
              </a:rPr>
              <a:t>    –  정상 실행부에서는 SQLCODE = 0, SQLERRM = 'ORA-0000: normal, successful completion'</a:t>
            </a:r>
          </a:p>
          <a:p>
            <a:pPr>
              <a:spcAft>
                <a:spcPts val="500"/>
              </a:spcAft>
            </a:pPr>
            <a:r>
              <a:rPr sz="1800" b="0">
                <a:solidFill>
                  <a:srgbClr val="202830"/>
                </a:solidFill>
                <a:latin typeface="Malgun Gothic"/>
              </a:rPr>
              <a:t>•  부호 규칙 : 대부분 음수. NO_DATA_FOUND만 예외적으로 +100</a:t>
            </a:r>
          </a:p>
          <a:p>
            <a:pPr>
              <a:spcAft>
                <a:spcPts val="500"/>
              </a:spcAft>
            </a:pPr>
            <a:r>
              <a:rPr sz="1800" b="0">
                <a:solidFill>
                  <a:srgbClr val="202830"/>
                </a:solidFill>
                <a:latin typeface="Malgun Gothic"/>
              </a:rPr>
              <a:t>•  SQL 문장에 직접 쓸 수 없다 — 지역 변수에 담은 뒤 사용 (PLS-00204)</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SQLCODE · SQLERRM 활용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먼저 변수에 담고, 그 변수를 로그에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v_code   NUMBER;</a:t>
            </a:r>
          </a:p>
          <a:p>
            <a:pPr>
              <a:spcAft>
                <a:spcPts val="0"/>
              </a:spcAft>
            </a:pPr>
            <a:r>
              <a:rPr sz="1250" b="0">
                <a:solidFill>
                  <a:srgbClr val="E6E6E6"/>
                </a:solidFill>
                <a:latin typeface="Consolas"/>
              </a:rPr>
              <a:t>   v_msg    VARCHAR2(255);</a:t>
            </a:r>
          </a:p>
          <a:p>
            <a:pPr>
              <a:spcAft>
                <a:spcPts val="0"/>
              </a:spcAft>
            </a:pPr>
            <a:r>
              <a:rPr sz="1250" b="0">
                <a:solidFill>
                  <a:srgbClr val="E6E6E6"/>
                </a:solidFill>
                <a:latin typeface="Consolas"/>
              </a:rPr>
              <a:t>   v_name   employees.last_name%TYPE;</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last_name INTO v_name FROM employees WHERE employee_id = 9999;</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v_code := SQLCODE;                       -- 먼저 변수에 담는다</a:t>
            </a:r>
          </a:p>
          <a:p>
            <a:pPr>
              <a:spcAft>
                <a:spcPts val="0"/>
              </a:spcAft>
            </a:pPr>
            <a:r>
              <a:rPr sz="1250" b="0">
                <a:solidFill>
                  <a:srgbClr val="E6E6E6"/>
                </a:solidFill>
                <a:latin typeface="Consolas"/>
              </a:rPr>
              <a:t>      v_msg  := SUBSTR(SQLERRM, 1, 255);</a:t>
            </a:r>
          </a:p>
          <a:p>
            <a:pPr>
              <a:spcAft>
                <a:spcPts val="0"/>
              </a:spcAft>
            </a:pPr>
            <a:r>
              <a:rPr sz="1250" b="0">
                <a:solidFill>
                  <a:srgbClr val="E6E6E6"/>
                </a:solidFill>
                <a:latin typeface="Consolas"/>
              </a:rPr>
              <a:t>      DBMS_OUTPUT.PUT_LINE(v_code || ' / ' || v_msg);</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-- 100 / ORA-01403: no data found</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주요 SQLCODE</a:t>
            </a:r>
          </a:p>
          <a:p>
            <a:pPr>
              <a:spcAft>
                <a:spcPts val="0"/>
              </a:spcAft>
            </a:pPr>
            <a:r>
              <a:rPr sz="1250" b="0">
                <a:solidFill>
                  <a:srgbClr val="7EC699"/>
                </a:solidFill>
                <a:latin typeface="Consolas"/>
              </a:rPr>
              <a:t>--   NO_DATA_FOUND +100  |  TOO_MANY_ROWS -1422  |  ZERO_DIVIDE -1476</a:t>
            </a:r>
          </a:p>
          <a:p>
            <a:pPr>
              <a:spcAft>
                <a:spcPts val="0"/>
              </a:spcAft>
            </a:pPr>
            <a:r>
              <a:rPr sz="1250" b="0">
                <a:solidFill>
                  <a:srgbClr val="7EC699"/>
                </a:solidFill>
                <a:latin typeface="Consolas"/>
              </a:rPr>
              <a:t>--   VALUE_ERROR   -6502 |  DUP_VAL_ON_INDEX -1  |  INVALID_NUMBER -1722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비사전 정의 예외와 PRAGMA EXCEPTION_INIT</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사전 정의 이름이 있는 오류는 20여 개뿐, 나머지는 이름이 없다</a:t>
            </a:r>
          </a:p>
          <a:p>
            <a:pPr>
              <a:spcAft>
                <a:spcPts val="300"/>
              </a:spcAft>
            </a:pPr>
            <a:r>
              <a:rPr sz="1600" b="0">
                <a:solidFill>
                  <a:srgbClr val="5A6672"/>
                </a:solidFill>
                <a:latin typeface="Malgun Gothic"/>
              </a:rPr>
              <a:t>    –  OTHERS로 잡아 SQLCODE를 비교하면 조건문이 복잡해지고 의도가 드러나지 않는다</a:t>
            </a:r>
          </a:p>
          <a:p>
            <a:pPr>
              <a:spcAft>
                <a:spcPts val="500"/>
              </a:spcAft>
            </a:pPr>
            <a:r>
              <a:rPr sz="1800" b="0">
                <a:solidFill>
                  <a:srgbClr val="202830"/>
                </a:solidFill>
                <a:latin typeface="Malgun Gothic"/>
              </a:rPr>
              <a:t>•  PRAGMA EXCEPTION_INIT : 예외 이름과 오류 번호를 컴파일 시점에 연결</a:t>
            </a:r>
          </a:p>
          <a:p>
            <a:pPr>
              <a:spcAft>
                <a:spcPts val="300"/>
              </a:spcAft>
            </a:pPr>
            <a:r>
              <a:rPr sz="1600" b="0">
                <a:solidFill>
                  <a:srgbClr val="5A6672"/>
                </a:solidFill>
                <a:latin typeface="Malgun Gothic"/>
              </a:rPr>
              <a:t>    –  ① 선언부에서 예외 선언 → ② PRAGMA로 번호 연결 → ③ WHEN 절에서 참조</a:t>
            </a:r>
          </a:p>
          <a:p>
            <a:pPr>
              <a:spcAft>
                <a:spcPts val="300"/>
              </a:spcAft>
            </a:pPr>
            <a:r>
              <a:rPr sz="1600" b="0">
                <a:solidFill>
                  <a:srgbClr val="5A6672"/>
                </a:solidFill>
                <a:latin typeface="Malgun Gothic"/>
              </a:rPr>
              <a:t>    –  오류 번호는 음수로 적는다. -1400을 1400으로 쓰면 절대 잡히지 않는다</a:t>
            </a:r>
          </a:p>
          <a:p>
            <a:pPr>
              <a:spcAft>
                <a:spcPts val="500"/>
              </a:spcAft>
            </a:pPr>
            <a:r>
              <a:rPr sz="1800" b="0">
                <a:solidFill>
                  <a:srgbClr val="202830"/>
                </a:solidFill>
                <a:latin typeface="Malgun Gothic"/>
              </a:rPr>
              <a:t>•  자주 쓰는 오류: ORA-01400(NULL 불가), ORA-02291/02292(참조 무결성)</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PRAGMA EXCEPTION_INIT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이름 없는 오류에 업무 언어를 입힌다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e_insert_null   EXCEPTION;                       -- (1) 선언</a:t>
            </a:r>
          </a:p>
          <a:p>
            <a:pPr>
              <a:spcAft>
                <a:spcPts val="0"/>
              </a:spcAft>
            </a:pPr>
            <a:r>
              <a:rPr sz="1250" b="0">
                <a:solidFill>
                  <a:srgbClr val="E6E6E6"/>
                </a:solidFill>
                <a:latin typeface="Consolas"/>
              </a:rPr>
              <a:t>   PRAGMA EXCEPTION_INIT(e_insert_null, -01400);    -- (2) 오류 번호 연결</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departments(department_id, department_name)</a:t>
            </a:r>
          </a:p>
          <a:p>
            <a:pPr>
              <a:spcAft>
                <a:spcPts val="0"/>
              </a:spcAft>
            </a:pPr>
            <a:r>
              <a:rPr sz="1250" b="0">
                <a:solidFill>
                  <a:srgbClr val="E6E6E6"/>
                </a:solidFill>
                <a:latin typeface="Consolas"/>
              </a:rPr>
              <a:t>   VALUES (280, NULL);                              -- NOT NULL 컬럼에 NULL</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e_insert_null THEN                          -- (3) 이름으로 포착</a:t>
            </a:r>
          </a:p>
          <a:p>
            <a:pPr>
              <a:spcAft>
                <a:spcPts val="0"/>
              </a:spcAft>
            </a:pPr>
            <a:r>
              <a:rPr sz="1250" b="0">
                <a:solidFill>
                  <a:srgbClr val="E6E6E6"/>
                </a:solidFill>
                <a:latin typeface="Consolas"/>
              </a:rPr>
              <a:t>      DBMS_OUTPUT.PUT_LINE('부서명은 필수 입력이다. ' || SQLERRM);</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부서명은 필수 입력이다. ORA-01400: cannot insert NULL into (...)</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참조 무결성 오류에도 같은 방식으로 이름을 붙인다</a:t>
            </a:r>
          </a:p>
          <a:p>
            <a:pPr>
              <a:spcAft>
                <a:spcPts val="0"/>
              </a:spcAft>
            </a:pPr>
            <a:r>
              <a:rPr sz="1250" b="0">
                <a:solidFill>
                  <a:srgbClr val="7EC699"/>
                </a:solidFill>
                <a:latin typeface="Consolas"/>
              </a:rPr>
              <a:t>--   PRAGMA EXCEPTION_INIT(e_child_exists,   -2292);  -- 자식 레코드 존재</a:t>
            </a:r>
          </a:p>
          <a:p>
            <a:pPr>
              <a:spcAft>
                <a:spcPts val="0"/>
              </a:spcAft>
            </a:pPr>
            <a:r>
              <a:rPr sz="1250" b="0">
                <a:solidFill>
                  <a:srgbClr val="7EC699"/>
                </a:solidFill>
                <a:latin typeface="Consolas"/>
              </a:rPr>
              <a:t>--   PRAGMA EXCEPTION_INIT(e_parent_missing, -2291);  -- 상위 데이터 없음</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4340167" cy="1107996"/>
          </a:xfrm>
          <a:prstGeom prst="rect">
            <a:avLst/>
          </a:prstGeom>
          <a:noFill/>
        </p:spPr>
        <p:txBody>
          <a:bodyPr wrap="square">
            <a:spAutoFit/>
          </a:bodyPr>
          <a:lstStyle/>
          <a:p>
            <a:r>
              <a:rPr sz="6600" b="1" dirty="0">
                <a:solidFill>
                  <a:srgbClr val="C0392B"/>
                </a:solidFill>
                <a:latin typeface="Malgun Gothic"/>
              </a:rPr>
              <a:t>3.8~3.10</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사용자 정의 예외와 예외 전파</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사용자 정의 예외와 RAISE</a:t>
            </a:r>
          </a:p>
          <a:p>
            <a:pPr>
              <a:spcAft>
                <a:spcPts val="600"/>
              </a:spcAft>
            </a:pPr>
            <a:r>
              <a:rPr sz="1600" b="0">
                <a:solidFill>
                  <a:srgbClr val="C5CED6"/>
                </a:solidFill>
                <a:latin typeface="Malgun Gothic"/>
              </a:rPr>
              <a:t>•  RAISE_APPLICATION_ERROR</a:t>
            </a:r>
          </a:p>
          <a:p>
            <a:pPr>
              <a:spcAft>
                <a:spcPts val="600"/>
              </a:spcAft>
            </a:pPr>
            <a:r>
              <a:rPr sz="1600" b="0">
                <a:solidFill>
                  <a:srgbClr val="C5CED6"/>
                </a:solidFill>
                <a:latin typeface="Malgun Gothic"/>
              </a:rPr>
              <a:t>•  중첩 블록에서의 예외 전파</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사용자 정의 예외와 RAISE</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업무 규칙 위반은 오라클 입장에서는 오류가 아니다</a:t>
            </a:r>
          </a:p>
          <a:p>
            <a:pPr>
              <a:spcAft>
                <a:spcPts val="300"/>
              </a:spcAft>
            </a:pPr>
            <a:r>
              <a:rPr sz="1600" b="0">
                <a:solidFill>
                  <a:srgbClr val="5A6672"/>
                </a:solidFill>
                <a:latin typeface="Malgun Gothic"/>
              </a:rPr>
              <a:t>    –  급여를 직무 최소급여보다 낮게 책정 — DBMS 관점에서는 완벽히 정상적인 DML</a:t>
            </a:r>
          </a:p>
          <a:p>
            <a:pPr>
              <a:spcAft>
                <a:spcPts val="500"/>
              </a:spcAft>
            </a:pPr>
            <a:r>
              <a:rPr sz="1800" b="0">
                <a:solidFill>
                  <a:srgbClr val="202830"/>
                </a:solidFill>
                <a:latin typeface="Malgun Gothic"/>
              </a:rPr>
              <a:t>•  작성 절차 : 선언부에 '이름 EXCEPTION;' → 조건 충족 시 RAISE → WHEN 절에서 포착</a:t>
            </a:r>
          </a:p>
          <a:p>
            <a:pPr>
              <a:spcAft>
                <a:spcPts val="500"/>
              </a:spcAft>
            </a:pPr>
            <a:r>
              <a:rPr sz="1800" b="0">
                <a:solidFill>
                  <a:srgbClr val="202830"/>
                </a:solidFill>
                <a:latin typeface="Malgun Gothic"/>
              </a:rPr>
              <a:t>•  RAISE 문의 세 가지 형태</a:t>
            </a:r>
          </a:p>
          <a:p>
            <a:pPr>
              <a:spcAft>
                <a:spcPts val="300"/>
              </a:spcAft>
            </a:pPr>
            <a:r>
              <a:rPr sz="1600" b="0">
                <a:solidFill>
                  <a:srgbClr val="5A6672"/>
                </a:solidFill>
                <a:latin typeface="Malgun Gothic"/>
              </a:rPr>
              <a:t>    –  RAISE 예외이름 — 지정한 예외를 발생시킨다</a:t>
            </a:r>
          </a:p>
          <a:p>
            <a:pPr>
              <a:spcAft>
                <a:spcPts val="300"/>
              </a:spcAft>
            </a:pPr>
            <a:r>
              <a:rPr sz="1600" b="0">
                <a:solidFill>
                  <a:srgbClr val="5A6672"/>
                </a:solidFill>
                <a:latin typeface="Malgun Gothic"/>
              </a:rPr>
              <a:t>    –  RAISE (인자 없음) — EXCEPTION 절 안에서 현재 예외를 그대로 재발생</a:t>
            </a:r>
          </a:p>
          <a:p>
            <a:pPr>
              <a:spcAft>
                <a:spcPts val="300"/>
              </a:spcAft>
            </a:pPr>
            <a:r>
              <a:rPr sz="1600" b="0">
                <a:solidFill>
                  <a:srgbClr val="5A6672"/>
                </a:solidFill>
                <a:latin typeface="Malgun Gothic"/>
              </a:rPr>
              <a:t>    –  RAISE NO_DATA_FOUND — 사전 정의 예외도 강제 발생 가능(권장하지 않음)</a:t>
            </a:r>
          </a:p>
          <a:p>
            <a:pPr>
              <a:spcAft>
                <a:spcPts val="500"/>
              </a:spcAft>
            </a:pPr>
            <a:r>
              <a:rPr sz="1800" b="0">
                <a:solidFill>
                  <a:srgbClr val="202830"/>
                </a:solidFill>
                <a:latin typeface="Malgun Gothic"/>
              </a:rPr>
              <a:t>•  유효 범위는 선언한 블록과 그 안쪽 — 밖에서 참조하면 PLS-00201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사용자 정의 예외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업무 규칙을 예외로 표현한다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e_invalid_salary   EXCEPTION;                 -- (1) 선언</a:t>
            </a:r>
          </a:p>
          <a:p>
            <a:pPr>
              <a:spcAft>
                <a:spcPts val="0"/>
              </a:spcAft>
            </a:pPr>
            <a:r>
              <a:rPr sz="1250" b="0">
                <a:solidFill>
                  <a:srgbClr val="E6E6E6"/>
                </a:solidFill>
                <a:latin typeface="Consolas"/>
              </a:rPr>
              <a:t>   v_salary   employees.salary%TYPE;</a:t>
            </a:r>
          </a:p>
          <a:p>
            <a:pPr>
              <a:spcAft>
                <a:spcPts val="0"/>
              </a:spcAft>
            </a:pPr>
            <a:r>
              <a:rPr sz="1250" b="0">
                <a:solidFill>
                  <a:srgbClr val="E6E6E6"/>
                </a:solidFill>
                <a:latin typeface="Consolas"/>
              </a:rPr>
              <a:t>   v_min      jobs.min_salary%TYPE;</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e.salary, j.min_salary INTO v_salary, v_min</a:t>
            </a:r>
          </a:p>
          <a:p>
            <a:pPr>
              <a:spcAft>
                <a:spcPts val="0"/>
              </a:spcAft>
            </a:pPr>
            <a:r>
              <a:rPr sz="1250" b="0">
                <a:solidFill>
                  <a:srgbClr val="E6E6E6"/>
                </a:solidFill>
                <a:latin typeface="Consolas"/>
              </a:rPr>
              <a:t>     FROM employees e JOIN jobs j ON e.job_id = j.job_id</a:t>
            </a:r>
          </a:p>
          <a:p>
            <a:pPr>
              <a:spcAft>
                <a:spcPts val="0"/>
              </a:spcAft>
            </a:pPr>
            <a:r>
              <a:rPr sz="1250" b="0">
                <a:solidFill>
                  <a:srgbClr val="E6E6E6"/>
                </a:solidFill>
                <a:latin typeface="Consolas"/>
              </a:rPr>
              <a:t>    WHERE e.employee_id = 141;</a:t>
            </a:r>
          </a:p>
          <a:p>
            <a:pPr>
              <a:spcAft>
                <a:spcPts val="0"/>
              </a:spcAft>
            </a:pPr>
            <a:r>
              <a:rPr sz="1250" b="0">
                <a:solidFill>
                  <a:srgbClr val="E6E6E6"/>
                </a:solidFill>
                <a:latin typeface="Consolas"/>
              </a:rPr>
              <a:t>   IF v_salary &lt; v_min THEN</a:t>
            </a:r>
          </a:p>
          <a:p>
            <a:pPr>
              <a:spcAft>
                <a:spcPts val="0"/>
              </a:spcAft>
            </a:pPr>
            <a:r>
              <a:rPr sz="1250" b="0">
                <a:solidFill>
                  <a:srgbClr val="E6E6E6"/>
                </a:solidFill>
                <a:latin typeface="Consolas"/>
              </a:rPr>
              <a:t>      RAISE e_invalid_salary;                    -- (2) 명시적 발생</a:t>
            </a:r>
          </a:p>
          <a:p>
            <a:pPr>
              <a:spcAft>
                <a:spcPts val="0"/>
              </a:spcAft>
            </a:pPr>
            <a:r>
              <a:rPr sz="1250" b="0">
                <a:solidFill>
                  <a:srgbClr val="E6E6E6"/>
                </a:solidFill>
                <a:latin typeface="Consolas"/>
              </a:rPr>
              <a:t>   END IF;</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e_invalid_salary THEN                    -- (3) 이름으로 포착</a:t>
            </a:r>
          </a:p>
          <a:p>
            <a:pPr>
              <a:spcAft>
                <a:spcPts val="0"/>
              </a:spcAft>
            </a:pPr>
            <a:r>
              <a:rPr sz="1250" b="0">
                <a:solidFill>
                  <a:srgbClr val="E6E6E6"/>
                </a:solidFill>
                <a:latin typeface="Consolas"/>
              </a:rPr>
              <a:t>      DBMS_OUTPUT.PUT_LINE('급여가 직무 최소급여 미만이다 : ' || v_salary);</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OTHERS로 잡으면?  SQLCODE=1 / SQLERRM=User-Defined Exception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RAISE_APPLICATION_ERROR</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사용자 정의 오류 번호와 메시지를 오라클 오류처럼 호출자에게 전달한다</a:t>
            </a:r>
          </a:p>
          <a:p>
            <a:pPr>
              <a:spcAft>
                <a:spcPts val="500"/>
              </a:spcAft>
            </a:pPr>
            <a:r>
              <a:rPr sz="1800" b="0">
                <a:solidFill>
                  <a:srgbClr val="202830"/>
                </a:solidFill>
                <a:latin typeface="Malgun Gothic"/>
              </a:rPr>
              <a:t>•  RAISE_APPLICATION_ERROR(error_number, message [, keep_errors])</a:t>
            </a:r>
          </a:p>
          <a:p>
            <a:pPr>
              <a:spcAft>
                <a:spcPts val="300"/>
              </a:spcAft>
            </a:pPr>
            <a:r>
              <a:rPr sz="1600" b="0">
                <a:solidFill>
                  <a:srgbClr val="5A6672"/>
                </a:solidFill>
                <a:latin typeface="Malgun Gothic"/>
              </a:rPr>
              <a:t>    –  error_number : -20000 ~ -20999 (1,000개 사용 가능)</a:t>
            </a:r>
          </a:p>
          <a:p>
            <a:pPr>
              <a:spcAft>
                <a:spcPts val="300"/>
              </a:spcAft>
            </a:pPr>
            <a:r>
              <a:rPr sz="1600" b="0">
                <a:solidFill>
                  <a:srgbClr val="5A6672"/>
                </a:solidFill>
                <a:latin typeface="Malgun Gothic"/>
              </a:rPr>
              <a:t>    –  message : 최대 2,048바이트</a:t>
            </a:r>
          </a:p>
          <a:p>
            <a:pPr>
              <a:spcAft>
                <a:spcPts val="300"/>
              </a:spcAft>
            </a:pPr>
            <a:r>
              <a:rPr sz="1600" b="0">
                <a:solidFill>
                  <a:srgbClr val="5A6672"/>
                </a:solidFill>
                <a:latin typeface="Malgun Gothic"/>
              </a:rPr>
              <a:t>    –  keep_errors : TRUE면 기존 오류 스택 유지, 생략 시 FALSE</a:t>
            </a:r>
          </a:p>
          <a:p>
            <a:pPr>
              <a:spcAft>
                <a:spcPts val="500"/>
              </a:spcAft>
            </a:pPr>
            <a:r>
              <a:rPr sz="1800" b="0">
                <a:solidFill>
                  <a:srgbClr val="202830"/>
                </a:solidFill>
                <a:latin typeface="Malgun Gothic"/>
              </a:rPr>
              <a:t>•  실행부와 EXCEPTION 절 어디에서나 호출할 수 있다</a:t>
            </a:r>
          </a:p>
          <a:p>
            <a:pPr>
              <a:spcAft>
                <a:spcPts val="300"/>
              </a:spcAft>
            </a:pPr>
            <a:r>
              <a:rPr sz="1600" b="0">
                <a:solidFill>
                  <a:srgbClr val="5A6672"/>
                </a:solidFill>
                <a:latin typeface="Malgun Gothic"/>
              </a:rPr>
              <a:t>    –  EXCEPTION 절에서 쓰면 시스템 오류를 업무 오류로 번역하는 효과</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RAISE_APPLICATION_ERROR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원인 오류는 스택에 남긴다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(1) 업무 규칙 위반을 고유 번호로 전달</a:t>
            </a:r>
          </a:p>
          <a:p>
            <a:pPr>
              <a:spcAft>
                <a:spcPts val="0"/>
              </a:spcAft>
            </a:pPr>
            <a:r>
              <a:rPr sz="1250" b="0">
                <a:solidFill>
                  <a:srgbClr val="E6E6E6"/>
                </a:solidFill>
                <a:latin typeface="Consolas"/>
              </a:rPr>
              <a:t>   IF v_salary &lt; v_min THEN</a:t>
            </a:r>
          </a:p>
          <a:p>
            <a:pPr>
              <a:spcAft>
                <a:spcPts val="0"/>
              </a:spcAft>
            </a:pPr>
            <a:r>
              <a:rPr sz="1250" b="0">
                <a:solidFill>
                  <a:srgbClr val="E6E6E6"/>
                </a:solidFill>
                <a:latin typeface="Consolas"/>
              </a:rPr>
              <a:t>      RAISE_APPLICATION_ERROR(-20001,</a:t>
            </a:r>
          </a:p>
          <a:p>
            <a:pPr>
              <a:spcAft>
                <a:spcPts val="0"/>
              </a:spcAft>
            </a:pPr>
            <a:r>
              <a:rPr sz="1250" b="0">
                <a:solidFill>
                  <a:srgbClr val="E6E6E6"/>
                </a:solidFill>
                <a:latin typeface="Consolas"/>
              </a:rPr>
              <a:t>         '급여 ' || v_salary || ' 는 직무 최소급여 ' || v_min || ' 미만이다.');</a:t>
            </a:r>
          </a:p>
          <a:p>
            <a:pPr>
              <a:spcAft>
                <a:spcPts val="0"/>
              </a:spcAft>
            </a:pPr>
            <a:r>
              <a:rPr sz="1250" b="0">
                <a:solidFill>
                  <a:srgbClr val="E6E6E6"/>
                </a:solidFill>
                <a:latin typeface="Consolas"/>
              </a:rPr>
              <a:t>   END IF;</a:t>
            </a:r>
          </a:p>
          <a:p>
            <a:pPr>
              <a:spcAft>
                <a:spcPts val="0"/>
              </a:spcAft>
            </a:pPr>
            <a:r>
              <a:rPr sz="1250" b="0">
                <a:solidFill>
                  <a:srgbClr val="7EC699"/>
                </a:solidFill>
                <a:latin typeface="Consolas"/>
              </a:rPr>
              <a:t>-- ORA-20001: 급여 2500 는 직무 최소급여 4000 미만이다.</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시스템 오류를 업무 오류로 번역하되 원인은 스택에 남긴다</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DUP_VAL_ON_INDEX THEN</a:t>
            </a:r>
          </a:p>
          <a:p>
            <a:pPr>
              <a:spcAft>
                <a:spcPts val="0"/>
              </a:spcAft>
            </a:pPr>
            <a:r>
              <a:rPr sz="1250" b="0">
                <a:solidFill>
                  <a:srgbClr val="E6E6E6"/>
                </a:solidFill>
                <a:latin typeface="Consolas"/>
              </a:rPr>
              <a:t>      RAISE_APPLICATION_ERROR(-20010, '이미 존재하는 부서 번호이다.', TRUE);</a:t>
            </a:r>
          </a:p>
          <a:p>
            <a:pPr>
              <a:spcAft>
                <a:spcPts val="0"/>
              </a:spcAft>
            </a:pPr>
            <a:r>
              <a:rPr sz="1250" b="0">
                <a:solidFill>
                  <a:srgbClr val="7EC699"/>
                </a:solidFill>
                <a:latin typeface="Consolas"/>
              </a:rPr>
              <a:t>-- ORA-20010: 이미 존재하는 부서 번호이다.</a:t>
            </a:r>
          </a:p>
          <a:p>
            <a:pPr>
              <a:spcAft>
                <a:spcPts val="0"/>
              </a:spcAft>
            </a:pPr>
            <a:r>
              <a:rPr sz="1250" b="0">
                <a:solidFill>
                  <a:srgbClr val="7EC699"/>
                </a:solidFill>
                <a:latin typeface="Consolas"/>
              </a:rPr>
              <a:t>-- ORA-00001: unique constraint (HR.DEPT_ID_PK) violated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 전파 (Exception Propagation)</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안쪽 블록에서 예외 발생 → 그 블록에 핸들러가 있으면 처리, 없으면 바깥으로 전달</a:t>
            </a:r>
          </a:p>
          <a:p>
            <a:pPr>
              <a:spcAft>
                <a:spcPts val="300"/>
              </a:spcAft>
            </a:pPr>
            <a:r>
              <a:rPr sz="1600" b="0">
                <a:solidFill>
                  <a:srgbClr val="5A6672"/>
                </a:solidFill>
                <a:latin typeface="Malgun Gothic"/>
              </a:rPr>
              <a:t>    –  바깥에서도 처리되지 않으면 최종적으로 호출 환경까지 올라간다</a:t>
            </a:r>
          </a:p>
          <a:p>
            <a:pPr>
              <a:spcAft>
                <a:spcPts val="500"/>
              </a:spcAft>
            </a:pPr>
            <a:r>
              <a:rPr sz="1800" b="0">
                <a:solidFill>
                  <a:srgbClr val="202830"/>
                </a:solidFill>
                <a:latin typeface="Malgun Gothic"/>
              </a:rPr>
              <a:t>•  전파되면 안쪽 블록은 이미 종료된 상태다</a:t>
            </a:r>
          </a:p>
          <a:p>
            <a:pPr>
              <a:spcAft>
                <a:spcPts val="300"/>
              </a:spcAft>
            </a:pPr>
            <a:r>
              <a:rPr sz="1600" b="0">
                <a:solidFill>
                  <a:srgbClr val="5A6672"/>
                </a:solidFill>
                <a:latin typeface="Malgun Gothic"/>
              </a:rPr>
              <a:t>    –  예외 발생 지점 이후의 문장은 실행되지 않는다</a:t>
            </a:r>
          </a:p>
          <a:p>
            <a:pPr>
              <a:spcAft>
                <a:spcPts val="300"/>
              </a:spcAft>
            </a:pPr>
            <a:r>
              <a:rPr sz="1600" b="0">
                <a:solidFill>
                  <a:srgbClr val="5A6672"/>
                </a:solidFill>
                <a:latin typeface="Malgun Gothic"/>
              </a:rPr>
              <a:t>    –  바깥에서 처리한 뒤 안쪽으로 되돌아가지 않는다</a:t>
            </a:r>
          </a:p>
          <a:p>
            <a:pPr>
              <a:spcAft>
                <a:spcPts val="500"/>
              </a:spcAft>
            </a:pPr>
            <a:r>
              <a:rPr sz="1800" b="0">
                <a:solidFill>
                  <a:srgbClr val="202830"/>
                </a:solidFill>
                <a:latin typeface="Malgun Gothic"/>
              </a:rPr>
              <a:t>•  EXCEPTION 절 안에서 발생한 예외는 같은 블록이 잡지 못한다</a:t>
            </a:r>
          </a:p>
          <a:p>
            <a:pPr>
              <a:spcAft>
                <a:spcPts val="300"/>
              </a:spcAft>
            </a:pPr>
            <a:r>
              <a:rPr sz="1600" b="0">
                <a:solidFill>
                  <a:srgbClr val="5A6672"/>
                </a:solidFill>
                <a:latin typeface="Malgun Gothic"/>
              </a:rPr>
              <a:t>    –  로그 INSERT가 실패하면 원래 오류 대신 로깅 오류가 보고된다</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 전파와 RAISE 재발생</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국지적 처리 후 실패는 위로 넘긴다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(1) 전파 경로 확인</a:t>
            </a:r>
          </a:p>
          <a:p>
            <a:pPr>
              <a:spcAft>
                <a:spcPts val="0"/>
              </a:spcAft>
            </a:pPr>
            <a:r>
              <a:rPr sz="1250" b="0">
                <a:solidFill>
                  <a:srgbClr val="E6E6E6"/>
                </a:solidFill>
                <a:latin typeface="Consolas"/>
              </a:rPr>
              <a:t>BEGIN                                       -- 바깥 블록</a:t>
            </a:r>
          </a:p>
          <a:p>
            <a:pPr>
              <a:spcAft>
                <a:spcPts val="0"/>
              </a:spcAft>
            </a:pPr>
            <a:r>
              <a:rPr sz="1250" b="0">
                <a:solidFill>
                  <a:srgbClr val="E6E6E6"/>
                </a:solidFill>
                <a:latin typeface="Consolas"/>
              </a:rPr>
              <a:t>   BEGIN                                    -- 안쪽 블록</a:t>
            </a:r>
          </a:p>
          <a:p>
            <a:pPr>
              <a:spcAft>
                <a:spcPts val="0"/>
              </a:spcAft>
            </a:pPr>
            <a:r>
              <a:rPr sz="1250" b="0">
                <a:solidFill>
                  <a:srgbClr val="E6E6E6"/>
                </a:solidFill>
                <a:latin typeface="Consolas"/>
              </a:rPr>
              <a:t>      RAISE ZERO_DIVIDE;</a:t>
            </a:r>
          </a:p>
          <a:p>
            <a:pPr>
              <a:spcAft>
                <a:spcPts val="0"/>
              </a:spcAft>
            </a:pPr>
            <a:r>
              <a:rPr sz="1250" b="0">
                <a:solidFill>
                  <a:srgbClr val="E6E6E6"/>
                </a:solidFill>
                <a:latin typeface="Consolas"/>
              </a:rPr>
              <a:t>      DBMS_OUTPUT.PUT_LINE('이 줄은 실행되지 않는다');</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NO_DATA_FOUND THEN               -- 일치하는 핸들러가 없다</a:t>
            </a:r>
          </a:p>
          <a:p>
            <a:pPr>
              <a:spcAft>
                <a:spcPts val="0"/>
              </a:spcAft>
            </a:pPr>
            <a:r>
              <a:rPr sz="1250" b="0">
                <a:solidFill>
                  <a:srgbClr val="E6E6E6"/>
                </a:solidFill>
                <a:latin typeface="Consolas"/>
              </a:rPr>
              <a:t>         DBMS_OUTPUT.PUT_LINE('안쪽에서 처리');</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DBMS_OUTPUT.PUT_LINE('이 줄도 실행되지 않는다');</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ZERO_DIVIDE THEN</a:t>
            </a:r>
          </a:p>
          <a:p>
            <a:pPr>
              <a:spcAft>
                <a:spcPts val="0"/>
              </a:spcAft>
            </a:pPr>
            <a:r>
              <a:rPr sz="1250" b="0">
                <a:solidFill>
                  <a:srgbClr val="E6E6E6"/>
                </a:solidFill>
                <a:latin typeface="Consolas"/>
              </a:rPr>
              <a:t>      DBMS_OUTPUT.PUT_LINE('바깥 블록에서 처리');</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바깥 블록에서 처리</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로그를 남기고 RAISE로 재발생시켜 실패를 감추지 않는다</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DBMS_OUTPUT.PUT_LINE('[안쪽] 로그 기록 : ' || SQLERRM);</a:t>
            </a:r>
          </a:p>
          <a:p>
            <a:pPr>
              <a:spcAft>
                <a:spcPts val="0"/>
              </a:spcAft>
            </a:pPr>
            <a:r>
              <a:rPr sz="1250" b="0">
                <a:solidFill>
                  <a:srgbClr val="E6E6E6"/>
                </a:solidFill>
                <a:latin typeface="Consolas"/>
              </a:rPr>
              <a:t>         RAISE;                             -- 원래 예외를 그대로 전파</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4765040" cy="1107996"/>
          </a:xfrm>
          <a:prstGeom prst="rect">
            <a:avLst/>
          </a:prstGeom>
          <a:noFill/>
        </p:spPr>
        <p:txBody>
          <a:bodyPr wrap="square">
            <a:spAutoFit/>
          </a:bodyPr>
          <a:lstStyle/>
          <a:p>
            <a:r>
              <a:rPr sz="6600" b="1">
                <a:solidFill>
                  <a:srgbClr val="C0392B"/>
                </a:solidFill>
                <a:latin typeface="Malgun Gothic"/>
              </a:rPr>
              <a:t>3.11~3.13</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트랜잭션 제어</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트랜잭션과 COMMIT · ROLLBACK</a:t>
            </a:r>
          </a:p>
          <a:p>
            <a:pPr>
              <a:spcAft>
                <a:spcPts val="600"/>
              </a:spcAft>
            </a:pPr>
            <a:r>
              <a:rPr sz="1600" b="0">
                <a:solidFill>
                  <a:srgbClr val="C5CED6"/>
                </a:solidFill>
                <a:latin typeface="Malgun Gothic"/>
              </a:rPr>
              <a:t>•  SAVEPOINT와 부분 롤백</a:t>
            </a:r>
          </a:p>
          <a:p>
            <a:pPr>
              <a:spcAft>
                <a:spcPts val="600"/>
              </a:spcAft>
            </a:pPr>
            <a:r>
              <a:rPr sz="1600" b="0">
                <a:solidFill>
                  <a:srgbClr val="C5CED6"/>
                </a:solidFill>
                <a:latin typeface="Malgun Gothic"/>
              </a:rPr>
              <a:t>•  예외 처리와 트랜잭션의 결합</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트랜잭션과 COMMIT · ROLLBACK</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트랜잭션 : 논리적으로 하나의 작업 단위를 이루는 DML 문장들의 묶음</a:t>
            </a:r>
          </a:p>
          <a:p>
            <a:pPr>
              <a:spcAft>
                <a:spcPts val="300"/>
              </a:spcAft>
            </a:pPr>
            <a:r>
              <a:rPr sz="1600" b="0">
                <a:solidFill>
                  <a:srgbClr val="5A6672"/>
                </a:solidFill>
                <a:latin typeface="Malgun Gothic"/>
              </a:rPr>
              <a:t>    –  전부 반영되거나 전부 취소되어야 하며 중간 상태가 남아서는 안 된다</a:t>
            </a:r>
          </a:p>
          <a:p>
            <a:pPr>
              <a:spcAft>
                <a:spcPts val="500"/>
              </a:spcAft>
            </a:pPr>
            <a:r>
              <a:rPr sz="1800" b="0">
                <a:solidFill>
                  <a:srgbClr val="202830"/>
                </a:solidFill>
                <a:latin typeface="Malgun Gothic"/>
              </a:rPr>
              <a:t>•  오라클에는 BEGIN TRANSACTION 문이 없다 — 첫 DML로 암묵적 시작</a:t>
            </a:r>
          </a:p>
          <a:p>
            <a:pPr>
              <a:spcAft>
                <a:spcPts val="500"/>
              </a:spcAft>
            </a:pPr>
            <a:r>
              <a:rPr sz="1800" b="0">
                <a:solidFill>
                  <a:srgbClr val="202830"/>
                </a:solidFill>
                <a:latin typeface="Malgun Gothic"/>
              </a:rPr>
              <a:t>•  COMMIT : 영구 확정 + 다른 세션에 공개 + 행 잠금 해제</a:t>
            </a:r>
          </a:p>
          <a:p>
            <a:pPr>
              <a:spcAft>
                <a:spcPts val="500"/>
              </a:spcAft>
            </a:pPr>
            <a:r>
              <a:rPr sz="1800" b="0">
                <a:solidFill>
                  <a:srgbClr val="202830"/>
                </a:solidFill>
                <a:latin typeface="Malgun Gothic"/>
              </a:rPr>
              <a:t>•  ROLLBACK : 트랜잭션 시작 이후의 모든 변경 취소</a:t>
            </a:r>
          </a:p>
          <a:p>
            <a:pPr>
              <a:spcAft>
                <a:spcPts val="500"/>
              </a:spcAft>
            </a:pPr>
            <a:r>
              <a:rPr sz="1800" b="0">
                <a:solidFill>
                  <a:srgbClr val="202830"/>
                </a:solidFill>
                <a:latin typeface="Malgun Gothic"/>
              </a:rPr>
              <a:t>•  종료되는 다른 경우들</a:t>
            </a:r>
          </a:p>
          <a:p>
            <a:pPr>
              <a:spcAft>
                <a:spcPts val="300"/>
              </a:spcAft>
            </a:pPr>
            <a:r>
              <a:rPr sz="1600" b="0">
                <a:solidFill>
                  <a:srgbClr val="5A6672"/>
                </a:solidFill>
                <a:latin typeface="Malgun Gothic"/>
              </a:rPr>
              <a:t>    –  DDL/DCL(CREATE·ALTER·DROP·TRUNCATE·GRANT) 실행 시 암묵적 커밋</a:t>
            </a:r>
          </a:p>
          <a:p>
            <a:pPr>
              <a:spcAft>
                <a:spcPts val="300"/>
              </a:spcAft>
            </a:pPr>
            <a:r>
              <a:rPr sz="1600" b="0">
                <a:solidFill>
                  <a:srgbClr val="5A6672"/>
                </a:solidFill>
                <a:latin typeface="Malgun Gothic"/>
              </a:rPr>
              <a:t>    –  SQL*Plus EXIT는 커밋, 세션 강제 종료·장애는 롤백</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COMMIT · ROLLBACK 예제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하나라도 실패하면 전부 취소한다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v_cnt   PLS_INTEGER := 0;</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departments(department_id, department_name, location_id)</a:t>
            </a:r>
          </a:p>
          <a:p>
            <a:pPr>
              <a:spcAft>
                <a:spcPts val="0"/>
              </a:spcAft>
            </a:pPr>
            <a:r>
              <a:rPr sz="1250" b="0">
                <a:solidFill>
                  <a:srgbClr val="E6E6E6"/>
                </a:solidFill>
                <a:latin typeface="Consolas"/>
              </a:rPr>
              <a:t>   VALUES (900, '신설기획팀', 1700);</a:t>
            </a:r>
          </a:p>
          <a:p>
            <a:pPr>
              <a:spcAft>
                <a:spcPts val="0"/>
              </a:spcAft>
            </a:pPr>
            <a:r>
              <a:rPr sz="1250" b="0">
                <a:solidFill>
                  <a:srgbClr val="E6E6E6"/>
                </a:solidFill>
                <a:latin typeface="Consolas"/>
              </a:rPr>
              <a:t>   v_cnt := v_cnt + SQL%ROWCOUNT;</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UPDATE employees SET department_id = 900 WHERE employee_id = 178;</a:t>
            </a:r>
          </a:p>
          <a:p>
            <a:pPr>
              <a:spcAft>
                <a:spcPts val="0"/>
              </a:spcAft>
            </a:pPr>
            <a:r>
              <a:rPr sz="1250" b="0">
                <a:solidFill>
                  <a:srgbClr val="E6E6E6"/>
                </a:solidFill>
                <a:latin typeface="Consolas"/>
              </a:rPr>
              <a:t>   v_cnt := v_cnt + SQL%ROWCOUNT;</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COMMIT;                                   -- 두 문장을 한 단위로 확정</a:t>
            </a:r>
          </a:p>
          <a:p>
            <a:pPr>
              <a:spcAft>
                <a:spcPts val="0"/>
              </a:spcAft>
            </a:pPr>
            <a:r>
              <a:rPr sz="1250" b="0">
                <a:solidFill>
                  <a:srgbClr val="E6E6E6"/>
                </a:solidFill>
                <a:latin typeface="Consolas"/>
              </a:rPr>
              <a:t>   DBMS_OUTPUT.PUT_LINE('처리 완료 : ' || v_cnt || '건 확정');</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ROLLBACK;                              -- 하나라도 실패하면 전부 취소</a:t>
            </a:r>
          </a:p>
          <a:p>
            <a:pPr>
              <a:spcAft>
                <a:spcPts val="0"/>
              </a:spcAft>
            </a:pPr>
            <a:r>
              <a:rPr sz="1250" b="0">
                <a:solidFill>
                  <a:srgbClr val="E6E6E6"/>
                </a:solidFill>
                <a:latin typeface="Consolas"/>
              </a:rPr>
              <a:t>      DBMS_OUTPUT.PUT_LINE('실패로 전체 취소 : ' || SQLERRM);</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SAVEPOINT와 부분 롤백</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SAVEPOINT : 트랜잭션 내부에 이름 붙인 표시를 남긴다</a:t>
            </a:r>
          </a:p>
          <a:p>
            <a:pPr>
              <a:spcAft>
                <a:spcPts val="500"/>
              </a:spcAft>
            </a:pPr>
            <a:r>
              <a:rPr sz="1800" b="0">
                <a:solidFill>
                  <a:srgbClr val="202830"/>
                </a:solidFill>
                <a:latin typeface="Malgun Gothic"/>
              </a:rPr>
              <a:t>•  ROLLBACK TO 세이브포인트명 : 그 지점 이후의 변경만 취소</a:t>
            </a:r>
          </a:p>
          <a:p>
            <a:pPr>
              <a:spcAft>
                <a:spcPts val="300"/>
              </a:spcAft>
            </a:pPr>
            <a:r>
              <a:rPr sz="1600" b="0">
                <a:solidFill>
                  <a:srgbClr val="5A6672"/>
                </a:solidFill>
                <a:latin typeface="Malgun Gothic"/>
              </a:rPr>
              <a:t>    –  그 이전의 변경과 트랜잭션 자체는 유지된다</a:t>
            </a:r>
          </a:p>
          <a:p>
            <a:pPr>
              <a:spcAft>
                <a:spcPts val="300"/>
              </a:spcAft>
            </a:pPr>
            <a:r>
              <a:rPr sz="1600" b="0">
                <a:solidFill>
                  <a:srgbClr val="5A6672"/>
                </a:solidFill>
                <a:latin typeface="Malgun Gothic"/>
              </a:rPr>
              <a:t>    –  트랜잭션이 끝나지 않으므로 마지막에 COMMIT/ROLLBACK이 여전히 필요하다</a:t>
            </a:r>
          </a:p>
          <a:p>
            <a:pPr>
              <a:spcAft>
                <a:spcPts val="500"/>
              </a:spcAft>
            </a:pPr>
            <a:r>
              <a:rPr sz="1800" b="0">
                <a:solidFill>
                  <a:srgbClr val="202830"/>
                </a:solidFill>
                <a:latin typeface="Malgun Gothic"/>
              </a:rPr>
              <a:t>•  자주 겪는 문제</a:t>
            </a:r>
          </a:p>
          <a:p>
            <a:pPr>
              <a:spcAft>
                <a:spcPts val="300"/>
              </a:spcAft>
            </a:pPr>
            <a:r>
              <a:rPr sz="1600" b="0">
                <a:solidFill>
                  <a:srgbClr val="5A6672"/>
                </a:solidFill>
                <a:latin typeface="Malgun Gothic"/>
              </a:rPr>
              <a:t>    –  존재하지 않는 이름으로 롤백하면 ORA-01086</a:t>
            </a:r>
          </a:p>
          <a:p>
            <a:pPr>
              <a:spcAft>
                <a:spcPts val="300"/>
              </a:spcAft>
            </a:pPr>
            <a:r>
              <a:rPr sz="1600" b="0">
                <a:solidFill>
                  <a:srgbClr val="5A6672"/>
                </a:solidFill>
                <a:latin typeface="Malgun Gothic"/>
              </a:rPr>
              <a:t>    –  같은 이름을 다시 선언하면 이전 표시는 사라지고 새 위치로 이동한다</a:t>
            </a:r>
          </a:p>
          <a:p>
            <a:pPr>
              <a:spcAft>
                <a:spcPts val="300"/>
              </a:spcAft>
            </a:pPr>
            <a:r>
              <a:rPr sz="1600" b="0">
                <a:solidFill>
                  <a:srgbClr val="5A6672"/>
                </a:solidFill>
                <a:latin typeface="Malgun Gothic"/>
              </a:rPr>
              <a:t>    –  COMMIT·ROLLBACK이 실행되면 모든 SAVEPOINT가 소멸한다</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SAVEPOINT 예제와 ORA-01086</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이름이 틀리면 롤백 자체가 실패한다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(1) 부분 롤백</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departments(department_id, department_name) VALUES (910, '1단계부서');</a:t>
            </a:r>
          </a:p>
          <a:p>
            <a:pPr>
              <a:spcAft>
                <a:spcPts val="0"/>
              </a:spcAft>
            </a:pPr>
            <a:r>
              <a:rPr sz="1250" b="0">
                <a:solidFill>
                  <a:srgbClr val="E6E6E6"/>
                </a:solidFill>
                <a:latin typeface="Consolas"/>
              </a:rPr>
              <a:t>   SAVEPOINT sp_step1;</a:t>
            </a:r>
          </a:p>
          <a:p>
            <a:pPr>
              <a:spcAft>
                <a:spcPts val="0"/>
              </a:spcAft>
            </a:pPr>
            <a:r>
              <a:rPr sz="1250" b="0">
                <a:solidFill>
                  <a:srgbClr val="E6E6E6"/>
                </a:solidFill>
                <a:latin typeface="Consolas"/>
              </a:rPr>
              <a:t>   INSERT INTO departments(department_id, department_name) VALUES (920, '2단계부서');</a:t>
            </a:r>
          </a:p>
          <a:p>
            <a:pPr>
              <a:spcAft>
                <a:spcPts val="0"/>
              </a:spcAft>
            </a:pPr>
            <a:r>
              <a:rPr sz="1250" b="0">
                <a:solidFill>
                  <a:srgbClr val="E6E6E6"/>
                </a:solidFill>
                <a:latin typeface="Consolas"/>
              </a:rPr>
              <a:t>   SAVEPOINT sp_step2;</a:t>
            </a:r>
          </a:p>
          <a:p>
            <a:pPr>
              <a:spcAft>
                <a:spcPts val="0"/>
              </a:spcAft>
            </a:pPr>
            <a:r>
              <a:rPr sz="1250" b="0">
                <a:solidFill>
                  <a:srgbClr val="E6E6E6"/>
                </a:solidFill>
                <a:latin typeface="Consolas"/>
              </a:rPr>
              <a:t>   INSERT INTO departments(department_id, department_name) VALUES (930, '3단계부서');</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ROLLBACK TO sp_step2;          -- 930만 취소, 910과 920은 유지</a:t>
            </a:r>
          </a:p>
          <a:p>
            <a:pPr>
              <a:spcAft>
                <a:spcPts val="0"/>
              </a:spcAft>
            </a:pPr>
            <a:r>
              <a:rPr sz="1250" b="0">
                <a:solidFill>
                  <a:srgbClr val="E6E6E6"/>
                </a:solidFill>
                <a:latin typeface="Consolas"/>
              </a:rPr>
              <a:t>   COMMIT;                        -- 남은 두 건을 확정</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(2) 이름 오타 → ORA-01086</a:t>
            </a:r>
          </a:p>
          <a:p>
            <a:pPr>
              <a:spcAft>
                <a:spcPts val="0"/>
              </a:spcAft>
            </a:pPr>
            <a:r>
              <a:rPr sz="1250" b="0">
                <a:solidFill>
                  <a:srgbClr val="E6E6E6"/>
                </a:solidFill>
                <a:latin typeface="Consolas"/>
              </a:rPr>
              <a:t>   SAVEPOINT sp_dept;</a:t>
            </a:r>
          </a:p>
          <a:p>
            <a:pPr>
              <a:spcAft>
                <a:spcPts val="0"/>
              </a:spcAft>
            </a:pPr>
            <a:r>
              <a:rPr sz="1250" b="0">
                <a:solidFill>
                  <a:srgbClr val="E6E6E6"/>
                </a:solidFill>
                <a:latin typeface="Consolas"/>
              </a:rPr>
              <a:t>   ROLLBACK TO sp_department;      -- 존재하지 않는 세이브포인트</a:t>
            </a:r>
          </a:p>
          <a:p>
            <a:pPr>
              <a:spcAft>
                <a:spcPts val="0"/>
              </a:spcAft>
            </a:pPr>
            <a:r>
              <a:rPr sz="1250" b="0">
                <a:solidFill>
                  <a:srgbClr val="7EC699"/>
                </a:solidFill>
                <a:latin typeface="Consolas"/>
              </a:rPr>
              <a:t>-- ORA-01086: savepoint 'SP_DEPARTMENT' never established in this session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예외 처리와 트랜잭션의 결합</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실패한 건만 롤백하고 로그는 남긴다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v_code NUMBER;  v_msg VARCHAR2(400);</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FOR rec IN (SELECT employee_id FROM employees WHERE department_id = 80) LOOP</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SAVEPOINT sp_row;                             -- 행 단위 표시</a:t>
            </a:r>
          </a:p>
          <a:p>
            <a:pPr>
              <a:spcAft>
                <a:spcPts val="0"/>
              </a:spcAft>
            </a:pPr>
            <a:r>
              <a:rPr sz="1250" b="0">
                <a:solidFill>
                  <a:srgbClr val="E6E6E6"/>
                </a:solidFill>
                <a:latin typeface="Consolas"/>
              </a:rPr>
              <a:t>         UPDATE employees SET salary = salary * 1.1</a:t>
            </a:r>
          </a:p>
          <a:p>
            <a:pPr>
              <a:spcAft>
                <a:spcPts val="0"/>
              </a:spcAft>
            </a:pPr>
            <a:r>
              <a:rPr sz="1250" b="0">
                <a:solidFill>
                  <a:srgbClr val="E6E6E6"/>
                </a:solidFill>
                <a:latin typeface="Consolas"/>
              </a:rPr>
              <a:t>          WHERE employee_id = rec.employee_id;</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v_code := SQLCODE;  v_msg := SUBSTR(SQLERRM, 1, 400);</a:t>
            </a:r>
          </a:p>
          <a:p>
            <a:pPr>
              <a:spcAft>
                <a:spcPts val="0"/>
              </a:spcAft>
            </a:pPr>
            <a:r>
              <a:rPr sz="1250" b="0">
                <a:solidFill>
                  <a:srgbClr val="E6E6E6"/>
                </a:solidFill>
                <a:latin typeface="Consolas"/>
              </a:rPr>
              <a:t>            ROLLBACK TO sp_row;                        -- 이 행만 취소</a:t>
            </a:r>
          </a:p>
          <a:p>
            <a:pPr>
              <a:spcAft>
                <a:spcPts val="0"/>
              </a:spcAft>
            </a:pPr>
            <a:r>
              <a:rPr sz="1250" b="0">
                <a:solidFill>
                  <a:srgbClr val="E6E6E6"/>
                </a:solidFill>
                <a:latin typeface="Consolas"/>
              </a:rPr>
              <a:t>            INSERT INTO plsql_job_log(job_name, log_time, err_code, err_msg)</a:t>
            </a:r>
          </a:p>
          <a:p>
            <a:pPr>
              <a:spcAft>
                <a:spcPts val="0"/>
              </a:spcAft>
            </a:pPr>
            <a:r>
              <a:rPr sz="1250" b="0">
                <a:solidFill>
                  <a:srgbClr val="E6E6E6"/>
                </a:solidFill>
                <a:latin typeface="Consolas"/>
              </a:rPr>
              <a:t>            VALUES ('SAL_UP_' || rec.employee_id, SYSTIMESTAMP, v_code, v_msg);</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   COMMIT;                                             -- 성공분 + 로그 확정</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자율 트랜잭션 (Autonomous Transaction)</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호출자가 롤백해도 로그는 남는다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CREATE OR REPLACE PROCEDURE write_error_log(</a:t>
            </a:r>
          </a:p>
          <a:p>
            <a:pPr>
              <a:spcAft>
                <a:spcPts val="0"/>
              </a:spcAft>
            </a:pPr>
            <a:r>
              <a:rPr sz="1250" b="0">
                <a:solidFill>
                  <a:srgbClr val="E6E6E6"/>
                </a:solidFill>
                <a:latin typeface="Consolas"/>
              </a:rPr>
              <a:t>   p_job IN VARCHAR2, p_code IN NUMBER, p_msg IN VARCHAR2)</a:t>
            </a:r>
          </a:p>
          <a:p>
            <a:pPr>
              <a:spcAft>
                <a:spcPts val="0"/>
              </a:spcAft>
            </a:pPr>
            <a:r>
              <a:rPr sz="1250" b="0">
                <a:solidFill>
                  <a:srgbClr val="E6E6E6"/>
                </a:solidFill>
                <a:latin typeface="Consolas"/>
              </a:rPr>
              <a:t>IS</a:t>
            </a:r>
          </a:p>
          <a:p>
            <a:pPr>
              <a:spcAft>
                <a:spcPts val="0"/>
              </a:spcAft>
            </a:pPr>
            <a:r>
              <a:rPr sz="1250" b="0">
                <a:solidFill>
                  <a:srgbClr val="E6E6E6"/>
                </a:solidFill>
                <a:latin typeface="Consolas"/>
              </a:rPr>
              <a:t>   PRAGMA AUTONOMOUS_TRANSACTION;</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INSERT INTO plsql_job_log(job_name, log_time, err_code, err_msg)</a:t>
            </a:r>
          </a:p>
          <a:p>
            <a:pPr>
              <a:spcAft>
                <a:spcPts val="0"/>
              </a:spcAft>
            </a:pPr>
            <a:r>
              <a:rPr sz="1250" b="0">
                <a:solidFill>
                  <a:srgbClr val="E6E6E6"/>
                </a:solidFill>
                <a:latin typeface="Consolas"/>
              </a:rPr>
              <a:t>   VALUES (p_job, SYSTIMESTAMP, p_code, p_msg);</a:t>
            </a:r>
          </a:p>
          <a:p>
            <a:pPr>
              <a:spcAft>
                <a:spcPts val="0"/>
              </a:spcAft>
            </a:pPr>
            <a:r>
              <a:rPr sz="1250" b="0">
                <a:solidFill>
                  <a:srgbClr val="E6E6E6"/>
                </a:solidFill>
                <a:latin typeface="Consolas"/>
              </a:rPr>
              <a:t>   COMMIT;                       -- 자신의 트랜잭션만 커밋</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주의</a:t>
            </a:r>
          </a:p>
          <a:p>
            <a:pPr>
              <a:spcAft>
                <a:spcPts val="0"/>
              </a:spcAft>
            </a:pPr>
            <a:r>
              <a:rPr sz="1250" b="0">
                <a:solidFill>
                  <a:srgbClr val="7EC699"/>
                </a:solidFill>
                <a:latin typeface="Consolas"/>
              </a:rPr>
              <a:t>--   자율 트랜잭션 안에서는 반드시 COMMIT 또는 ROLLBACK으로 끝내야 한다 (ORA-06519)</a:t>
            </a:r>
          </a:p>
          <a:p>
            <a:pPr>
              <a:spcAft>
                <a:spcPts val="0"/>
              </a:spcAft>
            </a:pPr>
            <a:r>
              <a:rPr sz="1250" b="0">
                <a:solidFill>
                  <a:srgbClr val="7EC699"/>
                </a:solidFill>
                <a:latin typeface="Consolas"/>
              </a:rPr>
              <a:t>--   호출자가 잠근 행을 갱신하면 스스로를 기다리는 교착 상태가 될 수 있다</a:t>
            </a:r>
          </a:p>
          <a:p>
            <a:pPr>
              <a:spcAft>
                <a:spcPts val="0"/>
              </a:spcAft>
            </a:pPr>
            <a:r>
              <a:rPr sz="1250" b="0">
                <a:solidFill>
                  <a:srgbClr val="7EC699"/>
                </a:solidFill>
                <a:latin typeface="Consolas"/>
              </a:rPr>
              <a:t>--   용도는 로깅·감사 기록 등 본 업무와 분리되어야 하는 부수 작업에 한정한다</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59" y="1371600"/>
            <a:ext cx="5088313" cy="1107996"/>
          </a:xfrm>
          <a:prstGeom prst="rect">
            <a:avLst/>
          </a:prstGeom>
          <a:noFill/>
        </p:spPr>
        <p:txBody>
          <a:bodyPr wrap="square">
            <a:spAutoFit/>
          </a:bodyPr>
          <a:lstStyle/>
          <a:p>
            <a:r>
              <a:rPr sz="6600" b="1" dirty="0">
                <a:solidFill>
                  <a:srgbClr val="C0392B"/>
                </a:solidFill>
                <a:latin typeface="Malgun Gothic"/>
              </a:rPr>
              <a:t>3.14~3.17</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컬렉션</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컬렉션 개요와 세 가지 유형</a:t>
            </a:r>
          </a:p>
          <a:p>
            <a:pPr>
              <a:spcAft>
                <a:spcPts val="600"/>
              </a:spcAft>
            </a:pPr>
            <a:r>
              <a:rPr sz="1600" b="0">
                <a:solidFill>
                  <a:srgbClr val="C5CED6"/>
                </a:solidFill>
                <a:latin typeface="Malgun Gothic"/>
              </a:rPr>
              <a:t>•  Associative Array</a:t>
            </a:r>
          </a:p>
          <a:p>
            <a:pPr>
              <a:spcAft>
                <a:spcPts val="600"/>
              </a:spcAft>
            </a:pPr>
            <a:r>
              <a:rPr sz="1600" b="0">
                <a:solidFill>
                  <a:srgbClr val="C5CED6"/>
                </a:solidFill>
                <a:latin typeface="Malgun Gothic"/>
              </a:rPr>
              <a:t>•  Nested Table과 VARRAY</a:t>
            </a:r>
          </a:p>
          <a:p>
            <a:pPr>
              <a:spcAft>
                <a:spcPts val="600"/>
              </a:spcAft>
            </a:pPr>
            <a:r>
              <a:rPr sz="1600" b="0">
                <a:solidFill>
                  <a:srgbClr val="C5CED6"/>
                </a:solidFill>
                <a:latin typeface="Malgun Gothic"/>
              </a:rPr>
              <a:t>•  BULK COLLECT와 FORALL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컬렉션 개요와 세 가지 유형</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컬렉션 : 같은 자료형의 원소를 여러 개 담고 첨자로 접근하는 복합 자료형</a:t>
            </a:r>
          </a:p>
          <a:p>
            <a:pPr>
              <a:spcAft>
                <a:spcPts val="300"/>
              </a:spcAft>
            </a:pPr>
            <a:r>
              <a:rPr sz="1600" b="0">
                <a:solidFill>
                  <a:srgbClr val="5A6672"/>
                </a:solidFill>
                <a:latin typeface="Malgun Gothic"/>
              </a:rPr>
              <a:t>    –  레코드(%ROWTYPE)는 서로 다른 자료형을 한 덩어리로 묶는 구조 — 대비해서 이해한다</a:t>
            </a:r>
          </a:p>
          <a:p>
            <a:pPr>
              <a:spcAft>
                <a:spcPts val="500"/>
              </a:spcAft>
            </a:pPr>
            <a:r>
              <a:rPr sz="1800" b="0">
                <a:solidFill>
                  <a:srgbClr val="202830"/>
                </a:solidFill>
                <a:latin typeface="Malgun Gothic"/>
              </a:rPr>
              <a:t>•  Associative Array : 첨자 PLS_INTEGER 또는 VARCHAR2 / 초기화 불필요 / PL/SQL 전용 / 희소 허용</a:t>
            </a:r>
          </a:p>
          <a:p>
            <a:pPr>
              <a:spcAft>
                <a:spcPts val="500"/>
              </a:spcAft>
            </a:pPr>
            <a:r>
              <a:rPr sz="1800" b="0">
                <a:solidFill>
                  <a:srgbClr val="202830"/>
                </a:solidFill>
                <a:latin typeface="Malgun Gothic"/>
              </a:rPr>
              <a:t>•  Nested Table : 첨자 정수(1부터) / 크기 무제한 / 초기화·EXTEND 필요 / 컬럼 저장 가능</a:t>
            </a:r>
          </a:p>
          <a:p>
            <a:pPr>
              <a:spcAft>
                <a:spcPts val="500"/>
              </a:spcAft>
            </a:pPr>
            <a:r>
              <a:rPr sz="1800" b="0">
                <a:solidFill>
                  <a:srgbClr val="202830"/>
                </a:solidFill>
                <a:latin typeface="Malgun Gothic"/>
              </a:rPr>
              <a:t>•  VARRAY : 최대 크기 고정 / 초기화·EXTEND 필요 / 컬럼 저장 가능 / 항상 조밀</a:t>
            </a:r>
          </a:p>
          <a:p>
            <a:pPr>
              <a:spcAft>
                <a:spcPts val="500"/>
              </a:spcAft>
            </a:pPr>
            <a:r>
              <a:rPr sz="1800" b="0">
                <a:solidFill>
                  <a:srgbClr val="202830"/>
                </a:solidFill>
                <a:latin typeface="Malgun Gothic"/>
              </a:rPr>
              <a:t>•  선택 기준 : 메모리 임시 처리면 Associative Array, 컬럼 저장이면 Nested Table/VARRAY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Associative Array</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사번을 첨자로 쓰는 희소 배열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TYPE t_emp_name IS TABLE OF employees.last_name%TYPE INDEX BY PLS_INTEGER;</a:t>
            </a:r>
          </a:p>
          <a:p>
            <a:pPr>
              <a:spcAft>
                <a:spcPts val="0"/>
              </a:spcAft>
            </a:pPr>
            <a:r>
              <a:rPr sz="1250" b="0">
                <a:solidFill>
                  <a:srgbClr val="E6E6E6"/>
                </a:solidFill>
                <a:latin typeface="Consolas"/>
              </a:rPr>
              <a:t>   v_emp   t_emp_name;</a:t>
            </a:r>
          </a:p>
          <a:p>
            <a:pPr>
              <a:spcAft>
                <a:spcPts val="0"/>
              </a:spcAft>
            </a:pPr>
            <a:r>
              <a:rPr sz="1250" b="0">
                <a:solidFill>
                  <a:srgbClr val="E6E6E6"/>
                </a:solidFill>
                <a:latin typeface="Consolas"/>
              </a:rPr>
              <a:t>   v_idx   PLS_INTEGER;</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FOR rec IN (SELECT employee_id, last_name FROM employees WHERE department_id = 90) LOOP</a:t>
            </a:r>
          </a:p>
          <a:p>
            <a:pPr>
              <a:spcAft>
                <a:spcPts val="0"/>
              </a:spcAft>
            </a:pPr>
            <a:r>
              <a:rPr sz="1250" b="0">
                <a:solidFill>
                  <a:srgbClr val="E6E6E6"/>
                </a:solidFill>
                <a:latin typeface="Consolas"/>
              </a:rPr>
              <a:t>      v_emp(rec.employee_id) := rec.last_name;      -- 첨자가 100, 101, 102 ...</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v_idx := v_emp.FIRST;                            -- 희소 배열은 FIRST/NEXT로 순회</a:t>
            </a:r>
          </a:p>
          <a:p>
            <a:pPr>
              <a:spcAft>
                <a:spcPts val="0"/>
              </a:spcAft>
            </a:pPr>
            <a:r>
              <a:rPr sz="1250" b="0">
                <a:solidFill>
                  <a:srgbClr val="E6E6E6"/>
                </a:solidFill>
                <a:latin typeface="Consolas"/>
              </a:rPr>
              <a:t>   WHILE v_idx IS NOT NULL LOOP</a:t>
            </a:r>
          </a:p>
          <a:p>
            <a:pPr>
              <a:spcAft>
                <a:spcPts val="0"/>
              </a:spcAft>
            </a:pPr>
            <a:r>
              <a:rPr sz="1250" b="0">
                <a:solidFill>
                  <a:srgbClr val="E6E6E6"/>
                </a:solidFill>
                <a:latin typeface="Consolas"/>
              </a:rPr>
              <a:t>      DBMS_OUTPUT.PUT_LINE(v_idx || ' -&gt; ' || v_emp(v_idx));</a:t>
            </a:r>
          </a:p>
          <a:p>
            <a:pPr>
              <a:spcAft>
                <a:spcPts val="0"/>
              </a:spcAft>
            </a:pPr>
            <a:r>
              <a:rPr sz="1250" b="0">
                <a:solidFill>
                  <a:srgbClr val="E6E6E6"/>
                </a:solidFill>
                <a:latin typeface="Consolas"/>
              </a:rPr>
              <a:t>      v_idx := v_emp.NEXT(v_idx);</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-- 100 -&gt; King / 101 -&gt; Kochhar / 102 -&gt; De Haan</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문자열 첨자 조견표</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반복 조회를 메모리 조회로 바꾼다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TYPE t_dept IS TABLE OF departments.department_id%TYPE INDEX BY VARCHAR2(30);</a:t>
            </a:r>
          </a:p>
          <a:p>
            <a:pPr>
              <a:spcAft>
                <a:spcPts val="0"/>
              </a:spcAft>
            </a:pPr>
            <a:r>
              <a:rPr sz="1250" b="0">
                <a:solidFill>
                  <a:srgbClr val="E6E6E6"/>
                </a:solidFill>
                <a:latin typeface="Consolas"/>
              </a:rPr>
              <a:t>   v_dept   t_dept;</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FOR rec IN (SELECT department_id, department_name FROM departments) LOOP</a:t>
            </a:r>
          </a:p>
          <a:p>
            <a:pPr>
              <a:spcAft>
                <a:spcPts val="0"/>
              </a:spcAft>
            </a:pPr>
            <a:r>
              <a:rPr sz="1250" b="0">
                <a:solidFill>
                  <a:srgbClr val="E6E6E6"/>
                </a:solidFill>
                <a:latin typeface="Consolas"/>
              </a:rPr>
              <a:t>      v_dept(UPPER(rec.department_name)) := rec.department_id;   -- 키 정규화</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IF v_dept.EXISTS('MARKETING') THEN                  -- 접근 전에 존재 여부 확인</a:t>
            </a:r>
          </a:p>
          <a:p>
            <a:pPr>
              <a:spcAft>
                <a:spcPts val="0"/>
              </a:spcAft>
            </a:pPr>
            <a:r>
              <a:rPr sz="1250" b="0">
                <a:solidFill>
                  <a:srgbClr val="E6E6E6"/>
                </a:solidFill>
                <a:latin typeface="Consolas"/>
              </a:rPr>
              <a:t>      DBMS_OUTPUT.PUT_LINE('MARKETING : ' || v_dept('MARKETING'));</a:t>
            </a:r>
          </a:p>
          <a:p>
            <a:pPr>
              <a:spcAft>
                <a:spcPts val="0"/>
              </a:spcAft>
            </a:pPr>
            <a:r>
              <a:rPr sz="1250" b="0">
                <a:solidFill>
                  <a:srgbClr val="E6E6E6"/>
                </a:solidFill>
                <a:latin typeface="Consolas"/>
              </a:rPr>
              <a:t>   END IF;</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DBMS_OUTPUT.PUT_LINE(v_dept('NO_SUCH_DEPT'));       -- ORA-01403 발생</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NO_DATA_FOUND THEN</a:t>
            </a:r>
          </a:p>
          <a:p>
            <a:pPr>
              <a:spcAft>
                <a:spcPts val="0"/>
              </a:spcAft>
            </a:pPr>
            <a:r>
              <a:rPr sz="1250" b="0">
                <a:solidFill>
                  <a:srgbClr val="E6E6E6"/>
                </a:solidFill>
                <a:latin typeface="Consolas"/>
              </a:rPr>
              <a:t>      DBMS_OUTPUT.PUT_LINE('존재하지 않는 키이다. EXISTS로 먼저 확인하라.');</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Nested Table과 VARRAY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반드시 생성자로 초기화해야 하고, 원소 추가 전에 EXTEND로 공간을 확보한다</a:t>
            </a:r>
          </a:p>
          <a:p>
            <a:pPr>
              <a:spcAft>
                <a:spcPts val="500"/>
              </a:spcAft>
            </a:pPr>
            <a:r>
              <a:rPr sz="1800" b="0">
                <a:solidFill>
                  <a:srgbClr val="202830"/>
                </a:solidFill>
                <a:latin typeface="Malgun Gothic"/>
              </a:rPr>
              <a:t>•  초기화하지 않고 접근 → COLLECTION_IS_NULL (ORA-06531)</a:t>
            </a:r>
          </a:p>
          <a:p>
            <a:pPr>
              <a:spcAft>
                <a:spcPts val="500"/>
              </a:spcAft>
            </a:pPr>
            <a:r>
              <a:rPr sz="1800" b="0">
                <a:solidFill>
                  <a:srgbClr val="202830"/>
                </a:solidFill>
                <a:latin typeface="Malgun Gothic"/>
              </a:rPr>
              <a:t>•  EXTEND 없이 첨자에 대입 → SUBSCRIPT_BEYOND_COUNT (ORA-06533)</a:t>
            </a:r>
          </a:p>
          <a:p>
            <a:pPr>
              <a:spcAft>
                <a:spcPts val="500"/>
              </a:spcAft>
            </a:pPr>
            <a:r>
              <a:rPr sz="1800" b="0">
                <a:solidFill>
                  <a:srgbClr val="202830"/>
                </a:solidFill>
                <a:latin typeface="Malgun Gothic"/>
              </a:rPr>
              <a:t>•  VARRAY의 선언 크기를 초과 → SUBSCRIPT_OUTSIDE_LIMIT (ORA-06532)</a:t>
            </a:r>
          </a:p>
          <a:p>
            <a:pPr>
              <a:spcAft>
                <a:spcPts val="500"/>
              </a:spcAft>
            </a:pPr>
            <a:r>
              <a:rPr sz="1800" b="0">
                <a:solidFill>
                  <a:srgbClr val="202830"/>
                </a:solidFill>
                <a:latin typeface="Malgun Gothic"/>
              </a:rPr>
              <a:t>•  주요 컬렉션 메서드</a:t>
            </a:r>
          </a:p>
          <a:p>
            <a:pPr>
              <a:spcAft>
                <a:spcPts val="300"/>
              </a:spcAft>
            </a:pPr>
            <a:r>
              <a:rPr sz="1600" b="0">
                <a:solidFill>
                  <a:srgbClr val="5A6672"/>
                </a:solidFill>
                <a:latin typeface="Malgun Gothic"/>
              </a:rPr>
              <a:t>    –  EXISTS(n) / COUNT / LIMIT — LIMIT은 VARRAY 전용, 나머지 유형은 NULL</a:t>
            </a:r>
          </a:p>
          <a:p>
            <a:pPr>
              <a:spcAft>
                <a:spcPts val="300"/>
              </a:spcAft>
            </a:pPr>
            <a:r>
              <a:rPr sz="1600" b="0">
                <a:solidFill>
                  <a:srgbClr val="5A6672"/>
                </a:solidFill>
                <a:latin typeface="Malgun Gothic"/>
              </a:rPr>
              <a:t>    –  FIRST / LAST / PRIOR(n) / NEXT(n) — 희소 컬렉션 순회</a:t>
            </a:r>
          </a:p>
          <a:p>
            <a:pPr>
              <a:spcAft>
                <a:spcPts val="300"/>
              </a:spcAft>
            </a:pPr>
            <a:r>
              <a:rPr sz="1600" b="0">
                <a:solidFill>
                  <a:srgbClr val="5A6672"/>
                </a:solidFill>
                <a:latin typeface="Malgun Gothic"/>
              </a:rPr>
              <a:t>    –  EXTEND / TRIM / DELETE — Associative Array에는 EXTEND·TRIM·LIMIT 사용 불가</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컬렉션 초기화 · EXTEND 오류</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ORA-06531 / ORA-06533 / ORA-06532</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TYPE t_city IS TABLE OF VARCHAR2(30);</a:t>
            </a:r>
          </a:p>
          <a:p>
            <a:pPr>
              <a:spcAft>
                <a:spcPts val="0"/>
              </a:spcAft>
            </a:pPr>
            <a:r>
              <a:rPr sz="1250" b="0">
                <a:solidFill>
                  <a:srgbClr val="E6E6E6"/>
                </a:solidFill>
                <a:latin typeface="Consolas"/>
              </a:rPr>
              <a:t>   v_city   t_city;                       -- 아직 NULL 상태(원소 0개가 아님)</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v_city(1) := 'Seoul';</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COLLECTION_IS_NULL THEN</a:t>
            </a:r>
          </a:p>
          <a:p>
            <a:pPr>
              <a:spcAft>
                <a:spcPts val="0"/>
              </a:spcAft>
            </a:pPr>
            <a:r>
              <a:rPr sz="1250" b="0">
                <a:solidFill>
                  <a:srgbClr val="E6E6E6"/>
                </a:solidFill>
                <a:latin typeface="Consolas"/>
              </a:rPr>
              <a:t>         DBMS_OUTPUT.PUT_LINE('초기화 안 됨 : ' || SQLERRM);   -- ORA-06531</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v_city := t_city();                    -- 생성자로 초기화(원소 0개)</a:t>
            </a:r>
          </a:p>
          <a:p>
            <a:pPr>
              <a:spcAft>
                <a:spcPts val="0"/>
              </a:spcAft>
            </a:pPr>
            <a:r>
              <a:rPr sz="1250" b="0">
                <a:solidFill>
                  <a:srgbClr val="E6E6E6"/>
                </a:solidFill>
                <a:latin typeface="Consolas"/>
              </a:rPr>
              <a:t>   BEGIN</a:t>
            </a:r>
          </a:p>
          <a:p>
            <a:pPr>
              <a:spcAft>
                <a:spcPts val="0"/>
              </a:spcAft>
            </a:pPr>
            <a:r>
              <a:rPr sz="1250" b="0">
                <a:solidFill>
                  <a:srgbClr val="E6E6E6"/>
                </a:solidFill>
                <a:latin typeface="Consolas"/>
              </a:rPr>
              <a:t>      v_city(1) := 'Seoul';               -- 공간이 없어 실패</a:t>
            </a:r>
          </a:p>
          <a:p>
            <a:pPr>
              <a:spcAft>
                <a:spcPts val="0"/>
              </a:spcAft>
            </a:pPr>
            <a:r>
              <a:rPr sz="1250" b="0">
                <a:solidFill>
                  <a:srgbClr val="E6E6E6"/>
                </a:solidFill>
                <a:latin typeface="Consolas"/>
              </a:rPr>
              <a:t>   EXCEPTION</a:t>
            </a:r>
          </a:p>
          <a:p>
            <a:pPr>
              <a:spcAft>
                <a:spcPts val="0"/>
              </a:spcAft>
            </a:pPr>
            <a:r>
              <a:rPr sz="1250" b="0">
                <a:solidFill>
                  <a:srgbClr val="E6E6E6"/>
                </a:solidFill>
                <a:latin typeface="Consolas"/>
              </a:rPr>
              <a:t>      WHEN SUBSCRIPT_BEYOND_COUNT THEN</a:t>
            </a:r>
          </a:p>
          <a:p>
            <a:pPr>
              <a:spcAft>
                <a:spcPts val="0"/>
              </a:spcAft>
            </a:pPr>
            <a:r>
              <a:rPr sz="1250" b="0">
                <a:solidFill>
                  <a:srgbClr val="E6E6E6"/>
                </a:solidFill>
                <a:latin typeface="Consolas"/>
              </a:rPr>
              <a:t>         DBMS_OUTPUT.PUT_LINE('EXTEND 누락 : ' || SQLERRM);    -- ORA-06533</a:t>
            </a:r>
          </a:p>
          <a:p>
            <a:pPr>
              <a:spcAft>
                <a:spcPts val="0"/>
              </a:spcAft>
            </a:pPr>
            <a:r>
              <a:rPr sz="1250" b="0">
                <a:solidFill>
                  <a:srgbClr val="E6E6E6"/>
                </a:solidFill>
                <a:latin typeface="Consolas"/>
              </a:rPr>
              <a:t>   END;</a:t>
            </a:r>
          </a:p>
          <a:p>
            <a:pPr>
              <a:spcAft>
                <a:spcPts val="0"/>
              </a:spcAft>
            </a:pPr>
            <a:r>
              <a:rPr sz="1250" b="0">
                <a:solidFill>
                  <a:srgbClr val="E6E6E6"/>
                </a:solidFill>
                <a:latin typeface="Consolas"/>
              </a:rPr>
              <a:t>   v_city.EXTEND;                         -- 공간 1개 확보 후 정상 대입</a:t>
            </a:r>
          </a:p>
          <a:p>
            <a:pPr>
              <a:spcAft>
                <a:spcPts val="0"/>
              </a:spcAft>
            </a:pPr>
            <a:r>
              <a:rPr sz="1250" b="0">
                <a:solidFill>
                  <a:srgbClr val="E6E6E6"/>
                </a:solidFill>
                <a:latin typeface="Consolas"/>
              </a:rPr>
              <a:t>   v_city(1) := 'Seoul';</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BULK COLLECT와 FORALL</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PL/SQL 엔진과 SQL 엔진을 오갈 때마다 컨텍스트 스위치 비용이 발생한다</a:t>
            </a:r>
          </a:p>
          <a:p>
            <a:pPr>
              <a:spcAft>
                <a:spcPts val="300"/>
              </a:spcAft>
            </a:pPr>
            <a:r>
              <a:rPr sz="1600" b="0">
                <a:solidFill>
                  <a:srgbClr val="5A6672"/>
                </a:solidFill>
                <a:latin typeface="Malgun Gothic"/>
              </a:rPr>
              <a:t>    –  행마다 FETCH·UPDATE하면 전환이 행 수만큼 반복된다</a:t>
            </a:r>
          </a:p>
          <a:p>
            <a:pPr>
              <a:spcAft>
                <a:spcPts val="500"/>
              </a:spcAft>
            </a:pPr>
            <a:r>
              <a:rPr sz="1800" b="0">
                <a:solidFill>
                  <a:srgbClr val="202830"/>
                </a:solidFill>
                <a:latin typeface="Malgun Gothic"/>
              </a:rPr>
              <a:t>•  BULK COLLECT : 여러 행을 한 번에 컬렉션으로 가져온다</a:t>
            </a:r>
          </a:p>
          <a:p>
            <a:pPr>
              <a:spcAft>
                <a:spcPts val="500"/>
              </a:spcAft>
            </a:pPr>
            <a:r>
              <a:rPr sz="1800" b="0">
                <a:solidFill>
                  <a:srgbClr val="202830"/>
                </a:solidFill>
                <a:latin typeface="Malgun Gothic"/>
              </a:rPr>
              <a:t>•  FORALL : 컬렉션 원소들을 한 번에 SQL 엔진으로 넘겨 DML을 수행한다</a:t>
            </a:r>
          </a:p>
          <a:p>
            <a:pPr>
              <a:spcAft>
                <a:spcPts val="300"/>
              </a:spcAft>
            </a:pPr>
            <a:r>
              <a:rPr sz="1600" b="0">
                <a:solidFill>
                  <a:srgbClr val="5A6672"/>
                </a:solidFill>
                <a:latin typeface="Malgun Gothic"/>
              </a:rPr>
              <a:t>    –  반복문이 아니다 — 뒤에 단 하나의 DML 문장만 오고 END LOOP도 없다</a:t>
            </a:r>
          </a:p>
          <a:p>
            <a:pPr>
              <a:spcAft>
                <a:spcPts val="300"/>
              </a:spcAft>
            </a:pPr>
            <a:r>
              <a:rPr sz="1600" b="0">
                <a:solidFill>
                  <a:srgbClr val="5A6672"/>
                </a:solidFill>
                <a:latin typeface="Malgun Gothic"/>
              </a:rPr>
              <a:t>    –  SQL%BULK_ROWCOUNT(i)로 i번째 원소가 처리한 행 수를 확인할 수 있다</a:t>
            </a:r>
          </a:p>
          <a:p>
            <a:pPr>
              <a:spcAft>
                <a:spcPts val="500"/>
              </a:spcAft>
            </a:pPr>
            <a:r>
              <a:rPr sz="1800" b="0">
                <a:solidFill>
                  <a:srgbClr val="202830"/>
                </a:solidFill>
                <a:latin typeface="Malgun Gothic"/>
              </a:rPr>
              <a:t>•  LIMIT 절로 나누어 가져와 PGA 메모리 사용량을 제어한다</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BULK COLLECT의 함정</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0건이어도 NO_DATA_FOUND가 아니다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TYPE t_id IS TABLE OF employees.employee_id%TYPE;</a:t>
            </a:r>
          </a:p>
          <a:p>
            <a:pPr>
              <a:spcAft>
                <a:spcPts val="0"/>
              </a:spcAft>
            </a:pPr>
            <a:r>
              <a:rPr sz="1250" b="0">
                <a:solidFill>
                  <a:srgbClr val="E6E6E6"/>
                </a:solidFill>
                <a:latin typeface="Consolas"/>
              </a:rPr>
              <a:t>   v_ids   t_id;</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SELECT employee_id BULK COLLECT INTO v_ids</a:t>
            </a:r>
          </a:p>
          <a:p>
            <a:pPr>
              <a:spcAft>
                <a:spcPts val="0"/>
              </a:spcAft>
            </a:pPr>
            <a:r>
              <a:rPr sz="1250" b="0">
                <a:solidFill>
                  <a:srgbClr val="E6E6E6"/>
                </a:solidFill>
                <a:latin typeface="Consolas"/>
              </a:rPr>
              <a:t>     FROM employees WHERE department_id = 999;      -- 존재하지 않는 부서</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DBMS_OUTPUT.PUT_LINE('COUNT = ' || v_ids.COUNT); -- 0, 예외는 발생하지 않음</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IF v_ids.COUNT = 0 THEN                          -- 반드시 COUNT를 검사</a:t>
            </a:r>
          </a:p>
          <a:p>
            <a:pPr>
              <a:spcAft>
                <a:spcPts val="0"/>
              </a:spcAft>
            </a:pPr>
            <a:r>
              <a:rPr sz="1250" b="0">
                <a:solidFill>
                  <a:srgbClr val="E6E6E6"/>
                </a:solidFill>
                <a:latin typeface="Consolas"/>
              </a:rPr>
              <a:t>      DBMS_OUTPUT.PUT_LINE('대상 데이터가 없다. 처리를 종료한다.');</a:t>
            </a:r>
          </a:p>
          <a:p>
            <a:pPr>
              <a:spcAft>
                <a:spcPts val="0"/>
              </a:spcAft>
            </a:pPr>
            <a:r>
              <a:rPr sz="1250" b="0">
                <a:solidFill>
                  <a:srgbClr val="E6E6E6"/>
                </a:solidFill>
                <a:latin typeface="Consolas"/>
              </a:rPr>
              <a:t>   ELSE</a:t>
            </a:r>
          </a:p>
          <a:p>
            <a:pPr>
              <a:spcAft>
                <a:spcPts val="0"/>
              </a:spcAft>
            </a:pPr>
            <a:r>
              <a:rPr sz="1250" b="0">
                <a:solidFill>
                  <a:srgbClr val="E6E6E6"/>
                </a:solidFill>
                <a:latin typeface="Consolas"/>
              </a:rPr>
              <a:t>      DBMS_OUTPUT.PUT_LINE('첫 사번 : ' || v_ids(1));</a:t>
            </a:r>
          </a:p>
          <a:p>
            <a:pPr>
              <a:spcAft>
                <a:spcPts val="0"/>
              </a:spcAft>
            </a:pPr>
            <a:r>
              <a:rPr sz="1250" b="0">
                <a:solidFill>
                  <a:srgbClr val="E6E6E6"/>
                </a:solidFill>
                <a:latin typeface="Consolas"/>
              </a:rPr>
              <a:t>   END IF;</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COUNT = 0</a:t>
            </a:r>
          </a:p>
          <a:p>
            <a:pPr>
              <a:spcAft>
                <a:spcPts val="0"/>
              </a:spcAft>
            </a:pPr>
            <a:r>
              <a:rPr sz="1250" b="0">
                <a:solidFill>
                  <a:srgbClr val="7EC699"/>
                </a:solidFill>
                <a:latin typeface="Consolas"/>
              </a:rPr>
              <a:t>-- 대상 데이터가 없어 처리를 건너뛴다.</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LIMIT과 FORALL</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나누어 가져오고 한 번에 반영한다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E6E6E6"/>
                </a:solidFill>
                <a:latin typeface="Consolas"/>
              </a:rPr>
              <a:t>DECLARE</a:t>
            </a:r>
          </a:p>
          <a:p>
            <a:pPr>
              <a:spcAft>
                <a:spcPts val="0"/>
              </a:spcAft>
            </a:pPr>
            <a:r>
              <a:rPr sz="1250" b="0">
                <a:solidFill>
                  <a:srgbClr val="E6E6E6"/>
                </a:solidFill>
                <a:latin typeface="Consolas"/>
              </a:rPr>
              <a:t>   CURSOR c_emp IS SELECT employee_id, salary FROM employees;</a:t>
            </a:r>
          </a:p>
          <a:p>
            <a:pPr>
              <a:spcAft>
                <a:spcPts val="0"/>
              </a:spcAft>
            </a:pPr>
            <a:r>
              <a:rPr sz="1250" b="0">
                <a:solidFill>
                  <a:srgbClr val="E6E6E6"/>
                </a:solidFill>
                <a:latin typeface="Consolas"/>
              </a:rPr>
              <a:t>   TYPE t_rec IS TABLE OF c_emp%ROWTYPE;</a:t>
            </a:r>
          </a:p>
          <a:p>
            <a:pPr>
              <a:spcAft>
                <a:spcPts val="0"/>
              </a:spcAft>
            </a:pPr>
            <a:r>
              <a:rPr sz="1250" b="0">
                <a:solidFill>
                  <a:srgbClr val="E6E6E6"/>
                </a:solidFill>
                <a:latin typeface="Consolas"/>
              </a:rPr>
              <a:t>   v_rec    t_rec;</a:t>
            </a:r>
          </a:p>
          <a:p>
            <a:pPr>
              <a:spcAft>
                <a:spcPts val="0"/>
              </a:spcAft>
            </a:pPr>
            <a:r>
              <a:rPr sz="1250" b="0">
                <a:solidFill>
                  <a:srgbClr val="E6E6E6"/>
                </a:solidFill>
                <a:latin typeface="Consolas"/>
              </a:rPr>
              <a:t>   v_total  PLS_INTEGER := 0;</a:t>
            </a:r>
          </a:p>
          <a:p>
            <a:pPr>
              <a:spcAft>
                <a:spcPts val="0"/>
              </a:spcAft>
            </a:pPr>
            <a:r>
              <a:rPr sz="1250" b="0">
                <a:solidFill>
                  <a:srgbClr val="E6E6E6"/>
                </a:solidFill>
                <a:latin typeface="Consolas"/>
              </a:rPr>
              <a:t>BEGIN</a:t>
            </a:r>
          </a:p>
          <a:p>
            <a:pPr>
              <a:spcAft>
                <a:spcPts val="0"/>
              </a:spcAft>
            </a:pPr>
            <a:r>
              <a:rPr sz="1250" b="0">
                <a:solidFill>
                  <a:srgbClr val="E6E6E6"/>
                </a:solidFill>
                <a:latin typeface="Consolas"/>
              </a:rPr>
              <a:t>   OPEN c_emp;</a:t>
            </a:r>
          </a:p>
          <a:p>
            <a:pPr>
              <a:spcAft>
                <a:spcPts val="0"/>
              </a:spcAft>
            </a:pPr>
            <a:r>
              <a:rPr sz="1250" b="0">
                <a:solidFill>
                  <a:srgbClr val="E6E6E6"/>
                </a:solidFill>
                <a:latin typeface="Consolas"/>
              </a:rPr>
              <a:t>   LOOP</a:t>
            </a:r>
          </a:p>
          <a:p>
            <a:pPr>
              <a:spcAft>
                <a:spcPts val="0"/>
              </a:spcAft>
            </a:pPr>
            <a:r>
              <a:rPr sz="1250" b="0">
                <a:solidFill>
                  <a:srgbClr val="E6E6E6"/>
                </a:solidFill>
                <a:latin typeface="Consolas"/>
              </a:rPr>
              <a:t>      FETCH c_emp BULK COLLECT INTO v_rec LIMIT 20;</a:t>
            </a:r>
          </a:p>
          <a:p>
            <a:pPr>
              <a:spcAft>
                <a:spcPts val="0"/>
              </a:spcAft>
            </a:pPr>
            <a:r>
              <a:rPr sz="1250" b="0">
                <a:solidFill>
                  <a:srgbClr val="E6E6E6"/>
                </a:solidFill>
                <a:latin typeface="Consolas"/>
              </a:rPr>
              <a:t>      EXIT WHEN v_rec.COUNT = 0;                    -- %NOTFOUND가 아니라 COUNT로 판단</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FORALL i IN 1 .. v_rec.COUNT                  -- 한 번에 SQL 엔진으로 전달</a:t>
            </a:r>
          </a:p>
          <a:p>
            <a:pPr>
              <a:spcAft>
                <a:spcPts val="0"/>
              </a:spcAft>
            </a:pPr>
            <a:r>
              <a:rPr sz="1250" b="0">
                <a:solidFill>
                  <a:srgbClr val="E6E6E6"/>
                </a:solidFill>
                <a:latin typeface="Consolas"/>
              </a:rPr>
              <a:t>         UPDATE employees SET salary = salary * 1.0</a:t>
            </a:r>
          </a:p>
          <a:p>
            <a:pPr>
              <a:spcAft>
                <a:spcPts val="0"/>
              </a:spcAft>
            </a:pPr>
            <a:r>
              <a:rPr sz="1250" b="0">
                <a:solidFill>
                  <a:srgbClr val="E6E6E6"/>
                </a:solidFill>
                <a:latin typeface="Consolas"/>
              </a:rPr>
              <a:t>          WHERE employee_id = v_rec(i).employee_id;</a:t>
            </a:r>
          </a:p>
          <a:p>
            <a:pPr>
              <a:spcAft>
                <a:spcPts val="0"/>
              </a:spcAft>
            </a:pPr>
            <a:r>
              <a:rPr sz="1250" b="0">
                <a:solidFill>
                  <a:srgbClr val="E6E6E6"/>
                </a:solidFill>
                <a:latin typeface="Consolas"/>
              </a:rPr>
              <a:t> </a:t>
            </a:r>
          </a:p>
          <a:p>
            <a:pPr>
              <a:spcAft>
                <a:spcPts val="0"/>
              </a:spcAft>
            </a:pPr>
            <a:r>
              <a:rPr sz="1250" b="0">
                <a:solidFill>
                  <a:srgbClr val="E6E6E6"/>
                </a:solidFill>
                <a:latin typeface="Consolas"/>
              </a:rPr>
              <a:t>      v_total := v_total + v_rec.COUNT;</a:t>
            </a:r>
          </a:p>
          <a:p>
            <a:pPr>
              <a:spcAft>
                <a:spcPts val="0"/>
              </a:spcAft>
            </a:pPr>
            <a:r>
              <a:rPr sz="1250" b="0">
                <a:solidFill>
                  <a:srgbClr val="E6E6E6"/>
                </a:solidFill>
                <a:latin typeface="Consolas"/>
              </a:rPr>
              <a:t>   END LOOP;</a:t>
            </a:r>
          </a:p>
          <a:p>
            <a:pPr>
              <a:spcAft>
                <a:spcPts val="0"/>
              </a:spcAft>
            </a:pPr>
            <a:r>
              <a:rPr sz="1250" b="0">
                <a:solidFill>
                  <a:srgbClr val="E6E6E6"/>
                </a:solidFill>
                <a:latin typeface="Consolas"/>
              </a:rPr>
              <a:t>   CLOSE c_emp;</a:t>
            </a:r>
          </a:p>
          <a:p>
            <a:pPr>
              <a:spcAft>
                <a:spcPts val="0"/>
              </a:spcAft>
            </a:pPr>
            <a:r>
              <a:rPr sz="1250" b="0">
                <a:solidFill>
                  <a:srgbClr val="E6E6E6"/>
                </a:solidFill>
                <a:latin typeface="Consolas"/>
              </a:rPr>
              <a:t>   DBMS_OUTPUT.PUT_LINE('처리 건수 : ' || v_total);   -- 107</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7202A"/>
        </a:solidFill>
        <a:effectLst/>
      </p:bgPr>
    </p:bg>
    <p:spTree>
      <p:nvGrpSpPr>
        <p:cNvPr id="1" name=""/>
        <p:cNvGrpSpPr/>
        <p:nvPr/>
      </p:nvGrpSpPr>
      <p:grpSpPr>
        <a:xfrm>
          <a:off x="0" y="0"/>
          <a:ext cx="0" cy="0"/>
          <a:chOff x="0" y="0"/>
          <a:chExt cx="0" cy="0"/>
        </a:xfrm>
      </p:grpSpPr>
      <p:sp>
        <p:nvSpPr>
          <p:cNvPr id="2" name="TextBox 1"/>
          <p:cNvSpPr txBox="1"/>
          <p:nvPr/>
        </p:nvSpPr>
        <p:spPr>
          <a:xfrm>
            <a:off x="822960" y="1371600"/>
            <a:ext cx="2743200" cy="1371600"/>
          </a:xfrm>
          <a:prstGeom prst="rect">
            <a:avLst/>
          </a:prstGeom>
          <a:noFill/>
        </p:spPr>
        <p:txBody>
          <a:bodyPr wrap="square">
            <a:spAutoFit/>
          </a:bodyPr>
          <a:lstStyle/>
          <a:p>
            <a:r>
              <a:rPr sz="6600" b="1">
                <a:solidFill>
                  <a:srgbClr val="C0392B"/>
                </a:solidFill>
                <a:latin typeface="Malgun Gothic"/>
              </a:rPr>
              <a:t>3.18</a:t>
            </a:r>
          </a:p>
        </p:txBody>
      </p:sp>
      <p:sp>
        <p:nvSpPr>
          <p:cNvPr id="3" name="TextBox 2"/>
          <p:cNvSpPr txBox="1"/>
          <p:nvPr/>
        </p:nvSpPr>
        <p:spPr>
          <a:xfrm>
            <a:off x="822960" y="2743200"/>
            <a:ext cx="10515600" cy="1097280"/>
          </a:xfrm>
          <a:prstGeom prst="rect">
            <a:avLst/>
          </a:prstGeom>
          <a:noFill/>
        </p:spPr>
        <p:txBody>
          <a:bodyPr wrap="square">
            <a:spAutoFit/>
          </a:bodyPr>
          <a:lstStyle/>
          <a:p>
            <a:r>
              <a:rPr sz="3400" b="1">
                <a:solidFill>
                  <a:srgbClr val="FFFFFF"/>
                </a:solidFill>
                <a:latin typeface="Malgun Gothic"/>
              </a:rPr>
              <a:t>자주 만나는 오류와 진단</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예외를 잡고도 재발생시키지 않아 실패가 감춰진 경우</a:t>
            </a:r>
          </a:p>
          <a:p>
            <a:pPr>
              <a:spcAft>
                <a:spcPts val="600"/>
              </a:spcAft>
            </a:pPr>
            <a:r>
              <a:rPr sz="1600" b="0">
                <a:solidFill>
                  <a:srgbClr val="C5CED6"/>
                </a:solidFill>
                <a:latin typeface="Malgun Gothic"/>
              </a:rPr>
              <a:t>•  BULK COLLECT 결과를 검사하지 않아 ORA-06533이 발생한 경우</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오류 → 원인 → 수정 (1)</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실패가 성공으로 보고되던 야간 배치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예외를 잡고 출력만 하고 끝낸다</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DBMS_OUTPUT.PUT_LINE('오류 : ' || SQLERRM);   -- 출력만 하고 끝</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PL/SQL procedure successfully completed.        &lt;- 스케줄러는 성공으로 판정</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(원인) 예외를 처리했으므로 블록은 정상 종료된다</a:t>
            </a:r>
          </a:p>
          <a:p>
            <a:pPr>
              <a:spcAft>
                <a:spcPts val="0"/>
              </a:spcAft>
            </a:pPr>
            <a:r>
              <a:rPr sz="1250" b="0">
                <a:solidFill>
                  <a:srgbClr val="7EC699"/>
                </a:solidFill>
                <a:latin typeface="Consolas"/>
              </a:rPr>
              <a:t>--        호출자는 실패를 알 방법이 없고 DBMS_OUTPUT은 아무도 보지 않는다</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로그를 남기고 호출자에게 실패를 전달한다</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OTHERS THEN</a:t>
            </a:r>
          </a:p>
          <a:p>
            <a:pPr>
              <a:spcAft>
                <a:spcPts val="0"/>
              </a:spcAft>
            </a:pPr>
            <a:r>
              <a:rPr sz="1250" b="0">
                <a:solidFill>
                  <a:srgbClr val="E6E6E6"/>
                </a:solidFill>
                <a:latin typeface="Consolas"/>
              </a:rPr>
              <a:t>      v_code := SQLCODE;  v_msg := SUBSTR(SQLERRM, 1, 400);</a:t>
            </a:r>
          </a:p>
          <a:p>
            <a:pPr>
              <a:spcAft>
                <a:spcPts val="0"/>
              </a:spcAft>
            </a:pPr>
            <a:r>
              <a:rPr sz="1250" b="0">
                <a:solidFill>
                  <a:srgbClr val="E6E6E6"/>
                </a:solidFill>
                <a:latin typeface="Consolas"/>
              </a:rPr>
              <a:t>      ROLLBACK;</a:t>
            </a:r>
          </a:p>
          <a:p>
            <a:pPr>
              <a:spcAft>
                <a:spcPts val="0"/>
              </a:spcAft>
            </a:pPr>
            <a:r>
              <a:rPr sz="1250" b="0">
                <a:solidFill>
                  <a:srgbClr val="E6E6E6"/>
                </a:solidFill>
                <a:latin typeface="Consolas"/>
              </a:rPr>
              <a:t>      write_error_log('SALARY_BATCH', v_code, v_msg);   -- 자율 트랜잭션 로깅</a:t>
            </a:r>
          </a:p>
          <a:p>
            <a:pPr>
              <a:spcAft>
                <a:spcPts val="0"/>
              </a:spcAft>
            </a:pPr>
            <a:r>
              <a:rPr sz="1250" b="0">
                <a:solidFill>
                  <a:srgbClr val="E6E6E6"/>
                </a:solidFill>
                <a:latin typeface="Consolas"/>
              </a:rPr>
              <a:t>      RAISE_APPLICATION_ERROR(-20900, '급여 배치 실패: ' || v_msg, TRUE);</a:t>
            </a:r>
          </a:p>
          <a:p>
            <a:pPr>
              <a:spcAft>
                <a:spcPts val="0"/>
              </a:spcAft>
            </a:pPr>
            <a:r>
              <a:rPr sz="1250" b="0">
                <a:solidFill>
                  <a:srgbClr val="E6E6E6"/>
                </a:solidFill>
                <a:latin typeface="Consolas"/>
              </a:rPr>
              <a:t>END;</a:t>
            </a:r>
          </a:p>
          <a:p>
            <a:pPr>
              <a:spcAft>
                <a:spcPts val="0"/>
              </a:spcAft>
            </a:pPr>
            <a:r>
              <a:rPr sz="1250" b="0">
                <a:solidFill>
                  <a:srgbClr val="E6E6E6"/>
                </a:solidFill>
                <a:latin typeface="Consolas"/>
              </a:rPr>
              <a:t>/</a:t>
            </a:r>
          </a:p>
          <a:p>
            <a:pPr>
              <a:spcAft>
                <a:spcPts val="0"/>
              </a:spcAft>
            </a:pPr>
            <a:r>
              <a:rPr sz="1250" b="0">
                <a:solidFill>
                  <a:srgbClr val="7EC699"/>
                </a:solidFill>
                <a:latin typeface="Consolas"/>
              </a:rPr>
              <a:t>-- ORA-20900: 급여 배치 실패: ORA-01476: divisor is equal to zero</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오류 → 원인 → 수정 (2)</a:t>
            </a:r>
          </a:p>
        </p:txBody>
      </p:sp>
      <p:sp>
        <p:nvSpPr>
          <p:cNvPr id="4" name="TextBox 3"/>
          <p:cNvSpPr txBox="1"/>
          <p:nvPr/>
        </p:nvSpPr>
        <p:spPr>
          <a:xfrm>
            <a:off x="640080" y="1188720"/>
            <a:ext cx="10881360" cy="457200"/>
          </a:xfrm>
          <a:prstGeom prst="rect">
            <a:avLst/>
          </a:prstGeom>
          <a:noFill/>
        </p:spPr>
        <p:txBody>
          <a:bodyPr wrap="square">
            <a:spAutoFit/>
          </a:bodyPr>
          <a:lstStyle/>
          <a:p>
            <a:r>
              <a:rPr sz="1500" b="0">
                <a:solidFill>
                  <a:srgbClr val="5A6672"/>
                </a:solidFill>
                <a:latin typeface="Malgun Gothic"/>
              </a:rPr>
              <a:t>빈 컬렉션의 첫 원소에 접근한 배치</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801368"/>
            <a:ext cx="10515600" cy="4581144"/>
          </a:xfrm>
          <a:prstGeom prst="rect">
            <a:avLst/>
          </a:prstGeom>
          <a:noFill/>
        </p:spPr>
        <p:txBody>
          <a:bodyPr wrap="square">
            <a:spAutoFit/>
          </a:bodyPr>
          <a:lstStyle/>
          <a:p>
            <a:pPr>
              <a:spcAft>
                <a:spcPts val="0"/>
              </a:spcAft>
            </a:pPr>
            <a:r>
              <a:rPr sz="1250" b="0">
                <a:solidFill>
                  <a:srgbClr val="7EC699"/>
                </a:solidFill>
                <a:latin typeface="Consolas"/>
              </a:rPr>
              <a:t>-- (오류 상황) NO_DATA_FOUND를 기대했지만 실제로는 ORA-06533</a:t>
            </a:r>
          </a:p>
          <a:p>
            <a:pPr>
              <a:spcAft>
                <a:spcPts val="0"/>
              </a:spcAft>
            </a:pPr>
            <a:r>
              <a:rPr sz="1250" b="0">
                <a:solidFill>
                  <a:srgbClr val="E6E6E6"/>
                </a:solidFill>
                <a:latin typeface="Consolas"/>
              </a:rPr>
              <a:t>   SELECT employee_id BULK COLLECT INTO v_ids</a:t>
            </a:r>
          </a:p>
          <a:p>
            <a:pPr>
              <a:spcAft>
                <a:spcPts val="0"/>
              </a:spcAft>
            </a:pPr>
            <a:r>
              <a:rPr sz="1250" b="0">
                <a:solidFill>
                  <a:srgbClr val="E6E6E6"/>
                </a:solidFill>
                <a:latin typeface="Consolas"/>
              </a:rPr>
              <a:t>     FROM employees WHERE department_id = 999;</a:t>
            </a:r>
          </a:p>
          <a:p>
            <a:pPr>
              <a:spcAft>
                <a:spcPts val="0"/>
              </a:spcAft>
            </a:pPr>
            <a:r>
              <a:rPr sz="1250" b="0">
                <a:solidFill>
                  <a:srgbClr val="E6E6E6"/>
                </a:solidFill>
                <a:latin typeface="Consolas"/>
              </a:rPr>
              <a:t>   DBMS_OUTPUT.PUT_LINE('대표 사번 : ' || v_ids(1));</a:t>
            </a:r>
          </a:p>
          <a:p>
            <a:pPr>
              <a:spcAft>
                <a:spcPts val="0"/>
              </a:spcAft>
            </a:pPr>
            <a:r>
              <a:rPr sz="1250" b="0">
                <a:solidFill>
                  <a:srgbClr val="E6E6E6"/>
                </a:solidFill>
                <a:latin typeface="Consolas"/>
              </a:rPr>
              <a:t>EXCEPTION</a:t>
            </a:r>
          </a:p>
          <a:p>
            <a:pPr>
              <a:spcAft>
                <a:spcPts val="0"/>
              </a:spcAft>
            </a:pPr>
            <a:r>
              <a:rPr sz="1250" b="0">
                <a:solidFill>
                  <a:srgbClr val="E6E6E6"/>
                </a:solidFill>
                <a:latin typeface="Consolas"/>
              </a:rPr>
              <a:t>   WHEN NO_DATA_FOUND THEN</a:t>
            </a:r>
          </a:p>
          <a:p>
            <a:pPr>
              <a:spcAft>
                <a:spcPts val="0"/>
              </a:spcAft>
            </a:pPr>
            <a:r>
              <a:rPr sz="1250" b="0">
                <a:solidFill>
                  <a:srgbClr val="E6E6E6"/>
                </a:solidFill>
                <a:latin typeface="Consolas"/>
              </a:rPr>
              <a:t>      DBMS_OUTPUT.PUT_LINE('데이터 없음');        -- 이 핸들러는 동작하지 않는다</a:t>
            </a:r>
          </a:p>
          <a:p>
            <a:pPr>
              <a:spcAft>
                <a:spcPts val="0"/>
              </a:spcAft>
            </a:pPr>
            <a:r>
              <a:rPr sz="1250" b="0">
                <a:solidFill>
                  <a:srgbClr val="7EC699"/>
                </a:solidFill>
                <a:latin typeface="Consolas"/>
              </a:rPr>
              <a:t>-- ORA-06533: Subscript beyond count</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(원인) BULK COLLECT INTO는 0건일 때 예외 없이 빈 컬렉션을 반환한다</a:t>
            </a:r>
          </a:p>
          <a:p>
            <a:pPr>
              <a:spcAft>
                <a:spcPts val="0"/>
              </a:spcAft>
            </a:pPr>
            <a:r>
              <a:rPr sz="1250" b="0">
                <a:solidFill>
                  <a:srgbClr val="7EC699"/>
                </a:solidFill>
                <a:latin typeface="Consolas"/>
              </a:rPr>
              <a:t>--        따라서 NO_DATA_FOUND 핸들러는 결코 실행되지 않는다</a:t>
            </a:r>
          </a:p>
          <a:p>
            <a:pPr>
              <a:spcAft>
                <a:spcPts val="0"/>
              </a:spcAft>
            </a:pPr>
            <a:r>
              <a:rPr sz="1250" b="0">
                <a:solidFill>
                  <a:srgbClr val="E6E6E6"/>
                </a:solidFill>
                <a:latin typeface="Consolas"/>
              </a:rPr>
              <a:t> </a:t>
            </a:r>
          </a:p>
          <a:p>
            <a:pPr>
              <a:spcAft>
                <a:spcPts val="0"/>
              </a:spcAft>
            </a:pPr>
            <a:r>
              <a:rPr sz="1250" b="0">
                <a:solidFill>
                  <a:srgbClr val="7EC699"/>
                </a:solidFill>
                <a:latin typeface="Consolas"/>
              </a:rPr>
              <a:t>-- (수정) COUNT 검사를 선행한다</a:t>
            </a:r>
          </a:p>
          <a:p>
            <a:pPr>
              <a:spcAft>
                <a:spcPts val="0"/>
              </a:spcAft>
            </a:pPr>
            <a:r>
              <a:rPr sz="1250" b="0">
                <a:solidFill>
                  <a:srgbClr val="E6E6E6"/>
                </a:solidFill>
                <a:latin typeface="Consolas"/>
              </a:rPr>
              <a:t>   IF v_ids.COUNT = 0 THEN</a:t>
            </a:r>
          </a:p>
          <a:p>
            <a:pPr>
              <a:spcAft>
                <a:spcPts val="0"/>
              </a:spcAft>
            </a:pPr>
            <a:r>
              <a:rPr sz="1250" b="0">
                <a:solidFill>
                  <a:srgbClr val="E6E6E6"/>
                </a:solidFill>
                <a:latin typeface="Consolas"/>
              </a:rPr>
              <a:t>      DBMS_OUTPUT.PUT_LINE('대상 데이터가 없어 처리를 건너뛴다.');</a:t>
            </a:r>
          </a:p>
          <a:p>
            <a:pPr>
              <a:spcAft>
                <a:spcPts val="0"/>
              </a:spcAft>
            </a:pPr>
            <a:r>
              <a:rPr sz="1250" b="0">
                <a:solidFill>
                  <a:srgbClr val="E6E6E6"/>
                </a:solidFill>
                <a:latin typeface="Consolas"/>
              </a:rPr>
              <a:t>   ELSE</a:t>
            </a:r>
          </a:p>
          <a:p>
            <a:pPr>
              <a:spcAft>
                <a:spcPts val="0"/>
              </a:spcAft>
            </a:pPr>
            <a:r>
              <a:rPr sz="1250" b="0">
                <a:solidFill>
                  <a:srgbClr val="E6E6E6"/>
                </a:solidFill>
                <a:latin typeface="Consolas"/>
              </a:rPr>
              <a:t>      DBMS_OUTPUT.PUT_LINE('대표 사번 : ' || v_ids(1));</a:t>
            </a:r>
          </a:p>
          <a:p>
            <a:pPr>
              <a:spcAft>
                <a:spcPts val="0"/>
              </a:spcAft>
            </a:pPr>
            <a:r>
              <a:rPr sz="1250" b="0">
                <a:solidFill>
                  <a:srgbClr val="E6E6E6"/>
                </a:solidFill>
                <a:latin typeface="Consolas"/>
              </a:rPr>
              <a:t>   END IF;</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(1/2)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Q1. SELECT INTO가 결과가 없을 때와 두 행 이상일 때 각각 어떤 예외가 발생하는가?</a:t>
            </a:r>
          </a:p>
          <a:p>
            <a:pPr>
              <a:spcAft>
                <a:spcPts val="300"/>
              </a:spcAft>
            </a:pPr>
            <a:r>
              <a:rPr sz="1600" b="0">
                <a:solidFill>
                  <a:srgbClr val="5A6672"/>
                </a:solidFill>
                <a:latin typeface="Malgun Gothic"/>
              </a:rPr>
              <a:t>    –  두 상황의 근본 원인은 어떻게 다르며 대응 방법은 무엇인가</a:t>
            </a:r>
          </a:p>
          <a:p>
            <a:pPr>
              <a:spcAft>
                <a:spcPts val="500"/>
              </a:spcAft>
            </a:pPr>
            <a:r>
              <a:rPr sz="1800" b="0">
                <a:solidFill>
                  <a:srgbClr val="202830"/>
                </a:solidFill>
                <a:latin typeface="Malgun Gothic"/>
              </a:rPr>
              <a:t>•  Q2. WHEN OTHERS THEN NULL; 이 위험한 이유는 무엇인가?</a:t>
            </a:r>
          </a:p>
          <a:p>
            <a:pPr>
              <a:spcAft>
                <a:spcPts val="300"/>
              </a:spcAft>
            </a:pPr>
            <a:r>
              <a:rPr sz="1600" b="0">
                <a:solidFill>
                  <a:srgbClr val="5A6672"/>
                </a:solidFill>
                <a:latin typeface="Malgun Gothic"/>
              </a:rPr>
              <a:t>    –  최소한 무엇을 해야 하는지 두 가지 이상 제시하시오</a:t>
            </a:r>
          </a:p>
          <a:p>
            <a:pPr>
              <a:spcAft>
                <a:spcPts val="500"/>
              </a:spcAft>
            </a:pPr>
            <a:r>
              <a:rPr sz="1800" b="0">
                <a:solidFill>
                  <a:srgbClr val="202830"/>
                </a:solidFill>
                <a:latin typeface="Malgun Gothic"/>
              </a:rPr>
              <a:t>•  Q3. SQLCODE가 NO_DATA_FOUND에 대해 반환하는 값은?</a:t>
            </a:r>
          </a:p>
          <a:p>
            <a:pPr>
              <a:spcAft>
                <a:spcPts val="300"/>
              </a:spcAft>
            </a:pPr>
            <a:r>
              <a:rPr sz="1600" b="0">
                <a:solidFill>
                  <a:srgbClr val="5A6672"/>
                </a:solidFill>
                <a:latin typeface="Malgun Gothic"/>
              </a:rPr>
              <a:t>    –  다른 오라클 오류와 부호가 어떻게 다른가</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이해도 점검 퀴즈 (2/2)</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Q4. 사용자 정의 예외를 RAISE했을 때 SQLERRM이 불친절한 이유는?</a:t>
            </a:r>
          </a:p>
          <a:p>
            <a:pPr>
              <a:spcAft>
                <a:spcPts val="300"/>
              </a:spcAft>
            </a:pPr>
            <a:r>
              <a:rPr sz="1600" b="0">
                <a:solidFill>
                  <a:srgbClr val="5A6672"/>
                </a:solidFill>
                <a:latin typeface="Malgun Gothic"/>
              </a:rPr>
              <a:t>    –  이를 개선하기 위한 방법을 설명하시오</a:t>
            </a:r>
          </a:p>
          <a:p>
            <a:pPr>
              <a:spcAft>
                <a:spcPts val="500"/>
              </a:spcAft>
            </a:pPr>
            <a:r>
              <a:rPr sz="1800" b="0">
                <a:solidFill>
                  <a:srgbClr val="202830"/>
                </a:solidFill>
                <a:latin typeface="Malgun Gothic"/>
              </a:rPr>
              <a:t>•  Q5. SAVEPOINT sp_a 선언 후 ROLLBACK TO sp_b를 실행하면?</a:t>
            </a:r>
          </a:p>
          <a:p>
            <a:pPr>
              <a:spcAft>
                <a:spcPts val="300"/>
              </a:spcAft>
            </a:pPr>
            <a:r>
              <a:rPr sz="1600" b="0">
                <a:solidFill>
                  <a:srgbClr val="5A6672"/>
                </a:solidFill>
                <a:latin typeface="Malgun Gothic"/>
              </a:rPr>
              <a:t>    –  어떤 오류가 발생하며 ROLLBACK TO 실행 뒤 트랜잭션 상태는 어떻게 되는가</a:t>
            </a:r>
          </a:p>
          <a:p>
            <a:pPr>
              <a:spcAft>
                <a:spcPts val="500"/>
              </a:spcAft>
            </a:pPr>
            <a:r>
              <a:rPr sz="1800" b="0">
                <a:solidFill>
                  <a:srgbClr val="202830"/>
                </a:solidFill>
                <a:latin typeface="Malgun Gothic"/>
              </a:rPr>
              <a:t>•  Q6. BULK COLLECT INTO의 결과가 0건일 때 발생하는 일은?</a:t>
            </a:r>
          </a:p>
          <a:p>
            <a:pPr>
              <a:spcAft>
                <a:spcPts val="300"/>
              </a:spcAft>
            </a:pPr>
            <a:r>
              <a:rPr sz="1600" b="0">
                <a:solidFill>
                  <a:srgbClr val="5A6672"/>
                </a:solidFill>
                <a:latin typeface="Malgun Gothic"/>
              </a:rPr>
              <a:t>    –  이를 고려하지 않은 코드에서 발생하는 대표적인 오류 번호를 쓰시오</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요약 (Summary)</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예외는 실행 중 오류이며, EXCEPTION 절의 유무가 정상 종료와 비정상 종료를 가른다</a:t>
            </a:r>
          </a:p>
          <a:p>
            <a:pPr>
              <a:spcAft>
                <a:spcPts val="500"/>
              </a:spcAft>
            </a:pPr>
            <a:r>
              <a:rPr sz="1800" b="0">
                <a:solidFill>
                  <a:srgbClr val="202830"/>
                </a:solidFill>
                <a:latin typeface="Malgun Gothic"/>
              </a:rPr>
              <a:t>•  사전 정의·비사전 정의·사용자 정의 세 유형이 있고 뒤의 둘은 선언이 필요하다</a:t>
            </a:r>
          </a:p>
          <a:p>
            <a:pPr>
              <a:spcAft>
                <a:spcPts val="500"/>
              </a:spcAft>
            </a:pPr>
            <a:r>
              <a:rPr sz="1800" b="0">
                <a:solidFill>
                  <a:srgbClr val="202830"/>
                </a:solidFill>
                <a:latin typeface="Malgun Gothic"/>
              </a:rPr>
              <a:t>•  OTHERS는 마지막에 한 번만, 반드시 SQLCODE·SQLERRM 기록 또는 RAISE 재발생</a:t>
            </a:r>
          </a:p>
          <a:p>
            <a:pPr>
              <a:spcAft>
                <a:spcPts val="500"/>
              </a:spcAft>
            </a:pPr>
            <a:r>
              <a:rPr sz="1800" b="0">
                <a:solidFill>
                  <a:srgbClr val="202830"/>
                </a:solidFill>
                <a:latin typeface="Malgun Gothic"/>
              </a:rPr>
              <a:t>•  PRAGMA EXCEPTION_INIT과 RAISE_APPLICATION_ERROR로 오류에 업무 의미를 부여한다</a:t>
            </a:r>
          </a:p>
          <a:p>
            <a:pPr>
              <a:spcAft>
                <a:spcPts val="500"/>
              </a:spcAft>
            </a:pPr>
            <a:r>
              <a:rPr sz="1800" b="0">
                <a:solidFill>
                  <a:srgbClr val="202830"/>
                </a:solidFill>
                <a:latin typeface="Malgun Gothic"/>
              </a:rPr>
              <a:t>•  트랜잭션은 첫 DML로 시작해 COMMIT·ROLLBACK으로 끝나며 DDL은 암묵적 커밋을 유발한다</a:t>
            </a:r>
          </a:p>
          <a:p>
            <a:pPr>
              <a:spcAft>
                <a:spcPts val="500"/>
              </a:spcAft>
            </a:pPr>
            <a:r>
              <a:rPr sz="1800" b="0">
                <a:solidFill>
                  <a:srgbClr val="202830"/>
                </a:solidFill>
                <a:latin typeface="Malgun Gothic"/>
              </a:rPr>
              <a:t>•  SAVEPOINT와 ROLLBACK TO로 부분 롤백, 잘못된 이름은 ORA-01086</a:t>
            </a:r>
          </a:p>
          <a:p>
            <a:pPr>
              <a:spcAft>
                <a:spcPts val="500"/>
              </a:spcAft>
            </a:pPr>
            <a:r>
              <a:rPr sz="1800" b="0">
                <a:solidFill>
                  <a:srgbClr val="202830"/>
                </a:solidFill>
                <a:latin typeface="Malgun Gothic"/>
              </a:rPr>
              <a:t>•  컬렉션은 Associative Array·Nested Table·VARRAY 세 가지, 각각 고유한 예외가 있다</a:t>
            </a:r>
          </a:p>
          <a:p>
            <a:pPr>
              <a:spcAft>
                <a:spcPts val="500"/>
              </a:spcAft>
            </a:pPr>
            <a:r>
              <a:rPr sz="1800" b="0">
                <a:solidFill>
                  <a:srgbClr val="202830"/>
                </a:solidFill>
                <a:latin typeface="Malgun Gothic"/>
              </a:rPr>
              <a:t>•  BULK COLLECT는 0건일 때 빈 컬렉션을 반환하므로 COUNT 검사가 필수다</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09728"/>
            <a:ext cx="10972800" cy="731520"/>
          </a:xfrm>
          <a:prstGeom prst="rect">
            <a:avLst/>
          </a:prstGeom>
          <a:noFill/>
        </p:spPr>
        <p:txBody>
          <a:bodyPr wrap="square">
            <a:spAutoFit/>
          </a:bodyPr>
          <a:lstStyle/>
          <a:p>
            <a:r>
              <a:rPr sz="2600" b="1">
                <a:solidFill>
                  <a:srgbClr val="FFFFFF"/>
                </a:solidFill>
                <a:latin typeface="Malgun Gothic"/>
              </a:rPr>
              <a:t>실습 개요</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500"/>
              </a:spcAft>
            </a:pPr>
            <a:r>
              <a:rPr sz="1800" b="0">
                <a:solidFill>
                  <a:srgbClr val="202830"/>
                </a:solidFill>
                <a:latin typeface="Malgun Gothic"/>
              </a:rPr>
              <a:t>•  실습 01  사전 정의 예외 처리 — 3장_실습_01_사전정의예외.txt</a:t>
            </a:r>
          </a:p>
          <a:p>
            <a:pPr>
              <a:spcAft>
                <a:spcPts val="500"/>
              </a:spcAft>
            </a:pPr>
            <a:r>
              <a:rPr sz="1800" b="0">
                <a:solidFill>
                  <a:srgbClr val="202830"/>
                </a:solidFill>
                <a:latin typeface="Malgun Gothic"/>
              </a:rPr>
              <a:t>•  실습 02  사용자 정의 예외 선언 및 RAISE — 3장_실습_02_사용자정의예외.txt</a:t>
            </a:r>
          </a:p>
          <a:p>
            <a:pPr>
              <a:spcAft>
                <a:spcPts val="500"/>
              </a:spcAft>
            </a:pPr>
            <a:r>
              <a:rPr sz="1800" b="0">
                <a:solidFill>
                  <a:srgbClr val="202830"/>
                </a:solidFill>
                <a:latin typeface="Malgun Gothic"/>
              </a:rPr>
              <a:t>•  실습 03  SQLCODE/SQLERRM으로 오류 정보 조회 — 3장_실습_03_sqlcode_sqlerrm.txt</a:t>
            </a:r>
          </a:p>
          <a:p>
            <a:pPr>
              <a:spcAft>
                <a:spcPts val="500"/>
              </a:spcAft>
            </a:pPr>
            <a:r>
              <a:rPr sz="1800" b="0">
                <a:solidFill>
                  <a:srgbClr val="202830"/>
                </a:solidFill>
                <a:latin typeface="Malgun Gothic"/>
              </a:rPr>
              <a:t>•  실습 04  OTHERS 예외 처리와 예외 전파 — 3장_실습_04_others_전파.txt</a:t>
            </a:r>
          </a:p>
          <a:p>
            <a:pPr>
              <a:spcAft>
                <a:spcPts val="500"/>
              </a:spcAft>
            </a:pPr>
            <a:r>
              <a:rPr sz="1800" b="0">
                <a:solidFill>
                  <a:srgbClr val="202830"/>
                </a:solidFill>
                <a:latin typeface="Malgun Gothic"/>
              </a:rPr>
              <a:t>•  실습 05  COMMIT/ROLLBACK/SAVEPOINT — 3장_실습_05_commit_rollback_savepoint.txt</a:t>
            </a:r>
          </a:p>
          <a:p>
            <a:pPr>
              <a:spcAft>
                <a:spcPts val="500"/>
              </a:spcAft>
            </a:pPr>
            <a:r>
              <a:rPr sz="1800" b="0">
                <a:solidFill>
                  <a:srgbClr val="202830"/>
                </a:solidFill>
                <a:latin typeface="Malgun Gothic"/>
              </a:rPr>
              <a:t>•  실습 06  Associative Array 선언 및 활용 — 3장_실습_06_associative_array.txt</a:t>
            </a:r>
          </a:p>
          <a:p>
            <a:pPr>
              <a:spcAft>
                <a:spcPts val="500"/>
              </a:spcAft>
            </a:pPr>
            <a:r>
              <a:rPr sz="1800" b="0">
                <a:solidFill>
                  <a:srgbClr val="202830"/>
                </a:solidFill>
                <a:latin typeface="Malgun Gothic"/>
              </a:rPr>
              <a:t>•  실습 07  Nested Table과 VARRAY 비교 — 3장_실습_07_nested_table_varray.txt</a:t>
            </a:r>
          </a:p>
          <a:p>
            <a:pPr>
              <a:spcAft>
                <a:spcPts val="500"/>
              </a:spcAft>
            </a:pPr>
            <a:r>
              <a:rPr sz="1800" b="0">
                <a:solidFill>
                  <a:srgbClr val="202830"/>
                </a:solidFill>
                <a:latin typeface="Malgun Gothic"/>
              </a:rPr>
              <a:t>•  실습 08  BULK COLLECT로 대량 데이터 수집 — 3장_실습_08_bulk_collect.txt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9820</Words>
  <Application>Microsoft Office PowerPoint</Application>
  <PresentationFormat>와이드스크린</PresentationFormat>
  <Paragraphs>720</Paragraphs>
  <Slides>53</Slides>
  <Notes>53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53</vt:i4>
      </vt:variant>
    </vt:vector>
  </HeadingPairs>
  <TitlesOfParts>
    <vt:vector size="58"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KEONTAE KIM</cp:lastModifiedBy>
  <cp:revision>3</cp:revision>
  <dcterms:created xsi:type="dcterms:W3CDTF">2013-01-27T09:14:16Z</dcterms:created>
  <dcterms:modified xsi:type="dcterms:W3CDTF">2026-08-19T09:14:55Z</dcterms:modified>
  <cp:category/>
</cp:coreProperties>
</file>
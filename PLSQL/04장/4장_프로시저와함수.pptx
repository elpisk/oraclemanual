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지금까지 익명 블록으로 작성해 온 PL/SQL 코드를 데이터베이스에 저장되는 이름 있는 프로그램으로 바꾸는 장이다. 1장에서 블록 구조를, 2장에서 반복문과 커서를, 3장에서 예외와 트랜잭션을 배웠다면 이제는 그 코드를 재사용 가능한 단위로 묶고 권한을 부여하며 버전을 관리하는 방법을 배운다. 실습 환경은 Oracle Database 19c와 HR 샘플 스키마이며, 6개의 SQL*Plus 트랜스크립트로 컴파일 오류와 런타임 예외를 직접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이 장을 마쳤을 때 수강생이 실제로 할 수 있어야 하는 행동을 기준으로 작성했다. 개념을 아는 것과 오류 없이 컴파일되는 코드를 쓰는 것은 다르므로, 모든 목표는 SQL*Plus에서 직접 실행해 확인할 수 있는 형태로 진술했다. 특히 파라미터 모드와 RETURN 보장, 순수성 규칙 세 가지는 이 장의 핵심이며 실습문제 70문항이 이 목표를 그대로 검증한다.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세 덩어리로 나뉜다. 앞부분(4.1~4.8)은 프로시저와 파라미터로 '값을 주고받는 인터페이스'를 다루고, 가운데(4.9~4.13)는 함수와 스코프로 '값을 계산해 돌려주는 규칙'을 다루며, 뒷부분(4.14~4.18)은 컴파일·의존성·삭제라는 '저장 프로그램의 생애주기 관리'를 다룬다. 강의 시간이 부족하면 4.13 중첩 서브프로그램을 자율 학습으로 돌리고 나머지를 우선한다.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구간에서는 왜 익명 블록만으로는 업무 로직을 담을 수 없는지부터 시작한다. 재사용 불가, 값 반환 통로 없음, 권한 부여 불가라는 세 가지 한계가 저장 서브프로그램이 등장한 이유다. 이어서 프로시저 생성 문법에서 DECLARE를 쓰지 않는다는 점, 파라미터 자료형에 크기를 적을 수 없다는 점 두 가지를 반드시 강조한다. 이 두 문법 차이를 놓치면 실습에서 컴파일 오류가 바로 발생하므로 첫 예제 전에 반드시 짚고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익명 블록은 학습과 일회성 작업에는 충분하지만 운영 코드로는 부적합하다. 특히 세 번째 한계인 권한 통제 불가는 보안 관점에서 결정적이다. 저장 프로시저를 쓰면 테이블에 직접 접근 권한을 주지 않고 프로시저 실행 권한만 부여해 '정해진 방법으로만 데이터를 다루게' 강제할 수 있다. 이 통제 모델은 4.17에서 AUTHID와 함께 다시 다룬다. 이 내용을 설명한 뒤 바로 다음 슬라이드의 저장 서브프로그램 정의로 자연스럽게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 서브프로그램의 실행 성능 이점은 두 가지에서 나온다. 첫째는 컴파일 결과가 저장되어 매 호출마다 파싱하지 않는다는 점이고, 둘째는 여러 SQL 문을 하나의 호출로 묶어 네트워크 왕복을 줄인다는 점이다. 클라이언트가 SQL을 열 번 보내는 대신 프로시저를 한 번 호출하면 왕복 횟수가 10분의 1이 된다. 대량 처리 배치에서 이 차이는 매우 크다. 두 이점을 수치나 비유로 한 번 더 짚어 주면 수강생이 왜 저장 프로시저를 쓰는지 체감한다.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비교표는 시험에도 자주 나오는 내용이다. 특히 '컴파일 시점'과 '저장 여부'가 짝을 이룬다는 점을 이해시켜야 한다. 저장된다는 것은 곧 컴파일 결과를 재사용할 수 있다는 뜻이고, 저장되지 않는다는 것은 매번 다시 컴파일해야 한다는 뜻이다. 파라미터 유무 역시 '이름이 있어야 호출 규약을 정의할 수 있다'는 같은 뿌리에서 나온 차이다. 표를 다 설명한 뒤에는 수강생에게 빈칸을 채워 보게 하는 방식으로 복습시키면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 REPLACE의 의미를 정확히 설명해야 한다. DROP 후 CREATE와 결과는 비슷해 보이지만 결정적인 차이가 있다. OR REPLACE는 기존에 부여된 EXECUTE 권한과 의존 관계를 그대로 유지하는 반면, DROP은 권한을 모두 회수해 버린다. 운영 환경에서 DROP 후 CREATE로 배포했다가 다른 스키마의 호출이 전부 실패하는 사고가 실제로 자주 발생한다. END 뒤의 이름 반복은 선택이지만 습관을 들이도록 권한다.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예제에는 3장에서 배운 내용이 그대로 들어 있다. SELECT INTO는 행이 없으면 NO_DATA_FOUND를 던지므로 EXCEPTION 절에서 잡아 업무 메시지로 바꾸었다. 여기서 COMMIT을 하지 않았다는 점이 중요하다. 커밋은 최상위 호출자가 결정해야 여러 프로시저를 하나의 트랜잭션으로 묶을 수 있기 때문이다. 로컬 변수 v_old는 호출이 끝나면 사라지며 호출 사이에 값이 유지되지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크기를 쓸 수 없는지 이유까지 설명하면 기억에 남는다. 형식 파라미터는 메모리 공간을 미리 할당하는 변수가 아니라 실인자와 연결되는 별칭에 가깝다. 실제 크기는 호출 시점에 넘어온 값이 결정하므로 선언 시점에 크기를 못 박을 수 없는 것이다. %TYPE을 권장하는 이유는 컬럼 정의가 VARCHAR2(25)에서 VARCHAR2(50)으로 바뀌어도 소스를 고칠 필요가 없기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EXECUTE는 SQL*Plus가 제공하는 편의 명령이며 서버에는 BEGIN ... END; 익명 블록으로 변환되어 전달된다. 따라서 애플리케이션 코드에서는 EXECUTE가 아니라 두 번째 방식인 문장 호출을 쓴다. 마지막 오류 예제는 프로시저와 함수의 차이를 각인시키는 좋은 재료다. SQL 엔진은 SELECT 절에서 값을 반환하는 함수를 찾으므로, 값을 반환하지 않는 프로시저는 식별자로조차 인식되지 않아 ORA-00904가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구간은 이 장에서 가장 시험 출제 비중이 높은 부분이다. 파라미터 모드는 단순히 방향을 표시하는 장식이 아니라 전달 방식과 실인자 제약, 기본값 지정 가능 여부까지 결정하는 규약이다. 특히 OUT 파라미터가 NULL로 초기화된다는 사실과 IN 파라미터에 대입할 수 없다는 사실 두 가지는 실습에서 직접 오류를 재현해 확인시킨다. 이 구간을 시작하기 전에 실습 01 파일을 미리 열어 두게 하면 각 규칙을 실행하며 바로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 파라미터와 실인자라는 용어를 여기서 확실히 정리해 둔다. 이후 오류 메시지를 읽을 때 'expression 0 cannot be used as an assignment target' 같은 문장이 실인자 쪽 문제임을 바로 알아차릴 수 있어야 하기 때문이다. 모드를 생략하면 IN이 되지만, 이 과정에서는 읽는 사람이 방향을 즉시 알 수 있도록 IN도 명시적으로 적는 것을 규칙으로 삼는다.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IN이 참조 전달인데도 안전한 이유를 설명하는 것이 이 슬라이드의 핵심이다. 값을 바꿀 수 없으니 원본을 가리켜도 문제가 없고, 그래서 복사 비용을 아낄 수 있다. 읽기 전용 제약과 성능 최적화가 동전의 양면이라는 점을 이해하면 왜 OUT과 IN OUT은 기본적으로 값 전달인지도 자연스럽게 이해된다. 값을 바꾸는 모드는 예외 발생 시 원본 보호가 필요하기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오류는 초보자가 거의 예외 없이 한 번은 만난다. 특히 'NULL이 들어오면 기본값으로 바꿔서 쓰자'는 자연스러운 발상이 그대로 컴파일 오류가 되기 때문이다. 해결책은 두 가지다. 로컬 변수에 옮겨 담거나, 애초에 DEFAULT 절로 기본값을 선언하는 것이다. 다만 DEFAULT는 인자를 아예 생략했을 때만 적용되고 명시적으로 NULL을 넘기면 적용되지 않는다는 차이를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 파라미터의 NULL 초기화는 조용히 잘못된 결과를 만드는 함정이라 반드시 실습으로 확인시켜야 한다. 예를 들어 카운터를 누적하려고 p_cnt := p_cnt + 1;을 쓰면 NULL + 1이 되어 결과가 NULL이 되는데, 오류가 나지 않으므로 발견이 늦다. 누산이 필요하면 IN OUT을 쓰거나 안쪽에서 명시적으로 0을 대입한 뒤 사용해야 한다. 예외로 종료하면 값이 복사되지 않는다는 점도 함께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예제는 함수 대신 프로시저를 선택해야 하는 대표적인 경우를 보여 준다. 사원 수, 급여 합계, 평균 세 가지를 한 번의 조회로 얻어야 하는데 함수는 값을 하나만 반환하므로 세 번 호출해야 한다. OUT 파라미터를 쓰면 테이블을 한 번만 스캔하고 세 값을 모두 얻는다. NVL로 감싼 이유는 사원이 없는 부서에서 SUM과 AVG가 NULL을 반환하기 때문이며, COUNT는 0을 반환하므로 감쌀 필요가 없다.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함정은 오류가 발생하지 않기 때문에 훨씬 위험하다. 호출자가 10이 든 변수를 넘겼는데도 안쪽에서는 NULL로 시작하므로 결과가 NULL이 되고, 이 값이 그대로 다른 계산으로 흘러가면 원인을 추적하기가 매우 어렵다. 해결책은 모드를 IN OUT으로 바꾸는 것이다. 실습 01에서 이 두 함정을 순서대로 재현하고 각각의 수정 방법을 확인한다. 실습을 진행하기 전에 두 함정을 화이트보드에 순서대로 적어 두고 하나씩 재현하는 방식을 권장한다.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NOCOPY를 설명할 때 '성능이 좋아지니 무조건 붙이라'고 가르치면 안 된다. 복사·되복사 구조는 비용이지만 동시에 예외 안전성을 보장하는 장치이기 때문이다. NOCOPY로 참조 전달이 채택된 상태에서 중간에 예외가 나면 실인자는 절반만 변경된 상태로 남는다. 따라서 대형 컬렉션이나 LOB처럼 복사 비용이 실제로 문제가 되는 경우에만 사용하고, 예외 처리를 함께 설계해야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예제는 IN OUT의 전형적인 용도인 정규화를 보여 준다. 입력값을 읽어 가공한 뒤 같은 변수에 다시 담으므로 IN만으로도, OUT만으로도 구현할 수 없다. 두 번째 예제에서 sys.odcinumberlist는 오라클이 제공하는 숫자 컬렉션 타입으로, 원소가 수만 개면 복사 비용이 실제로 문제가 된다. 이때 NOCOPY가 의미를 갖는다. 다만 컴파일러가 힌트를 무시할 수 있다는 점을 함께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반드시 암기해야 하는 내용이므로 시험 직전에 다시 보게 한다. 세 모드를 구분하는 축은 네 가지다. 읽기·쓰기 가능 여부, 전달 방식, 기본값 지정 가능 여부, 실인자 제약이다. 특히 DEFAULT가 IN에만 허용되는 이유를 논리적으로 설명해 두면 암기가 아니라 이해가 된다. OUT과 IN OUT은 값을 돌려받는 통로이므로 호출자가 반드시 변수를 제공해야 하고, 따라서 생략이 불가능하다.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위치 표기법의 위험을 구체적인 사고 사례로 설명하면 효과적이다. p_from_id와 p_to_id처럼 같은 NUMBER 타입 두 개의 순서를 바꿔 넣으면 컴파일도 되고 실행도 되지만 결과가 정반대가 된다. 이런 오류는 테스트에서 잡히지 않는 경우가 많다. 파라미터가 세 개를 넘거나 DEFAULT 파라미터가 섞여 있다면 이름 표기법을 기본으로 삼으라는 원칙을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표기법을 실제로 실행해 결과가 같음을 보여 준 뒤 마지막 오류를 재현한다. 왜 이런 제약이 있는지 이유를 설명하면 이해가 쉽다. 이름 표기법이 등장한 순간 컴파일러는 파라미터 순서 정보를 더 이상 신뢰할 수 없게 되므로, 그 뒤에 오는 위치 인자를 어디에 대응시킬지 결정할 수 없다. 참고로 Oracle 11g부터는 SQL 문 안의 함수 호출에서도 이름·혼합 표기법을 쓸 수 있게 되었다.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DEFAULT와 NULL의 차이를 반드시 짚어야 한다. DEFAULT는 인자를 아예 생략했을 때만 적용되고, 명시적으로 NULL을 넘기면 기본값이 아니라 NULL이 들어간다. 즉 EXEC hire_log(206)과 EXEC hire_log(206, NULL)의 결과가 다르다. 또 기본값 표현식이 컴파일 시점이 아니라 호출 시점에 평가되므로 SYSDATE를 기본값으로 쓰면 호출할 때마다 현재 시각이 들어간다는 점도 유용한 지식이다.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자주 오해되는 부분을 정확히 짚어야 한다. Oracle은 기본값 파라미터를 앞에 두는 선언 자체를 금지하지 않는다. bad_order는 정상적으로 컴파일된다. 문제는 호출 시점에 드러난다. EXEC bad_order(206)에서 206은 첫 번째 파라미터인 p_action에 대응되고 필수인 p_emp_id가 비어 버리므로 PLS-00306이 발생한다. 결국 이름 표기법을 강제하게 되므로 관례적으로 기본값을 뒤에 모아 선언한다.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명명 규칙은 취향의 문제가 아니라 버그 예방 장치다. 다음 슬라이드 구간에서 다룰 del_emp 사고처럼 파라미터 이름이 컬럼 이름과 같으면 WHERE last_name = last_name이 항상 참이 되어 테이블 전체가 삭제된다. p_ 접두사 하나가 이 사고를 원천 차단한다. 이 과정에서 사용하는 접두사 규칙은 Oracle University 교재의 표준 규칙과 동일하므로 그대로 익혀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구간은 함수를 다룬다. 프로시저와 문법은 비슷하지만 '반드시 값을 하나 반환한다'는 계약이 추가되면서 완전히 다른 성질을 갖는다. 표현식 자리에 놓을 수 있다는 강력한 장점 뒤에 ORA-06503과 ORA-14551이라는 두 가지 함정이 숨어 있으며, 둘 다 컴파일 시점에는 드러나지 않는다는 공통점이 있다. 이 구간부터는 실습 02 파일을 열어 두고 각 함정을 코드로 직접 재현하며 설명을 이어가면 좋다.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함수와 프로시저를 가르는 기준은 '값을 반환하는가'가 아니라 '어디에 놓을 수 있는가'로 설명하는 편이 이해가 빠르다. 함수는 값이므로 값이 올 수 있는 모든 자리에 놓을 수 있고, 프로시저는 문장이므로 문장이 올 수 있는 자리에만 놓을 수 있다. 프로시저 안에서도 RETURN을 쓸 수 있다는 사실은 의외로 모르는 수강생이 많으므로 짚어 준다. 설명 뒤에는 SELECT 문 안에서 함수를 호출하는 간단한 예제를 하나 보여 주며 다음 절로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예제에서 주목할 점은 EXCEPTION 절에도 RETURN이 있다는 것이다. 예외 핸들러에서 값을 반환하지 않고 끝나면 그것도 ORA-06503의 원인이 된다. 또 PL/SQL 안에서 함수를 호출할 때는 반환값을 받을 변수가 반드시 필요하다는 점을 강조한다. EXEC get_annual_salary(145);처럼 문장으로 호출하면 오류가 나며, 굳이 SQL*Plus에서 확인하려면 EXEC DBMS_OUTPUT.PUT_LINE(get_annual_salary(145)); 형태로 감싸야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 기준을 실무적으로 정리해 주면 좋다. SQL 문 안에서 쓰고 싶다면 무조건 함수여야 하고, 여러 값을 한 번에 돌려받아야 한다면 프로시저에 OUT 파라미터를 두거나 함수가 레코드·객체 타입을 반환하게 해야 한다. 그리고 DML을 수행하는 로직은 프로시저로 만드는 것이 원칙이다. 함수에 DML을 넣으면 SQL에서 호출할 수 없게 되어 함수의 최대 장점을 스스로 버리는 셈이 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결함이 특히 위험한 이유는 발견이 늦기 때문이다. 테스트 데이터에서는 재현되지 않다가 운영 데이터의 예외적인 케이스가 처음 들어온 순간 터진다. 개발 세션에서 ALTER SESSION SET PLSQL_WARNINGS='ENABLE:ALL'을 실행해 두면 컴파일 경고로 미리 알려 주는 경우도 있으므로 켜 두기를 권한다. 코드 리뷰 규칙으로 '함수의 마지막 실행문은 반드시 RETURN'을 넣는 팀도 많다.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수정본에서 NULL 검사를 맨 앞에 둔 이유를 설명한다. p_sal이 NULL이면 모든 비교 연산이 NULL이 되어 어떤 조건도 참이 되지 않으므로 ELSE로 흘러가는데, ELSE에서 'C'를 반환하면 급여를 모르는 사원이 최하 등급으로 분류되는 잘못된 결과가 나온다. 즉 RETURN을 모든 경로에 두는 것만으로 충분하지 않고, 각 경로가 업무적으로 올바른 값을 돌려주는지도 함께 검토해야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SQL에서 함수를 호출할 수 있다는 것은 PL/SQL의 가장 실용적인 기능이다. 예를 들어 세율 계산 규칙이 바뀌면 함수 하나만 고치면 그 함수를 쓰는 모든 리포트 SQL이 동시에 새 규칙을 따른다. 다만 CHECK 제약이나 컬럼 DEFAULT에는 쓸 수 없다는 제약을 기억해야 한다. 이는 제약 검증 시점에 함수 결과가 바뀌면 데이터 무결성이 보장되지 않기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PLS-00230은 이 장에서 처음 등장하는 오류 번호이므로 정확히 소개한다. OUT and IN OUT modes cannot be used in this context라는 메시지가 뜨면 'SQL 문맥에서 값을 돌려받는 파라미터를 쓸 수 없다'는 뜻이다. BOOLEAN을 반환하는 함수를 SQL에서 부르지 못한다는 점도 실무에서 자주 걸리는 함정이다. 이 경우 'Y'/'N' 문자나 1/0 숫자를 반환하도록 바꾸어야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순수성 규칙이 존재하는 이유는 읽기 일관성이다. 조회 도중 같은 트랜잭션의 데이터가 바뀌면 어떤 행은 변경 전 값을, 어떤 행은 변경 후 값을 보게 되어 결과를 예측할 수 없다. 자율 트랜잭션은 이 문제를 본체 트랜잭션과 완전히 분리함으로써 해결한다. 다만 3장에서 배운 대로 자율 트랜잭션 안에서는 반드시 COMMIT이나 ROLLBACK으로 스스로 종료해야 하며, 그렇지 않으면 ORA-06519가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이야기는 실제 숫자를 곁들이면 설득력이 생긴다. 10만 행 조회에서 함수를 호출하면 PL/SQL 엔진과 SQL 엔진 사이를 10만 번 오가는데, 이 컨텍스트 스위치가 전체 응답 시간의 대부분을 차지하는 경우가 흔하다. DETERMINISTIC과 RESULT_CACHE는 이 비용을 줄이는 선언적 수단이고, 19c의 WITH FUNCTION 절은 아예 SQL 문 안에 함수를 인라인해 스위치 자체를 없앤다.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구간은 짧지만 사고를 예방하는 데 매우 중요하다. 특히 파라미터 이름이 컬럼 이름과 같을 때 SQL 안에서 컬럼이 우선한다는 규칙은 실제 데이터 삭제 사고로 이어지는 함정이다. 중첩 서브프로그램은 5장의 패키지로 넘어가기 전에 '어디까지가 로컬이고 어디부터가 공유인가'를 이해시키는 다리 역할을 한다. 이 두 주제는 짧지만 실무 사고와 직결되므로 시간을 아끼지 말고 예제를 함께 실행해 보여준다.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로컬 변수가 호출 사이에 값을 유지하지 않는다는 점은 수강생이 자주 착각하는 부분이다. 저장 프로시저가 데이터베이스에 저장되어 있으니 변수 값도 저장될 것이라 생각하기 쉽지만, 저장되는 것은 코드일 뿐 실행 시점의 메모리는 매번 새로 만들어진다. 세션 단위로 값을 유지하고 싶다면 패키지 변수를 써야 하며, 이는 5장에서 다룬다. 설명이 끝나면 같은 프로시저를 두 번 호출해 변수 값이 초기화되는 모습을 직접 보여주면 이해가 빠르다.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사고는 실제로 여러 현장에서 반복적으로 발생했다. WHERE last_name = last_name은 컬럼과 컬럼을 비교하는 조건이 되어 NULL이 아닌 모든 행에서 참이 되고, 결과적으로 테이블 전체가 삭제된다. 컴파일 오류도 실행 오류도 나지 않으므로 커밋하기 전까지 아무도 눈치채지 못한다. p_ 접두사 하나로 원천 차단되는 사고이며, 이것이 명명 규칙을 강제하는 가장 실용적인 이유다.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중첩 서브프로그램은 5장의 패키지와 비교하며 설명하면 이해가 빠르다. 중첩 서브프로그램은 한 프로그램 안에서만 쓰이는 비공개 도우미이고, 패키지의 Private 서브프로그램은 한 패키지 안에서만 쓰이는 비공개 도우미다. 범위만 다를 뿐 '캡슐화'라는 목적은 같다. 선언 순서 규칙 두 가지는 실습에서 직접 오류를 재현해 보게 하면 확실히 기억에 남는다. 설명을 마친 뒤 5장 패키지 도입부에서 이 비교를 다시 꺼내 쓸 것임을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예제에서 fmt_money를 중첩 함수로 만든 이유는 이 서식 규칙이 dept_report 안에서만 쓰이기 때문이다. 여러 프로그램이 공유해야 한다면 스키마 수준 함수나 패키지 함수로 승격시켜야 한다. 두 번째 예제의 전방 선언은 헤더만 먼저 적고 본문을 뒤에서 완성하는 기법으로, 순서를 바꿔도 해결되지 않는 상호 재귀에서만 필요하다. 패키지에서는 명세부가 이 역할을 대신한다.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구간은 저장 프로그램의 생애주기 관리다. 개발자 관점에서는 컴파일 오류를 빨리 찾는 기술이고, DBA 관점에서는 스키마 변경 후 INVALID 객체를 정리하는 절차다. 두 관점 모두 이 과정의 최종 목표인 DBA 자동화와 직결되므로, 여기서 배우는 딕셔너리 뷰들은 6장과 7장에서 그대로 다시 사용된다. 이 구간은 실습 05·06과 바로 이어지므로 딕셔너리 뷰 조회 예제를 화면에 띄운 채로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'created with compilation errors'라는 표현이 주는 혼란을 반드시 정리해야 한다. created라는 단어 때문에 성공했다고 착각하기 쉽지만, 실제로는 껍데기만 만들어지고 실행할 수 없는 상태다. 배포 스크립트에서 이 경고를 무시하고 넘어가면 운영 반영 후에야 문제가 드러난다. 따라서 배포 스크립트 끝에 SHOW ERRORS나 INVALID 객체 조회를 넣어 두는 것이 표준 절차다.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목록을 읽는 순서를 가르치는 것이 이 슬라이드의 핵심이다. 네 줄이 나왔지만 실제 원인은 두 개이고, 'Statement ignored'로 시작하는 줄은 원인이 아니라 결과다. 또 줄 번호는 CREATE 문의 첫 줄을 1로 세는 상대 번호이므로 편집기의 절대 줄 번호와 다를 수 있다는 점을 주의시킨다. PLS-00201은 오타뿐 아니라 스코프 밖 참조와 권한 없음까지 포함하는 메시지라는 점도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네 개의 조회는 6장과 7장의 DBA 자동화 프로시저에서 그대로 재사용되므로 여기서 확실히 익혀 둔다. 특히 USER_SOURCE 전수 검색은 실무에서 매우 자주 쓴다. 예를 들어 특정 테이블 이름이 바뀔 때 영향을 받는 프로그램을 찾거나, 하위 프로시저에서 COMMIT을 남발하는 코드를 찾아내는 데 유용하다. USER_DEPENDENCIES는 스키마 변경의 영향 범위를 사전에 계산하는 표준 도구다.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재컴파일이 있으니 신경 쓰지 않아도 된다고 생각하는 수강생이 많은데, 두 가지 이유로 그렇지 않다. 첫째, 재컴파일이 실패할 수 있고 그때는 운영 중에 오류가 터진다. 둘째, 성공하더라도 첫 호출자가 컴파일 시간을 부담하므로 배치 시작 시점에 응답 시간이 튀는 현상이 생긴다. 따라서 스키마 변경 뒤에는 배포 절차의 일부로 명시적 재컴파일을 수행하는 것이 원칙이다.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 COMPILE이 성공했다는 메시지가 곧 VALID를 의미하지는 않는다는 점을 강조한다. 컴파일을 시도했다는 뜻일 뿐이므로, 반드시 USER_OBJECTS의 STATUS를 다시 확인하거나 SHOW ERRORS로 남은 오류를 점검해야 한다. 대상이 수십 개를 넘으면 UTL_RECOMP.RECOMP_SERIAL이나 DBMS_UTILITY.COMPILE_SCHEMA로 일괄 처리한다. 데이터베이스 업그레이드나 임포트 직후에도 이 작업이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삭제의 파급 효과를 강조한다. 프로시저 A가 함수 B를 호출하는 상태에서 B를 DROP하면 A는 즉시 INVALID가 되고, A를 호출하면 재컴파일이 실패해 오류가 난다. 권한도 마찬가지다. DROP 후 CREATE로 다시 만들면 부여했던 EXECUTE 권한이 모두 사라지므로 다른 스키마의 호출이 전부 실패한다. 이것이 운영 환경에서 CREATE OR REPLACE를 고집해야 하는 가장 실질적인 이유다.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컴파일 시점 오류는 배포 전에 반드시 걸러지므로 위험도는 낮지만, 오류 메시지를 정확히 읽는 훈련이 되어 있지 않으면 해결에 시간이 오래 걸린다. 네 가지 오류 모두 이 장의 실습에서 직접 재현하므로 메시지와 원인을 짝지어 기억하게 한다. 특히 PLS-00363은 IN 파라미터 대입과 OUT 리터럴 실인자 두 가지 서로 다른 상황에서 같은 번호로 나온다는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시점 오류가 훨씬 위험하다는 점을 다시 강조한다. 특정 데이터나 호출 문맥에서만 재현되므로 테스트에서 걸리지 않고 운영에서 처음 드러난다. ORA-06503과 ORA-14551은 둘 다 함수 설계 단계의 실수에서 비롯되며, 설계 시점에 '모든 경로가 값을 반환하는가'와 '이 함수가 상태를 바꾸는가' 두 질문을 던지는 것만으로 예방할 수 있다. 설명 뒤에는 실습 02 파일로 돌아가 두 오류를 다시 한 번 순서대로 재현해 보이며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퀴즈는 강의 중간 점검용이므로 정답을 바로 말해 주지 말고 수강생에게 먼저 답하게 한다. Q1은 파라미터 모드 비교표를, Q2는 PLS-00363 실습을, Q3은 ORA-06503 실습을 각각 되짚는 문항이다. 정답과 해설은 4장 실습문제 정답 문서에 실려 있으므로, 자신 없는 문항이 있으면 해당 절 본문을 다시 읽도록 안내한다. 문항을 다 다룬 뒤에는 다음 슬라이드의 두 번째 퀴즈 세트로 자연스럽게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Q4는 이 장에서 가장 실무적인 문항이다. 저장 함수일 것, 파라미터가 모두 IN일 것, SQL 자료형일 것, EXECUTE 권한이 있을 것 네 가지가 답이고 DML 수행 시 ORA-14551이 발생한다. Q6은 DBA 관점의 문항으로, 자동 재컴파일 실패 위험과 첫 호출자의 응답 지연 두 가지를 답해야 완전하다. 권장 조치는 ALTER ... COMPILE과 상태 재확인이다.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슬라이드는 복습과 시험 대비의 기준점이다. 여덟 줄 각각이 이 장의 한 구간에 대응하므로, 이해가 부족한 줄이 있으면 해당 절 본문과 실습 트랜스크립트를 다시 보게 한다. 다음 장인 5장에서는 여기서 만든 프로시저와 함수를 패키지로 묶어 Public/Private을 구분하고 세션 단위 상태를 유지하는 방법을 배운다. 요약을 다 읽은 뒤에는 실습 개요 슬라이드로 넘어가기 전에 질문을 받는 시간을 짧게 갖는다.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개의 트랜스크립트는 순서대로 진행하도록 설계되어 있다. 앞의 실습에서 만든 객체를 뒤의 실습에서 재컴파일하고 삭제하므로 순서를 건너뛰면 일부 단계가 재현되지 않는다. 각 트랜스크립트에는 최소 한 곳 이상 '오류 발생 → 원인 파악 → 수정' 흐름이 들어 있으므로, 오류 메시지를 그냥 지나치지 말고 반드시 직접 재현해 보도록 안내한다. 실습을 시작하기 전에 HR 계정 접속과 SERVEROUTPUT 설정이 되어 있는지 먼저 확인시킨다.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rPr>
              <a:t>Oracle PL/SQL 7일 실무·DBA 운영자동화 과정  ·  제4장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프로시저와 함수</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Procedure · Function · IN/OUT/IN OUT · RETURN · DEFAULT · Local Variable · Stored Program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이 장을 마치면 다음을 수행할 수 있어야 한다.</a:t>
            </a:r>
          </a:p>
          <a:p>
            <a:pPr>
              <a:spcAft>
                <a:spcPts val="300"/>
              </a:spcAft>
            </a:pPr>
            <a:r>
              <a:rPr sz="1600" b="0">
                <a:solidFill>
                  <a:srgbClr val="5A6672"/>
                </a:solidFill>
                <a:latin typeface="Malgun Gothic"/>
              </a:rPr>
              <a:t>    –  익명 블록과 저장 서브프로그램의 차이를 설명하고 프로시저를 생성·호출한다</a:t>
            </a:r>
          </a:p>
          <a:p>
            <a:pPr>
              <a:spcAft>
                <a:spcPts val="300"/>
              </a:spcAft>
            </a:pPr>
            <a:r>
              <a:rPr sz="1600" b="0">
                <a:solidFill>
                  <a:srgbClr val="5A6672"/>
                </a:solidFill>
                <a:latin typeface="Malgun Gothic"/>
              </a:rPr>
              <a:t>    –  IN·OUT·IN OUT 세 파라미터 모드의 의미와 전달 방식 차이를 구분한다</a:t>
            </a:r>
          </a:p>
          <a:p>
            <a:pPr>
              <a:spcAft>
                <a:spcPts val="300"/>
              </a:spcAft>
            </a:pPr>
            <a:r>
              <a:rPr sz="1600" b="0">
                <a:solidFill>
                  <a:srgbClr val="5A6672"/>
                </a:solidFill>
                <a:latin typeface="Malgun Gothic"/>
              </a:rPr>
              <a:t>    –  위치·이름·혼합 표기법으로 실인자를 전달하고 DEFAULT 기본값을 설계한다</a:t>
            </a:r>
          </a:p>
          <a:p>
            <a:pPr>
              <a:spcAft>
                <a:spcPts val="300"/>
              </a:spcAft>
            </a:pPr>
            <a:r>
              <a:rPr sz="1600" b="0">
                <a:solidFill>
                  <a:srgbClr val="5A6672"/>
                </a:solidFill>
                <a:latin typeface="Malgun Gothic"/>
              </a:rPr>
              <a:t>    –  함수를 생성하고 모든 실행 경로에서 RETURN을 보장한다</a:t>
            </a:r>
          </a:p>
          <a:p>
            <a:pPr>
              <a:spcAft>
                <a:spcPts val="300"/>
              </a:spcAft>
            </a:pPr>
            <a:r>
              <a:rPr sz="1600" b="0">
                <a:solidFill>
                  <a:srgbClr val="5A6672"/>
                </a:solidFill>
                <a:latin typeface="Malgun Gothic"/>
              </a:rPr>
              <a:t>    –  SQL 문 안에서 함수를 호출하기 위한 순수성 규칙을 설명한다</a:t>
            </a:r>
          </a:p>
          <a:p>
            <a:pPr>
              <a:spcAft>
                <a:spcPts val="300"/>
              </a:spcAft>
            </a:pPr>
            <a:r>
              <a:rPr sz="1600" b="0">
                <a:solidFill>
                  <a:srgbClr val="5A6672"/>
                </a:solidFill>
                <a:latin typeface="Malgun Gothic"/>
              </a:rPr>
              <a:t>    –  로컬 변수의 스코프와 중첩 서브프로그램·전방 선언을 사용한다</a:t>
            </a:r>
          </a:p>
          <a:p>
            <a:pPr>
              <a:spcAft>
                <a:spcPts val="300"/>
              </a:spcAft>
            </a:pPr>
            <a:r>
              <a:rPr sz="1600" b="0">
                <a:solidFill>
                  <a:srgbClr val="5A6672"/>
                </a:solidFill>
                <a:latin typeface="Malgun Gothic"/>
              </a:rPr>
              <a:t>    –  SHOW ERRORS·USER_ERRORS로 컴파일 오류를 진단하고 수정한다</a:t>
            </a:r>
          </a:p>
          <a:p>
            <a:pPr>
              <a:spcAft>
                <a:spcPts val="300"/>
              </a:spcAft>
            </a:pPr>
            <a:r>
              <a:rPr sz="1600" b="0">
                <a:solidFill>
                  <a:srgbClr val="5A6672"/>
                </a:solidFill>
                <a:latin typeface="Malgun Gothic"/>
              </a:rPr>
              <a:t>    –  INVALID 객체를 재컴파일하고 저장 프로그램을 안전하게 삭제한다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4.1~4.3  저장 서브프로그램의 필요성 · 프로시저 생성 문법 · 호출 방법</a:t>
            </a:r>
          </a:p>
          <a:p>
            <a:pPr>
              <a:spcAft>
                <a:spcPts val="500"/>
              </a:spcAft>
            </a:pPr>
            <a:r>
              <a:rPr sz="1800" b="0">
                <a:solidFill>
                  <a:srgbClr val="202830"/>
                </a:solidFill>
                <a:latin typeface="Malgun Gothic"/>
              </a:rPr>
              <a:t>•  4.4~4.6  파라미터 모드 IN · OUT · IN OUT 과 NOCOPY 힌트</a:t>
            </a:r>
          </a:p>
          <a:p>
            <a:pPr>
              <a:spcAft>
                <a:spcPts val="500"/>
              </a:spcAft>
            </a:pPr>
            <a:r>
              <a:rPr sz="1800" b="0">
                <a:solidFill>
                  <a:srgbClr val="202830"/>
                </a:solidFill>
                <a:latin typeface="Malgun Gothic"/>
              </a:rPr>
              <a:t>•  4.7~4.8  실인자 전달 표기법 · 파라미터 기본값(DEFAULT)</a:t>
            </a:r>
          </a:p>
          <a:p>
            <a:pPr>
              <a:spcAft>
                <a:spcPts val="500"/>
              </a:spcAft>
            </a:pPr>
            <a:r>
              <a:rPr sz="1800" b="0">
                <a:solidFill>
                  <a:srgbClr val="202830"/>
                </a:solidFill>
                <a:latin typeface="Malgun Gothic"/>
              </a:rPr>
              <a:t>•  4.9~4.11  함수 생성과 RETURN · ORA-06503 · SQL에서의 함수 호출과 순수성</a:t>
            </a:r>
          </a:p>
          <a:p>
            <a:pPr>
              <a:spcAft>
                <a:spcPts val="500"/>
              </a:spcAft>
            </a:pPr>
            <a:r>
              <a:rPr sz="1800" b="0">
                <a:solidFill>
                  <a:srgbClr val="202830"/>
                </a:solidFill>
                <a:latin typeface="Malgun Gothic"/>
              </a:rPr>
              <a:t>•  4.12~4.13  로컬 변수와 스코프 · 중첩 서브프로그램과 전방 선언</a:t>
            </a:r>
          </a:p>
          <a:p>
            <a:pPr>
              <a:spcAft>
                <a:spcPts val="500"/>
              </a:spcAft>
            </a:pPr>
            <a:r>
              <a:rPr sz="1800" b="0">
                <a:solidFill>
                  <a:srgbClr val="202830"/>
                </a:solidFill>
                <a:latin typeface="Malgun Gothic"/>
              </a:rPr>
              <a:t>•  4.14~4.15  컴파일 오류 진단 · 데이터 딕셔너리 조회</a:t>
            </a:r>
          </a:p>
          <a:p>
            <a:pPr>
              <a:spcAft>
                <a:spcPts val="500"/>
              </a:spcAft>
            </a:pPr>
            <a:r>
              <a:rPr sz="1800" b="0">
                <a:solidFill>
                  <a:srgbClr val="202830"/>
                </a:solidFill>
                <a:latin typeface="Malgun Gothic"/>
              </a:rPr>
              <a:t>•  4.16~4.18  의존성과 재컴파일 · 삭제와 권한 · 오류 정리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4.1~4.3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저장 서브프로그램과 프로시저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익명 블록의 세 가지 한계</a:t>
            </a:r>
          </a:p>
          <a:p>
            <a:pPr>
              <a:spcAft>
                <a:spcPts val="600"/>
              </a:spcAft>
            </a:pPr>
            <a:r>
              <a:rPr sz="1600" b="0">
                <a:solidFill>
                  <a:srgbClr val="C5CED6"/>
                </a:solidFill>
                <a:latin typeface="Malgun Gothic"/>
              </a:rPr>
              <a:t>•  CREATE OR REPLACE PROCEDURE 문법</a:t>
            </a:r>
          </a:p>
          <a:p>
            <a:pPr>
              <a:spcAft>
                <a:spcPts val="600"/>
              </a:spcAft>
            </a:pPr>
            <a:r>
              <a:rPr sz="1600" b="0">
                <a:solidFill>
                  <a:srgbClr val="C5CED6"/>
                </a:solidFill>
                <a:latin typeface="Malgun Gothic"/>
              </a:rPr>
              <a:t>•  EXECUTE · 익명 블록 · CALL 세 가지 호출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익명 블록의 한계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로직을 반복해서 쓸 수 없다면 그것은 프로그램이 아니라 메모다</a:t>
            </a:r>
          </a:p>
        </p:txBody>
      </p:sp>
      <p:sp>
        <p:nvSpPr>
          <p:cNvPr id="5" name="TextBox 4"/>
          <p:cNvSpPr txBox="1"/>
          <p:nvPr/>
        </p:nvSpPr>
        <p:spPr>
          <a:xfrm>
            <a:off x="640080" y="173736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익명 블록은 이름이 없고 실행 후 사라진다</a:t>
            </a:r>
          </a:p>
          <a:p>
            <a:pPr>
              <a:spcAft>
                <a:spcPts val="300"/>
              </a:spcAft>
            </a:pPr>
            <a:r>
              <a:rPr sz="1600" b="0">
                <a:solidFill>
                  <a:srgbClr val="5A6672"/>
                </a:solidFill>
                <a:latin typeface="Malgun Gothic"/>
              </a:rPr>
              <a:t>    –  실행할 때마다 소스 전체를 서버로 보내 그때그때 파싱·컴파일한다</a:t>
            </a:r>
          </a:p>
          <a:p>
            <a:pPr>
              <a:spcAft>
                <a:spcPts val="500"/>
              </a:spcAft>
            </a:pPr>
            <a:r>
              <a:rPr sz="1800" b="0">
                <a:solidFill>
                  <a:srgbClr val="202830"/>
                </a:solidFill>
                <a:latin typeface="Malgun Gothic"/>
              </a:rPr>
              <a:t>•  업무 로직을 담기에 부족한 세 가지 이유</a:t>
            </a:r>
          </a:p>
          <a:p>
            <a:pPr>
              <a:spcAft>
                <a:spcPts val="300"/>
              </a:spcAft>
            </a:pPr>
            <a:r>
              <a:rPr sz="1600" b="0">
                <a:solidFill>
                  <a:srgbClr val="5A6672"/>
                </a:solidFill>
                <a:latin typeface="Malgun Gothic"/>
              </a:rPr>
              <a:t>    –  재사용 불가 — 같은 로직이 필요하면 소스를 복사해야 하고 규칙 변경 시 사본을 모두 찾아야 한다</a:t>
            </a:r>
          </a:p>
          <a:p>
            <a:pPr>
              <a:spcAft>
                <a:spcPts val="300"/>
              </a:spcAft>
            </a:pPr>
            <a:r>
              <a:rPr sz="1600" b="0">
                <a:solidFill>
                  <a:srgbClr val="5A6672"/>
                </a:solidFill>
                <a:latin typeface="Malgun Gothic"/>
              </a:rPr>
              <a:t>    –  반환 통로 없음 — 호출자에게 계산 결과를 넘겨줄 표준적인 방법이 없다</a:t>
            </a:r>
          </a:p>
          <a:p>
            <a:pPr>
              <a:spcAft>
                <a:spcPts val="300"/>
              </a:spcAft>
            </a:pPr>
            <a:r>
              <a:rPr sz="1600" b="0">
                <a:solidFill>
                  <a:srgbClr val="5A6672"/>
                </a:solidFill>
                <a:latin typeface="Malgun Gothic"/>
              </a:rPr>
              <a:t>    –  권한 통제 불가 — 권한을 부여할 객체 자체가 존재하지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저장 서브프로그램(Stored Subprogram)</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이름을 가지고 데이터베이스 안에 객체로 저장되는 PL/SQL 프로그램</a:t>
            </a:r>
          </a:p>
          <a:p>
            <a:pPr>
              <a:spcAft>
                <a:spcPts val="300"/>
              </a:spcAft>
            </a:pPr>
            <a:r>
              <a:rPr sz="1600" b="0">
                <a:solidFill>
                  <a:srgbClr val="5A6672"/>
                </a:solidFill>
                <a:latin typeface="Malgun Gothic"/>
              </a:rPr>
              <a:t>    –  CREATE 문 실행 시 소스와 컴파일된 p-code가 데이터 딕셔너리에 함께 저장된다</a:t>
            </a:r>
          </a:p>
          <a:p>
            <a:pPr>
              <a:spcAft>
                <a:spcPts val="300"/>
              </a:spcAft>
            </a:pPr>
            <a:r>
              <a:rPr sz="1600" b="0">
                <a:solidFill>
                  <a:srgbClr val="5A6672"/>
                </a:solidFill>
                <a:latin typeface="Malgun Gothic"/>
              </a:rPr>
              <a:t>    –  이후 호출은 이름만 전달하면 되고 재컴파일이 일어나지 않는다</a:t>
            </a:r>
          </a:p>
          <a:p>
            <a:pPr>
              <a:spcAft>
                <a:spcPts val="500"/>
              </a:spcAft>
            </a:pPr>
            <a:r>
              <a:rPr sz="1800" b="0">
                <a:solidFill>
                  <a:srgbClr val="202830"/>
                </a:solidFill>
                <a:latin typeface="Malgun Gothic"/>
              </a:rPr>
              <a:t>•  두 종류로 나뉜다</a:t>
            </a:r>
          </a:p>
          <a:p>
            <a:pPr>
              <a:spcAft>
                <a:spcPts val="300"/>
              </a:spcAft>
            </a:pPr>
            <a:r>
              <a:rPr sz="1600" b="0">
                <a:solidFill>
                  <a:srgbClr val="5A6672"/>
                </a:solidFill>
                <a:latin typeface="Malgun Gothic"/>
              </a:rPr>
              <a:t>    –  프로시저(Procedure) — 값을 반환하지 않고 동작을 수행한다</a:t>
            </a:r>
          </a:p>
          <a:p>
            <a:pPr>
              <a:spcAft>
                <a:spcPts val="300"/>
              </a:spcAft>
            </a:pPr>
            <a:r>
              <a:rPr sz="1600" b="0">
                <a:solidFill>
                  <a:srgbClr val="5A6672"/>
                </a:solidFill>
                <a:latin typeface="Malgun Gothic"/>
              </a:rPr>
              <a:t>    –  함수(Function) — 반드시 하나의 값을 반환한다</a:t>
            </a:r>
          </a:p>
          <a:p>
            <a:pPr>
              <a:spcAft>
                <a:spcPts val="500"/>
              </a:spcAft>
            </a:pPr>
            <a:r>
              <a:rPr sz="1800" b="0">
                <a:solidFill>
                  <a:srgbClr val="202830"/>
                </a:solidFill>
                <a:latin typeface="Malgun Gothic"/>
              </a:rPr>
              <a:t>•  둘을 논리적 단위로 묶은 것이 5장에서 배울 패키지(Package)다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익명 블록 vs 저장 서브프로그램</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익명 블록</a:t>
            </a:r>
          </a:p>
          <a:p>
            <a:pPr>
              <a:spcAft>
                <a:spcPts val="300"/>
              </a:spcAft>
            </a:pPr>
            <a:r>
              <a:rPr sz="1600" b="0">
                <a:solidFill>
                  <a:srgbClr val="5A6672"/>
                </a:solidFill>
                <a:latin typeface="Malgun Gothic"/>
              </a:rPr>
              <a:t>    –  이름 없음 / 매 실행마다 컴파일 / 저장되지 않음</a:t>
            </a:r>
          </a:p>
          <a:p>
            <a:pPr>
              <a:spcAft>
                <a:spcPts val="300"/>
              </a:spcAft>
            </a:pPr>
            <a:r>
              <a:rPr sz="1600" b="0">
                <a:solidFill>
                  <a:srgbClr val="5A6672"/>
                </a:solidFill>
                <a:latin typeface="Malgun Gothic"/>
              </a:rPr>
              <a:t>    –  GRANT EXECUTE 불가 / 다른 프로그램이 호출 불가 / 파라미터 없음</a:t>
            </a:r>
          </a:p>
          <a:p>
            <a:pPr>
              <a:spcAft>
                <a:spcPts val="500"/>
              </a:spcAft>
            </a:pPr>
            <a:r>
              <a:rPr sz="1800" b="0">
                <a:solidFill>
                  <a:srgbClr val="202830"/>
                </a:solidFill>
                <a:latin typeface="Malgun Gothic"/>
              </a:rPr>
              <a:t>•  저장 서브프로그램</a:t>
            </a:r>
          </a:p>
          <a:p>
            <a:pPr>
              <a:spcAft>
                <a:spcPts val="300"/>
              </a:spcAft>
            </a:pPr>
            <a:r>
              <a:rPr sz="1600" b="0">
                <a:solidFill>
                  <a:srgbClr val="5A6672"/>
                </a:solidFill>
                <a:latin typeface="Malgun Gothic"/>
              </a:rPr>
              <a:t>    –  이름 있음 / 생성 시 1회 컴파일 / 데이터 딕셔너리에 저장</a:t>
            </a:r>
          </a:p>
          <a:p>
            <a:pPr>
              <a:spcAft>
                <a:spcPts val="300"/>
              </a:spcAft>
            </a:pPr>
            <a:r>
              <a:rPr sz="1600" b="0">
                <a:solidFill>
                  <a:srgbClr val="5A6672"/>
                </a:solidFill>
                <a:latin typeface="Malgun Gothic"/>
              </a:rPr>
              <a:t>    –  GRANT EXECUTE 가능 / 어디서든 호출 가능 / 파라미터로 값 주고받음</a:t>
            </a:r>
          </a:p>
          <a:p>
            <a:pPr>
              <a:spcAft>
                <a:spcPts val="500"/>
              </a:spcAft>
            </a:pPr>
            <a:r>
              <a:rPr sz="1800" b="0">
                <a:solidFill>
                  <a:srgbClr val="202830"/>
                </a:solidFill>
                <a:latin typeface="Malgun Gothic"/>
              </a:rPr>
              <a:t>•  저장 서브프로그램은 서버 안에서 실행되어 네트워크 왕복을 줄인다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정리: </a:t>
            </a:r>
            <a:r>
              <a:rPr sz="1250" b="0">
                <a:solidFill>
                  <a:srgbClr val="202830"/>
                </a:solidFill>
                <a:latin typeface="Malgun Gothic"/>
              </a:rPr>
              <a:t>이름이 있다 → 저장된다 → 컴파일 결과를 재사용한다 → 권한을 부여할 수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프로시저 생성 문법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IS 와 AS 는 완전히 같다. 선언부에 DECLARE 를 쓰지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프로시저이름</a:t>
            </a:r>
          </a:p>
          <a:p>
            <a:pPr>
              <a:spcAft>
                <a:spcPts val="0"/>
              </a:spcAft>
            </a:pPr>
            <a:r>
              <a:rPr sz="1250" b="0">
                <a:solidFill>
                  <a:srgbClr val="E6E6E6"/>
                </a:solidFill>
                <a:latin typeface="Consolas"/>
              </a:rPr>
              <a:t>   (파라미터이름  [IN | OUT | IN OUT]  자료형  [DEFAULT 기본값] , ... )</a:t>
            </a:r>
          </a:p>
          <a:p>
            <a:pPr>
              <a:spcAft>
                <a:spcPts val="0"/>
              </a:spcAft>
            </a:pPr>
            <a:r>
              <a:rPr sz="1250" b="0">
                <a:solidFill>
                  <a:srgbClr val="E6E6E6"/>
                </a:solidFill>
                <a:latin typeface="Consolas"/>
              </a:rPr>
              <a:t>IS                              -- AS 로 써도 동일. DECLARE 는 쓰지 않는다</a:t>
            </a:r>
          </a:p>
          <a:p>
            <a:pPr>
              <a:spcAft>
                <a:spcPts val="0"/>
              </a:spcAft>
            </a:pPr>
            <a:r>
              <a:rPr sz="1250" b="0">
                <a:solidFill>
                  <a:srgbClr val="7EC699"/>
                </a:solidFill>
                <a:latin typeface="Consolas"/>
              </a:rPr>
              <a:t>   -- 선언부 : 로컬 변수 · 상수 · 커서 · 예외 · 중첩 서브프로그램</a:t>
            </a:r>
          </a:p>
          <a:p>
            <a:pPr>
              <a:spcAft>
                <a:spcPts val="0"/>
              </a:spcAft>
            </a:pPr>
            <a:r>
              <a:rPr sz="1250" b="0">
                <a:solidFill>
                  <a:srgbClr val="E6E6E6"/>
                </a:solidFill>
                <a:latin typeface="Consolas"/>
              </a:rPr>
              <a:t>BEGIN</a:t>
            </a:r>
          </a:p>
          <a:p>
            <a:pPr>
              <a:spcAft>
                <a:spcPts val="0"/>
              </a:spcAft>
            </a:pPr>
            <a:r>
              <a:rPr sz="1250" b="0">
                <a:solidFill>
                  <a:srgbClr val="7EC699"/>
                </a:solidFill>
                <a:latin typeface="Consolas"/>
              </a:rPr>
              <a:t>   -- 실행부 : 최소 한 개 이상의 실행문이 필요하다</a:t>
            </a:r>
          </a:p>
          <a:p>
            <a:pPr>
              <a:spcAft>
                <a:spcPts val="0"/>
              </a:spcAft>
            </a:pPr>
            <a:r>
              <a:rPr sz="1250" b="0">
                <a:solidFill>
                  <a:srgbClr val="E6E6E6"/>
                </a:solidFill>
                <a:latin typeface="Consolas"/>
              </a:rPr>
              <a:t>EXCEPTION</a:t>
            </a:r>
          </a:p>
          <a:p>
            <a:pPr>
              <a:spcAft>
                <a:spcPts val="0"/>
              </a:spcAft>
            </a:pPr>
            <a:r>
              <a:rPr sz="1250" b="0">
                <a:solidFill>
                  <a:srgbClr val="7EC699"/>
                </a:solidFill>
                <a:latin typeface="Consolas"/>
              </a:rPr>
              <a:t>   -- 예외 처리부 (선택)</a:t>
            </a:r>
          </a:p>
          <a:p>
            <a:pPr>
              <a:spcAft>
                <a:spcPts val="0"/>
              </a:spcAft>
            </a:pPr>
            <a:r>
              <a:rPr sz="1250" b="0">
                <a:solidFill>
                  <a:srgbClr val="E6E6E6"/>
                </a:solidFill>
                <a:latin typeface="Consolas"/>
              </a:rPr>
              <a:t>END [프로시저이름];</a:t>
            </a:r>
          </a:p>
          <a:p>
            <a:pPr>
              <a:spcAft>
                <a:spcPts val="0"/>
              </a:spcAft>
            </a:pPr>
            <a:r>
              <a:rPr sz="1250" b="0">
                <a:solidFill>
                  <a:srgbClr val="E6E6E6"/>
                </a:solidFill>
                <a:latin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프로시저 생성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HR 스키마의 사원 급여를 인상하는 프로시저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raise_salary</a:t>
            </a:r>
          </a:p>
          <a:p>
            <a:pPr>
              <a:spcAft>
                <a:spcPts val="0"/>
              </a:spcAft>
            </a:pPr>
            <a:r>
              <a:rPr sz="1250" b="0">
                <a:solidFill>
                  <a:srgbClr val="E6E6E6"/>
                </a:solidFill>
                <a:latin typeface="Consolas"/>
              </a:rPr>
              <a:t>   (p_emp_id   IN NUMBER,</a:t>
            </a:r>
          </a:p>
          <a:p>
            <a:pPr>
              <a:spcAft>
                <a:spcPts val="0"/>
              </a:spcAft>
            </a:pPr>
            <a:r>
              <a:rPr sz="1250" b="0">
                <a:solidFill>
                  <a:srgbClr val="E6E6E6"/>
                </a:solidFill>
                <a:latin typeface="Consolas"/>
              </a:rPr>
              <a:t>    p_pct      IN NUMBER)</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   v_old   employees.salary%TYPE;    -- 로컬 변수는 IS 와 BEGIN 사이에</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salary INTO v_old FROM employees WHERE employee_id = p_emp_id;</a:t>
            </a:r>
          </a:p>
          <a:p>
            <a:pPr>
              <a:spcAft>
                <a:spcPts val="0"/>
              </a:spcAft>
            </a:pPr>
            <a:r>
              <a:rPr sz="1250" b="0">
                <a:solidFill>
                  <a:srgbClr val="E6E6E6"/>
                </a:solidFill>
                <a:latin typeface="Consolas"/>
              </a:rPr>
              <a:t>   UPDATE employees</a:t>
            </a:r>
          </a:p>
          <a:p>
            <a:pPr>
              <a:spcAft>
                <a:spcPts val="0"/>
              </a:spcAft>
            </a:pPr>
            <a:r>
              <a:rPr sz="1250" b="0">
                <a:solidFill>
                  <a:srgbClr val="E6E6E6"/>
                </a:solidFill>
                <a:latin typeface="Consolas"/>
              </a:rPr>
              <a:t>      SET salary = ROUND(salary * (1 + p_pct / 100))</a:t>
            </a:r>
          </a:p>
          <a:p>
            <a:pPr>
              <a:spcAft>
                <a:spcPts val="0"/>
              </a:spcAft>
            </a:pPr>
            <a:r>
              <a:rPr sz="1250" b="0">
                <a:solidFill>
                  <a:srgbClr val="E6E6E6"/>
                </a:solidFill>
                <a:latin typeface="Consolas"/>
              </a:rPr>
              <a:t>    WHERE employee_id = p_emp_id;</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NO_DATA_FOUND THEN</a:t>
            </a:r>
          </a:p>
          <a:p>
            <a:pPr>
              <a:spcAft>
                <a:spcPts val="0"/>
              </a:spcAft>
            </a:pPr>
            <a:r>
              <a:rPr sz="1250" b="0">
                <a:solidFill>
                  <a:srgbClr val="E6E6E6"/>
                </a:solidFill>
                <a:latin typeface="Consolas"/>
              </a:rPr>
              <a:t>      RAISE_APPLICATION_ERROR(-20001, '사번 ' || p_emp_id || ' 없음');</a:t>
            </a:r>
          </a:p>
          <a:p>
            <a:pPr>
              <a:spcAft>
                <a:spcPts val="0"/>
              </a:spcAft>
            </a:pPr>
            <a:r>
              <a:rPr sz="1250" b="0">
                <a:solidFill>
                  <a:srgbClr val="E6E6E6"/>
                </a:solidFill>
                <a:latin typeface="Consolas"/>
              </a:rPr>
              <a:t>END raise_salary;</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Procedure RAISE_SALARY compiled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파라미터 자료형 규칙</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형식 파라미터의 자료형에는 길이·정밀도를 지정할 수 없다</a:t>
            </a:r>
          </a:p>
          <a:p>
            <a:pPr>
              <a:spcAft>
                <a:spcPts val="300"/>
              </a:spcAft>
            </a:pPr>
            <a:r>
              <a:rPr sz="1600" b="0">
                <a:solidFill>
                  <a:srgbClr val="5A6672"/>
                </a:solidFill>
                <a:latin typeface="Malgun Gothic"/>
              </a:rPr>
              <a:t>    –  VARCHAR2(30) → 오류 / VARCHAR2 → 정상</a:t>
            </a:r>
          </a:p>
          <a:p>
            <a:pPr>
              <a:spcAft>
                <a:spcPts val="300"/>
              </a:spcAft>
            </a:pPr>
            <a:r>
              <a:rPr sz="1600" b="0">
                <a:solidFill>
                  <a:srgbClr val="5A6672"/>
                </a:solidFill>
                <a:latin typeface="Malgun Gothic"/>
              </a:rPr>
              <a:t>    –  NUMBER(10,2) → 오류 / NUMBER → 정상</a:t>
            </a:r>
          </a:p>
          <a:p>
            <a:pPr>
              <a:spcAft>
                <a:spcPts val="300"/>
              </a:spcAft>
            </a:pPr>
            <a:r>
              <a:rPr sz="1600" b="0">
                <a:solidFill>
                  <a:srgbClr val="5A6672"/>
                </a:solidFill>
                <a:latin typeface="Malgun Gothic"/>
              </a:rPr>
              <a:t>    –  크기를 적으면 PLS-00103 컴파일 오류가 발생한다</a:t>
            </a:r>
          </a:p>
          <a:p>
            <a:pPr>
              <a:spcAft>
                <a:spcPts val="500"/>
              </a:spcAft>
            </a:pPr>
            <a:r>
              <a:rPr sz="1800" b="0">
                <a:solidFill>
                  <a:srgbClr val="202830"/>
                </a:solidFill>
                <a:latin typeface="Malgun Gothic"/>
              </a:rPr>
              <a:t>•  실제 크기는 호출 시점의 실인자가 결정한다</a:t>
            </a:r>
          </a:p>
          <a:p>
            <a:pPr>
              <a:spcAft>
                <a:spcPts val="500"/>
              </a:spcAft>
            </a:pPr>
            <a:r>
              <a:rPr sz="1800" b="0">
                <a:solidFill>
                  <a:srgbClr val="202830"/>
                </a:solidFill>
                <a:latin typeface="Malgun Gothic"/>
              </a:rPr>
              <a:t>•  길이 제약이 필요하면 %TYPE 으로 선언한다</a:t>
            </a:r>
          </a:p>
          <a:p>
            <a:pPr>
              <a:spcAft>
                <a:spcPts val="300"/>
              </a:spcAft>
            </a:pPr>
            <a:r>
              <a:rPr sz="1600" b="0">
                <a:solidFill>
                  <a:srgbClr val="5A6672"/>
                </a:solidFill>
                <a:latin typeface="Malgun Gothic"/>
              </a:rPr>
              <a:t>    –  p_name IN employees.last_name%TYPE — 테이블 정의 변경에 자동으로 따라간다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%TYPE 은 크기뿐 아니라 자료형 자체를 따라가므로 테이블 변경에 가장 안전한 선언 방식이다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프로시저 호출 방법 세 가지</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EXECUTE · 블록 안의 문장 · CALL</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(1) SQL*Plus 의 EXECUTE(EXEC) 명령 — 대화형 도구에서 가장 간편하다</a:t>
            </a:r>
          </a:p>
          <a:p>
            <a:pPr>
              <a:spcAft>
                <a:spcPts val="0"/>
              </a:spcAft>
            </a:pPr>
            <a:r>
              <a:rPr sz="1250" b="0">
                <a:solidFill>
                  <a:srgbClr val="E6E6E6"/>
                </a:solidFill>
                <a:latin typeface="Consolas"/>
              </a:rPr>
              <a:t>SQL&gt; EXECUTE raise_salary(178, 5);</a:t>
            </a:r>
          </a:p>
          <a:p>
            <a:pPr>
              <a:spcAft>
                <a:spcPts val="0"/>
              </a:spcAft>
            </a:pPr>
            <a:r>
              <a:rPr sz="1250" b="0">
                <a:solidFill>
                  <a:srgbClr val="E6E6E6"/>
                </a:solidFill>
                <a:latin typeface="Consolas"/>
              </a:rPr>
              <a:t>SQL&gt; EXEC raise_salary(p_emp_id =&gt; 178, p_pct =&gt; 5);</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(2) 익명 블록 또는 다른 서브프로그램 안에서 문장으로 호출</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raise_salary(178, 5);</a:t>
            </a:r>
          </a:p>
          <a:p>
            <a:pPr>
              <a:spcAft>
                <a:spcPts val="0"/>
              </a:spcAft>
            </a:pPr>
            <a:r>
              <a:rPr sz="1250" b="0">
                <a:solidFill>
                  <a:srgbClr val="E6E6E6"/>
                </a:solidFill>
                <a:latin typeface="Consolas"/>
              </a:rPr>
              <a:t>   raise_salary(179, 3);</a:t>
            </a:r>
          </a:p>
          <a:p>
            <a:pPr>
              <a:spcAft>
                <a:spcPts val="0"/>
              </a:spcAft>
            </a:pPr>
            <a:r>
              <a:rPr sz="1250" b="0">
                <a:solidFill>
                  <a:srgbClr val="E6E6E6"/>
                </a:solidFill>
                <a:latin typeface="Consolas"/>
              </a:rPr>
              <a:t>   COMMIT;                       -- 호출자가 트랜잭션 경계를 결정한다</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(3) SQL 표준의 CALL 문 — 파라미터가 없어도 빈 괄호가 필요하다</a:t>
            </a:r>
          </a:p>
          <a:p>
            <a:pPr>
              <a:spcAft>
                <a:spcPts val="0"/>
              </a:spcAft>
            </a:pPr>
            <a:r>
              <a:rPr sz="1250" b="0">
                <a:solidFill>
                  <a:srgbClr val="E6E6E6"/>
                </a:solidFill>
                <a:latin typeface="Consolas"/>
              </a:rPr>
              <a:t>CALL raise_salary(178, 5);</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(오류) 프로시저는 표현식 자리에 올 수 없다</a:t>
            </a:r>
          </a:p>
          <a:p>
            <a:pPr>
              <a:spcAft>
                <a:spcPts val="0"/>
              </a:spcAft>
            </a:pPr>
            <a:r>
              <a:rPr sz="1250" b="0">
                <a:solidFill>
                  <a:srgbClr val="E6E6E6"/>
                </a:solidFill>
                <a:latin typeface="Consolas"/>
              </a:rPr>
              <a:t>SELECT raise_salary(178, 5) FROM dual;</a:t>
            </a:r>
          </a:p>
          <a:p>
            <a:pPr>
              <a:spcAft>
                <a:spcPts val="0"/>
              </a:spcAft>
            </a:pPr>
            <a:r>
              <a:rPr sz="1250" b="0">
                <a:solidFill>
                  <a:srgbClr val="7EC699"/>
                </a:solidFill>
                <a:latin typeface="Consolas"/>
              </a:rPr>
              <a:t>-- ORA-00904: "RAISE_SALARY": invalid identifier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4.4~4.8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파라미터 — 값을 주고받는 규약</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IN · OUT · IN OUT 세 가지 모드</a:t>
            </a:r>
          </a:p>
          <a:p>
            <a:pPr>
              <a:spcAft>
                <a:spcPts val="600"/>
              </a:spcAft>
            </a:pPr>
            <a:r>
              <a:rPr sz="1600" b="0">
                <a:solidFill>
                  <a:srgbClr val="C5CED6"/>
                </a:solidFill>
                <a:latin typeface="Malgun Gothic"/>
              </a:rPr>
              <a:t>•  값 전달과 참조 전달, NOCOPY 힌트</a:t>
            </a:r>
          </a:p>
          <a:p>
            <a:pPr>
              <a:spcAft>
                <a:spcPts val="600"/>
              </a:spcAft>
            </a:pPr>
            <a:r>
              <a:rPr sz="1600" b="0">
                <a:solidFill>
                  <a:srgbClr val="C5CED6"/>
                </a:solidFill>
                <a:latin typeface="Malgun Gothic"/>
              </a:rPr>
              <a:t>•  위치 · 이름 · 혼합 표기법과 DEFAULT 기본값</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파라미터 모드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파라미터 모드는 데이터가 흐르는 방향을 선언하는 장치다</a:t>
            </a:r>
          </a:p>
          <a:p>
            <a:pPr>
              <a:spcAft>
                <a:spcPts val="300"/>
              </a:spcAft>
            </a:pPr>
            <a:r>
              <a:rPr sz="1600" b="0">
                <a:solidFill>
                  <a:srgbClr val="5A6672"/>
                </a:solidFill>
                <a:latin typeface="Malgun Gothic"/>
              </a:rPr>
              <a:t>    –  IN — 호출자 → 서브프로그램 (모드를 생략하면 IN)</a:t>
            </a:r>
          </a:p>
          <a:p>
            <a:pPr>
              <a:spcAft>
                <a:spcPts val="300"/>
              </a:spcAft>
            </a:pPr>
            <a:r>
              <a:rPr sz="1600" b="0">
                <a:solidFill>
                  <a:srgbClr val="5A6672"/>
                </a:solidFill>
                <a:latin typeface="Malgun Gothic"/>
              </a:rPr>
              <a:t>    –  OUT — 서브프로그램 → 호출자</a:t>
            </a:r>
          </a:p>
          <a:p>
            <a:pPr>
              <a:spcAft>
                <a:spcPts val="300"/>
              </a:spcAft>
            </a:pPr>
            <a:r>
              <a:rPr sz="1600" b="0">
                <a:solidFill>
                  <a:srgbClr val="5A6672"/>
                </a:solidFill>
                <a:latin typeface="Malgun Gothic"/>
              </a:rPr>
              <a:t>    –  IN OUT — 양방향 (받아서 가공한 뒤 같은 통로로 돌려준다)</a:t>
            </a:r>
          </a:p>
          <a:p>
            <a:pPr>
              <a:spcAft>
                <a:spcPts val="500"/>
              </a:spcAft>
            </a:pPr>
            <a:r>
              <a:rPr sz="1800" b="0">
                <a:solidFill>
                  <a:srgbClr val="202830"/>
                </a:solidFill>
                <a:latin typeface="Malgun Gothic"/>
              </a:rPr>
              <a:t>•  형식 파라미터(formal)와 실인자(actual)를 구분한다</a:t>
            </a:r>
          </a:p>
          <a:p>
            <a:pPr>
              <a:spcAft>
                <a:spcPts val="300"/>
              </a:spcAft>
            </a:pPr>
            <a:r>
              <a:rPr sz="1600" b="0">
                <a:solidFill>
                  <a:srgbClr val="5A6672"/>
                </a:solidFill>
                <a:latin typeface="Malgun Gothic"/>
              </a:rPr>
              <a:t>    –  형식 파라미터 : 선언부에 적은 이름 — p_emp_id</a:t>
            </a:r>
          </a:p>
          <a:p>
            <a:pPr>
              <a:spcAft>
                <a:spcPts val="300"/>
              </a:spcAft>
            </a:pPr>
            <a:r>
              <a:rPr sz="1600" b="0">
                <a:solidFill>
                  <a:srgbClr val="5A6672"/>
                </a:solidFill>
                <a:latin typeface="Malgun Gothic"/>
              </a:rPr>
              <a:t>    –  실인자 : 호출 시 넘기는 값이나 변수 — 178, v_id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 파라미터 — 값을 받는 통로</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서브프로그램 안에서 읽기 전용 상수처럼 동작한다</a:t>
            </a:r>
          </a:p>
          <a:p>
            <a:pPr>
              <a:spcAft>
                <a:spcPts val="300"/>
              </a:spcAft>
            </a:pPr>
            <a:r>
              <a:rPr sz="1600" b="0">
                <a:solidFill>
                  <a:srgbClr val="5A6672"/>
                </a:solidFill>
                <a:latin typeface="Malgun Gothic"/>
              </a:rPr>
              <a:t>    –  값을 읽어 계산하거나 SQL의 바인드 값으로 쓸 수 있다</a:t>
            </a:r>
          </a:p>
          <a:p>
            <a:pPr>
              <a:spcAft>
                <a:spcPts val="300"/>
              </a:spcAft>
            </a:pPr>
            <a:r>
              <a:rPr sz="1600" b="0">
                <a:solidFill>
                  <a:srgbClr val="5A6672"/>
                </a:solidFill>
                <a:latin typeface="Malgun Gothic"/>
              </a:rPr>
              <a:t>    –  대입문의 왼쪽이나 SELECT INTO의 대상이 될 수 없다 → PLS-00363</a:t>
            </a:r>
          </a:p>
          <a:p>
            <a:pPr>
              <a:spcAft>
                <a:spcPts val="500"/>
              </a:spcAft>
            </a:pPr>
            <a:r>
              <a:rPr sz="1800" b="0">
                <a:solidFill>
                  <a:srgbClr val="202830"/>
                </a:solidFill>
                <a:latin typeface="Malgun Gothic"/>
              </a:rPr>
              <a:t>•  기본적으로 참조로 전달된다(pass by reference)</a:t>
            </a:r>
          </a:p>
          <a:p>
            <a:pPr>
              <a:spcAft>
                <a:spcPts val="300"/>
              </a:spcAft>
            </a:pPr>
            <a:r>
              <a:rPr sz="1600" b="0">
                <a:solidFill>
                  <a:srgbClr val="5A6672"/>
                </a:solidFill>
                <a:latin typeface="Malgun Gothic"/>
              </a:rPr>
              <a:t>    –  값을 복사하지 않으므로 큰 컬렉션·LOB를 넘겨도 복사 비용이 없다</a:t>
            </a:r>
          </a:p>
          <a:p>
            <a:pPr>
              <a:spcAft>
                <a:spcPts val="300"/>
              </a:spcAft>
            </a:pPr>
            <a:r>
              <a:rPr sz="1600" b="0">
                <a:solidFill>
                  <a:srgbClr val="5A6672"/>
                </a:solidFill>
                <a:latin typeface="Malgun Gothic"/>
              </a:rPr>
              <a:t>    –  읽기 전용이라는 제약이 있기에 이 최적화가 안전하게 성립한다</a:t>
            </a:r>
          </a:p>
          <a:p>
            <a:pPr>
              <a:spcAft>
                <a:spcPts val="500"/>
              </a:spcAft>
            </a:pPr>
            <a:r>
              <a:rPr sz="1800" b="0">
                <a:solidFill>
                  <a:srgbClr val="202830"/>
                </a:solidFill>
                <a:latin typeface="Malgun Gothic"/>
              </a:rPr>
              <a:t>•  실인자로 리터럴 · 변수 · 표현식 · 다른 함수의 반환값이 모두 가능하다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모드 생략: </a:t>
            </a:r>
            <a:r>
              <a:rPr sz="1250" b="0">
                <a:solidFill>
                  <a:srgbClr val="202830"/>
                </a:solidFill>
                <a:latin typeface="Malgun Gothic"/>
              </a:rPr>
              <a:t>p_rate NUMBER 와 p_rate IN NUMBER 는 같다. 그래도 IN 을 명시하는 습관을 들인다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 파라미터 대입 시도 — PLS-00363</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기본값을 보정하려다 만나는 가장 흔한 컴파일 오류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(오류 상황) IN 파라미터에 값을 대입하려 한다</a:t>
            </a:r>
          </a:p>
          <a:p>
            <a:pPr>
              <a:spcAft>
                <a:spcPts val="0"/>
              </a:spcAft>
            </a:pPr>
            <a:r>
              <a:rPr sz="1250" b="0">
                <a:solidFill>
                  <a:srgbClr val="E6E6E6"/>
                </a:solidFill>
                <a:latin typeface="Consolas"/>
              </a:rPr>
              <a:t>CREATE OR REPLACE PROCEDURE bad_in_param (p_rate IN NUMBER)</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p_rate := NVL(p_rate, 0.1);       -- 기본값을 보정하려는 흔한 실수</a:t>
            </a:r>
          </a:p>
          <a:p>
            <a:pPr>
              <a:spcAft>
                <a:spcPts val="0"/>
              </a:spcAft>
            </a:pPr>
            <a:r>
              <a:rPr sz="1250" b="0">
                <a:solidFill>
                  <a:srgbClr val="E6E6E6"/>
                </a:solidFill>
                <a:latin typeface="Consolas"/>
              </a:rPr>
              <a:t>   DBMS_OUTPUT.PUT_LINE(p_rate);</a:t>
            </a:r>
          </a:p>
          <a:p>
            <a:pPr>
              <a:spcAft>
                <a:spcPts val="0"/>
              </a:spcAft>
            </a:pPr>
            <a:r>
              <a:rPr sz="1250" b="0">
                <a:solidFill>
                  <a:srgbClr val="E6E6E6"/>
                </a:solidFill>
                <a:latin typeface="Consolas"/>
              </a:rPr>
              <a:t>END bad_in_param;</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Warning: Procedure created with compilation errors.</a:t>
            </a:r>
          </a:p>
          <a:p>
            <a:pPr>
              <a:spcAft>
                <a:spcPts val="0"/>
              </a:spcAft>
            </a:pPr>
            <a:r>
              <a:rPr sz="1250" b="0">
                <a:solidFill>
                  <a:srgbClr val="7EC699"/>
                </a:solidFill>
                <a:latin typeface="Consolas"/>
              </a:rPr>
              <a:t>-- PLS-00363: expression 'P_RATE' cannot be used as an assignment target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(수정) 보정이 필요하면 로컬 변수에 옮겨 담는다</a:t>
            </a:r>
          </a:p>
          <a:p>
            <a:pPr>
              <a:spcAft>
                <a:spcPts val="0"/>
              </a:spcAft>
            </a:pPr>
            <a:r>
              <a:rPr sz="1250" b="0">
                <a:solidFill>
                  <a:srgbClr val="E6E6E6"/>
                </a:solidFill>
                <a:latin typeface="Consolas"/>
              </a:rPr>
              <a:t>CREATE OR REPLACE PROCEDURE good_in_param (p_rate IN NUMBER)</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   v_rate   NUMBER := NVL(p_rate, 0.1);</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DBMS_OUTPUT.PUT_LINE(v_rate);</a:t>
            </a:r>
          </a:p>
          <a:p>
            <a:pPr>
              <a:spcAft>
                <a:spcPts val="0"/>
              </a:spcAft>
            </a:pPr>
            <a:r>
              <a:rPr sz="1250" b="0">
                <a:solidFill>
                  <a:srgbClr val="E6E6E6"/>
                </a:solidFill>
                <a:latin typeface="Consolas"/>
              </a:rPr>
              <a:t>END good_in_param;</a:t>
            </a:r>
          </a:p>
          <a:p>
            <a:pPr>
              <a:spcAft>
                <a:spcPts val="0"/>
              </a:spcAft>
            </a:pPr>
            <a:r>
              <a:rPr sz="1250" b="0">
                <a:solidFill>
                  <a:srgbClr val="E6E6E6"/>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OUT 파라미터 — 값을 돌려주는 통로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프로시저가 계산 결과를 호출자에게 전달하는 유일한 방법</a:t>
            </a:r>
          </a:p>
          <a:p>
            <a:pPr>
              <a:spcAft>
                <a:spcPts val="300"/>
              </a:spcAft>
            </a:pPr>
            <a:r>
              <a:rPr sz="1600" b="0">
                <a:solidFill>
                  <a:srgbClr val="5A6672"/>
                </a:solidFill>
                <a:latin typeface="Malgun Gothic"/>
              </a:rPr>
              <a:t>    –  함수와 달리 여러 개의 값을 한 번에 돌려줄 수 있다</a:t>
            </a:r>
          </a:p>
          <a:p>
            <a:pPr>
              <a:spcAft>
                <a:spcPts val="500"/>
              </a:spcAft>
            </a:pPr>
            <a:r>
              <a:rPr sz="1800" b="0">
                <a:solidFill>
                  <a:srgbClr val="202830"/>
                </a:solidFill>
                <a:latin typeface="Malgun Gothic"/>
              </a:rPr>
              <a:t>•  호출 시점에 항상 NULL 로 초기화된다</a:t>
            </a:r>
          </a:p>
          <a:p>
            <a:pPr>
              <a:spcAft>
                <a:spcPts val="300"/>
              </a:spcAft>
            </a:pPr>
            <a:r>
              <a:rPr sz="1600" b="0">
                <a:solidFill>
                  <a:srgbClr val="5A6672"/>
                </a:solidFill>
                <a:latin typeface="Malgun Gothic"/>
              </a:rPr>
              <a:t>    –  호출자가 값이 든 변수를 넘겨도 안쪽에서는 NULL 로 시작한다</a:t>
            </a:r>
          </a:p>
          <a:p>
            <a:pPr>
              <a:spcAft>
                <a:spcPts val="300"/>
              </a:spcAft>
            </a:pPr>
            <a:r>
              <a:rPr sz="1600" b="0">
                <a:solidFill>
                  <a:srgbClr val="5A6672"/>
                </a:solidFill>
                <a:latin typeface="Malgun Gothic"/>
              </a:rPr>
              <a:t>    –  대입 전에 참조하면 NULL 이며, 숫자 연산 결과도 NULL 이 된다</a:t>
            </a:r>
          </a:p>
          <a:p>
            <a:pPr>
              <a:spcAft>
                <a:spcPts val="500"/>
              </a:spcAft>
            </a:pPr>
            <a:r>
              <a:rPr sz="1800" b="0">
                <a:solidFill>
                  <a:srgbClr val="202830"/>
                </a:solidFill>
                <a:latin typeface="Malgun Gothic"/>
              </a:rPr>
              <a:t>•  실인자는 반드시 값을 담을 수 있는 변수여야 한다</a:t>
            </a:r>
          </a:p>
          <a:p>
            <a:pPr>
              <a:spcAft>
                <a:spcPts val="300"/>
              </a:spcAft>
            </a:pPr>
            <a:r>
              <a:rPr sz="1600" b="0">
                <a:solidFill>
                  <a:srgbClr val="5A6672"/>
                </a:solidFill>
                <a:latin typeface="Malgun Gothic"/>
              </a:rPr>
              <a:t>    –  리터럴이나 표현식을 넘기면 PLS-00363 이 발생한다</a:t>
            </a:r>
          </a:p>
          <a:p>
            <a:pPr>
              <a:spcAft>
                <a:spcPts val="500"/>
              </a:spcAft>
            </a:pPr>
            <a:r>
              <a:rPr sz="1800" b="0">
                <a:solidFill>
                  <a:srgbClr val="202830"/>
                </a:solidFill>
                <a:latin typeface="Malgun Gothic"/>
              </a:rPr>
              <a:t>•  DEFAULT 기본값을 지정할 수 없다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OUT 파라미터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한 번의 호출로 세 개의 값을 돌려받는다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get_dept_stat</a:t>
            </a:r>
          </a:p>
          <a:p>
            <a:pPr>
              <a:spcAft>
                <a:spcPts val="0"/>
              </a:spcAft>
            </a:pPr>
            <a:r>
              <a:rPr sz="1250" b="0">
                <a:solidFill>
                  <a:srgbClr val="E6E6E6"/>
                </a:solidFill>
                <a:latin typeface="Consolas"/>
              </a:rPr>
              <a:t>   (p_dept_id  IN  NUMBER,</a:t>
            </a:r>
          </a:p>
          <a:p>
            <a:pPr>
              <a:spcAft>
                <a:spcPts val="0"/>
              </a:spcAft>
            </a:pPr>
            <a:r>
              <a:rPr sz="1250" b="0">
                <a:solidFill>
                  <a:srgbClr val="E6E6E6"/>
                </a:solidFill>
                <a:latin typeface="Consolas"/>
              </a:rPr>
              <a:t>    p_cnt      OUT NUMBER,</a:t>
            </a:r>
          </a:p>
          <a:p>
            <a:pPr>
              <a:spcAft>
                <a:spcPts val="0"/>
              </a:spcAft>
            </a:pPr>
            <a:r>
              <a:rPr sz="1250" b="0">
                <a:solidFill>
                  <a:srgbClr val="E6E6E6"/>
                </a:solidFill>
                <a:latin typeface="Consolas"/>
              </a:rPr>
              <a:t>    p_sum      OUT NUMBER,</a:t>
            </a:r>
          </a:p>
          <a:p>
            <a:pPr>
              <a:spcAft>
                <a:spcPts val="0"/>
              </a:spcAft>
            </a:pPr>
            <a:r>
              <a:rPr sz="1250" b="0">
                <a:solidFill>
                  <a:srgbClr val="E6E6E6"/>
                </a:solidFill>
                <a:latin typeface="Consolas"/>
              </a:rPr>
              <a:t>    p_avg      OUT NUMBER)</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COUNT(*), NVL(SUM(salary), 0), NVL(ROUND(AVG(salary)), 0)</a:t>
            </a:r>
          </a:p>
          <a:p>
            <a:pPr>
              <a:spcAft>
                <a:spcPts val="0"/>
              </a:spcAft>
            </a:pPr>
            <a:r>
              <a:rPr sz="1250" b="0">
                <a:solidFill>
                  <a:srgbClr val="E6E6E6"/>
                </a:solidFill>
                <a:latin typeface="Consolas"/>
              </a:rPr>
              <a:t>     INTO p_cnt, p_sum, p_avg</a:t>
            </a:r>
          </a:p>
          <a:p>
            <a:pPr>
              <a:spcAft>
                <a:spcPts val="0"/>
              </a:spcAft>
            </a:pPr>
            <a:r>
              <a:rPr sz="1250" b="0">
                <a:solidFill>
                  <a:srgbClr val="E6E6E6"/>
                </a:solidFill>
                <a:latin typeface="Consolas"/>
              </a:rPr>
              <a:t>     FROM employees WHERE department_id = p_dept_id;</a:t>
            </a:r>
          </a:p>
          <a:p>
            <a:pPr>
              <a:spcAft>
                <a:spcPts val="0"/>
              </a:spcAft>
            </a:pPr>
            <a:r>
              <a:rPr sz="1250" b="0">
                <a:solidFill>
                  <a:srgbClr val="E6E6E6"/>
                </a:solidFill>
                <a:latin typeface="Consolas"/>
              </a:rPr>
              <a:t>END get_dept_stat;</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v_cnt NUMBER;  v_sum NUMBER;  v_avg NUMBER;</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get_dept_stat(60, v_cnt, v_sum, v_avg);</a:t>
            </a:r>
          </a:p>
          <a:p>
            <a:pPr>
              <a:spcAft>
                <a:spcPts val="0"/>
              </a:spcAft>
            </a:pPr>
            <a:r>
              <a:rPr sz="1250" b="0">
                <a:solidFill>
                  <a:srgbClr val="E6E6E6"/>
                </a:solidFill>
                <a:latin typeface="Consolas"/>
              </a:rPr>
              <a:t>   DBMS_OUTPUT.PUT_LINE(v_cnt || '명 / 합계 ' || v_sum);</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-- 5명 / 합계 28800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OUT 파라미터의 두 가지 함정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리터럴 실인자와 NULL 초기값</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(함정 1) OUT 실인자로 리터럴을 넘긴다</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get_dept_stat(60, 0, 0, 0);</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PLS-00363: expression '0' cannot be used as an assignment target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(함정 2) 대입 전에 OUT 파라미터를 참조한다</a:t>
            </a:r>
          </a:p>
          <a:p>
            <a:pPr>
              <a:spcAft>
                <a:spcPts val="0"/>
              </a:spcAft>
            </a:pPr>
            <a:r>
              <a:rPr sz="1250" b="0">
                <a:solidFill>
                  <a:srgbClr val="E6E6E6"/>
                </a:solidFill>
                <a:latin typeface="Consolas"/>
              </a:rPr>
              <a:t>CREATE OR REPLACE PROCEDURE count_up (p_cnt OUT NUMBER)</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p_cnt := p_cnt + 1;           -- NULL + 1 = NULL</a:t>
            </a:r>
          </a:p>
          <a:p>
            <a:pPr>
              <a:spcAft>
                <a:spcPts val="0"/>
              </a:spcAft>
            </a:pPr>
            <a:r>
              <a:rPr sz="1250" b="0">
                <a:solidFill>
                  <a:srgbClr val="E6E6E6"/>
                </a:solidFill>
                <a:latin typeface="Consolas"/>
              </a:rPr>
              <a:t>END count_up;</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v_n NUMBER := 10;</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count_up(v_n);</a:t>
            </a:r>
          </a:p>
          <a:p>
            <a:pPr>
              <a:spcAft>
                <a:spcPts val="0"/>
              </a:spcAft>
            </a:pPr>
            <a:r>
              <a:rPr sz="1250" b="0">
                <a:solidFill>
                  <a:srgbClr val="E6E6E6"/>
                </a:solidFill>
                <a:latin typeface="Consolas"/>
              </a:rPr>
              <a:t>   DBMS_OUTPUT.PUT_LINE('결과 : ' || NVL(TO_CHAR(v_n), 'NULL'));</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결과 : NULL                   -- 10 을 넘겼는데도 NULL 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 OUT 파라미터와 NOCOPY 힌트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IN OUT — 값을 받아 가공한 뒤 같은 통로로 돌려주는 양방향 모드</a:t>
            </a:r>
          </a:p>
          <a:p>
            <a:pPr>
              <a:spcAft>
                <a:spcPts val="300"/>
              </a:spcAft>
            </a:pPr>
            <a:r>
              <a:rPr sz="1600" b="0">
                <a:solidFill>
                  <a:srgbClr val="5A6672"/>
                </a:solidFill>
                <a:latin typeface="Malgun Gothic"/>
              </a:rPr>
              <a:t>    –  전화번호 정규화, 누적 카운터처럼 입력을 기반으로 출력을 만드는 경우에 적합</a:t>
            </a:r>
          </a:p>
          <a:p>
            <a:pPr>
              <a:spcAft>
                <a:spcPts val="300"/>
              </a:spcAft>
            </a:pPr>
            <a:r>
              <a:rPr sz="1600" b="0">
                <a:solidFill>
                  <a:srgbClr val="5A6672"/>
                </a:solidFill>
                <a:latin typeface="Malgun Gothic"/>
              </a:rPr>
              <a:t>    –  안쪽에서 읽기와 쓰기가 모두 가능하며 실인자는 변수여야 한다</a:t>
            </a:r>
          </a:p>
          <a:p>
            <a:pPr>
              <a:spcAft>
                <a:spcPts val="500"/>
              </a:spcAft>
            </a:pPr>
            <a:r>
              <a:rPr sz="1800" b="0">
                <a:solidFill>
                  <a:srgbClr val="202830"/>
                </a:solidFill>
                <a:latin typeface="Malgun Gothic"/>
              </a:rPr>
              <a:t>•  OUT · IN OUT 은 기본적으로 값으로 전달된다</a:t>
            </a:r>
          </a:p>
          <a:p>
            <a:pPr>
              <a:spcAft>
                <a:spcPts val="300"/>
              </a:spcAft>
            </a:pPr>
            <a:r>
              <a:rPr sz="1600" b="0">
                <a:solidFill>
                  <a:srgbClr val="5A6672"/>
                </a:solidFill>
                <a:latin typeface="Malgun Gothic"/>
              </a:rPr>
              <a:t>    –  호출 시 복사(IN OUT), 정상 종료 시 되복사 — 예외 발생 시 실인자가 오염되지 않는다</a:t>
            </a:r>
          </a:p>
          <a:p>
            <a:pPr>
              <a:spcAft>
                <a:spcPts val="500"/>
              </a:spcAft>
            </a:pPr>
            <a:r>
              <a:rPr sz="1800" b="0">
                <a:solidFill>
                  <a:srgbClr val="202830"/>
                </a:solidFill>
                <a:latin typeface="Malgun Gothic"/>
              </a:rPr>
              <a:t>•  NOCOPY 는 참조 전달을 요청하는 힌트다</a:t>
            </a:r>
          </a:p>
          <a:p>
            <a:pPr>
              <a:spcAft>
                <a:spcPts val="300"/>
              </a:spcAft>
            </a:pPr>
            <a:r>
              <a:rPr sz="1600" b="0">
                <a:solidFill>
                  <a:srgbClr val="5A6672"/>
                </a:solidFill>
                <a:latin typeface="Malgun Gothic"/>
              </a:rPr>
              <a:t>    –  명령이 아니라 힌트이므로 컴파일러가 무시할 수 있다</a:t>
            </a:r>
          </a:p>
          <a:p>
            <a:pPr>
              <a:spcAft>
                <a:spcPts val="300"/>
              </a:spcAft>
            </a:pPr>
            <a:r>
              <a:rPr sz="1600" b="0">
                <a:solidFill>
                  <a:srgbClr val="5A6672"/>
                </a:solidFill>
                <a:latin typeface="Malgun Gothic"/>
              </a:rPr>
              <a:t>    –  채택되면 예외 발생 시 부분 변경이 실인자에 남을 수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 OUT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입력값을 가공해 같은 변수로 돌려준다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normalize_name (p_name IN OUT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p_name := INITCAP(TRIM(p_name));    -- 읽기와 쓰기가 모두 가능하다</a:t>
            </a:r>
          </a:p>
          <a:p>
            <a:pPr>
              <a:spcAft>
                <a:spcPts val="0"/>
              </a:spcAft>
            </a:pPr>
            <a:r>
              <a:rPr sz="1250" b="0">
                <a:solidFill>
                  <a:srgbClr val="E6E6E6"/>
                </a:solidFill>
                <a:latin typeface="Consolas"/>
              </a:rPr>
              <a:t>END normalize_name;</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v_name   VARCHAR2(50) := '   kOcHHaR   ';</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normalize_name(v_name);</a:t>
            </a:r>
          </a:p>
          <a:p>
            <a:pPr>
              <a:spcAft>
                <a:spcPts val="0"/>
              </a:spcAft>
            </a:pPr>
            <a:r>
              <a:rPr sz="1250" b="0">
                <a:solidFill>
                  <a:srgbClr val="E6E6E6"/>
                </a:solidFill>
                <a:latin typeface="Consolas"/>
              </a:rPr>
              <a:t>   DBMS_OUTPUT.PUT_LINE('[' || v_name || ']');</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[Kochhar]</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대량 컬렉션은 NOCOPY 로 복사 비용을 줄인다</a:t>
            </a:r>
          </a:p>
          <a:p>
            <a:pPr>
              <a:spcAft>
                <a:spcPts val="0"/>
              </a:spcAft>
            </a:pPr>
            <a:r>
              <a:rPr sz="1250" b="0">
                <a:solidFill>
                  <a:srgbClr val="E6E6E6"/>
                </a:solidFill>
                <a:latin typeface="Consolas"/>
              </a:rPr>
              <a:t>CREATE OR REPLACE PROCEDURE add_bonus</a:t>
            </a:r>
          </a:p>
          <a:p>
            <a:pPr>
              <a:spcAft>
                <a:spcPts val="0"/>
              </a:spcAft>
            </a:pPr>
            <a:r>
              <a:rPr sz="1250" b="0">
                <a:solidFill>
                  <a:srgbClr val="E6E6E6"/>
                </a:solidFill>
                <a:latin typeface="Consolas"/>
              </a:rPr>
              <a:t>   (p_list IN OUT NOCOPY sys.odcinumberlist)</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FOR i IN 1 .. p_list.COUNT LOOP</a:t>
            </a:r>
          </a:p>
          <a:p>
            <a:pPr>
              <a:spcAft>
                <a:spcPts val="0"/>
              </a:spcAft>
            </a:pPr>
            <a:r>
              <a:rPr sz="1250" b="0">
                <a:solidFill>
                  <a:srgbClr val="E6E6E6"/>
                </a:solidFill>
                <a:latin typeface="Consolas"/>
              </a:rPr>
              <a:t>      p_list(i) := p_list(i) * 1.1;</a:t>
            </a:r>
          </a:p>
          <a:p>
            <a:pPr>
              <a:spcAft>
                <a:spcPts val="0"/>
              </a:spcAft>
            </a:pPr>
            <a:r>
              <a:rPr sz="1250" b="0">
                <a:solidFill>
                  <a:srgbClr val="E6E6E6"/>
                </a:solidFill>
                <a:latin typeface="Consolas"/>
              </a:rPr>
              <a:t>   END LOOP;</a:t>
            </a:r>
          </a:p>
          <a:p>
            <a:pPr>
              <a:spcAft>
                <a:spcPts val="0"/>
              </a:spcAft>
            </a:pPr>
            <a:r>
              <a:rPr sz="1250" b="0">
                <a:solidFill>
                  <a:srgbClr val="E6E6E6"/>
                </a:solidFill>
                <a:latin typeface="Consolas"/>
              </a:rPr>
              <a:t>END add_bonus;</a:t>
            </a:r>
          </a:p>
          <a:p>
            <a:pPr>
              <a:spcAft>
                <a:spcPts val="0"/>
              </a:spcAft>
            </a:pPr>
            <a:r>
              <a:rPr sz="1250" b="0">
                <a:solidFill>
                  <a:srgbClr val="E6E6E6"/>
                </a:solidFill>
                <a:latin typeface="Consolas"/>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파라미터 모드 비교 정리</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IN — 읽기 전용 / 참조 전달 / DEFAULT 가능</a:t>
            </a:r>
          </a:p>
          <a:p>
            <a:pPr>
              <a:spcAft>
                <a:spcPts val="300"/>
              </a:spcAft>
            </a:pPr>
            <a:r>
              <a:rPr sz="1600" b="0">
                <a:solidFill>
                  <a:srgbClr val="5A6672"/>
                </a:solidFill>
                <a:latin typeface="Malgun Gothic"/>
              </a:rPr>
              <a:t>    –  실인자 : 리터럴 · 표현식 · 변수 모두 가능</a:t>
            </a:r>
          </a:p>
          <a:p>
            <a:pPr>
              <a:spcAft>
                <a:spcPts val="500"/>
              </a:spcAft>
            </a:pPr>
            <a:r>
              <a:rPr sz="1800" b="0">
                <a:solidFill>
                  <a:srgbClr val="202830"/>
                </a:solidFill>
                <a:latin typeface="Malgun Gothic"/>
              </a:rPr>
              <a:t>•  OUT — 쓰기 위주 / 값 전달(되복사) / DEFAULT 불가</a:t>
            </a:r>
          </a:p>
          <a:p>
            <a:pPr>
              <a:spcAft>
                <a:spcPts val="300"/>
              </a:spcAft>
            </a:pPr>
            <a:r>
              <a:rPr sz="1600" b="0">
                <a:solidFill>
                  <a:srgbClr val="5A6672"/>
                </a:solidFill>
                <a:latin typeface="Malgun Gothic"/>
              </a:rPr>
              <a:t>    –  호출 시 NULL 로 초기화 / 실인자는 변수만 가능</a:t>
            </a:r>
          </a:p>
          <a:p>
            <a:pPr>
              <a:spcAft>
                <a:spcPts val="500"/>
              </a:spcAft>
            </a:pPr>
            <a:r>
              <a:rPr sz="1800" b="0">
                <a:solidFill>
                  <a:srgbClr val="202830"/>
                </a:solidFill>
                <a:latin typeface="Malgun Gothic"/>
              </a:rPr>
              <a:t>•  IN OUT — 읽기·쓰기 모두 / 값 전달(복사 후 되복사) / DEFAULT 불가</a:t>
            </a:r>
          </a:p>
          <a:p>
            <a:pPr>
              <a:spcAft>
                <a:spcPts val="300"/>
              </a:spcAft>
            </a:pPr>
            <a:r>
              <a:rPr sz="1600" b="0">
                <a:solidFill>
                  <a:srgbClr val="5A6672"/>
                </a:solidFill>
                <a:latin typeface="Malgun Gothic"/>
              </a:rPr>
              <a:t>    –  실인자는 변수만 가능 / 호출 시 실인자의 값으로 시작</a:t>
            </a:r>
          </a:p>
          <a:p>
            <a:pPr>
              <a:spcAft>
                <a:spcPts val="500"/>
              </a:spcAft>
            </a:pPr>
            <a:r>
              <a:rPr sz="1800" b="0">
                <a:solidFill>
                  <a:srgbClr val="202830"/>
                </a:solidFill>
                <a:latin typeface="Malgun Gothic"/>
              </a:rPr>
              <a:t>•  NOCOPY 는 OUT · IN OUT 에만 붙일 수 있는 힌트다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암기 포인트: </a:t>
            </a:r>
            <a:r>
              <a:rPr sz="1250" b="0">
                <a:solidFill>
                  <a:srgbClr val="202830"/>
                </a:solidFill>
                <a:latin typeface="Malgun Gothic"/>
              </a:rPr>
              <a:t>값을 돌려받는 모드(OUT · IN OUT)는 실인자가 반드시 변수여야 하고 DEFAULT 를 줄 수 없다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실인자 전달 표기법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위치 표기법(Positional) — 선언 순서대로 값을 나열한다</a:t>
            </a:r>
          </a:p>
          <a:p>
            <a:pPr>
              <a:spcAft>
                <a:spcPts val="300"/>
              </a:spcAft>
            </a:pPr>
            <a:r>
              <a:rPr sz="1600" b="0">
                <a:solidFill>
                  <a:srgbClr val="5A6672"/>
                </a:solidFill>
                <a:latin typeface="Malgun Gothic"/>
              </a:rPr>
              <a:t>    –  가장 익숙하지만 파라미터가 많아지면 호출부만 봐서는 의미를 알 수 없다</a:t>
            </a:r>
          </a:p>
          <a:p>
            <a:pPr>
              <a:spcAft>
                <a:spcPts val="300"/>
              </a:spcAft>
            </a:pPr>
            <a:r>
              <a:rPr sz="1600" b="0">
                <a:solidFill>
                  <a:srgbClr val="5A6672"/>
                </a:solidFill>
                <a:latin typeface="Malgun Gothic"/>
              </a:rPr>
              <a:t>    –  같은 자료형끼리 순서가 바뀌어도 컴파일 오류가 나지 않는다</a:t>
            </a:r>
          </a:p>
          <a:p>
            <a:pPr>
              <a:spcAft>
                <a:spcPts val="500"/>
              </a:spcAft>
            </a:pPr>
            <a:r>
              <a:rPr sz="1800" b="0">
                <a:solidFill>
                  <a:srgbClr val="202830"/>
                </a:solidFill>
                <a:latin typeface="Malgun Gothic"/>
              </a:rPr>
              <a:t>•  이름 표기법(Named) — 파라미터이름 =&gt; 값 형태로 짝을 짓는다</a:t>
            </a:r>
          </a:p>
          <a:p>
            <a:pPr>
              <a:spcAft>
                <a:spcPts val="300"/>
              </a:spcAft>
            </a:pPr>
            <a:r>
              <a:rPr sz="1600" b="0">
                <a:solidFill>
                  <a:srgbClr val="5A6672"/>
                </a:solidFill>
                <a:latin typeface="Malgun Gothic"/>
              </a:rPr>
              <a:t>    –  순서에 구애받지 않고 가독성이 좋다</a:t>
            </a:r>
          </a:p>
          <a:p>
            <a:pPr>
              <a:spcAft>
                <a:spcPts val="500"/>
              </a:spcAft>
            </a:pPr>
            <a:r>
              <a:rPr sz="1800" b="0">
                <a:solidFill>
                  <a:srgbClr val="202830"/>
                </a:solidFill>
                <a:latin typeface="Malgun Gothic"/>
              </a:rPr>
              <a:t>•  혼합 표기법(Mixed) — 앞은 위치, 뒤는 이름</a:t>
            </a:r>
          </a:p>
          <a:p>
            <a:pPr>
              <a:spcAft>
                <a:spcPts val="300"/>
              </a:spcAft>
            </a:pPr>
            <a:r>
              <a:rPr sz="1600" b="0">
                <a:solidFill>
                  <a:srgbClr val="5A6672"/>
                </a:solidFill>
                <a:latin typeface="Malgun Gothic"/>
              </a:rPr>
              <a:t>    –  반드시 위치 표기법이 먼저 오고 이름 표기법이 뒤에 와야 한다</a:t>
            </a:r>
          </a:p>
          <a:p>
            <a:pPr>
              <a:spcAft>
                <a:spcPts val="300"/>
              </a:spcAft>
            </a:pPr>
            <a:r>
              <a:rPr sz="1600" b="0">
                <a:solidFill>
                  <a:srgbClr val="5A6672"/>
                </a:solidFill>
                <a:latin typeface="Malgun Gothic"/>
              </a:rPr>
              <a:t>    –  순서를 어기면 PLS-00312 오류가 발생한다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표기법 예제와 PLS-00312</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이름 표기법 뒤에 위치 표기법이 오면 안 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log_action</a:t>
            </a:r>
          </a:p>
          <a:p>
            <a:pPr>
              <a:spcAft>
                <a:spcPts val="0"/>
              </a:spcAft>
            </a:pPr>
            <a:r>
              <a:rPr sz="1250" b="0">
                <a:solidFill>
                  <a:srgbClr val="E6E6E6"/>
                </a:solidFill>
                <a:latin typeface="Consolas"/>
              </a:rPr>
              <a:t>   (p_emp_id IN NUMBER, p_action IN VARCHAR2, p_note IN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DBMS_OUTPUT.PUT_LINE(p_emp_id || ' / ' || p_action || ' / ' || p_note);</a:t>
            </a:r>
          </a:p>
          <a:p>
            <a:pPr>
              <a:spcAft>
                <a:spcPts val="0"/>
              </a:spcAft>
            </a:pPr>
            <a:r>
              <a:rPr sz="1250" b="0">
                <a:solidFill>
                  <a:srgbClr val="E6E6E6"/>
                </a:solidFill>
                <a:latin typeface="Consolas"/>
              </a:rPr>
              <a:t>END log_action;</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(1) 위치 표기법</a:t>
            </a:r>
          </a:p>
          <a:p>
            <a:pPr>
              <a:spcAft>
                <a:spcPts val="0"/>
              </a:spcAft>
            </a:pPr>
            <a:r>
              <a:rPr sz="1250" b="0">
                <a:solidFill>
                  <a:srgbClr val="E6E6E6"/>
                </a:solidFill>
                <a:latin typeface="Consolas"/>
              </a:rPr>
              <a:t>EXEC log_action(178, 'UPDATE', '급여 인상');</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(2) 이름 표기법 — 순서를 바꿔도 된다</a:t>
            </a:r>
          </a:p>
          <a:p>
            <a:pPr>
              <a:spcAft>
                <a:spcPts val="0"/>
              </a:spcAft>
            </a:pPr>
            <a:r>
              <a:rPr sz="1250" b="0">
                <a:solidFill>
                  <a:srgbClr val="E6E6E6"/>
                </a:solidFill>
                <a:latin typeface="Consolas"/>
              </a:rPr>
              <a:t>EXEC log_action(p_note =&gt; '급여 인상', p_emp_id =&gt; 178, p_action =&gt; 'UPDATE');</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(3) 혼합 표기법 — 위치가 먼저, 이름이 나중</a:t>
            </a:r>
          </a:p>
          <a:p>
            <a:pPr>
              <a:spcAft>
                <a:spcPts val="0"/>
              </a:spcAft>
            </a:pPr>
            <a:r>
              <a:rPr sz="1250" b="0">
                <a:solidFill>
                  <a:srgbClr val="E6E6E6"/>
                </a:solidFill>
                <a:latin typeface="Consolas"/>
              </a:rPr>
              <a:t>EXEC log_action(178, p_note =&gt; '급여 인상', p_action =&gt; 'UPDATE');</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(오류) 이름 뒤에 위치가 왔다</a:t>
            </a:r>
          </a:p>
          <a:p>
            <a:pPr>
              <a:spcAft>
                <a:spcPts val="0"/>
              </a:spcAft>
            </a:pPr>
            <a:r>
              <a:rPr sz="1250" b="0">
                <a:solidFill>
                  <a:srgbClr val="E6E6E6"/>
                </a:solidFill>
                <a:latin typeface="Consolas"/>
              </a:rPr>
              <a:t>EXEC log_action(p_emp_id =&gt; 178, 'UPDATE', '급여 인상');</a:t>
            </a:r>
          </a:p>
          <a:p>
            <a:pPr>
              <a:spcAft>
                <a:spcPts val="0"/>
              </a:spcAft>
            </a:pPr>
            <a:r>
              <a:rPr sz="1250" b="0">
                <a:solidFill>
                  <a:srgbClr val="7EC699"/>
                </a:solidFill>
                <a:latin typeface="Consolas"/>
              </a:rPr>
              <a:t>-- PLS-00312: a positional parameter association may not follow</a:t>
            </a:r>
          </a:p>
          <a:p>
            <a:pPr>
              <a:spcAft>
                <a:spcPts val="0"/>
              </a:spcAft>
            </a:pPr>
            <a:r>
              <a:rPr sz="1250" b="0">
                <a:solidFill>
                  <a:srgbClr val="7EC699"/>
                </a:solidFill>
                <a:latin typeface="Consolas"/>
              </a:rPr>
              <a:t>--            a named association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파라미터 기본값 (DEFAULT)</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IN 파라미터에만 DEFAULT 절 또는 := 로 기본값을 지정할 수 있다</a:t>
            </a:r>
          </a:p>
          <a:p>
            <a:pPr>
              <a:spcAft>
                <a:spcPts val="300"/>
              </a:spcAft>
            </a:pPr>
            <a:r>
              <a:rPr sz="1600" b="0">
                <a:solidFill>
                  <a:srgbClr val="5A6672"/>
                </a:solidFill>
                <a:latin typeface="Malgun Gothic"/>
              </a:rPr>
              <a:t>    –  OUT · IN OUT 은 값을 돌려받는 통로이므로 기본값을 줄 수 없다</a:t>
            </a:r>
          </a:p>
          <a:p>
            <a:pPr>
              <a:spcAft>
                <a:spcPts val="500"/>
              </a:spcAft>
            </a:pPr>
            <a:r>
              <a:rPr sz="1800" b="0">
                <a:solidFill>
                  <a:srgbClr val="202830"/>
                </a:solidFill>
                <a:latin typeface="Malgun Gothic"/>
              </a:rPr>
              <a:t>•  기본값이 있는 파라미터는 호출 시 생략할 수 있다</a:t>
            </a:r>
          </a:p>
          <a:p>
            <a:pPr>
              <a:spcAft>
                <a:spcPts val="300"/>
              </a:spcAft>
            </a:pPr>
            <a:r>
              <a:rPr sz="1600" b="0">
                <a:solidFill>
                  <a:srgbClr val="5A6672"/>
                </a:solidFill>
                <a:latin typeface="Malgun Gothic"/>
              </a:rPr>
              <a:t>    –  기존 호출부를 고치지 않고 새 옵션을 추가하는 인터페이스 확장에 유용하다</a:t>
            </a:r>
          </a:p>
          <a:p>
            <a:pPr>
              <a:spcAft>
                <a:spcPts val="300"/>
              </a:spcAft>
            </a:pPr>
            <a:r>
              <a:rPr sz="1600" b="0">
                <a:solidFill>
                  <a:srgbClr val="5A6672"/>
                </a:solidFill>
                <a:latin typeface="Malgun Gothic"/>
              </a:rPr>
              <a:t>    –  기본값 표현식은 호출 시점에 평가된다 — SYSDATE, USER 등도 가능</a:t>
            </a:r>
          </a:p>
          <a:p>
            <a:pPr>
              <a:spcAft>
                <a:spcPts val="500"/>
              </a:spcAft>
            </a:pPr>
            <a:r>
              <a:rPr sz="1800" b="0">
                <a:solidFill>
                  <a:srgbClr val="202830"/>
                </a:solidFill>
                <a:latin typeface="Malgun Gothic"/>
              </a:rPr>
              <a:t>•  선언 순서 관례 : 필수 파라미터를 앞에, 기본값 파라미터를 뒤에</a:t>
            </a:r>
          </a:p>
          <a:p>
            <a:pPr>
              <a:spcAft>
                <a:spcPts val="300"/>
              </a:spcAft>
            </a:pPr>
            <a:r>
              <a:rPr sz="1600" b="0">
                <a:solidFill>
                  <a:srgbClr val="5A6672"/>
                </a:solidFill>
                <a:latin typeface="Malgun Gothic"/>
              </a:rPr>
              <a:t>    –  순서를 어겨도 선언 자체는 컴파일되지만 위치 표기법 호출이 불가능해진다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DEFAULT 예제와 PLS-00306</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기본값 파라미터를 앞에 두면 위치 표기법으로 호출할 수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hire_log</a:t>
            </a:r>
          </a:p>
          <a:p>
            <a:pPr>
              <a:spcAft>
                <a:spcPts val="0"/>
              </a:spcAft>
            </a:pPr>
            <a:r>
              <a:rPr sz="1250" b="0">
                <a:solidFill>
                  <a:srgbClr val="E6E6E6"/>
                </a:solidFill>
                <a:latin typeface="Consolas"/>
              </a:rPr>
              <a:t>   (p_emp_id IN NUMBER,</a:t>
            </a:r>
          </a:p>
          <a:p>
            <a:pPr>
              <a:spcAft>
                <a:spcPts val="0"/>
              </a:spcAft>
            </a:pPr>
            <a:r>
              <a:rPr sz="1250" b="0">
                <a:solidFill>
                  <a:srgbClr val="E6E6E6"/>
                </a:solidFill>
                <a:latin typeface="Consolas"/>
              </a:rPr>
              <a:t>    p_action IN VARCHAR2 DEFAULT 'HIRE',</a:t>
            </a:r>
          </a:p>
          <a:p>
            <a:pPr>
              <a:spcAft>
                <a:spcPts val="0"/>
              </a:spcAft>
            </a:pPr>
            <a:r>
              <a:rPr sz="1250" b="0">
                <a:solidFill>
                  <a:srgbClr val="E6E6E6"/>
                </a:solidFill>
                <a:latin typeface="Consolas"/>
              </a:rPr>
              <a:t>    p_when   IN DATE     DEFAULT SYSDATE)</a:t>
            </a:r>
          </a:p>
          <a:p>
            <a:pPr>
              <a:spcAft>
                <a:spcPts val="0"/>
              </a:spcAft>
            </a:pPr>
            <a:r>
              <a:rPr sz="1250" b="0">
                <a:solidFill>
                  <a:srgbClr val="E6E6E6"/>
                </a:solidFill>
                <a:latin typeface="Consolas"/>
              </a:rPr>
              <a:t>IS BEGIN</a:t>
            </a:r>
          </a:p>
          <a:p>
            <a:pPr>
              <a:spcAft>
                <a:spcPts val="0"/>
              </a:spcAft>
            </a:pPr>
            <a:r>
              <a:rPr sz="1250" b="0">
                <a:solidFill>
                  <a:srgbClr val="E6E6E6"/>
                </a:solidFill>
                <a:latin typeface="Consolas"/>
              </a:rPr>
              <a:t>   DBMS_OUTPUT.PUT_LINE(p_emp_id || ' / ' || p_action || ' / ' ||</a:t>
            </a:r>
          </a:p>
          <a:p>
            <a:pPr>
              <a:spcAft>
                <a:spcPts val="0"/>
              </a:spcAft>
            </a:pPr>
            <a:r>
              <a:rPr sz="1250" b="0">
                <a:solidFill>
                  <a:srgbClr val="E6E6E6"/>
                </a:solidFill>
                <a:latin typeface="Consolas"/>
              </a:rPr>
              <a:t>                        TO_CHAR(p_when, 'YYYY-MM-DD'));</a:t>
            </a:r>
          </a:p>
          <a:p>
            <a:pPr>
              <a:spcAft>
                <a:spcPts val="0"/>
              </a:spcAft>
            </a:pPr>
            <a:r>
              <a:rPr sz="1250" b="0">
                <a:solidFill>
                  <a:srgbClr val="E6E6E6"/>
                </a:solidFill>
                <a:latin typeface="Consolas"/>
              </a:rPr>
              <a:t>END hire_log;</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EXEC hire_log(206);                       -- 206 / HIRE / 2025-08-19</a:t>
            </a:r>
          </a:p>
          <a:p>
            <a:pPr>
              <a:spcAft>
                <a:spcPts val="0"/>
              </a:spcAft>
            </a:pPr>
            <a:r>
              <a:rPr sz="1250" b="0">
                <a:solidFill>
                  <a:srgbClr val="E6E6E6"/>
                </a:solidFill>
                <a:latin typeface="Consolas"/>
              </a:rPr>
              <a:t>EXEC hire_log(206, 'REHIRE');             -- 206 / REHIRE / 2025-08-19</a:t>
            </a:r>
          </a:p>
          <a:p>
            <a:pPr>
              <a:spcAft>
                <a:spcPts val="0"/>
              </a:spcAft>
            </a:pPr>
            <a:r>
              <a:rPr sz="1250" b="0">
                <a:solidFill>
                  <a:srgbClr val="E6E6E6"/>
                </a:solidFill>
                <a:latin typeface="Consolas"/>
              </a:rPr>
              <a:t>EXEC hire_log(206, p_when =&gt; DATE '2025-01-01');</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(오류) 기본값 파라미터가 앞에 있으면?</a:t>
            </a:r>
          </a:p>
          <a:p>
            <a:pPr>
              <a:spcAft>
                <a:spcPts val="0"/>
              </a:spcAft>
            </a:pPr>
            <a:r>
              <a:rPr sz="1250" b="0">
                <a:solidFill>
                  <a:srgbClr val="E6E6E6"/>
                </a:solidFill>
                <a:latin typeface="Consolas"/>
              </a:rPr>
              <a:t>CREATE OR REPLACE PROCEDURE bad_order</a:t>
            </a:r>
          </a:p>
          <a:p>
            <a:pPr>
              <a:spcAft>
                <a:spcPts val="0"/>
              </a:spcAft>
            </a:pPr>
            <a:r>
              <a:rPr sz="1250" b="0">
                <a:solidFill>
                  <a:srgbClr val="E6E6E6"/>
                </a:solidFill>
                <a:latin typeface="Consolas"/>
              </a:rPr>
              <a:t>   (p_action IN VARCHAR2 DEFAULT 'HIRE', p_emp_id IN NUMBER)</a:t>
            </a:r>
          </a:p>
          <a:p>
            <a:pPr>
              <a:spcAft>
                <a:spcPts val="0"/>
              </a:spcAft>
            </a:pPr>
            <a:r>
              <a:rPr sz="1250" b="0">
                <a:solidFill>
                  <a:srgbClr val="E6E6E6"/>
                </a:solidFill>
                <a:latin typeface="Consolas"/>
              </a:rPr>
              <a:t>IS BEGIN NULL; END;</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EXEC bad_order(206);</a:t>
            </a:r>
          </a:p>
          <a:p>
            <a:pPr>
              <a:spcAft>
                <a:spcPts val="0"/>
              </a:spcAft>
            </a:pPr>
            <a:r>
              <a:rPr sz="1250" b="0">
                <a:solidFill>
                  <a:srgbClr val="7EC699"/>
                </a:solidFill>
                <a:latin typeface="Consolas"/>
              </a:rPr>
              <a:t>-- PLS-00306: wrong number or types of arguments in call to 'BAD_ORDER'</a:t>
            </a:r>
          </a:p>
          <a:p>
            <a:pPr>
              <a:spcAft>
                <a:spcPts val="0"/>
              </a:spcAft>
            </a:pPr>
            <a:r>
              <a:rPr sz="1250" b="0">
                <a:solidFill>
                  <a:srgbClr val="E6E6E6"/>
                </a:solidFill>
                <a:latin typeface="Consolas"/>
              </a:rPr>
              <a:t>EXEC bad_order(p_emp_id =&gt; 206);          -- 이름 표기법으로만 호출 가능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파라미터 설계 Best Practice</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이름 규칙을 지킨다</a:t>
            </a:r>
          </a:p>
          <a:p>
            <a:pPr>
              <a:spcAft>
                <a:spcPts val="300"/>
              </a:spcAft>
            </a:pPr>
            <a:r>
              <a:rPr sz="1600" b="0">
                <a:solidFill>
                  <a:srgbClr val="5A6672"/>
                </a:solidFill>
                <a:latin typeface="Malgun Gothic"/>
              </a:rPr>
              <a:t>    –  파라미터는 p_, 로컬 변수는 v_, 상수는 c_, 커서는 cur_, 예외는 e_</a:t>
            </a:r>
          </a:p>
          <a:p>
            <a:pPr>
              <a:spcAft>
                <a:spcPts val="300"/>
              </a:spcAft>
            </a:pPr>
            <a:r>
              <a:rPr sz="1600" b="0">
                <a:solidFill>
                  <a:srgbClr val="5A6672"/>
                </a:solidFill>
                <a:latin typeface="Malgun Gothic"/>
              </a:rPr>
              <a:t>    –  컬럼 이름과 같으면 SQL 안에서 컬럼이 우선하므로 반드시 접두사를 붙인다</a:t>
            </a:r>
          </a:p>
          <a:p>
            <a:pPr>
              <a:spcAft>
                <a:spcPts val="500"/>
              </a:spcAft>
            </a:pPr>
            <a:r>
              <a:rPr sz="1800" b="0">
                <a:solidFill>
                  <a:srgbClr val="202830"/>
                </a:solidFill>
                <a:latin typeface="Malgun Gothic"/>
              </a:rPr>
              <a:t>•  모드를 생략하지 않고 IN 도 명시적으로 적는다</a:t>
            </a:r>
          </a:p>
          <a:p>
            <a:pPr>
              <a:spcAft>
                <a:spcPts val="500"/>
              </a:spcAft>
            </a:pPr>
            <a:r>
              <a:rPr sz="1800" b="0">
                <a:solidFill>
                  <a:srgbClr val="202830"/>
                </a:solidFill>
                <a:latin typeface="Malgun Gothic"/>
              </a:rPr>
              <a:t>•  필수 파라미터를 앞에, DEFAULT 파라미터를 뒤에 배치한다</a:t>
            </a:r>
          </a:p>
          <a:p>
            <a:pPr>
              <a:spcAft>
                <a:spcPts val="500"/>
              </a:spcAft>
            </a:pPr>
            <a:r>
              <a:rPr sz="1800" b="0">
                <a:solidFill>
                  <a:srgbClr val="202830"/>
                </a:solidFill>
                <a:latin typeface="Malgun Gothic"/>
              </a:rPr>
              <a:t>•  호출은 이름 표기법을 기본으로 한다</a:t>
            </a:r>
          </a:p>
          <a:p>
            <a:pPr>
              <a:spcAft>
                <a:spcPts val="500"/>
              </a:spcAft>
            </a:pPr>
            <a:r>
              <a:rPr sz="1800" b="0">
                <a:solidFill>
                  <a:srgbClr val="202830"/>
                </a:solidFill>
                <a:latin typeface="Malgun Gothic"/>
              </a:rPr>
              <a:t>•  자료형은 가능한 한 %TYPE · %ROWTYPE 으로 선언한다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핵심: </a:t>
            </a:r>
            <a:r>
              <a:rPr sz="1250" b="0">
                <a:solidFill>
                  <a:srgbClr val="202830"/>
                </a:solidFill>
                <a:latin typeface="Malgun Gothic"/>
              </a:rPr>
              <a:t>접두사 규칙은 스타일이 아니라 SQL 이름 해석 우선순위로 인한 사고를 막는 안전장치다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4.9~4.11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함수와 RETURN</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CREATE OR REPLACE FUNCTION 과 RETURN 문</a:t>
            </a:r>
          </a:p>
          <a:p>
            <a:pPr>
              <a:spcAft>
                <a:spcPts val="600"/>
              </a:spcAft>
            </a:pPr>
            <a:r>
              <a:rPr sz="1600" b="0">
                <a:solidFill>
                  <a:srgbClr val="C5CED6"/>
                </a:solidFill>
                <a:latin typeface="Malgun Gothic"/>
              </a:rPr>
              <a:t>•  RETURN 누락과 ORA-06503</a:t>
            </a:r>
          </a:p>
          <a:p>
            <a:pPr>
              <a:spcAft>
                <a:spcPts val="600"/>
              </a:spcAft>
            </a:pPr>
            <a:r>
              <a:rPr sz="1600" b="0">
                <a:solidFill>
                  <a:srgbClr val="C5CED6"/>
                </a:solidFill>
                <a:latin typeface="Malgun Gothic"/>
              </a:rPr>
              <a:t>•  SQL 문에서의 함수 호출과 순수성 규칙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함수 생성과 RETURN 문</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함수는 반드시 하나의 값을 반환하는 서브프로그램이다</a:t>
            </a:r>
          </a:p>
          <a:p>
            <a:pPr>
              <a:spcAft>
                <a:spcPts val="300"/>
              </a:spcAft>
            </a:pPr>
            <a:r>
              <a:rPr sz="1600" b="0">
                <a:solidFill>
                  <a:srgbClr val="5A6672"/>
                </a:solidFill>
                <a:latin typeface="Malgun Gothic"/>
              </a:rPr>
              <a:t>    –  헤더의 파라미터 목록 뒤에 RETURN 자료형을 선언한다</a:t>
            </a:r>
          </a:p>
          <a:p>
            <a:pPr>
              <a:spcAft>
                <a:spcPts val="300"/>
              </a:spcAft>
            </a:pPr>
            <a:r>
              <a:rPr sz="1600" b="0">
                <a:solidFill>
                  <a:srgbClr val="5A6672"/>
                </a:solidFill>
                <a:latin typeface="Malgun Gothic"/>
              </a:rPr>
              <a:t>    –  반환 자료형에도 길이·정밀도를 적을 수 없다 — RETURN VARCHAR2(30) 은 오류</a:t>
            </a:r>
          </a:p>
          <a:p>
            <a:pPr>
              <a:spcAft>
                <a:spcPts val="300"/>
              </a:spcAft>
            </a:pPr>
            <a:r>
              <a:rPr sz="1600" b="0">
                <a:solidFill>
                  <a:srgbClr val="5A6672"/>
                </a:solidFill>
                <a:latin typeface="Malgun Gothic"/>
              </a:rPr>
              <a:t>    –  실행부에서 RETURN 표현식; 을 만나면 값을 넘기고 즉시 종료한다</a:t>
            </a:r>
          </a:p>
          <a:p>
            <a:pPr>
              <a:spcAft>
                <a:spcPts val="500"/>
              </a:spcAft>
            </a:pPr>
            <a:r>
              <a:rPr sz="1800" b="0">
                <a:solidFill>
                  <a:srgbClr val="202830"/>
                </a:solidFill>
                <a:latin typeface="Malgun Gothic"/>
              </a:rPr>
              <a:t>•  함수는 값으로 평가되므로 표현식 자리라면 어디든 올 수 있다</a:t>
            </a:r>
          </a:p>
          <a:p>
            <a:pPr>
              <a:spcAft>
                <a:spcPts val="300"/>
              </a:spcAft>
            </a:pPr>
            <a:r>
              <a:rPr sz="1600" b="0">
                <a:solidFill>
                  <a:srgbClr val="5A6672"/>
                </a:solidFill>
                <a:latin typeface="Malgun Gothic"/>
              </a:rPr>
              <a:t>    –  대입문의 오른쪽, 다른 함수의 인자, SELECT · WHERE · ORDER BY 절</a:t>
            </a:r>
          </a:p>
          <a:p>
            <a:pPr>
              <a:spcAft>
                <a:spcPts val="500"/>
              </a:spcAft>
            </a:pPr>
            <a:r>
              <a:rPr sz="1800" b="0">
                <a:solidFill>
                  <a:srgbClr val="202830"/>
                </a:solidFill>
                <a:latin typeface="Malgun Gothic"/>
              </a:rPr>
              <a:t>•  프로시저 안의 RETURN 은 표현식 없이 쓴다 — 즉시 종료를 의미</a:t>
            </a:r>
          </a:p>
          <a:p>
            <a:pPr>
              <a:spcAft>
                <a:spcPts val="300"/>
              </a:spcAft>
            </a:pPr>
            <a:r>
              <a:rPr sz="1600" b="0">
                <a:solidFill>
                  <a:srgbClr val="5A6672"/>
                </a:solidFill>
                <a:latin typeface="Malgun Gothic"/>
              </a:rPr>
              <a:t>    –  표현식을 붙이면 PLS-00372 오류가 발생한다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함수 생성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연봉을 계산해 돌려주는 함수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FUNCTION get_annual_salary (p_emp_id IN NUMBER)</a:t>
            </a:r>
          </a:p>
          <a:p>
            <a:pPr>
              <a:spcAft>
                <a:spcPts val="0"/>
              </a:spcAft>
            </a:pPr>
            <a:r>
              <a:rPr sz="1250" b="0">
                <a:solidFill>
                  <a:srgbClr val="E6E6E6"/>
                </a:solidFill>
                <a:latin typeface="Consolas"/>
              </a:rPr>
              <a:t>   RETURN NUMBER                  -- RETURN NUMBER(10,2) 처럼 크기를 쓰면 오류</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   v_sal   employees.salary%TYPE;</a:t>
            </a:r>
          </a:p>
          <a:p>
            <a:pPr>
              <a:spcAft>
                <a:spcPts val="0"/>
              </a:spcAft>
            </a:pPr>
            <a:r>
              <a:rPr sz="1250" b="0">
                <a:solidFill>
                  <a:srgbClr val="E6E6E6"/>
                </a:solidFill>
                <a:latin typeface="Consolas"/>
              </a:rPr>
              <a:t>   v_comm  employees.commission_pct%TYPE;</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salary, NVL(commission_pct, 0) INTO v_sal, v_comm</a:t>
            </a:r>
          </a:p>
          <a:p>
            <a:pPr>
              <a:spcAft>
                <a:spcPts val="0"/>
              </a:spcAft>
            </a:pPr>
            <a:r>
              <a:rPr sz="1250" b="0">
                <a:solidFill>
                  <a:srgbClr val="E6E6E6"/>
                </a:solidFill>
                <a:latin typeface="Consolas"/>
              </a:rPr>
              <a:t>     FROM employees WHERE employee_id = p_emp_id;</a:t>
            </a:r>
          </a:p>
          <a:p>
            <a:pPr>
              <a:spcAft>
                <a:spcPts val="0"/>
              </a:spcAft>
            </a:pPr>
            <a:r>
              <a:rPr sz="1250" b="0">
                <a:solidFill>
                  <a:srgbClr val="E6E6E6"/>
                </a:solidFill>
                <a:latin typeface="Consolas"/>
              </a:rPr>
              <a:t>   RETURN ROUND(v_sal * 12 * (1 + v_comm));</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NO_DATA_FOUND THEN</a:t>
            </a:r>
          </a:p>
          <a:p>
            <a:pPr>
              <a:spcAft>
                <a:spcPts val="0"/>
              </a:spcAft>
            </a:pPr>
            <a:r>
              <a:rPr sz="1250" b="0">
                <a:solidFill>
                  <a:srgbClr val="E6E6E6"/>
                </a:solidFill>
                <a:latin typeface="Consolas"/>
              </a:rPr>
              <a:t>      RETURN NULL;                -- 모든 경로에서 RETURN 을 보장한다</a:t>
            </a:r>
          </a:p>
          <a:p>
            <a:pPr>
              <a:spcAft>
                <a:spcPts val="0"/>
              </a:spcAft>
            </a:pPr>
            <a:r>
              <a:rPr sz="1250" b="0">
                <a:solidFill>
                  <a:srgbClr val="E6E6E6"/>
                </a:solidFill>
                <a:latin typeface="Consolas"/>
              </a:rPr>
              <a:t>END get_annual_salary;</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v_annual   NUMBER;</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v_annual := get_annual_salary(145);</a:t>
            </a:r>
          </a:p>
          <a:p>
            <a:pPr>
              <a:spcAft>
                <a:spcPts val="0"/>
              </a:spcAft>
            </a:pPr>
            <a:r>
              <a:rPr sz="1250" b="0">
                <a:solidFill>
                  <a:srgbClr val="E6E6E6"/>
                </a:solidFill>
                <a:latin typeface="Consolas"/>
              </a:rPr>
              <a:t>   DBMS_OUTPUT.PUT_LINE('연봉 : ' || v_annual);</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연봉 : 201600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프로시저 vs 함수</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헤더</a:t>
            </a:r>
          </a:p>
          <a:p>
            <a:pPr>
              <a:spcAft>
                <a:spcPts val="300"/>
              </a:spcAft>
            </a:pPr>
            <a:r>
              <a:rPr sz="1600" b="0">
                <a:solidFill>
                  <a:srgbClr val="5A6672"/>
                </a:solidFill>
                <a:latin typeface="Malgun Gothic"/>
              </a:rPr>
              <a:t>    –  프로시저 : RETURN 절 없음 / 함수 : RETURN 자료형 필수</a:t>
            </a:r>
          </a:p>
          <a:p>
            <a:pPr>
              <a:spcAft>
                <a:spcPts val="500"/>
              </a:spcAft>
            </a:pPr>
            <a:r>
              <a:rPr sz="1800" b="0">
                <a:solidFill>
                  <a:srgbClr val="202830"/>
                </a:solidFill>
                <a:latin typeface="Malgun Gothic"/>
              </a:rPr>
              <a:t>•  호출 위치</a:t>
            </a:r>
          </a:p>
          <a:p>
            <a:pPr>
              <a:spcAft>
                <a:spcPts val="300"/>
              </a:spcAft>
            </a:pPr>
            <a:r>
              <a:rPr sz="1600" b="0">
                <a:solidFill>
                  <a:srgbClr val="5A6672"/>
                </a:solidFill>
                <a:latin typeface="Malgun Gothic"/>
              </a:rPr>
              <a:t>    –  프로시저 : PL/SQL 문장으로 단독 실행 / 함수 : 표현식의 일부로 사용</a:t>
            </a:r>
          </a:p>
          <a:p>
            <a:pPr>
              <a:spcAft>
                <a:spcPts val="500"/>
              </a:spcAft>
            </a:pPr>
            <a:r>
              <a:rPr sz="1800" b="0">
                <a:solidFill>
                  <a:srgbClr val="202830"/>
                </a:solidFill>
                <a:latin typeface="Malgun Gothic"/>
              </a:rPr>
              <a:t>•  반환값</a:t>
            </a:r>
          </a:p>
          <a:p>
            <a:pPr>
              <a:spcAft>
                <a:spcPts val="300"/>
              </a:spcAft>
            </a:pPr>
            <a:r>
              <a:rPr sz="1600" b="0">
                <a:solidFill>
                  <a:srgbClr val="5A6672"/>
                </a:solidFill>
                <a:latin typeface="Malgun Gothic"/>
              </a:rPr>
              <a:t>    –  프로시저 : 없음(OUT 파라미터로 여러 값 전달 가능)</a:t>
            </a:r>
          </a:p>
          <a:p>
            <a:pPr>
              <a:spcAft>
                <a:spcPts val="300"/>
              </a:spcAft>
            </a:pPr>
            <a:r>
              <a:rPr sz="1600" b="0">
                <a:solidFill>
                  <a:srgbClr val="5A6672"/>
                </a:solidFill>
                <a:latin typeface="Malgun Gothic"/>
              </a:rPr>
              <a:t>    –  함수 : 반드시 한 개의 값 반환 / RETURN 문 최소 1개 필수</a:t>
            </a:r>
          </a:p>
          <a:p>
            <a:pPr>
              <a:spcAft>
                <a:spcPts val="500"/>
              </a:spcAft>
            </a:pPr>
            <a:r>
              <a:rPr sz="1800" b="0">
                <a:solidFill>
                  <a:srgbClr val="202830"/>
                </a:solidFill>
                <a:latin typeface="Malgun Gothic"/>
              </a:rPr>
              <a:t>•  선택 기준 : 값을 계산해 돌려주면 함수, 동작을 수행하면 프로시저</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판단 기준: </a:t>
            </a:r>
            <a:r>
              <a:rPr sz="1250" b="0">
                <a:solidFill>
                  <a:srgbClr val="202830"/>
                </a:solidFill>
                <a:latin typeface="Malgun Gothic"/>
              </a:rPr>
              <a:t>SQL 문 안에서 부를 일이 있는가? 있으면 함수, 없고 DML 을 수행하면 프로시저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RETURN 누락과 ORA-06503</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PL/SQL 컴파일러는 RETURN 문이 최소 하나 있는지만 확인한다</a:t>
            </a:r>
          </a:p>
          <a:p>
            <a:pPr>
              <a:spcAft>
                <a:spcPts val="300"/>
              </a:spcAft>
            </a:pPr>
            <a:r>
              <a:rPr sz="1600" b="0">
                <a:solidFill>
                  <a:srgbClr val="5A6672"/>
                </a:solidFill>
                <a:latin typeface="Malgun Gothic"/>
              </a:rPr>
              <a:t>    –  모든 실행 경로가 RETURN 에 도달하는지는 검사하지 않는다</a:t>
            </a:r>
          </a:p>
          <a:p>
            <a:pPr>
              <a:spcAft>
                <a:spcPts val="500"/>
              </a:spcAft>
            </a:pPr>
            <a:r>
              <a:rPr sz="1800" b="0">
                <a:solidFill>
                  <a:srgbClr val="202830"/>
                </a:solidFill>
                <a:latin typeface="Malgun Gothic"/>
              </a:rPr>
              <a:t>•  따라서 다음 코드는 정상적으로 컴파일된다</a:t>
            </a:r>
          </a:p>
          <a:p>
            <a:pPr>
              <a:spcAft>
                <a:spcPts val="300"/>
              </a:spcAft>
            </a:pPr>
            <a:r>
              <a:rPr sz="1600" b="0">
                <a:solidFill>
                  <a:srgbClr val="5A6672"/>
                </a:solidFill>
                <a:latin typeface="Malgun Gothic"/>
              </a:rPr>
              <a:t>    –  IF 조건이 참일 때만 RETURN 하고 ELSE 경로가 비어 있는 함수</a:t>
            </a:r>
          </a:p>
          <a:p>
            <a:pPr>
              <a:spcAft>
                <a:spcPts val="300"/>
              </a:spcAft>
            </a:pPr>
            <a:r>
              <a:rPr sz="1600" b="0">
                <a:solidFill>
                  <a:srgbClr val="5A6672"/>
                </a:solidFill>
                <a:latin typeface="Malgun Gothic"/>
              </a:rPr>
              <a:t>    –  EXCEPTION 절에서 로그만 남기고 RETURN 없이 끝나는 함수</a:t>
            </a:r>
          </a:p>
          <a:p>
            <a:pPr>
              <a:spcAft>
                <a:spcPts val="500"/>
              </a:spcAft>
            </a:pPr>
            <a:r>
              <a:rPr sz="1800" b="0">
                <a:solidFill>
                  <a:srgbClr val="202830"/>
                </a:solidFill>
                <a:latin typeface="Malgun Gothic"/>
              </a:rPr>
              <a:t>•  특정 데이터가 들어온 순간 실행 중에 예외가 터진다</a:t>
            </a:r>
          </a:p>
          <a:p>
            <a:pPr>
              <a:spcAft>
                <a:spcPts val="300"/>
              </a:spcAft>
            </a:pPr>
            <a:r>
              <a:rPr sz="1600" b="0">
                <a:solidFill>
                  <a:srgbClr val="5A6672"/>
                </a:solidFill>
                <a:latin typeface="Malgun Gothic"/>
              </a:rPr>
              <a:t>    –  ORA-06503: PL/SQL: Function returned without value</a:t>
            </a:r>
          </a:p>
          <a:p>
            <a:pPr>
              <a:spcAft>
                <a:spcPts val="500"/>
              </a:spcAft>
            </a:pPr>
            <a:r>
              <a:rPr sz="1800" b="0">
                <a:solidFill>
                  <a:srgbClr val="202830"/>
                </a:solidFill>
                <a:latin typeface="Malgun Gothic"/>
              </a:rPr>
              <a:t>•  예방 : 모든 분기와 예외 핸들러가 RETURN 으로 끝나게 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ORA-06503 재현과 수정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컴파일은 성공하지만 실행 중에 터진다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(오류 상황) ELSE 경로에 RETURN 이 없다</a:t>
            </a:r>
          </a:p>
          <a:p>
            <a:pPr>
              <a:spcAft>
                <a:spcPts val="0"/>
              </a:spcAft>
            </a:pPr>
            <a:r>
              <a:rPr sz="1250" b="0">
                <a:solidFill>
                  <a:srgbClr val="E6E6E6"/>
                </a:solidFill>
                <a:latin typeface="Consolas"/>
              </a:rPr>
              <a:t>CREATE OR REPLACE FUNCTION grade_of (p_sal IN NUMBER) RETURN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IF p_sal &gt;= 10000 THEN</a:t>
            </a:r>
          </a:p>
          <a:p>
            <a:pPr>
              <a:spcAft>
                <a:spcPts val="0"/>
              </a:spcAft>
            </a:pPr>
            <a:r>
              <a:rPr sz="1250" b="0">
                <a:solidFill>
                  <a:srgbClr val="E6E6E6"/>
                </a:solidFill>
                <a:latin typeface="Consolas"/>
              </a:rPr>
              <a:t>      RETURN 'A';</a:t>
            </a:r>
          </a:p>
          <a:p>
            <a:pPr>
              <a:spcAft>
                <a:spcPts val="0"/>
              </a:spcAft>
            </a:pPr>
            <a:r>
              <a:rPr sz="1250" b="0">
                <a:solidFill>
                  <a:srgbClr val="E6E6E6"/>
                </a:solidFill>
                <a:latin typeface="Consolas"/>
              </a:rPr>
              <a:t>   ELSIF p_sal &gt;= 6000 THEN</a:t>
            </a:r>
          </a:p>
          <a:p>
            <a:pPr>
              <a:spcAft>
                <a:spcPts val="0"/>
              </a:spcAft>
            </a:pPr>
            <a:r>
              <a:rPr sz="1250" b="0">
                <a:solidFill>
                  <a:srgbClr val="E6E6E6"/>
                </a:solidFill>
                <a:latin typeface="Consolas"/>
              </a:rPr>
              <a:t>      RETURN 'B';</a:t>
            </a:r>
          </a:p>
          <a:p>
            <a:pPr>
              <a:spcAft>
                <a:spcPts val="0"/>
              </a:spcAft>
            </a:pPr>
            <a:r>
              <a:rPr sz="1250" b="0">
                <a:solidFill>
                  <a:srgbClr val="E6E6E6"/>
                </a:solidFill>
                <a:latin typeface="Consolas"/>
              </a:rPr>
              <a:t>   END IF;                        -- 6000 미만이면 아무 값도 반환하지 않는다</a:t>
            </a:r>
          </a:p>
          <a:p>
            <a:pPr>
              <a:spcAft>
                <a:spcPts val="0"/>
              </a:spcAft>
            </a:pPr>
            <a:r>
              <a:rPr sz="1250" b="0">
                <a:solidFill>
                  <a:srgbClr val="E6E6E6"/>
                </a:solidFill>
                <a:latin typeface="Consolas"/>
              </a:rPr>
              <a:t>END grade_of;</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Function GRADE_OF compiled          &lt;- 컴파일은 성공한다</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SELECT grade_of(3000) FROM dual;</a:t>
            </a:r>
          </a:p>
          <a:p>
            <a:pPr>
              <a:spcAft>
                <a:spcPts val="0"/>
              </a:spcAft>
            </a:pPr>
            <a:r>
              <a:rPr sz="1250" b="0">
                <a:solidFill>
                  <a:srgbClr val="7EC699"/>
                </a:solidFill>
                <a:latin typeface="Consolas"/>
              </a:rPr>
              <a:t>-- ORA-06503: PL/SQL: Function returned without value</a:t>
            </a:r>
          </a:p>
          <a:p>
            <a:pPr>
              <a:spcAft>
                <a:spcPts val="0"/>
              </a:spcAft>
            </a:pPr>
            <a:r>
              <a:rPr sz="1250" b="0">
                <a:solidFill>
                  <a:srgbClr val="7EC699"/>
                </a:solidFill>
                <a:latin typeface="Consolas"/>
              </a:rPr>
              <a:t>-- ORA-06512: at "HR.GRADE_OF", line 8</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(수정) 마지막에 기본 RETURN 을 두어 모든 경로를 닫는다</a:t>
            </a:r>
          </a:p>
          <a:p>
            <a:pPr>
              <a:spcAft>
                <a:spcPts val="0"/>
              </a:spcAft>
            </a:pPr>
            <a:r>
              <a:rPr sz="1250" b="0">
                <a:solidFill>
                  <a:srgbClr val="E6E6E6"/>
                </a:solidFill>
                <a:latin typeface="Consolas"/>
              </a:rPr>
              <a:t>CREATE OR REPLACE FUNCTION grade_of (p_sal IN NUMBER) RETURN VARCHAR2</a:t>
            </a:r>
          </a:p>
          <a:p>
            <a:pPr>
              <a:spcAft>
                <a:spcPts val="0"/>
              </a:spcAft>
            </a:pPr>
            <a:r>
              <a:rPr sz="1250" b="0">
                <a:solidFill>
                  <a:srgbClr val="E6E6E6"/>
                </a:solidFill>
                <a:latin typeface="Consolas"/>
              </a:rPr>
              <a:t>IS BEGIN</a:t>
            </a:r>
          </a:p>
          <a:p>
            <a:pPr>
              <a:spcAft>
                <a:spcPts val="0"/>
              </a:spcAft>
            </a:pPr>
            <a:r>
              <a:rPr sz="1250" b="0">
                <a:solidFill>
                  <a:srgbClr val="E6E6E6"/>
                </a:solidFill>
                <a:latin typeface="Consolas"/>
              </a:rPr>
              <a:t>   IF    p_sal IS NULL  THEN RETURN 'N/A';</a:t>
            </a:r>
          </a:p>
          <a:p>
            <a:pPr>
              <a:spcAft>
                <a:spcPts val="0"/>
              </a:spcAft>
            </a:pPr>
            <a:r>
              <a:rPr sz="1250" b="0">
                <a:solidFill>
                  <a:srgbClr val="E6E6E6"/>
                </a:solidFill>
                <a:latin typeface="Consolas"/>
              </a:rPr>
              <a:t>   ELSIF p_sal &gt;= 10000 THEN RETURN 'A';</a:t>
            </a:r>
          </a:p>
          <a:p>
            <a:pPr>
              <a:spcAft>
                <a:spcPts val="0"/>
              </a:spcAft>
            </a:pPr>
            <a:r>
              <a:rPr sz="1250" b="0">
                <a:solidFill>
                  <a:srgbClr val="E6E6E6"/>
                </a:solidFill>
                <a:latin typeface="Consolas"/>
              </a:rPr>
              <a:t>   ELSIF p_sal &gt;=  6000 THEN RETURN 'B';</a:t>
            </a:r>
          </a:p>
          <a:p>
            <a:pPr>
              <a:spcAft>
                <a:spcPts val="0"/>
              </a:spcAft>
            </a:pPr>
            <a:r>
              <a:rPr sz="1250" b="0">
                <a:solidFill>
                  <a:srgbClr val="E6E6E6"/>
                </a:solidFill>
                <a:latin typeface="Consolas"/>
              </a:rPr>
              <a:t>   ELSE                      RETURN 'C';</a:t>
            </a:r>
          </a:p>
          <a:p>
            <a:pPr>
              <a:spcAft>
                <a:spcPts val="0"/>
              </a:spcAft>
            </a:pPr>
            <a:r>
              <a:rPr sz="1250" b="0">
                <a:solidFill>
                  <a:srgbClr val="E6E6E6"/>
                </a:solidFill>
                <a:latin typeface="Consolas"/>
              </a:rPr>
              <a:t>   END IF;</a:t>
            </a:r>
          </a:p>
          <a:p>
            <a:pPr>
              <a:spcAft>
                <a:spcPts val="0"/>
              </a:spcAft>
            </a:pPr>
            <a:r>
              <a:rPr sz="1250" b="0">
                <a:solidFill>
                  <a:srgbClr val="E6E6E6"/>
                </a:solidFill>
                <a:latin typeface="Consolas"/>
              </a:rPr>
              <a:t>END grade_of;</a:t>
            </a:r>
          </a:p>
          <a:p>
            <a:pPr>
              <a:spcAft>
                <a:spcPts val="0"/>
              </a:spcAft>
            </a:pPr>
            <a:r>
              <a:rPr sz="1250" b="0">
                <a:solidFill>
                  <a:srgbClr val="E6E6E6"/>
                </a:solidFill>
                <a:latin typeface="Consolas"/>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문에서 함수 호출하기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복잡한 계산이나 코드 변환 로직을 함수로 감싸 여러 SQL 이 공유한다</a:t>
            </a:r>
          </a:p>
          <a:p>
            <a:pPr>
              <a:spcAft>
                <a:spcPts val="500"/>
              </a:spcAft>
            </a:pPr>
            <a:r>
              <a:rPr sz="1800" b="0">
                <a:solidFill>
                  <a:srgbClr val="202830"/>
                </a:solidFill>
                <a:latin typeface="Malgun Gothic"/>
              </a:rPr>
              <a:t>•  호출할 수 있는 위치</a:t>
            </a:r>
          </a:p>
          <a:p>
            <a:pPr>
              <a:spcAft>
                <a:spcPts val="300"/>
              </a:spcAft>
            </a:pPr>
            <a:r>
              <a:rPr sz="1600" b="0">
                <a:solidFill>
                  <a:srgbClr val="5A6672"/>
                </a:solidFill>
                <a:latin typeface="Malgun Gothic"/>
              </a:rPr>
              <a:t>    –  SELECT 리스트 / WHERE · HAVING 조건 / ORDER BY · GROUP BY</a:t>
            </a:r>
          </a:p>
          <a:p>
            <a:pPr>
              <a:spcAft>
                <a:spcPts val="300"/>
              </a:spcAft>
            </a:pPr>
            <a:r>
              <a:rPr sz="1600" b="0">
                <a:solidFill>
                  <a:srgbClr val="5A6672"/>
                </a:solidFill>
                <a:latin typeface="Malgun Gothic"/>
              </a:rPr>
              <a:t>    –  CONNECT BY · START WITH / INSERT 의 VALUES 절 / UPDATE 의 SET 절</a:t>
            </a:r>
          </a:p>
          <a:p>
            <a:pPr>
              <a:spcAft>
                <a:spcPts val="500"/>
              </a:spcAft>
            </a:pPr>
            <a:r>
              <a:rPr sz="1800" b="0">
                <a:solidFill>
                  <a:srgbClr val="202830"/>
                </a:solidFill>
                <a:latin typeface="Malgun Gothic"/>
              </a:rPr>
              <a:t>•  호출할 수 없는 위치</a:t>
            </a:r>
          </a:p>
          <a:p>
            <a:pPr>
              <a:spcAft>
                <a:spcPts val="300"/>
              </a:spcAft>
            </a:pPr>
            <a:r>
              <a:rPr sz="1600" b="0">
                <a:solidFill>
                  <a:srgbClr val="5A6672"/>
                </a:solidFill>
                <a:latin typeface="Malgun Gothic"/>
              </a:rPr>
              <a:t>    –  CHECK 제약 조건, 컬럼의 DEFAULT 값</a:t>
            </a:r>
          </a:p>
          <a:p>
            <a:pPr>
              <a:spcAft>
                <a:spcPts val="500"/>
              </a:spcAft>
            </a:pPr>
            <a:r>
              <a:rPr sz="1800" b="0">
                <a:solidFill>
                  <a:srgbClr val="202830"/>
                </a:solidFill>
                <a:latin typeface="Malgun Gothic"/>
              </a:rPr>
              <a:t>•  저장 프로시저는 SQL 문에서 직접 호출할 수 없다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호출을 위한 조건</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저장된 함수여야 한다</a:t>
            </a:r>
          </a:p>
          <a:p>
            <a:pPr>
              <a:spcAft>
                <a:spcPts val="300"/>
              </a:spcAft>
            </a:pPr>
            <a:r>
              <a:rPr sz="1600" b="0">
                <a:solidFill>
                  <a:srgbClr val="5A6672"/>
                </a:solidFill>
                <a:latin typeface="Malgun Gothic"/>
              </a:rPr>
              <a:t>    –  스키마 수준 함수 또는 패키지 함수 — 익명 블록의 로컬 함수는 불가</a:t>
            </a:r>
          </a:p>
          <a:p>
            <a:pPr>
              <a:spcAft>
                <a:spcPts val="500"/>
              </a:spcAft>
            </a:pPr>
            <a:r>
              <a:rPr sz="1800" b="0">
                <a:solidFill>
                  <a:srgbClr val="202830"/>
                </a:solidFill>
                <a:latin typeface="Malgun Gothic"/>
              </a:rPr>
              <a:t>•  모든 파라미터가 IN 모드여야 한다</a:t>
            </a:r>
          </a:p>
          <a:p>
            <a:pPr>
              <a:spcAft>
                <a:spcPts val="300"/>
              </a:spcAft>
            </a:pPr>
            <a:r>
              <a:rPr sz="1600" b="0">
                <a:solidFill>
                  <a:srgbClr val="5A6672"/>
                </a:solidFill>
                <a:latin typeface="Malgun Gothic"/>
              </a:rPr>
              <a:t>    –  OUT · IN OUT 이 있으면 PLS-00230 오류가 발생한다</a:t>
            </a:r>
          </a:p>
          <a:p>
            <a:pPr>
              <a:spcAft>
                <a:spcPts val="500"/>
              </a:spcAft>
            </a:pPr>
            <a:r>
              <a:rPr sz="1800" b="0">
                <a:solidFill>
                  <a:srgbClr val="202830"/>
                </a:solidFill>
                <a:latin typeface="Malgun Gothic"/>
              </a:rPr>
              <a:t>•  파라미터와 반환값이 SQL 자료형이어야 한다</a:t>
            </a:r>
          </a:p>
          <a:p>
            <a:pPr>
              <a:spcAft>
                <a:spcPts val="300"/>
              </a:spcAft>
            </a:pPr>
            <a:r>
              <a:rPr sz="1600" b="0">
                <a:solidFill>
                  <a:srgbClr val="5A6672"/>
                </a:solidFill>
                <a:latin typeface="Malgun Gothic"/>
              </a:rPr>
              <a:t>    –  BOOLEAN · RECORD · 연관 배열 등 PL/SQL 전용 타입은 사용할 수 없다</a:t>
            </a:r>
          </a:p>
          <a:p>
            <a:pPr>
              <a:spcAft>
                <a:spcPts val="500"/>
              </a:spcAft>
            </a:pPr>
            <a:r>
              <a:rPr sz="1800" b="0">
                <a:solidFill>
                  <a:srgbClr val="202830"/>
                </a:solidFill>
                <a:latin typeface="Malgun Gothic"/>
              </a:rPr>
              <a:t>•  소유자이거나 EXECUTE 권한을 가지고 있어야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자주 걸리는 함정: </a:t>
            </a:r>
            <a:r>
              <a:rPr sz="1250" b="0">
                <a:solidFill>
                  <a:srgbClr val="202830"/>
                </a:solidFill>
                <a:latin typeface="Malgun Gothic"/>
              </a:rPr>
              <a:t>BOOLEAN 반환 함수는 SQL 에서 호출할 수 없다. 'Y'/'N' 이나 1/0 으로 바꾼다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순수성 규칙과 ORA-14551</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질의 안에서 호출된 함수는 DML 을 수행할 수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(오류 상황) SELECT 안에서 호출된 함수가 DML 을 수행한다</a:t>
            </a:r>
          </a:p>
          <a:p>
            <a:pPr>
              <a:spcAft>
                <a:spcPts val="0"/>
              </a:spcAft>
            </a:pPr>
            <a:r>
              <a:rPr sz="1250" b="0">
                <a:solidFill>
                  <a:srgbClr val="E6E6E6"/>
                </a:solidFill>
                <a:latin typeface="Consolas"/>
              </a:rPr>
              <a:t>CREATE OR REPLACE FUNCTION get_grade_log (p_sal IN NUMBER) RETURN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INSERT INTO fn_call_log(called_at, arg_value)</a:t>
            </a:r>
          </a:p>
          <a:p>
            <a:pPr>
              <a:spcAft>
                <a:spcPts val="0"/>
              </a:spcAft>
            </a:pPr>
            <a:r>
              <a:rPr sz="1250" b="0">
                <a:solidFill>
                  <a:srgbClr val="E6E6E6"/>
                </a:solidFill>
                <a:latin typeface="Consolas"/>
              </a:rPr>
              <a:t>        VALUES (SYSTIMESTAMP, p_sal);</a:t>
            </a:r>
          </a:p>
          <a:p>
            <a:pPr>
              <a:spcAft>
                <a:spcPts val="0"/>
              </a:spcAft>
            </a:pPr>
            <a:r>
              <a:rPr sz="1250" b="0">
                <a:solidFill>
                  <a:srgbClr val="E6E6E6"/>
                </a:solidFill>
                <a:latin typeface="Consolas"/>
              </a:rPr>
              <a:t>   RETURN CASE WHEN p_sal &gt;= 10000 THEN 'A' ELSE 'B' END;</a:t>
            </a:r>
          </a:p>
          <a:p>
            <a:pPr>
              <a:spcAft>
                <a:spcPts val="0"/>
              </a:spcAft>
            </a:pPr>
            <a:r>
              <a:rPr sz="1250" b="0">
                <a:solidFill>
                  <a:srgbClr val="E6E6E6"/>
                </a:solidFill>
                <a:latin typeface="Consolas"/>
              </a:rPr>
              <a:t>END get_grade_log;</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SELECT last_name, get_grade_log(salary) FROM employees WHERE rownum &lt;= 3;</a:t>
            </a:r>
          </a:p>
          <a:p>
            <a:pPr>
              <a:spcAft>
                <a:spcPts val="0"/>
              </a:spcAft>
            </a:pPr>
            <a:r>
              <a:rPr sz="1250" b="0">
                <a:solidFill>
                  <a:srgbClr val="7EC699"/>
                </a:solidFill>
                <a:latin typeface="Consolas"/>
              </a:rPr>
              <a:t>-- ORA-14551: cannot perform a DML operation inside a query</a:t>
            </a:r>
          </a:p>
          <a:p>
            <a:pPr>
              <a:spcAft>
                <a:spcPts val="0"/>
              </a:spcAft>
            </a:pPr>
            <a:r>
              <a:rPr sz="1250" b="0">
                <a:solidFill>
                  <a:srgbClr val="7EC699"/>
                </a:solidFill>
                <a:latin typeface="Consolas"/>
              </a:rPr>
              <a:t>-- ORA-06512: at "HR.GET_GRADE_LOG", line 4</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(수정) 로그 기록을 자율 트랜잭션으로 분리한다</a:t>
            </a:r>
          </a:p>
          <a:p>
            <a:pPr>
              <a:spcAft>
                <a:spcPts val="0"/>
              </a:spcAft>
            </a:pPr>
            <a:r>
              <a:rPr sz="1250" b="0">
                <a:solidFill>
                  <a:srgbClr val="E6E6E6"/>
                </a:solidFill>
                <a:latin typeface="Consolas"/>
              </a:rPr>
              <a:t>CREATE OR REPLACE FUNCTION get_grade_log (p_sal IN NUMBER) RETURN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   PRAGMA AUTONOMOUS_TRANSACTION;      -- 본체와 독립된 트랜잭션</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INSERT INTO fn_call_log(called_at, arg_value)</a:t>
            </a:r>
          </a:p>
          <a:p>
            <a:pPr>
              <a:spcAft>
                <a:spcPts val="0"/>
              </a:spcAft>
            </a:pPr>
            <a:r>
              <a:rPr sz="1250" b="0">
                <a:solidFill>
                  <a:srgbClr val="E6E6E6"/>
                </a:solidFill>
                <a:latin typeface="Consolas"/>
              </a:rPr>
              <a:t>        VALUES (SYSTIMESTAMP, p_sal);</a:t>
            </a:r>
          </a:p>
          <a:p>
            <a:pPr>
              <a:spcAft>
                <a:spcPts val="0"/>
              </a:spcAft>
            </a:pPr>
            <a:r>
              <a:rPr sz="1250" b="0">
                <a:solidFill>
                  <a:srgbClr val="E6E6E6"/>
                </a:solidFill>
                <a:latin typeface="Consolas"/>
              </a:rPr>
              <a:t>   COMMIT;                             -- 자율 트랜잭션은 스스로 종료해야 한다</a:t>
            </a:r>
          </a:p>
          <a:p>
            <a:pPr>
              <a:spcAft>
                <a:spcPts val="0"/>
              </a:spcAft>
            </a:pPr>
            <a:r>
              <a:rPr sz="1250" b="0">
                <a:solidFill>
                  <a:srgbClr val="E6E6E6"/>
                </a:solidFill>
                <a:latin typeface="Consolas"/>
              </a:rPr>
              <a:t>   RETURN CASE WHEN p_sal &gt;= 10000 THEN 'A' ELSE 'B' END;</a:t>
            </a:r>
          </a:p>
          <a:p>
            <a:pPr>
              <a:spcAft>
                <a:spcPts val="0"/>
              </a:spcAft>
            </a:pPr>
            <a:r>
              <a:rPr sz="1250" b="0">
                <a:solidFill>
                  <a:srgbClr val="E6E6E6"/>
                </a:solidFill>
                <a:latin typeface="Consolas"/>
              </a:rPr>
              <a:t>END get_grade_log;</a:t>
            </a:r>
          </a:p>
          <a:p>
            <a:pPr>
              <a:spcAft>
                <a:spcPts val="0"/>
              </a:spcAft>
            </a:pPr>
            <a:r>
              <a:rPr sz="1250" b="0">
                <a:solidFill>
                  <a:srgbClr val="E6E6E6"/>
                </a:solidFill>
                <a:latin typeface="Consolas"/>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SQL에서 함수를 부를 때의 성능</a:t>
            </a:r>
          </a:p>
        </p:txBody>
      </p:sp>
      <p:sp>
        <p:nvSpPr>
          <p:cNvPr id="4" name="TextBox 3"/>
          <p:cNvSpPr txBox="1"/>
          <p:nvPr/>
        </p:nvSpPr>
        <p:spPr>
          <a:xfrm>
            <a:off x="640080" y="1234440"/>
            <a:ext cx="10881360" cy="4000000"/>
          </a:xfrm>
          <a:prstGeom prst="rect">
            <a:avLst/>
          </a:prstGeom>
          <a:noFill/>
        </p:spPr>
        <p:txBody>
          <a:bodyPr wrap="square">
            <a:spAutoFit/>
          </a:bodyPr>
          <a:lstStyle/>
          <a:p>
            <a:pPr>
              <a:spcAft>
                <a:spcPts val="500"/>
              </a:spcAft>
            </a:pPr>
            <a:r>
              <a:rPr sz="1800" b="0">
                <a:solidFill>
                  <a:srgbClr val="202830"/>
                </a:solidFill>
                <a:latin typeface="Malgun Gothic"/>
              </a:rPr>
              <a:t>•  함수는 결과 행마다 호출된다 — 10만 행이면 10만 번의 컨텍스트 스위치</a:t>
            </a:r>
          </a:p>
          <a:p>
            <a:pPr>
              <a:spcAft>
                <a:spcPts val="500"/>
              </a:spcAft>
            </a:pPr>
            <a:r>
              <a:rPr sz="1800" b="0">
                <a:solidFill>
                  <a:srgbClr val="202830"/>
                </a:solidFill>
                <a:latin typeface="Malgun Gothic"/>
              </a:rPr>
              <a:t>•  DETERMINISTIC — 같은 입력에 항상 같은 값을 돌려주는 함수임을 선언</a:t>
            </a:r>
          </a:p>
          <a:p>
            <a:pPr>
              <a:spcAft>
                <a:spcPts val="300"/>
              </a:spcAft>
            </a:pPr>
            <a:r>
              <a:rPr sz="1600" b="0">
                <a:solidFill>
                  <a:srgbClr val="5A6672"/>
                </a:solidFill>
                <a:latin typeface="Malgun Gothic"/>
              </a:rPr>
              <a:t>    –  옵티마이저가 결과를 재사용하고 함수 기반 인덱스를 만들 수 있다</a:t>
            </a:r>
          </a:p>
          <a:p>
            <a:pPr>
              <a:spcAft>
                <a:spcPts val="500"/>
              </a:spcAft>
            </a:pPr>
            <a:r>
              <a:rPr sz="1800" b="0">
                <a:solidFill>
                  <a:srgbClr val="202830"/>
                </a:solidFill>
                <a:latin typeface="Malgun Gothic"/>
              </a:rPr>
              <a:t>•  RESULT_CACHE — 서버 결과 캐시에 반환값을 보관한다</a:t>
            </a:r>
          </a:p>
          <a:p>
            <a:pPr>
              <a:spcAft>
                <a:spcPts val="300"/>
              </a:spcAft>
            </a:pPr>
            <a:r>
              <a:rPr sz="1600" b="0">
                <a:solidFill>
                  <a:srgbClr val="5A6672"/>
                </a:solidFill>
                <a:latin typeface="Malgun Gothic"/>
              </a:rPr>
              <a:t>    –  참조 테이블이 바뀌면 캐시가 자동으로 무효화된다</a:t>
            </a:r>
          </a:p>
          <a:p>
            <a:pPr>
              <a:spcAft>
                <a:spcPts val="500"/>
              </a:spcAft>
            </a:pPr>
            <a:r>
              <a:rPr sz="1800" b="0">
                <a:solidFill>
                  <a:srgbClr val="202830"/>
                </a:solidFill>
                <a:latin typeface="Malgun Gothic"/>
              </a:rPr>
              <a:t>•  PARALLEL_ENABLE — 병렬 질의에서 안전하게 호출할 수 있음을 선언</a:t>
            </a:r>
          </a:p>
          <a:p>
            <a:pPr>
              <a:spcAft>
                <a:spcPts val="500"/>
              </a:spcAft>
            </a:pPr>
            <a:r>
              <a:rPr sz="1800" b="0">
                <a:solidFill>
                  <a:srgbClr val="202830"/>
                </a:solidFill>
                <a:latin typeface="Malgun Gothic"/>
              </a:rPr>
              <a:t>•  19c 의 WITH FUNCTION — SELECT 문 앞에 인라인 함수를 정의한다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DETERMINISTIC 은 오라클이 검증해 주지 않는다. 실제로 결정적이지 않은 함수에 붙이면 결과가 틀어진다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4.12~4.13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로컬 변수와 중첩 서브프로그램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로컬 변수의 스코프와 생명주기</a:t>
            </a:r>
          </a:p>
          <a:p>
            <a:pPr>
              <a:spcAft>
                <a:spcPts val="600"/>
              </a:spcAft>
            </a:pPr>
            <a:r>
              <a:rPr sz="1600" b="0">
                <a:solidFill>
                  <a:srgbClr val="C5CED6"/>
                </a:solidFill>
                <a:latin typeface="Malgun Gothic"/>
              </a:rPr>
              <a:t>•  이름 충돌 — 파라미터와 컬럼명이 같을 때</a:t>
            </a:r>
          </a:p>
          <a:p>
            <a:pPr>
              <a:spcAft>
                <a:spcPts val="600"/>
              </a:spcAft>
            </a:pPr>
            <a:r>
              <a:rPr sz="1600" b="0">
                <a:solidFill>
                  <a:srgbClr val="C5CED6"/>
                </a:solidFill>
                <a:latin typeface="Malgun Gothic"/>
              </a:rPr>
              <a:t>•  중첩 서브프로그램과 전방 선언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로컬 변수와 스코프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IS 와 BEGIN 사이에 선언한 항목이 로컬 항목이다</a:t>
            </a:r>
          </a:p>
          <a:p>
            <a:pPr>
              <a:spcAft>
                <a:spcPts val="300"/>
              </a:spcAft>
            </a:pPr>
            <a:r>
              <a:rPr sz="1600" b="0">
                <a:solidFill>
                  <a:srgbClr val="5A6672"/>
                </a:solidFill>
                <a:latin typeface="Malgun Gothic"/>
              </a:rPr>
              <a:t>    –  변수 · 상수 · 커서 · 예외 · 중첩 서브프로그램</a:t>
            </a:r>
          </a:p>
          <a:p>
            <a:pPr>
              <a:spcAft>
                <a:spcPts val="500"/>
              </a:spcAft>
            </a:pPr>
            <a:r>
              <a:rPr sz="1800" b="0">
                <a:solidFill>
                  <a:srgbClr val="202830"/>
                </a:solidFill>
                <a:latin typeface="Malgun Gothic"/>
              </a:rPr>
              <a:t>•  생명주기 : 호출될 때 생성되고 종료될 때 소멸한다</a:t>
            </a:r>
          </a:p>
          <a:p>
            <a:pPr>
              <a:spcAft>
                <a:spcPts val="300"/>
              </a:spcAft>
            </a:pPr>
            <a:r>
              <a:rPr sz="1600" b="0">
                <a:solidFill>
                  <a:srgbClr val="5A6672"/>
                </a:solidFill>
                <a:latin typeface="Malgun Gothic"/>
              </a:rPr>
              <a:t>    –  호출 사이에 값이 유지되지 않는다</a:t>
            </a:r>
          </a:p>
          <a:p>
            <a:pPr>
              <a:spcAft>
                <a:spcPts val="300"/>
              </a:spcAft>
            </a:pPr>
            <a:r>
              <a:rPr sz="1600" b="0">
                <a:solidFill>
                  <a:srgbClr val="5A6672"/>
                </a:solidFill>
                <a:latin typeface="Malgun Gothic"/>
              </a:rPr>
              <a:t>    –  두 세션이 동시에 호출해도 각자 별도의 인스턴스를 갖는다</a:t>
            </a:r>
          </a:p>
          <a:p>
            <a:pPr>
              <a:spcAft>
                <a:spcPts val="300"/>
              </a:spcAft>
            </a:pPr>
            <a:r>
              <a:rPr sz="1600" b="0">
                <a:solidFill>
                  <a:srgbClr val="5A6672"/>
                </a:solidFill>
                <a:latin typeface="Malgun Gothic"/>
              </a:rPr>
              <a:t>    –  세션 단위로 상태를 유지하려면 5장의 패키지 변수를 사용한다</a:t>
            </a:r>
          </a:p>
          <a:p>
            <a:pPr>
              <a:spcAft>
                <a:spcPts val="500"/>
              </a:spcAft>
            </a:pPr>
            <a:r>
              <a:rPr sz="1800" b="0">
                <a:solidFill>
                  <a:srgbClr val="202830"/>
                </a:solidFill>
                <a:latin typeface="Malgun Gothic"/>
              </a:rPr>
              <a:t>•  안쪽 블록에서 같은 이름을 선언하면 바깥 이름을 가린다</a:t>
            </a:r>
          </a:p>
          <a:p>
            <a:pPr>
              <a:spcAft>
                <a:spcPts val="300"/>
              </a:spcAft>
            </a:pPr>
            <a:r>
              <a:rPr sz="1600" b="0">
                <a:solidFill>
                  <a:srgbClr val="5A6672"/>
                </a:solidFill>
                <a:latin typeface="Malgun Gothic"/>
              </a:rPr>
              <a:t>    –  블록에 레이블을 붙이면 레이블.변수명 으로 바깥 변수를 참조할 수 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이름 충돌 사고</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 문 안에서는 컬럼이 파라미터보다 우선한다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(오류 상황) 파라미터 이름이 컬럼 이름과 같다</a:t>
            </a:r>
          </a:p>
          <a:p>
            <a:pPr>
              <a:spcAft>
                <a:spcPts val="0"/>
              </a:spcAft>
            </a:pPr>
            <a:r>
              <a:rPr sz="1250" b="0">
                <a:solidFill>
                  <a:srgbClr val="E6E6E6"/>
                </a:solidFill>
                <a:latin typeface="Consolas"/>
              </a:rPr>
              <a:t>CREATE OR REPLACE PROCEDURE del_emp (last_name IN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DELETE FROM employees WHERE last_name = last_name;  -- 항상 참!</a:t>
            </a:r>
          </a:p>
          <a:p>
            <a:pPr>
              <a:spcAft>
                <a:spcPts val="0"/>
              </a:spcAft>
            </a:pPr>
            <a:r>
              <a:rPr sz="1250" b="0">
                <a:solidFill>
                  <a:srgbClr val="E6E6E6"/>
                </a:solidFill>
                <a:latin typeface="Consolas"/>
              </a:rPr>
              <a:t>   DBMS_OUTPUT.PUT_LINE(SQL%ROWCOUNT || ' 건 삭제');</a:t>
            </a:r>
          </a:p>
          <a:p>
            <a:pPr>
              <a:spcAft>
                <a:spcPts val="0"/>
              </a:spcAft>
            </a:pPr>
            <a:r>
              <a:rPr sz="1250" b="0">
                <a:solidFill>
                  <a:srgbClr val="E6E6E6"/>
                </a:solidFill>
                <a:latin typeface="Consolas"/>
              </a:rPr>
              <a:t>END del_emp;</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EXEC del_emp('King');</a:t>
            </a:r>
          </a:p>
          <a:p>
            <a:pPr>
              <a:spcAft>
                <a:spcPts val="0"/>
              </a:spcAft>
            </a:pPr>
            <a:r>
              <a:rPr sz="1250" b="0">
                <a:solidFill>
                  <a:srgbClr val="7EC699"/>
                </a:solidFill>
                <a:latin typeface="Consolas"/>
              </a:rPr>
              <a:t>-- 107 건 삭제                    &lt;- 테이블 전체가 삭제되었다</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(수정) 접두사로 이름 충돌을 없앤다</a:t>
            </a:r>
          </a:p>
          <a:p>
            <a:pPr>
              <a:spcAft>
                <a:spcPts val="0"/>
              </a:spcAft>
            </a:pPr>
            <a:r>
              <a:rPr sz="1250" b="0">
                <a:solidFill>
                  <a:srgbClr val="E6E6E6"/>
                </a:solidFill>
                <a:latin typeface="Consolas"/>
              </a:rPr>
              <a:t>CREATE OR REPLACE PROCEDURE del_emp (p_last_name IN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DELETE FROM employees WHERE last_name = p_last_name;</a:t>
            </a:r>
          </a:p>
          <a:p>
            <a:pPr>
              <a:spcAft>
                <a:spcPts val="0"/>
              </a:spcAft>
            </a:pPr>
            <a:r>
              <a:rPr sz="1250" b="0">
                <a:solidFill>
                  <a:srgbClr val="E6E6E6"/>
                </a:solidFill>
                <a:latin typeface="Consolas"/>
              </a:rPr>
              <a:t>   DBMS_OUTPUT.PUT_LINE(SQL%ROWCOUNT || ' 건 삭제');</a:t>
            </a:r>
          </a:p>
          <a:p>
            <a:pPr>
              <a:spcAft>
                <a:spcPts val="0"/>
              </a:spcAft>
            </a:pPr>
            <a:r>
              <a:rPr sz="1250" b="0">
                <a:solidFill>
                  <a:srgbClr val="E6E6E6"/>
                </a:solidFill>
                <a:latin typeface="Consolas"/>
              </a:rPr>
              <a:t>END del_emp;</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EXEC del_emp('King');</a:t>
            </a:r>
          </a:p>
          <a:p>
            <a:pPr>
              <a:spcAft>
                <a:spcPts val="0"/>
              </a:spcAft>
            </a:pPr>
            <a:r>
              <a:rPr sz="1250" b="0">
                <a:solidFill>
                  <a:srgbClr val="7EC699"/>
                </a:solidFill>
                <a:latin typeface="Consolas"/>
              </a:rPr>
              <a:t>-- 2 건 삭제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중첩 서브프로그램</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익명 블록이나 다른 서브프로그램의 선언부 안에 정의하는 서브프로그램</a:t>
            </a:r>
          </a:p>
          <a:p>
            <a:pPr>
              <a:spcAft>
                <a:spcPts val="300"/>
              </a:spcAft>
            </a:pPr>
            <a:r>
              <a:rPr sz="1600" b="0">
                <a:solidFill>
                  <a:srgbClr val="5A6672"/>
                </a:solidFill>
                <a:latin typeface="Malgun Gothic"/>
              </a:rPr>
              <a:t>    –  해당 블록 안에서만 호출할 수 있고 데이터 딕셔너리에 객체로 남지 않는다</a:t>
            </a:r>
          </a:p>
          <a:p>
            <a:pPr>
              <a:spcAft>
                <a:spcPts val="300"/>
              </a:spcAft>
            </a:pPr>
            <a:r>
              <a:rPr sz="1600" b="0">
                <a:solidFill>
                  <a:srgbClr val="5A6672"/>
                </a:solidFill>
                <a:latin typeface="Malgun Gothic"/>
              </a:rPr>
              <a:t>    –  한 프로시저 안에서 반복되는 계산을 밖으로 꺼내지 않고 정리할 때 유용하다</a:t>
            </a:r>
          </a:p>
          <a:p>
            <a:pPr>
              <a:spcAft>
                <a:spcPts val="500"/>
              </a:spcAft>
            </a:pPr>
            <a:r>
              <a:rPr sz="1800" b="0">
                <a:solidFill>
                  <a:srgbClr val="202830"/>
                </a:solidFill>
                <a:latin typeface="Malgun Gothic"/>
              </a:rPr>
              <a:t>•  반드시 지켜야 할 두 가지 규칙</a:t>
            </a:r>
          </a:p>
          <a:p>
            <a:pPr>
              <a:spcAft>
                <a:spcPts val="300"/>
              </a:spcAft>
            </a:pPr>
            <a:r>
              <a:rPr sz="1600" b="0">
                <a:solidFill>
                  <a:srgbClr val="5A6672"/>
                </a:solidFill>
                <a:latin typeface="Malgun Gothic"/>
              </a:rPr>
              <a:t>    –  중첩 서브프로그램 선언은 선언부의 가장 마지막에 와야 한다</a:t>
            </a:r>
          </a:p>
          <a:p>
            <a:pPr>
              <a:spcAft>
                <a:spcPts val="300"/>
              </a:spcAft>
            </a:pPr>
            <a:r>
              <a:rPr sz="1600" b="0">
                <a:solidFill>
                  <a:srgbClr val="5A6672"/>
                </a:solidFill>
                <a:latin typeface="Malgun Gothic"/>
              </a:rPr>
              <a:t>    –  그 뒤에 다시 변수를 선언하면 PLS-00103 오류가 발생한다</a:t>
            </a:r>
          </a:p>
          <a:p>
            <a:pPr>
              <a:spcAft>
                <a:spcPts val="500"/>
              </a:spcAft>
            </a:pPr>
            <a:r>
              <a:rPr sz="1800" b="0">
                <a:solidFill>
                  <a:srgbClr val="202830"/>
                </a:solidFill>
                <a:latin typeface="Malgun Gothic"/>
              </a:rPr>
              <a:t>•  선언이 사용보다 먼저여야 한다 — 아니면 PLS-00313</a:t>
            </a:r>
          </a:p>
          <a:p>
            <a:pPr>
              <a:spcAft>
                <a:spcPts val="300"/>
              </a:spcAft>
            </a:pPr>
            <a:r>
              <a:rPr sz="1600" b="0">
                <a:solidFill>
                  <a:srgbClr val="5A6672"/>
                </a:solidFill>
                <a:latin typeface="Malgun Gothic"/>
              </a:rPr>
              <a:t>    –  상호 재귀 구조에는 본문 없이 헤더만 적는 전방 선언을 사용한다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중첩 서브프로그램과 전방 선언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선언부 마지막에 두고, 상호 호출은 전방 선언으로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dept_report (p_dept_id IN NUMBER)</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   v_title   VARCHAR2(60);              -- 변수 선언이 먼저</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FUNCTION fmt_money (p_amt IN NUMBER) RETURN VARCHAR2 IS</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RETURN TO_CHAR(NVL(p_amt, 0), 'FM999,999,999') || ' USD';</a:t>
            </a:r>
          </a:p>
          <a:p>
            <a:pPr>
              <a:spcAft>
                <a:spcPts val="0"/>
              </a:spcAft>
            </a:pPr>
            <a:r>
              <a:rPr sz="1250" b="0">
                <a:solidFill>
                  <a:srgbClr val="E6E6E6"/>
                </a:solidFill>
                <a:latin typeface="Consolas"/>
              </a:rPr>
              <a:t>   END fmt_money;                       -- 중첩 서브프로그램은 그 다음</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'부서 ' || department_name INTO v_title</a:t>
            </a:r>
          </a:p>
          <a:p>
            <a:pPr>
              <a:spcAft>
                <a:spcPts val="0"/>
              </a:spcAft>
            </a:pPr>
            <a:r>
              <a:rPr sz="1250" b="0">
                <a:solidFill>
                  <a:srgbClr val="E6E6E6"/>
                </a:solidFill>
                <a:latin typeface="Consolas"/>
              </a:rPr>
              <a:t>     FROM departments WHERE department_id = p_dept_id;</a:t>
            </a:r>
          </a:p>
          <a:p>
            <a:pPr>
              <a:spcAft>
                <a:spcPts val="0"/>
              </a:spcAft>
            </a:pPr>
            <a:r>
              <a:rPr sz="1250" b="0">
                <a:solidFill>
                  <a:srgbClr val="E6E6E6"/>
                </a:solidFill>
                <a:latin typeface="Consolas"/>
              </a:rPr>
              <a:t>   DBMS_OUTPUT.PUT_LINE(v_title);</a:t>
            </a:r>
          </a:p>
          <a:p>
            <a:pPr>
              <a:spcAft>
                <a:spcPts val="0"/>
              </a:spcAft>
            </a:pPr>
            <a:r>
              <a:rPr sz="1250" b="0">
                <a:solidFill>
                  <a:srgbClr val="E6E6E6"/>
                </a:solidFill>
                <a:latin typeface="Consolas"/>
              </a:rPr>
              <a:t>   FOR r IN (SELECT last_name, salary FROM employees</a:t>
            </a:r>
          </a:p>
          <a:p>
            <a:pPr>
              <a:spcAft>
                <a:spcPts val="0"/>
              </a:spcAft>
            </a:pPr>
            <a:r>
              <a:rPr sz="1250" b="0">
                <a:solidFill>
                  <a:srgbClr val="E6E6E6"/>
                </a:solidFill>
                <a:latin typeface="Consolas"/>
              </a:rPr>
              <a:t>              WHERE department_id = p_dept_id ORDER BY salary DESC) LOOP</a:t>
            </a:r>
          </a:p>
          <a:p>
            <a:pPr>
              <a:spcAft>
                <a:spcPts val="0"/>
              </a:spcAft>
            </a:pPr>
            <a:r>
              <a:rPr sz="1250" b="0">
                <a:solidFill>
                  <a:srgbClr val="E6E6E6"/>
                </a:solidFill>
                <a:latin typeface="Consolas"/>
              </a:rPr>
              <a:t>      DBMS_OUTPUT.PUT_LINE(RPAD(r.last_name, 15) || fmt_money(r.salary));</a:t>
            </a:r>
          </a:p>
          <a:p>
            <a:pPr>
              <a:spcAft>
                <a:spcPts val="0"/>
              </a:spcAft>
            </a:pPr>
            <a:r>
              <a:rPr sz="1250" b="0">
                <a:solidFill>
                  <a:srgbClr val="E6E6E6"/>
                </a:solidFill>
                <a:latin typeface="Consolas"/>
              </a:rPr>
              <a:t>   END LOOP;</a:t>
            </a:r>
          </a:p>
          <a:p>
            <a:pPr>
              <a:spcAft>
                <a:spcPts val="0"/>
              </a:spcAft>
            </a:pPr>
            <a:r>
              <a:rPr sz="1250" b="0">
                <a:solidFill>
                  <a:srgbClr val="E6E6E6"/>
                </a:solidFill>
                <a:latin typeface="Consolas"/>
              </a:rPr>
              <a:t>END dept_report;</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상호 호출에는 전방 선언을 사용한다</a:t>
            </a:r>
          </a:p>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PROCEDURE odd (p_n IN PLS_INTEGER);  -- 본문 없는 전방 선언</a:t>
            </a:r>
          </a:p>
          <a:p>
            <a:pPr>
              <a:spcAft>
                <a:spcPts val="0"/>
              </a:spcAft>
            </a:pPr>
            <a:r>
              <a:rPr sz="1250" b="0">
                <a:solidFill>
                  <a:srgbClr val="E6E6E6"/>
                </a:solidFill>
                <a:latin typeface="Consolas"/>
              </a:rPr>
              <a:t>   PROCEDURE even (p_n IN PLS_INTEGER) IS</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IF p_n &gt; 0 THEN odd(p_n - 1); ELSE DBMS_OUTPUT.PUT_LINE('짝수'); END IF;</a:t>
            </a:r>
          </a:p>
          <a:p>
            <a:pPr>
              <a:spcAft>
                <a:spcPts val="0"/>
              </a:spcAft>
            </a:pPr>
            <a:r>
              <a:rPr sz="1250" b="0">
                <a:solidFill>
                  <a:srgbClr val="E6E6E6"/>
                </a:solidFill>
                <a:latin typeface="Consolas"/>
              </a:rPr>
              <a:t>   END even;</a:t>
            </a:r>
          </a:p>
          <a:p>
            <a:pPr>
              <a:spcAft>
                <a:spcPts val="0"/>
              </a:spcAft>
            </a:pPr>
            <a:r>
              <a:rPr sz="1250" b="0">
                <a:solidFill>
                  <a:srgbClr val="E6E6E6"/>
                </a:solidFill>
                <a:latin typeface="Consolas"/>
              </a:rPr>
              <a:t>   PROCEDURE odd (p_n IN PLS_INTEGER) IS</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IF p_n &gt; 0 THEN even(p_n - 1); ELSE DBMS_OUTPUT.PUT_LINE('홀수'); END IF;</a:t>
            </a:r>
          </a:p>
          <a:p>
            <a:pPr>
              <a:spcAft>
                <a:spcPts val="0"/>
              </a:spcAft>
            </a:pPr>
            <a:r>
              <a:rPr sz="1250" b="0">
                <a:solidFill>
                  <a:srgbClr val="E6E6E6"/>
                </a:solidFill>
                <a:latin typeface="Consolas"/>
              </a:rPr>
              <a:t>   END odd;</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even(6);</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4.14~4.18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컴파일 · 의존성 · 삭제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SHOW ERRORS 와 USER_ERRORS 로 오류 진단</a:t>
            </a:r>
          </a:p>
          <a:p>
            <a:pPr>
              <a:spcAft>
                <a:spcPts val="600"/>
              </a:spcAft>
            </a:pPr>
            <a:r>
              <a:rPr sz="1600" b="0">
                <a:solidFill>
                  <a:srgbClr val="C5CED6"/>
                </a:solidFill>
                <a:latin typeface="Malgun Gothic"/>
              </a:rPr>
              <a:t>•  데이터 딕셔너리로 저장 프로그램 점검</a:t>
            </a:r>
          </a:p>
          <a:p>
            <a:pPr>
              <a:spcAft>
                <a:spcPts val="600"/>
              </a:spcAft>
            </a:pPr>
            <a:r>
              <a:rPr sz="1600" b="0">
                <a:solidFill>
                  <a:srgbClr val="C5CED6"/>
                </a:solidFill>
                <a:latin typeface="Malgun Gothic"/>
              </a:rPr>
              <a:t>•  INVALID 상태와 재컴파일, 삭제와 권한</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컴파일 오류 메시지 읽기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CREATE OR REPLACE 실행 후 오라클이 돌려주는 메시지는 두 가지다</a:t>
            </a:r>
          </a:p>
          <a:p>
            <a:pPr>
              <a:spcAft>
                <a:spcPts val="300"/>
              </a:spcAft>
            </a:pPr>
            <a:r>
              <a:rPr sz="1600" b="0">
                <a:solidFill>
                  <a:srgbClr val="5A6672"/>
                </a:solidFill>
                <a:latin typeface="Malgun Gothic"/>
              </a:rPr>
              <a:t>    –  Procedure created. — 정상</a:t>
            </a:r>
          </a:p>
          <a:p>
            <a:pPr>
              <a:spcAft>
                <a:spcPts val="300"/>
              </a:spcAft>
            </a:pPr>
            <a:r>
              <a:rPr sz="1600" b="0">
                <a:solidFill>
                  <a:srgbClr val="5A6672"/>
                </a:solidFill>
                <a:latin typeface="Malgun Gothic"/>
              </a:rPr>
              <a:t>    –  Warning: Procedure created with compilation errors. — 오류 있음</a:t>
            </a:r>
          </a:p>
          <a:p>
            <a:pPr>
              <a:spcAft>
                <a:spcPts val="500"/>
              </a:spcAft>
            </a:pPr>
            <a:r>
              <a:rPr sz="1800" b="0">
                <a:solidFill>
                  <a:srgbClr val="202830"/>
                </a:solidFill>
                <a:latin typeface="Malgun Gothic"/>
              </a:rPr>
              <a:t>•  두 번째 메시지의 함정 : 객체는 만들어지지만 상태가 INVALID 다</a:t>
            </a:r>
          </a:p>
          <a:p>
            <a:pPr>
              <a:spcAft>
                <a:spcPts val="300"/>
              </a:spcAft>
            </a:pPr>
            <a:r>
              <a:rPr sz="1600" b="0">
                <a:solidFill>
                  <a:srgbClr val="5A6672"/>
                </a:solidFill>
                <a:latin typeface="Malgun Gothic"/>
              </a:rPr>
              <a:t>    –  호출하면 PLS-00905: object HR.XXX is invalid 가 발생한다</a:t>
            </a:r>
          </a:p>
          <a:p>
            <a:pPr>
              <a:spcAft>
                <a:spcPts val="300"/>
              </a:spcAft>
            </a:pPr>
            <a:r>
              <a:rPr sz="1600" b="0">
                <a:solidFill>
                  <a:srgbClr val="5A6672"/>
                </a:solidFill>
                <a:latin typeface="Malgun Gothic"/>
              </a:rPr>
              <a:t>    –  SQL*Plus 는 이 한 줄만 출력하고 원인은 알려 주지 않는다</a:t>
            </a:r>
          </a:p>
          <a:p>
            <a:pPr>
              <a:spcAft>
                <a:spcPts val="500"/>
              </a:spcAft>
            </a:pPr>
            <a:r>
              <a:rPr sz="1800" b="0">
                <a:solidFill>
                  <a:srgbClr val="202830"/>
                </a:solidFill>
                <a:latin typeface="Malgun Gothic"/>
              </a:rPr>
              <a:t>•  원인 확인 : SHOW ERRORS 또는 USER_ERRORS 조회</a:t>
            </a:r>
          </a:p>
          <a:p>
            <a:pPr>
              <a:spcAft>
                <a:spcPts val="300"/>
              </a:spcAft>
            </a:pPr>
            <a:r>
              <a:rPr sz="1600" b="0">
                <a:solidFill>
                  <a:srgbClr val="5A6672"/>
                </a:solidFill>
                <a:latin typeface="Malgun Gothic"/>
              </a:rPr>
              <a:t>    –  SHOW ERRORS 는 방금 컴파일한 객체, SHOW ERRORS PROCEDURE 이름 은 지정 객체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SHOW ERRORS 와 USER_ERRORS</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오류의 정확한 줄·컬럼 위치를 확인한다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(오류 상황) 컬럼명·변수명 오타</a:t>
            </a:r>
          </a:p>
          <a:p>
            <a:pPr>
              <a:spcAft>
                <a:spcPts val="0"/>
              </a:spcAft>
            </a:pPr>
            <a:r>
              <a:rPr sz="1250" b="0">
                <a:solidFill>
                  <a:srgbClr val="E6E6E6"/>
                </a:solidFill>
                <a:latin typeface="Consolas"/>
              </a:rPr>
              <a:t>CREATE OR REPLACE PROCEDURE show_emp (p_emp_id IN NUMBER)</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   v_name   VARCHAR2(50);</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first_nam || ' ' || last_name    -- first_name 오타</a:t>
            </a:r>
          </a:p>
          <a:p>
            <a:pPr>
              <a:spcAft>
                <a:spcPts val="0"/>
              </a:spcAft>
            </a:pPr>
            <a:r>
              <a:rPr sz="1250" b="0">
                <a:solidFill>
                  <a:srgbClr val="E6E6E6"/>
                </a:solidFill>
                <a:latin typeface="Consolas"/>
              </a:rPr>
              <a:t>     INTO v_name FROM employees WHERE employee_id = p_emp_id;</a:t>
            </a:r>
          </a:p>
          <a:p>
            <a:pPr>
              <a:spcAft>
                <a:spcPts val="0"/>
              </a:spcAft>
            </a:pPr>
            <a:r>
              <a:rPr sz="1250" b="0">
                <a:solidFill>
                  <a:srgbClr val="E6E6E6"/>
                </a:solidFill>
                <a:latin typeface="Consolas"/>
              </a:rPr>
              <a:t>   DBMS_OUTPUT.PUT_LINE(v_nam);            -- v_name 오타</a:t>
            </a:r>
          </a:p>
          <a:p>
            <a:pPr>
              <a:spcAft>
                <a:spcPts val="0"/>
              </a:spcAft>
            </a:pPr>
            <a:r>
              <a:rPr sz="1250" b="0">
                <a:solidFill>
                  <a:srgbClr val="E6E6E6"/>
                </a:solidFill>
                <a:latin typeface="Consolas"/>
              </a:rPr>
              <a:t>END show_emp;</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Warning: Procedure created with compilation errors.</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SHOW ERRORS</a:t>
            </a:r>
          </a:p>
          <a:p>
            <a:pPr>
              <a:spcAft>
                <a:spcPts val="0"/>
              </a:spcAft>
            </a:pPr>
            <a:r>
              <a:rPr sz="1250" b="0">
                <a:solidFill>
                  <a:srgbClr val="7EC699"/>
                </a:solidFill>
                <a:latin typeface="Consolas"/>
              </a:rPr>
              <a:t>-- LINE/COL ERROR</a:t>
            </a:r>
          </a:p>
          <a:p>
            <a:pPr>
              <a:spcAft>
                <a:spcPts val="0"/>
              </a:spcAft>
            </a:pPr>
            <a:r>
              <a:rPr sz="1250" b="0">
                <a:solidFill>
                  <a:srgbClr val="7EC699"/>
                </a:solidFill>
                <a:latin typeface="Consolas"/>
              </a:rPr>
              <a:t>-- -------- --------------------------------------------------------</a:t>
            </a:r>
          </a:p>
          <a:p>
            <a:pPr>
              <a:spcAft>
                <a:spcPts val="0"/>
              </a:spcAft>
            </a:pPr>
            <a:r>
              <a:rPr sz="1250" b="0">
                <a:solidFill>
                  <a:srgbClr val="7EC699"/>
                </a:solidFill>
                <a:latin typeface="Consolas"/>
              </a:rPr>
              <a:t>-- 5/4      PL/SQL: SQL Statement ignored</a:t>
            </a:r>
          </a:p>
          <a:p>
            <a:pPr>
              <a:spcAft>
                <a:spcPts val="0"/>
              </a:spcAft>
            </a:pPr>
            <a:r>
              <a:rPr sz="1250" b="0">
                <a:solidFill>
                  <a:srgbClr val="7EC699"/>
                </a:solidFill>
                <a:latin typeface="Consolas"/>
              </a:rPr>
              <a:t>-- 5/11     PL/SQL: ORA-00904: "FIRST_NAM": invalid identifier</a:t>
            </a:r>
          </a:p>
          <a:p>
            <a:pPr>
              <a:spcAft>
                <a:spcPts val="0"/>
              </a:spcAft>
            </a:pPr>
            <a:r>
              <a:rPr sz="1250" b="0">
                <a:solidFill>
                  <a:srgbClr val="7EC699"/>
                </a:solidFill>
                <a:latin typeface="Consolas"/>
              </a:rPr>
              <a:t>-- 8/4      PL/SQL: Statement ignored</a:t>
            </a:r>
          </a:p>
          <a:p>
            <a:pPr>
              <a:spcAft>
                <a:spcPts val="0"/>
              </a:spcAft>
            </a:pPr>
            <a:r>
              <a:rPr sz="1250" b="0">
                <a:solidFill>
                  <a:srgbClr val="7EC699"/>
                </a:solidFill>
                <a:latin typeface="Consolas"/>
              </a:rPr>
              <a:t>-- 8/25     PLS-00201: identifier 'V_NAM' must be declared</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SELECT line, position, text FROM user_errors</a:t>
            </a:r>
          </a:p>
          <a:p>
            <a:pPr>
              <a:spcAft>
                <a:spcPts val="0"/>
              </a:spcAft>
            </a:pPr>
            <a:r>
              <a:rPr sz="1250" b="0">
                <a:solidFill>
                  <a:srgbClr val="E6E6E6"/>
                </a:solidFill>
                <a:latin typeface="Consolas"/>
              </a:rPr>
              <a:t> WHERE name = 'SHOW_EMP' AND type = 'PROCEDURE' ORDER BY sequence;</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EXEC show_emp(100);</a:t>
            </a:r>
          </a:p>
          <a:p>
            <a:pPr>
              <a:spcAft>
                <a:spcPts val="0"/>
              </a:spcAft>
            </a:pPr>
            <a:r>
              <a:rPr sz="1250" b="0">
                <a:solidFill>
                  <a:srgbClr val="7EC699"/>
                </a:solidFill>
                <a:latin typeface="Consolas"/>
              </a:rPr>
              <a:t>-- PLS-00905: object HR.SHOW_EMP is invalid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 딕셔너리로 점검하기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USER_OBJECTS · USER_ARGUMENTS · USER_SOURCE · USER_DEPENDENCIES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내 스키마의 프로시저·함수 목록과 상태</a:t>
            </a:r>
          </a:p>
          <a:p>
            <a:pPr>
              <a:spcAft>
                <a:spcPts val="0"/>
              </a:spcAft>
            </a:pPr>
            <a:r>
              <a:rPr sz="1250" b="0">
                <a:solidFill>
                  <a:srgbClr val="E6E6E6"/>
                </a:solidFill>
                <a:latin typeface="Consolas"/>
              </a:rPr>
              <a:t>SELECT object_name, object_type, status,</a:t>
            </a:r>
          </a:p>
          <a:p>
            <a:pPr>
              <a:spcAft>
                <a:spcPts val="0"/>
              </a:spcAft>
            </a:pPr>
            <a:r>
              <a:rPr sz="1250" b="0">
                <a:solidFill>
                  <a:srgbClr val="E6E6E6"/>
                </a:solidFill>
                <a:latin typeface="Consolas"/>
              </a:rPr>
              <a:t>       TO_CHAR(last_ddl_time, 'YYYY-MM-DD HH24:MI') AS last_ddl</a:t>
            </a:r>
          </a:p>
          <a:p>
            <a:pPr>
              <a:spcAft>
                <a:spcPts val="0"/>
              </a:spcAft>
            </a:pPr>
            <a:r>
              <a:rPr sz="1250" b="0">
                <a:solidFill>
                  <a:srgbClr val="E6E6E6"/>
                </a:solidFill>
                <a:latin typeface="Consolas"/>
              </a:rPr>
              <a:t>  FROM user_objects</a:t>
            </a:r>
          </a:p>
          <a:p>
            <a:pPr>
              <a:spcAft>
                <a:spcPts val="0"/>
              </a:spcAft>
            </a:pPr>
            <a:r>
              <a:rPr sz="1250" b="0">
                <a:solidFill>
                  <a:srgbClr val="E6E6E6"/>
                </a:solidFill>
                <a:latin typeface="Consolas"/>
              </a:rPr>
              <a:t> WHERE object_type IN ('PROCEDURE', 'FUNCTION')</a:t>
            </a:r>
          </a:p>
          <a:p>
            <a:pPr>
              <a:spcAft>
                <a:spcPts val="0"/>
              </a:spcAft>
            </a:pPr>
            <a:r>
              <a:rPr sz="1250" b="0">
                <a:solidFill>
                  <a:srgbClr val="E6E6E6"/>
                </a:solidFill>
                <a:latin typeface="Consolas"/>
              </a:rPr>
              <a:t> ORDER BY object_type, object_name;</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파라미터 인터페이스 확인</a:t>
            </a:r>
          </a:p>
          <a:p>
            <a:pPr>
              <a:spcAft>
                <a:spcPts val="0"/>
              </a:spcAft>
            </a:pPr>
            <a:r>
              <a:rPr sz="1250" b="0">
                <a:solidFill>
                  <a:srgbClr val="E6E6E6"/>
                </a:solidFill>
                <a:latin typeface="Consolas"/>
              </a:rPr>
              <a:t>SELECT object_name, argument_name, position, data_type, in_out, defaulted</a:t>
            </a:r>
          </a:p>
          <a:p>
            <a:pPr>
              <a:spcAft>
                <a:spcPts val="0"/>
              </a:spcAft>
            </a:pPr>
            <a:r>
              <a:rPr sz="1250" b="0">
                <a:solidFill>
                  <a:srgbClr val="E6E6E6"/>
                </a:solidFill>
                <a:latin typeface="Consolas"/>
              </a:rPr>
              <a:t>  FROM user_arguments WHERE object_name = 'GET_DEPT_STAT' ORDER BY position;</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특정 문자열을 사용하는 프로그램 전수 검색</a:t>
            </a:r>
          </a:p>
          <a:p>
            <a:pPr>
              <a:spcAft>
                <a:spcPts val="0"/>
              </a:spcAft>
            </a:pPr>
            <a:r>
              <a:rPr sz="1250" b="0">
                <a:solidFill>
                  <a:srgbClr val="E6E6E6"/>
                </a:solidFill>
                <a:latin typeface="Consolas"/>
              </a:rPr>
              <a:t>SELECT name, type, line, TRIM(text) AS src</a:t>
            </a:r>
          </a:p>
          <a:p>
            <a:pPr>
              <a:spcAft>
                <a:spcPts val="0"/>
              </a:spcAft>
            </a:pPr>
            <a:r>
              <a:rPr sz="1250" b="0">
                <a:solidFill>
                  <a:srgbClr val="E6E6E6"/>
                </a:solidFill>
                <a:latin typeface="Consolas"/>
              </a:rPr>
              <a:t>  FROM user_source WHERE UPPER(text) LIKE '%COMMIT%' ORDER BY name, line;</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EMPLOYEES 에 의존하는 객체 (변경 영향도 분석)</a:t>
            </a:r>
          </a:p>
          <a:p>
            <a:pPr>
              <a:spcAft>
                <a:spcPts val="0"/>
              </a:spcAft>
            </a:pPr>
            <a:r>
              <a:rPr sz="1250" b="0">
                <a:solidFill>
                  <a:srgbClr val="E6E6E6"/>
                </a:solidFill>
                <a:latin typeface="Consolas"/>
              </a:rPr>
              <a:t>SELECT name, type, referenced_name, referenced_type</a:t>
            </a:r>
          </a:p>
          <a:p>
            <a:pPr>
              <a:spcAft>
                <a:spcPts val="0"/>
              </a:spcAft>
            </a:pPr>
            <a:r>
              <a:rPr sz="1250" b="0">
                <a:solidFill>
                  <a:srgbClr val="E6E6E6"/>
                </a:solidFill>
                <a:latin typeface="Consolas"/>
              </a:rPr>
              <a:t>  FROM user_dependencies WHERE referenced_name = 'EMPLOYEES';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의존성과 INVALID 상태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서브프로그램이 테이블·뷰·다른 서브프로그램을 참조하면 의존성이 기록된다</a:t>
            </a:r>
          </a:p>
          <a:p>
            <a:pPr>
              <a:spcAft>
                <a:spcPts val="500"/>
              </a:spcAft>
            </a:pPr>
            <a:r>
              <a:rPr sz="1800" b="0">
                <a:solidFill>
                  <a:srgbClr val="202830"/>
                </a:solidFill>
                <a:latin typeface="Malgun Gothic"/>
              </a:rPr>
              <a:t>•  참조 대상이 변경되면 의존 객체가 자동으로 INVALID 가 된다</a:t>
            </a:r>
          </a:p>
          <a:p>
            <a:pPr>
              <a:spcAft>
                <a:spcPts val="300"/>
              </a:spcAft>
            </a:pPr>
            <a:r>
              <a:rPr sz="1600" b="0">
                <a:solidFill>
                  <a:srgbClr val="5A6672"/>
                </a:solidFill>
                <a:latin typeface="Malgun Gothic"/>
              </a:rPr>
              <a:t>    –  컬럼 추가·삭제·자료형 변경, 참조 객체의 DROP 후 재생성 등</a:t>
            </a:r>
          </a:p>
          <a:p>
            <a:pPr>
              <a:spcAft>
                <a:spcPts val="300"/>
              </a:spcAft>
            </a:pPr>
            <a:r>
              <a:rPr sz="1600" b="0">
                <a:solidFill>
                  <a:srgbClr val="5A6672"/>
                </a:solidFill>
                <a:latin typeface="Malgun Gothic"/>
              </a:rPr>
              <a:t>    –  11g 이후의 세밀한 의존성 추적으로 무효화 범위는 많이 줄었다</a:t>
            </a:r>
          </a:p>
          <a:p>
            <a:pPr>
              <a:spcAft>
                <a:spcPts val="500"/>
              </a:spcAft>
            </a:pPr>
            <a:r>
              <a:rPr sz="1800" b="0">
                <a:solidFill>
                  <a:srgbClr val="202830"/>
                </a:solidFill>
                <a:latin typeface="Malgun Gothic"/>
              </a:rPr>
              <a:t>•  INVALID 객체를 호출하면 오라클이 먼저 자동 재컴파일을 시도한다</a:t>
            </a:r>
          </a:p>
          <a:p>
            <a:pPr>
              <a:spcAft>
                <a:spcPts val="300"/>
              </a:spcAft>
            </a:pPr>
            <a:r>
              <a:rPr sz="1600" b="0">
                <a:solidFill>
                  <a:srgbClr val="5A6672"/>
                </a:solidFill>
                <a:latin typeface="Malgun Gothic"/>
              </a:rPr>
              <a:t>    –  성공하면 정상 처리되고 VALID 로 돌아간다</a:t>
            </a:r>
          </a:p>
          <a:p>
            <a:pPr>
              <a:spcAft>
                <a:spcPts val="300"/>
              </a:spcAft>
            </a:pPr>
            <a:r>
              <a:rPr sz="1600" b="0">
                <a:solidFill>
                  <a:srgbClr val="5A6672"/>
                </a:solidFill>
                <a:latin typeface="Malgun Gothic"/>
              </a:rPr>
              <a:t>    –  실패하면 PLS-00905 또는 ORA-06508 이 발생한다</a:t>
            </a:r>
          </a:p>
          <a:p>
            <a:pPr>
              <a:spcAft>
                <a:spcPts val="300"/>
              </a:spcAft>
            </a:pPr>
            <a:r>
              <a:rPr sz="1600" b="0">
                <a:solidFill>
                  <a:srgbClr val="5A6672"/>
                </a:solidFill>
                <a:latin typeface="Malgun Gothic"/>
              </a:rPr>
              <a:t>    –  첫 호출자가 재컴파일 비용을 부담해 응답 시간이 튄다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재컴파일 — ALTER ... COMPILE</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스키마 변경 후에는 명시적으로 상태를 정리한다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현재 INVALID 상태인 객체 확인</a:t>
            </a:r>
          </a:p>
          <a:p>
            <a:pPr>
              <a:spcAft>
                <a:spcPts val="0"/>
              </a:spcAft>
            </a:pPr>
            <a:r>
              <a:rPr sz="1250" b="0">
                <a:solidFill>
                  <a:srgbClr val="E6E6E6"/>
                </a:solidFill>
                <a:latin typeface="Consolas"/>
              </a:rPr>
              <a:t>SELECT object_name, object_type, status</a:t>
            </a:r>
          </a:p>
          <a:p>
            <a:pPr>
              <a:spcAft>
                <a:spcPts val="0"/>
              </a:spcAft>
            </a:pPr>
            <a:r>
              <a:rPr sz="1250" b="0">
                <a:solidFill>
                  <a:srgbClr val="E6E6E6"/>
                </a:solidFill>
                <a:latin typeface="Consolas"/>
              </a:rPr>
              <a:t>  FROM user_objects WHERE status = 'INVALID' ORDER BY object_type;</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참조 테이블 구조가 바뀌면 의존 객체가 INVALID 로 바뀐다</a:t>
            </a:r>
          </a:p>
          <a:p>
            <a:pPr>
              <a:spcAft>
                <a:spcPts val="0"/>
              </a:spcAft>
            </a:pPr>
            <a:r>
              <a:rPr sz="1250" b="0">
                <a:solidFill>
                  <a:srgbClr val="E6E6E6"/>
                </a:solidFill>
                <a:latin typeface="Consolas"/>
              </a:rPr>
              <a:t>ALTER TABLE employees MODIFY (last_name VARCHAR2(30));</a:t>
            </a:r>
          </a:p>
          <a:p>
            <a:pPr>
              <a:spcAft>
                <a:spcPts val="0"/>
              </a:spcAft>
            </a:pPr>
            <a:r>
              <a:rPr sz="1250" b="0">
                <a:solidFill>
                  <a:srgbClr val="E6E6E6"/>
                </a:solidFill>
                <a:latin typeface="Consolas"/>
              </a:rPr>
              <a:t>SELECT object_name, status FROM user_objects WHERE object_name = 'SHOW_EMP';</a:t>
            </a:r>
          </a:p>
          <a:p>
            <a:pPr>
              <a:spcAft>
                <a:spcPts val="0"/>
              </a:spcAft>
            </a:pPr>
            <a:r>
              <a:rPr sz="1250" b="0">
                <a:solidFill>
                  <a:srgbClr val="7EC699"/>
                </a:solidFill>
                <a:latin typeface="Consolas"/>
              </a:rPr>
              <a:t>-- SHOW_EMP   INVALID</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명시적 재컴파일</a:t>
            </a:r>
          </a:p>
          <a:p>
            <a:pPr>
              <a:spcAft>
                <a:spcPts val="0"/>
              </a:spcAft>
            </a:pPr>
            <a:r>
              <a:rPr sz="1250" b="0">
                <a:solidFill>
                  <a:srgbClr val="E6E6E6"/>
                </a:solidFill>
                <a:latin typeface="Consolas"/>
              </a:rPr>
              <a:t>ALTER PROCEDURE show_emp COMPILE;</a:t>
            </a:r>
          </a:p>
          <a:p>
            <a:pPr>
              <a:spcAft>
                <a:spcPts val="0"/>
              </a:spcAft>
            </a:pPr>
            <a:r>
              <a:rPr sz="1250" b="0">
                <a:solidFill>
                  <a:srgbClr val="E6E6E6"/>
                </a:solidFill>
                <a:latin typeface="Consolas"/>
              </a:rPr>
              <a:t>ALTER FUNCTION  get_annual_salary COMPILE;</a:t>
            </a:r>
          </a:p>
          <a:p>
            <a:pPr>
              <a:spcAft>
                <a:spcPts val="0"/>
              </a:spcAft>
            </a:pPr>
            <a:r>
              <a:rPr sz="1250" b="0">
                <a:solidFill>
                  <a:srgbClr val="7EC699"/>
                </a:solidFill>
                <a:latin typeface="Consolas"/>
              </a:rPr>
              <a:t>-- Procedure SHOW_EMP altered.</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재컴파일이 실패하면 여전히 INVALID 이므로 오류를 확인한다</a:t>
            </a:r>
          </a:p>
          <a:p>
            <a:pPr>
              <a:spcAft>
                <a:spcPts val="0"/>
              </a:spcAft>
            </a:pPr>
            <a:r>
              <a:rPr sz="1250" b="0">
                <a:solidFill>
                  <a:srgbClr val="E6E6E6"/>
                </a:solidFill>
                <a:latin typeface="Consolas"/>
              </a:rPr>
              <a:t>SHOW ERRORS PROCEDURE show_emp</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스키마 전체 일괄 재컴파일 (권한 필요)</a:t>
            </a:r>
          </a:p>
          <a:p>
            <a:pPr>
              <a:spcAft>
                <a:spcPts val="0"/>
              </a:spcAft>
            </a:pPr>
            <a:r>
              <a:rPr sz="1250" b="0">
                <a:solidFill>
                  <a:srgbClr val="E6E6E6"/>
                </a:solidFill>
                <a:latin typeface="Consolas"/>
              </a:rPr>
              <a:t>EXEC UTL_RECOMP.RECOMP_SERIAL('HR');</a:t>
            </a:r>
          </a:p>
          <a:p>
            <a:pPr>
              <a:spcAft>
                <a:spcPts val="0"/>
              </a:spcAft>
            </a:pPr>
            <a:r>
              <a:rPr sz="1250" b="0">
                <a:solidFill>
                  <a:srgbClr val="E6E6E6"/>
                </a:solidFill>
                <a:latin typeface="Consolas"/>
              </a:rPr>
              <a:t>EXEC DBMS_UTILITY.COMPILE_SCHEMA(schema =&gt; 'HR', compile_all =&gt; FALSE);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삭제와 실행 권한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DROP 이후의 오류와 재실행 가능한 배포 스크립트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DROP PROCEDURE show_emp;</a:t>
            </a:r>
          </a:p>
          <a:p>
            <a:pPr>
              <a:spcAft>
                <a:spcPts val="0"/>
              </a:spcAft>
            </a:pPr>
            <a:r>
              <a:rPr sz="1250" b="0">
                <a:solidFill>
                  <a:srgbClr val="7EC699"/>
                </a:solidFill>
                <a:latin typeface="Consolas"/>
              </a:rPr>
              <a:t>-- Procedure SHOW_EMP dropped.</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EXEC show_emp(100);</a:t>
            </a:r>
          </a:p>
          <a:p>
            <a:pPr>
              <a:spcAft>
                <a:spcPts val="0"/>
              </a:spcAft>
            </a:pPr>
            <a:r>
              <a:rPr sz="1250" b="0">
                <a:solidFill>
                  <a:srgbClr val="7EC699"/>
                </a:solidFill>
                <a:latin typeface="Consolas"/>
              </a:rPr>
              <a:t>-- PLS-00201: identifier 'SHOW_EMP' must be declared</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DROP PROCEDURE show_emp;</a:t>
            </a:r>
          </a:p>
          <a:p>
            <a:pPr>
              <a:spcAft>
                <a:spcPts val="0"/>
              </a:spcAft>
            </a:pPr>
            <a:r>
              <a:rPr sz="1250" b="0">
                <a:solidFill>
                  <a:srgbClr val="7EC699"/>
                </a:solidFill>
                <a:latin typeface="Consolas"/>
              </a:rPr>
              <a:t>-- ORA-04043: object SHOW_EMP does not exist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재실행 가능한 배포 스크립트 패턴</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EXECUTE IMMEDIATE 'DROP PROCEDURE show_emp';</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IF SQLCODE != -4043 THEN RAISE; END IF;   -- 없으면 무시</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실행 권한 부여</a:t>
            </a:r>
          </a:p>
          <a:p>
            <a:pPr>
              <a:spcAft>
                <a:spcPts val="0"/>
              </a:spcAft>
            </a:pPr>
            <a:r>
              <a:rPr sz="1250" b="0">
                <a:solidFill>
                  <a:srgbClr val="E6E6E6"/>
                </a:solidFill>
                <a:latin typeface="Consolas"/>
              </a:rPr>
              <a:t>GRANT EXECUTE ON raise_salary TO scott;</a:t>
            </a:r>
          </a:p>
          <a:p>
            <a:pPr>
              <a:spcAft>
                <a:spcPts val="0"/>
              </a:spcAft>
            </a:pPr>
            <a:r>
              <a:rPr sz="1250" b="0">
                <a:solidFill>
                  <a:srgbClr val="7EC699"/>
                </a:solidFill>
                <a:latin typeface="Consolas"/>
              </a:rPr>
              <a:t>-- scott 세션에서 : EXEC hr.raise_salary(178, 5);</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호출자 권한으로 동작시키려면</a:t>
            </a:r>
          </a:p>
          <a:p>
            <a:pPr>
              <a:spcAft>
                <a:spcPts val="0"/>
              </a:spcAft>
            </a:pPr>
            <a:r>
              <a:rPr sz="1250" b="0">
                <a:solidFill>
                  <a:srgbClr val="E6E6E6"/>
                </a:solidFill>
                <a:latin typeface="Consolas"/>
              </a:rPr>
              <a:t>CREATE OR REPLACE PROCEDURE my_table_count (p_cnt OUT NUMBER)</a:t>
            </a:r>
          </a:p>
          <a:p>
            <a:pPr>
              <a:spcAft>
                <a:spcPts val="0"/>
              </a:spcAft>
            </a:pPr>
            <a:r>
              <a:rPr sz="1250" b="0">
                <a:solidFill>
                  <a:srgbClr val="E6E6E6"/>
                </a:solidFill>
                <a:latin typeface="Consolas"/>
              </a:rPr>
              <a:t>   AUTHID CURRENT_USER</a:t>
            </a:r>
          </a:p>
          <a:p>
            <a:pPr>
              <a:spcAft>
                <a:spcPts val="0"/>
              </a:spcAft>
            </a:pPr>
            <a:r>
              <a:rPr sz="1250" b="0">
                <a:solidFill>
                  <a:srgbClr val="E6E6E6"/>
                </a:solidFill>
                <a:latin typeface="Consolas"/>
              </a:rPr>
              <a:t>IS BEGIN SELECT COUNT(*) INTO p_cnt FROM user_tables; END;</a:t>
            </a:r>
          </a:p>
          <a:p>
            <a:pPr>
              <a:spcAft>
                <a:spcPts val="0"/>
              </a:spcAft>
            </a:pPr>
            <a:r>
              <a:rPr sz="1250" b="0">
                <a:solidFill>
                  <a:srgbClr val="E6E6E6"/>
                </a:solidFill>
                <a:latin typeface="Consolas"/>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오류 → 원인 → 수정 (1) 컴파일 시점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PLS-00363 — expression cannot be used as an assignment target</a:t>
            </a:r>
          </a:p>
          <a:p>
            <a:pPr>
              <a:spcAft>
                <a:spcPts val="300"/>
              </a:spcAft>
            </a:pPr>
            <a:r>
              <a:rPr sz="1600" b="0">
                <a:solidFill>
                  <a:srgbClr val="5A6672"/>
                </a:solidFill>
                <a:latin typeface="Malgun Gothic"/>
              </a:rPr>
              <a:t>    –  IN 파라미터에 대입 / OUT 실인자로 리터럴 전달 → 로컬 변수 사용, 실인자를 변수로</a:t>
            </a:r>
          </a:p>
          <a:p>
            <a:pPr>
              <a:spcAft>
                <a:spcPts val="500"/>
              </a:spcAft>
            </a:pPr>
            <a:r>
              <a:rPr sz="1800" b="0">
                <a:solidFill>
                  <a:srgbClr val="202830"/>
                </a:solidFill>
                <a:latin typeface="Malgun Gothic"/>
              </a:rPr>
              <a:t>•  PLS-00306 — wrong number or types of arguments</a:t>
            </a:r>
          </a:p>
          <a:p>
            <a:pPr>
              <a:spcAft>
                <a:spcPts val="300"/>
              </a:spcAft>
            </a:pPr>
            <a:r>
              <a:rPr sz="1600" b="0">
                <a:solidFill>
                  <a:srgbClr val="5A6672"/>
                </a:solidFill>
                <a:latin typeface="Malgun Gothic"/>
              </a:rPr>
              <a:t>    –  인자 개수·타입 불일치, DEFAULT 파라미터를 앞에 둔 위치 호출 → 이름 표기법 사용</a:t>
            </a:r>
          </a:p>
          <a:p>
            <a:pPr>
              <a:spcAft>
                <a:spcPts val="500"/>
              </a:spcAft>
            </a:pPr>
            <a:r>
              <a:rPr sz="1800" b="0">
                <a:solidFill>
                  <a:srgbClr val="202830"/>
                </a:solidFill>
                <a:latin typeface="Malgun Gothic"/>
              </a:rPr>
              <a:t>•  PLS-00312 — positional may not follow named association</a:t>
            </a:r>
          </a:p>
          <a:p>
            <a:pPr>
              <a:spcAft>
                <a:spcPts val="300"/>
              </a:spcAft>
            </a:pPr>
            <a:r>
              <a:rPr sz="1600" b="0">
                <a:solidFill>
                  <a:srgbClr val="5A6672"/>
                </a:solidFill>
                <a:latin typeface="Malgun Gothic"/>
              </a:rPr>
              <a:t>    –  이름 표기법 뒤에 위치 표기법 → 위치 인자를 앞으로 옮긴다</a:t>
            </a:r>
          </a:p>
          <a:p>
            <a:pPr>
              <a:spcAft>
                <a:spcPts val="500"/>
              </a:spcAft>
            </a:pPr>
            <a:r>
              <a:rPr sz="1800" b="0">
                <a:solidFill>
                  <a:srgbClr val="202830"/>
                </a:solidFill>
                <a:latin typeface="Malgun Gothic"/>
              </a:rPr>
              <a:t>•  PLS-00201 / ORA-00904 — 식별자 미선언 / 잘못된 식별자</a:t>
            </a:r>
          </a:p>
          <a:p>
            <a:pPr>
              <a:spcAft>
                <a:spcPts val="300"/>
              </a:spcAft>
            </a:pPr>
            <a:r>
              <a:rPr sz="1600" b="0">
                <a:solidFill>
                  <a:srgbClr val="5A6672"/>
                </a:solidFill>
                <a:latin typeface="Malgun Gothic"/>
              </a:rPr>
              <a:t>    –  오타 · 삭제된 객체 · 권한 없음 → SHOW ERRORS 로 위치 확인 후 수정</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오류 → 원인 → 수정 (2) 실행 시점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ORA-06503 — Function returned without value</a:t>
            </a:r>
          </a:p>
          <a:p>
            <a:pPr>
              <a:spcAft>
                <a:spcPts val="300"/>
              </a:spcAft>
            </a:pPr>
            <a:r>
              <a:rPr sz="1600" b="0">
                <a:solidFill>
                  <a:srgbClr val="5A6672"/>
                </a:solidFill>
                <a:latin typeface="Malgun Gothic"/>
              </a:rPr>
              <a:t>    –  값을 반환하지 않고 함수가 종료 → 모든 분기와 예외 핸들러에 RETURN 배치</a:t>
            </a:r>
          </a:p>
          <a:p>
            <a:pPr>
              <a:spcAft>
                <a:spcPts val="500"/>
              </a:spcAft>
            </a:pPr>
            <a:r>
              <a:rPr sz="1800" b="0">
                <a:solidFill>
                  <a:srgbClr val="202830"/>
                </a:solidFill>
                <a:latin typeface="Malgun Gothic"/>
              </a:rPr>
              <a:t>•  ORA-14551 — cannot perform a DML operation inside a query</a:t>
            </a:r>
          </a:p>
          <a:p>
            <a:pPr>
              <a:spcAft>
                <a:spcPts val="300"/>
              </a:spcAft>
            </a:pPr>
            <a:r>
              <a:rPr sz="1600" b="0">
                <a:solidFill>
                  <a:srgbClr val="5A6672"/>
                </a:solidFill>
                <a:latin typeface="Malgun Gothic"/>
              </a:rPr>
              <a:t>    –  질의 안에서 DML 수행 → PRAGMA AUTONOMOUS_TRANSACTION 또는 DML 분리</a:t>
            </a:r>
          </a:p>
          <a:p>
            <a:pPr>
              <a:spcAft>
                <a:spcPts val="500"/>
              </a:spcAft>
            </a:pPr>
            <a:r>
              <a:rPr sz="1800" b="0">
                <a:solidFill>
                  <a:srgbClr val="202830"/>
                </a:solidFill>
                <a:latin typeface="Malgun Gothic"/>
              </a:rPr>
              <a:t>•  PLS-00905 / ORA-06508 — INVALID 객체 호출</a:t>
            </a:r>
          </a:p>
          <a:p>
            <a:pPr>
              <a:spcAft>
                <a:spcPts val="300"/>
              </a:spcAft>
            </a:pPr>
            <a:r>
              <a:rPr sz="1600" b="0">
                <a:solidFill>
                  <a:srgbClr val="5A6672"/>
                </a:solidFill>
                <a:latin typeface="Malgun Gothic"/>
              </a:rPr>
              <a:t>    –  ALTER ... COMPILE 후 SHOW ERRORS 로 원인 제거</a:t>
            </a:r>
          </a:p>
          <a:p>
            <a:pPr>
              <a:spcAft>
                <a:spcPts val="500"/>
              </a:spcAft>
            </a:pPr>
            <a:r>
              <a:rPr sz="1800" b="0">
                <a:solidFill>
                  <a:srgbClr val="202830"/>
                </a:solidFill>
                <a:latin typeface="Malgun Gothic"/>
              </a:rPr>
              <a:t>•  PLS-00230 — OUT and IN OUT modes cannot be used in this context</a:t>
            </a:r>
          </a:p>
          <a:p>
            <a:pPr>
              <a:spcAft>
                <a:spcPts val="300"/>
              </a:spcAft>
            </a:pPr>
            <a:r>
              <a:rPr sz="1600" b="0">
                <a:solidFill>
                  <a:srgbClr val="5A6672"/>
                </a:solidFill>
                <a:latin typeface="Malgun Gothic"/>
              </a:rPr>
              <a:t>    –  OUT 파라미터가 있는 함수를 SQL 에서 호출 → IN 으로 변경하거나 프로시저로 분리</a:t>
            </a:r>
          </a:p>
          <a:p>
            <a:pPr>
              <a:spcAft>
                <a:spcPts val="500"/>
              </a:spcAft>
            </a:pPr>
            <a:r>
              <a:rPr sz="1800" b="0">
                <a:solidFill>
                  <a:srgbClr val="202830"/>
                </a:solidFill>
                <a:latin typeface="Malgun Gothic"/>
              </a:rPr>
              <a:t>•  ORA-04043 — 존재하지 않는 객체 DROP → 예외 처리로 감싼 DROP 사용</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이해도 점검 퀴즈 (1/2)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Q1. IN · OUT · IN OUT 세 모드의 차이를 세 가지 관점에서 비교하시오</a:t>
            </a:r>
          </a:p>
          <a:p>
            <a:pPr>
              <a:spcAft>
                <a:spcPts val="300"/>
              </a:spcAft>
            </a:pPr>
            <a:r>
              <a:rPr sz="1600" b="0">
                <a:solidFill>
                  <a:srgbClr val="5A6672"/>
                </a:solidFill>
                <a:latin typeface="Malgun Gothic"/>
              </a:rPr>
              <a:t>    –  데이터 흐름 방향, 전달 방식, 실인자로 올 수 있는 것</a:t>
            </a:r>
          </a:p>
          <a:p>
            <a:pPr>
              <a:spcAft>
                <a:spcPts val="500"/>
              </a:spcAft>
            </a:pPr>
            <a:r>
              <a:rPr sz="1800" b="0">
                <a:solidFill>
                  <a:srgbClr val="202830"/>
                </a:solidFill>
                <a:latin typeface="Malgun Gothic"/>
              </a:rPr>
              <a:t>•  Q2. IN 파라미터에 값을 대입하는 코드가 왜 컴파일되지 않는가?</a:t>
            </a:r>
          </a:p>
          <a:p>
            <a:pPr>
              <a:spcAft>
                <a:spcPts val="300"/>
              </a:spcAft>
            </a:pPr>
            <a:r>
              <a:rPr sz="1600" b="0">
                <a:solidFill>
                  <a:srgbClr val="5A6672"/>
                </a:solidFill>
                <a:latin typeface="Malgun Gothic"/>
              </a:rPr>
              <a:t>    –  기본값을 보정해야 할 때의 올바른 대안을 제시하시오</a:t>
            </a:r>
          </a:p>
          <a:p>
            <a:pPr>
              <a:spcAft>
                <a:spcPts val="500"/>
              </a:spcAft>
            </a:pPr>
            <a:r>
              <a:rPr sz="1800" b="0">
                <a:solidFill>
                  <a:srgbClr val="202830"/>
                </a:solidFill>
                <a:latin typeface="Malgun Gothic"/>
              </a:rPr>
              <a:t>•  Q3. 컴파일에 성공한 함수가 실행 중 ORA-06503 으로 실패하는 원인은?</a:t>
            </a:r>
          </a:p>
          <a:p>
            <a:pPr>
              <a:spcAft>
                <a:spcPts val="300"/>
              </a:spcAft>
            </a:pPr>
            <a:r>
              <a:rPr sz="1600" b="0">
                <a:solidFill>
                  <a:srgbClr val="5A6672"/>
                </a:solidFill>
                <a:latin typeface="Malgun Gothic"/>
              </a:rPr>
              <a:t>    –  이를 예방하는 코딩 규칙을 쓰시오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이해도 점검 퀴즈 (2/2)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Q4. SQL 문 안에서 사용자 정의 함수를 호출하기 위한 조건은?</a:t>
            </a:r>
          </a:p>
          <a:p>
            <a:pPr>
              <a:spcAft>
                <a:spcPts val="300"/>
              </a:spcAft>
            </a:pPr>
            <a:r>
              <a:rPr sz="1600" b="0">
                <a:solidFill>
                  <a:srgbClr val="5A6672"/>
                </a:solidFill>
                <a:latin typeface="Malgun Gothic"/>
              </a:rPr>
              <a:t>    –  세 가지 이상 열거하고, DML 수행 시 오류 번호와 해결책을 쓰시오</a:t>
            </a:r>
          </a:p>
          <a:p>
            <a:pPr>
              <a:spcAft>
                <a:spcPts val="500"/>
              </a:spcAft>
            </a:pPr>
            <a:r>
              <a:rPr sz="1800" b="0">
                <a:solidFill>
                  <a:srgbClr val="202830"/>
                </a:solidFill>
                <a:latin typeface="Malgun Gothic"/>
              </a:rPr>
              <a:t>•  Q5. 'created with compilation errors' 메시지를 받았을 때</a:t>
            </a:r>
          </a:p>
          <a:p>
            <a:pPr>
              <a:spcAft>
                <a:spcPts val="300"/>
              </a:spcAft>
            </a:pPr>
            <a:r>
              <a:rPr sz="1600" b="0">
                <a:solidFill>
                  <a:srgbClr val="5A6672"/>
                </a:solidFill>
                <a:latin typeface="Malgun Gothic"/>
              </a:rPr>
              <a:t>    –  원인을 확인하는 두 가지 방법과, 그 객체를 호출했을 때의 오류를 쓰시오</a:t>
            </a:r>
          </a:p>
          <a:p>
            <a:pPr>
              <a:spcAft>
                <a:spcPts val="500"/>
              </a:spcAft>
            </a:pPr>
            <a:r>
              <a:rPr sz="1800" b="0">
                <a:solidFill>
                  <a:srgbClr val="202830"/>
                </a:solidFill>
                <a:latin typeface="Malgun Gothic"/>
              </a:rPr>
              <a:t>•  Q6. 테이블 구조 변경으로 프로시저가 INVALID 가 되었다</a:t>
            </a:r>
          </a:p>
          <a:p>
            <a:pPr>
              <a:spcAft>
                <a:spcPts val="300"/>
              </a:spcAft>
            </a:pPr>
            <a:r>
              <a:rPr sz="1600" b="0">
                <a:solidFill>
                  <a:srgbClr val="5A6672"/>
                </a:solidFill>
                <a:latin typeface="Malgun Gothic"/>
              </a:rPr>
              <a:t>    –  그대로 두었을 때 발생할 수 있는 문제와 권장 조치를 설명하시오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저장 서브프로그램은 이름을 가진 데이터베이스 객체로 저장되어 반복 호출된다</a:t>
            </a:r>
          </a:p>
          <a:p>
            <a:pPr>
              <a:spcAft>
                <a:spcPts val="500"/>
              </a:spcAft>
            </a:pPr>
            <a:r>
              <a:rPr sz="1800" b="0">
                <a:solidFill>
                  <a:srgbClr val="202830"/>
                </a:solidFill>
                <a:latin typeface="Malgun Gothic"/>
              </a:rPr>
              <a:t>•  프로시저는 CREATE OR REPLACE ... IS ... BEGIN ... END 로 만들며 DECLARE 를 쓰지 않는다</a:t>
            </a:r>
          </a:p>
          <a:p>
            <a:pPr>
              <a:spcAft>
                <a:spcPts val="500"/>
              </a:spcAft>
            </a:pPr>
            <a:r>
              <a:rPr sz="1800" b="0">
                <a:solidFill>
                  <a:srgbClr val="202830"/>
                </a:solidFill>
                <a:latin typeface="Malgun Gothic"/>
              </a:rPr>
              <a:t>•  IN 은 읽기 전용·참조 전달, OUT 은 NULL 초기화, IN OUT 은 복사 후 되복사</a:t>
            </a:r>
          </a:p>
          <a:p>
            <a:pPr>
              <a:spcAft>
                <a:spcPts val="500"/>
              </a:spcAft>
            </a:pPr>
            <a:r>
              <a:rPr sz="1800" b="0">
                <a:solidFill>
                  <a:srgbClr val="202830"/>
                </a:solidFill>
                <a:latin typeface="Malgun Gothic"/>
              </a:rPr>
              <a:t>•  실인자는 위치·이름·혼합 표기법으로 전달하며 DEFAULT 는 IN 에만 지정할 수 있다</a:t>
            </a:r>
          </a:p>
          <a:p>
            <a:pPr>
              <a:spcAft>
                <a:spcPts val="500"/>
              </a:spcAft>
            </a:pPr>
            <a:r>
              <a:rPr sz="1800" b="0">
                <a:solidFill>
                  <a:srgbClr val="202830"/>
                </a:solidFill>
                <a:latin typeface="Malgun Gothic"/>
              </a:rPr>
              <a:t>•  함수는 RETURN 자료형을 선언하고 모든 경로에서 값을 반환해야 한다 — ORA-06503</a:t>
            </a:r>
          </a:p>
          <a:p>
            <a:pPr>
              <a:spcAft>
                <a:spcPts val="500"/>
              </a:spcAft>
            </a:pPr>
            <a:r>
              <a:rPr sz="1800" b="0">
                <a:solidFill>
                  <a:srgbClr val="202830"/>
                </a:solidFill>
                <a:latin typeface="Malgun Gothic"/>
              </a:rPr>
              <a:t>•  SQL 에서 호출되는 함수는 파라미터가 모두 IN 이어야 하고 DML 을 수행할 수 없다</a:t>
            </a:r>
          </a:p>
          <a:p>
            <a:pPr>
              <a:spcAft>
                <a:spcPts val="500"/>
              </a:spcAft>
            </a:pPr>
            <a:r>
              <a:rPr sz="1800" b="0">
                <a:solidFill>
                  <a:srgbClr val="202830"/>
                </a:solidFill>
                <a:latin typeface="Malgun Gothic"/>
              </a:rPr>
              <a:t>•  컴파일 오류는 SHOW ERRORS · USER_ERRORS 로 진단하고 INVALID 호출은 PLS-00905</a:t>
            </a:r>
          </a:p>
          <a:p>
            <a:pPr>
              <a:spcAft>
                <a:spcPts val="500"/>
              </a:spcAft>
            </a:pPr>
            <a:r>
              <a:rPr sz="1800" b="0">
                <a:solidFill>
                  <a:srgbClr val="202830"/>
                </a:solidFill>
                <a:latin typeface="Malgun Gothic"/>
              </a:rPr>
              <a:t>•  참조 객체 변경 시 ALTER ... COMPILE 로 재컴파일하고 배포는 CREATE OR REPLACE 로</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실습 01  Procedure 생성과 IN/OUT/IN OUT — 4장_실습_01_procedure_기본_in_out_inout.txt</a:t>
            </a:r>
          </a:p>
          <a:p>
            <a:pPr>
              <a:spcAft>
                <a:spcPts val="500"/>
              </a:spcAft>
            </a:pPr>
            <a:r>
              <a:rPr sz="1800" b="0">
                <a:solidFill>
                  <a:srgbClr val="202830"/>
                </a:solidFill>
                <a:latin typeface="Malgun Gothic"/>
              </a:rPr>
              <a:t>•  실습 02  Function 생성과 RETURN 값 활용 — 4장_실습_02_function_return.txt</a:t>
            </a:r>
          </a:p>
          <a:p>
            <a:pPr>
              <a:spcAft>
                <a:spcPts val="500"/>
              </a:spcAft>
            </a:pPr>
            <a:r>
              <a:rPr sz="1800" b="0">
                <a:solidFill>
                  <a:srgbClr val="202830"/>
                </a:solidFill>
                <a:latin typeface="Malgun Gothic"/>
              </a:rPr>
              <a:t>•  실습 03  파라미터 기본값과 Local Variable — 4장_실습_03_default_local_variable.txt</a:t>
            </a:r>
          </a:p>
          <a:p>
            <a:pPr>
              <a:spcAft>
                <a:spcPts val="500"/>
              </a:spcAft>
            </a:pPr>
            <a:r>
              <a:rPr sz="1800" b="0">
                <a:solidFill>
                  <a:srgbClr val="202830"/>
                </a:solidFill>
                <a:latin typeface="Malgun Gothic"/>
              </a:rPr>
              <a:t>•  실습 04  SQL 문장 내에서 Function 호출 — 4장_실습_04_sql에서_function호출.txt</a:t>
            </a:r>
          </a:p>
          <a:p>
            <a:pPr>
              <a:spcAft>
                <a:spcPts val="500"/>
              </a:spcAft>
            </a:pPr>
            <a:r>
              <a:rPr sz="1800" b="0">
                <a:solidFill>
                  <a:srgbClr val="202830"/>
                </a:solidFill>
                <a:latin typeface="Malgun Gothic"/>
              </a:rPr>
              <a:t>•  실습 05  컴파일 오류 확인 및 수정 — 4장_실습_05_컴파일오류_show_errors.txt</a:t>
            </a:r>
          </a:p>
          <a:p>
            <a:pPr>
              <a:spcAft>
                <a:spcPts val="500"/>
              </a:spcAft>
            </a:pPr>
            <a:r>
              <a:rPr sz="1800" b="0">
                <a:solidFill>
                  <a:srgbClr val="202830"/>
                </a:solidFill>
                <a:latin typeface="Malgun Gothic"/>
              </a:rPr>
              <a:t>•  실습 06  재컴파일 및 삭제 — 4장_실습_06_재컴파일_삭제.txt</a:t>
            </a:r>
          </a:p>
          <a:p>
            <a:pPr>
              <a:spcAft>
                <a:spcPts val="500"/>
              </a:spcAft>
            </a:pPr>
            <a:r>
              <a:rPr sz="1800" b="0">
                <a:solidFill>
                  <a:srgbClr val="202830"/>
                </a:solidFill>
                <a:latin typeface="Malgun Gothic"/>
              </a:rPr>
              <a:t>•  모든 실습은 HR 스키마 · Oracle 19c · SQL*Plus 기준이다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
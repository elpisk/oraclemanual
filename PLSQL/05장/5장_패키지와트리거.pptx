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70444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5장은 4장에서 만든 프로시저와 함수를 하나의 단위로 묶는 패키지, 그리고 사람이 부르지 않아도 자동으로 실행되는 트리거를 다룬다. 패키지에서는 명세와 본문의 분리, 공개와 비공개의 구분, 세션 단위로 유지되는 패키지 변수를 익힌다. 트리거에서는 시점과 이벤트와 수준의 조합, :OLD 와 :NEW 의 사용 규칙, 실행 순서, 그리고 실무에서 가장 자주 만나는 뮤테이팅 테이블 오류의 회피 방법까지 다룬다. 모든 예제는 Oracle 19c 와 HR 스키마를 기준으로 한다. 강의 시작 전에 4장에서 만든 프로시저와 함수가 아직 스키마에 남아 있는지 확인하게 하면 자연스럽게 연결된다. 실습 계정은 HR 이며 EMPLOYEES 에 대한 DDL 권한이 필요하다.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목표는 두 축으로 나뉜다. 앞부분은 패키지를 통해 코드를 조직하고 감추는 방법을, 뒷부분은 트리거를 통해 데이터베이스가 스스로 반응하도록 만드는 방법을 배우는 것이다. 두 주제 모두 문법 자체보다 언제 쓰고 언제 쓰지 말아야 하는지에 대한 판단이 더 중요하다. 학습이 끝나면 오류 코드만 보고도 어느 규칙을 어겼는지 짚어 낼 수 있어야 한다. 목표를 읽어 준 뒤 각 항목이 어느 절에서 다뤄지는지 Agenda 와 대응시켜 주면 학습자가 전체 지도를 먼저 갖고 출발할 수 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구성은 크게 네 덩어리다. 처음 아홉 개 절은 패키지, 다음 다섯 개 절은 트리거의 기본, 그다음 세 개 절은 실행 순서와 INSTEAD OF 그리고 뮤테이팅 테이블, 마지막 두 개 절은 운영 관점의 상태 관리와 오류 정리다. 실습 트랜스크립트 일곱 편이 각 절의 내용을 세션 로그 형태로 다시 확인해 준다. 강의 중에는 오류가 나는 예제를 반드시 직접 실행해 보도록 안내한다. 시간이 부족하면 5.16 INSTEAD OF 와 5.17 복합 트리거를 실습 위주로 압축하고, 5.9 패키지 관리는 운영 사례 중심으로 짧게 다루는 편이 낫다.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번째 구간에서는 패키지가 왜 필요한지부터 시작해 명세와 본문을 실제로 작성해 본다. 특히 명세와 본문이 데이터베이스 안에서 서로 다른 두 객체로 저장된다는 사실이 이 구간의 핵심이다. 이 성질 덕분에 본문만 고쳐 배포해도 호출하는 프로그램이 무효화되지 않는다. 대규모 운영 환경에서 패키지를 표준으로 삼는 가장 큰 이유가 여기에 있다. 이 구간의 실습은 트랜스크립트 01번에 대응한다. 명세 없이 본문만 컴파일하는 실패 사례를 반드시 직접 실행해 보게 한다.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패키지의 필요성을 설명할 때는 문법이 아니라 문제 상황에서 출발하는 것이 좋다. 객체가 수백 개로 늘었을 때 어떤 것이 한 세트인지 알 수 없다는 관리 문제, 호출 사이에 값을 유지할 수단이 없다는 기능 문제, 내부 로직을 숨길 수 없다는 캡슐화 문제, 그리고 재컴파일 시 의존 객체가 무효화되는 운영 문제까지 네 가지를 짚어 준다. 패키지는 이 네 가지를 한 번에 해결한다. 수강생에게 지금까지 만든 객체가 몇 개인지 세어 보게 하고, 그것이 열 배로 늘었을 때 무엇이 곤란해질지 먼저 말하게 하면 몰입도가 올라간다.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패키지의 이점을 다섯 가지로 정리한다. 조직화, 캡슐화, 상태 유지, 의존성 격리, 성능이다. 이 가운데 실무에서 가장 크게 체감되는 것은 네 번째 의존성 격리다. 수백 개의 객체가 얽힌 시스템에서 구현 하나를 고칠 때마다 전면 재컴파일이 일어난다면 배포 자체가 위험해진다. 패키지는 명세라는 계약만 유지하면 구현을 자유롭게 바꿀 수 있게 해 준다. 다섯 가지 이점 가운데 어느 것이 자신의 업무에서 가장 절실한지 물어보면 이후 설명의 초점을 조정할 수 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명세와 본문이 별개의 객체라는 사실은 이 장 전체에서 가장 중요한 개념이다. 데이터 딕셔너리에서 두 행으로 조회된다는 점을 직접 보여 주면 이해가 빠르다. 명세가 없는 상태에서 본문만 컴파일하면 실패하지만, 본문 없이 명세만 만드는 것은 완전히 정상이라는 비대칭도 함께 짚는다. 상수와 예외만 모은 무본문 패키지는 실무 표준 라이브러리로 흔히 쓰인다. USER_OBJECTS 를 실제로 조회해 두 행이 나오는 것을 화면으로 보여 주면 설명 한 문단보다 효과가 크다.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골격을 볼 때 확인할 점은 세 가지다. 첫째, 명세에는 헤더만 쓰고 세미콜론으로 끝낸다. 둘째, 본문에는 명세의 모든 선언을 빠짐없이 구현해야 하며 명세에 없는 요소를 추가로 둘 수 있다. 셋째, 본문 마지막의 BEGIN 은 선택 사항인 초기화 블록으로 세션당 한 번만 실행된다. 배포 순서는 항상 명세 먼저, 본문 나중이라는 점도 함께 강조한다. 대괄호로 감싼 초기화 블록은 문법의 일부가 아니라 선택 사항 표기이므로 실제 코드에는 대괄호를 쓰지 않는다는 점을 짚어 준다.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명세를 쓸 때 자주 실수하는 지점을 짚는다. 파라미터에 크기를 적어 컴파일 오류를 내는 경우가 가장 흔하고, DEFAULT 값을 명세와 본문 양쪽에 서로 다르게 적어 문제를 만드는 경우도 있다. 커서를 공개할 때는 명세에 RETURN 절로 반환 구조만 선언하고 SELECT 본문은 본문에 둔다는 규칙도 함께 소개한다. 명세는 한 번 공개하면 되돌리기 어려운 계약서다. 예제를 그대로 따라 치게 한 뒤 일부러 VARCHAR2(30) 처럼 크기를 넣어 오류를 만들어 보게 하면 규칙이 몸에 남는다.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HR 스키마의 사원 관리 업무를 담을 EMP_PKG 명세다. 상수와 예외를 먼저 선언하고 프로시저 두 개와 함수 두 개의 헤더를 이어서 썼다. 구현부는 전혀 없다는 점을 확인시킨다. dept_exists 가 BOOLEAN 을 반환하는 것은 PL/SQL 안에서만 호출할 것이기 때문이며, SQL 문에서 쓰려면 숫자나 문자로 바꿔야 한다는 점을 함께 언급하면 좋다. 이 명세는 이후 슬라이드에서 계속 사용되므로 실습 환경에 만들어 두게 한다. employees_seq 시퀀스가 없으면 미리 생성해야 한다.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본문 작성에서 가장 많이 나오는 오류는 명세와 헤더가 다른 경우다. 파라미터 이름을 바꾸거나 순서를 바꾸면 오라클은 그것을 다른 서브프로그램으로 보고 명세의 선언이 구현되지 않았다고 판단한다. 또 하나 강조할 점은 이름 참조 규칙이다. 같은 패키지 안에서는 이름만으로, 밖에서는 반드시 점 표기법으로 부른다는 차이를 예제에서 눈으로 확인시킨다. 명세 파일과 본문 파일을 나란히 열어 두고 헤더를 시각적으로 대조하는 습관을 들이면 PLS-00323 을 크게 줄일 수 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본문에서 눈여겨볼 부분은 세 가지다. 첫째, g_call_count 는 명세에 없으므로 Private 변수이며 세션 동안 값을 유지한다. 둘째, valid_job 은 Private 함수라 패키지 밖에서는 호출할 수 없다. 셋째, add_employee 가 dept_exists 와 valid_job 을 패키지 이름 없이 부른다. 명세에 선언된 상수와 예외도 본문 입장에서는 자기 패키지의 요소이므로 그대로 참조한다. 지면상 파라미터 목록과 INSERT 문을 줄임표로 표시했으므로 실제 실습에서는 트랜스크립트 01번의 전체 코드를 사용하도록 안내한다.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컴파일 오류는 메시지를 읽는 훈련이 전부다. PLS-00323 은 명세와 본문의 짝이 맞지 않는다는 뜻이므로 두 파일을 나란히 놓고 헤더를 한 글자씩 비교하면 된다. PLS-00304 는 본문이 없거나 깨진 상태를 알려 준다. PLS-00201 은 선언 순서 문제일 가능성이 높다. 세 가지 모두 SHOW ERRORS 로 정확한 줄과 열을 확인하는 습관을 들이도록 지도한다. 세 오류를 각각 일부러 만들어 보는 시간을 5분 정도 주면 이후 실습에서 스스로 진단할 수 있게 된다.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구간은 패키지를 실제로 설계하고 운영할 때 필요한 개념을 다룬다. 무엇을 공개하고 무엇을 감출 것인가라는 설계 판단, 패키지 변수가 세션마다 별도로 유지된다는 메모리 모델, 그리고 배포와 재컴파일 과정에서 벌어지는 일들이다. 특히 ALTER PACKAGE COMPILE BODY 와 COMPILE SPECIFICATION 의 차이는 운영 사고와 직결되므로 반드시 이해시킨다. 이 구간의 실습은 트랜스크립트 02번과 03번에 대응한다. 두 개의 세션을 동시에 띄워 두고 진행하면 상태 유지 개념을 즉시 확인할 수 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가시성은 세 겹의 동심원으로 그려 주면 한눈에 들어온다. 가장 바깥이 Public, 가운데가 Private, 안쪽이 Local 이다. 안쪽에서는 바깥을 볼 수 있지만 바깥에서는 안쪽을 볼 수 없다. 이 규칙을 어겼을 때 나오는 오류가 PLS-00302 다. 오류 메시지에 나오는 이름이 무엇인지 확인하고, 그것이 명세에 있는지 본문에만 있는지 확인하는 순서로 진단하도록 가르친다. 칠판에 동심원 세 개를 그리고 각 요소를 어느 원에 넣을지 학생들이 직접 배치하게 하면 개념이 빠르게 정리된다.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중요한 것은 오류를 없애는 방법이 두 가지이고 그중 하나가 명백히 더 낫다는 점이다. 명세에 선언을 추가하면 오류는 사라지지만 캡슐화가 무너지고 명세 변경으로 의존 객체가 전면 무효화된다. 검증용 보조 함수는 Private 으로 남기고 공개 프로시저를 통해 간접적으로 쓰는 편이 옳다. 최소 공개 원칙을 이 사례로 각인시킨다. 오류 메시지의 component 뒤에 오는 이름을 먼저 확인하고 그것이 명세에 있는지 검색하는 순서를 진단 절차로 삼게 한다.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패키지 설계의 원칙은 최소 공개다. 외부가 반드시 알아야 하는 업무 단위만 명세에 노출하고 나머지는 감춘다. 특히 패키지 변수를 공개하면 외부에서 아무 때나 값을 바꿀 수 있어 상태를 신뢰할 수 없게 된다. 조회와 설정을 위한 함수와 프로시저를 따로 제공하는 편이 안전하다. 명세는 한 번 공개하면 되돌리기 어렵다는 전제로 신중하게 결정해야 한다. 실제 프로젝트의 패키지 명세를 하나 가져와 공개 요소가 과하지 않은지 함께 검토해 보면 좋은 토론 소재가 된다.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패키지 변수를 설명할 때 가장 자주 생기는 오해는 세션 간 공유 캐시로 쓸 수 있다는 착각이다. 패키지 상태는 UGA 에 세션마다 별도로 존재하므로 다른 세션에서는 초기값 그대로다. 실습에서 두 개의 SQL*Plus 창을 열고 같은 패키지 변수를 조회하게 하면 이 차이를 즉시 체감할 수 있다. 진짜 공유가 필요하면 테이블이나 결과 캐시를 써야 한다. SQL*Plus 창을 두 개 열고 한쪽에서만 값을 올린 뒤 다른 쪽에서 조회하게 하면 세션별 사본이라는 개념이 즉시 이해된다.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단순한 상태 유지형 패키지다. g_hits 를 Private 으로 두고 hit 과 hits 만 공개했기 때문에 외부에서는 값을 직접 바꿀 수 없다. 익명 블록을 몇 번을 실행해도 같은 세션이면 값이 계속 누적된다. 접속을 끊고 다시 붙으면 0 으로 돌아간다는 사실을 실제로 보여 주면 UGA 개념이 확실히 자리를 잡는다. 초기화용 reset 프로시저를 함께 제공하는 것이 좋다. reset 프로시저를 추가로 만들어 진입점에서 호출하는 습관을 함께 소개하면 다음 슬라이드의 사고 사례로 자연스럽게 이어진다.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ORA-04068 은 운영 중 패키지를 재배포했을 때 실제로 자주 만나는 오류다. 이미 그 패키지를 사용 중이던 세션은 다음 호출에서 한 번 실패하고, 그 시점에 상태가 초기화되므로 재시도하면 정상 동작한다. 애플리케이션이 이 오류를 만났을 때 자동으로 한 번 재시도하도록 설계하거나, 무중단이 필요하다면 Edition-Based Redefinition 을 검토하도록 안내한다. 무중단 배포가 필요하다면 Edition-Based Redefinition 을 검토하도록 안내하고, 이 장의 범위를 넘는다는 점만 언급한다.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패키지 변수를 남용했을 때 벌어지는 대표적인 사고다. 웹 애플리케이션의 요청 단위와 데이터베이스 세션 단위가 일치하지 않는다는 점이 원인이다. 커넥션 풀은 세션을 재사용하므로 앞 요청이 남긴 값이 그대로 살아 있다. 세션 단위 캐시나 카운터처럼 성격이 분명한 용도로 제한하고, 사용자 식별 같은 보안 관련 값은 애플리케이션 컨텍스트를 쓰도록 지도한다. 이 사례는 패키지 변수를 배우자마자 남용하기 쉬운 시점에 배치했다. 편리함보다 위험을 먼저 인식시키는 것이 목적이다.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오버로딩은 호출자가 이름 하나만 기억하면 되게 해 주는 편의 기능이다. 사원을 사번으로도 찾고 이름으로도 찾아야 한다면 find_emp 하나로 두 가지를 제공할 수 있다. 다만 구분 기준이 파라미터의 개수와 순서와 자료형 계열이라는 점을 정확히 짚어야 한다. 반환형만 다르거나 같은 계열의 자료형으로는 구분되지 않으며 PLS-00305 로 컴파일이 실패한다. 표준 패키지 STANDARD 의 내장 함수들도 오버로딩되어 있다는 점을 예로 들면 개념이 더 친숙해진다.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호출 예제에서 확인할 점은 세 가지다. 프로시저는 EXECUTE 로, 함수는 SELECT 문 안에서, 공개 상수는 그대로 읽을 수 있다는 것이다. 오버로딩 예제에서는 같은 이름의 두 프로시저가 실인자의 자료형으로 구분된다는 점을 보여 준다. 만약 두 파라미터가 모두 NUMBER 계열이었다면 오라클은 어느 것을 부를지 결정하지 못하고 컴파일 단계에서 오류를 낸다. BOOLEAN 을 반환하는 함수는 SQL 문에서 호출할 수 없다는 점을 여기서 다시 확인시키면 4장의 제약과 연결된다.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전방 선언과 초기화 블록은 둘 다 본문에만 존재하는 장치다. 전방 선언은 선언 순서 문제를 푸는 도구이고, 초기화 블록은 세션마다 한 번씩 준비 작업을 하는 도구다. 초기화 블록에서 예외가 처리되지 않으면 패키지 적재 자체가 실패해 모든 호출이 죽는다는 점을 강조한다. 또 무거운 조회를 넣으면 그 세션의 첫 호출만 유독 느려진다는 점도 함께 짚는다. 전방 선언은 C 언어의 함수 프로토타입과 같은 개념이라고 설명하면 개발 경험이 있는 수강생에게 빠르게 전달된다.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PL/SQL 은 식별자가 사용되기 전에 선언되어 있어야 한다는 규칙을 따른다. 그래서 뒤에 정의된 inner_chk 를 앞에서 부르면 PLS-00313 이 발생한다. 단순히 순서를 바꾸면 해결되는 것처럼 보이지만 두 프로시저가 서로를 부르는 상호 재귀 구조에서는 순서로 풀 수 없다. 전방 선언의 헤더는 실제 구현의 헤더와 완전히 일치해야 한다는 점도 함께 확인시킨다. 순서를 바꾸어 해결되는 경우와 해결되지 않는 상호 재귀 경우를 각각 실행해 보게 하면 전방 선언의 필요성이 분명해진다.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운영에서 반드시 지켜야 할 규칙은 본문만 고쳤다면 COMPILE BODY 만 실행하는 것이다. COMPILE 이나 COMPILE SPECIFICATION 을 쓰면 그 패키지를 참조하는 모든 객체가 INVALID 로 바뀌어 다음 호출에서 재컴파일이 몰린다. 배포 후에는 USER_OBJECTS 에서 STATUS 가 INVALID 인 객체를 확인하고 정리하는 절차를 표준으로 만들어 두도록 안내한다. 배포 스크립트 템플릿을 함께 만들어 보고 명세와 본문의 적용 순서를 고정해 두면 현업에서 바로 활용할 수 있다.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본문만 삭제한 뒤 호출해 보면 명세는 살아 있지만 실행할 코드가 없다는 사실이 오류로 드러난다. ORA-04063 과 PLS-00905 가 함께 나오는 이 패턴은 배포가 절반만 끝났을 때 운영에서 실제로 자주 만난다. 소스를 명세는 .pks, 본문은 .pkb 로 나누어 형상 관리하고 배포 순서를 명세 먼저 본문 나중으로 고정하면 이런 사고를 막을 수 있다. 본문을 삭제한 뒤 다시 만들어 정상으로 돌아오는 과정까지 실행해 보게 하면 배포 실패 복구 절차를 몸으로 익힐 수 있다.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구간부터는 트리거를 다룬다. 트리거는 누군가 이름을 불러야 실행되는 프로시저와 달리 사건이 일어나면 데이터베이스가 알아서 실행한다. 이 자동성이 강력한 만큼 위험하기도 하다. 호출 코드 어디에도 나타나지 않기 때문에 모르는 사람에게는 원인 불명의 동작으로 보인다. 그래서 트리거는 문법보다 설계 판단이 더 중요한 주제다. 이 구간의 실습은 트랜스크립트 04번과 05번에 대응한다. 감사 테이블 EMP_AUDIT_DETAIL 을 미리 만들어 두게 한다.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트리거를 정의하는 다섯 요소를 하나씩 결정해 나가면 트리거 문장이 자연스럽게 완성된다. 시점을 정하고 이벤트를 정하고 대상 테이블을 정한 다음 FOR EACH ROW 를 붙일지 결정하고 마지막으로 본문을 쓰는 순서다. 수업에서는 이 다섯 칸을 빈칸으로 두고 요구사항을 주면서 채워 보게 하면 개념이 빨리 정착된다. 요구사항 문장을 하나 주고 다섯 요소를 각각 무엇으로 정할지 빈칸을 채우게 하는 연습이 개념 정착에 효과적이다.</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트리거는 종류가 많지만 이 장에서 집중할 것은 DML 트리거와 INSTEAD OF 트리거, 그리고 복합 트리거 세 가지다. DDL 트리거와 데이터베이스 이벤트 트리거는 DBA 영역에서 감사와 자동화 목적으로 쓰이므로 개념만 소개한다. 복합 트리거는 이름이 낯설지만 실무에서 뮤테이팅 테이블 오류를 푸는 표준 도구이므로 반드시 다룬다. DDL 트리거와 이벤트 트리거는 7장의 운영 자동화에서 다시 등장하므로 여기서는 이름과 용도만 기억하게 한다.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트리거를 쓸지 말지 판단하는 기준은 단순하다. 제약 조건으로 표현할 수 있으면 제약 조건이 정답이다. 트리거는 제약 조건이 표현할 수 없는 규칙, 즉 다른 테이블을 참조해야 하거나 값을 자동으로 채워야 하거나 이력을 남겨야 할 때만 쓴다. 그리고 트리거 안에서는 트랜잭션 제어를 할 수 없다. 트리거는 트리거링 문장의 트랜잭션에 속하기 때문이다. 현업에서 트리거를 남용해 성능과 추적성이 무너진 사례를 하나쯤 준비해 두면 설득력이 크게 올라간다.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문법에서 가장 중요한 한 줄은 FOR EACH ROW 다. 이 한 줄의 유무로 문장 트리거와 행 트리거가 갈리고, :OLD 와 :NEW 를 쓸 수 있는지가 결정되며, 실행 횟수가 달라진다. WHEN 절은 행 트리거에서만 쓸 수 있다는 제약도 함께 기억하게 한다. CREATE TRIGGER 는 DDL 이므로 실행 시 암시적 커밋이 일어난다는 점도 짚어 준다. REFERENCING 절은 OLD 나 NEW 라는 이름의 컬럼이 있을 때만 필요하므로 평소에는 생략한다고 안내한다.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문장 트리거의 핵심은 실행 횟수다. 문장 하나당 한 번이며 변경된 행이 없어도 발화한다. 이 성질 때문에 보안 규칙이나 작업 로그처럼 문장 전체에 걸친 판단에 적합하다. 반대로 어느 행이 어떻게 바뀌었는지 알아야 하는 일에는 쓸 수 없다. 문장 트리거에서 :NEW 를 쓰려다 실패하는 경험을 한 번 하고 나면 이 차이가 확실히 각인된다. 조건에 맞는 행이 없어 0건이 변경된 UPDATE 에서도 문장 트리거가 발화하는 것을 직접 실행해 확인시킨다.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오류 스택을 아래에서 위로 읽는 훈련을 시킨다. ORA-04088 은 트리거 실행 중 오류가 났다는 사실을, ORA-06512 는 그 위치를, ORA-20500 은 우리가 직접 던진 메시지를 알려 준다. BEFORE 문장 트리거에서 예외를 던지면 트리거링 문장 전체가 취소되어 한 행도 변경되지 않는다는 점도 함께 확인시킨다. 이것이 보안 규칙을 강제하는 표준 패턴이다. 실습 시간대에 따라 이 트리거가 정상 동작을 막을 수 있으므로 확인 후 반드시 DISABLE 하거나 삭제하도록 안내한다.</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오류는 컴파일 단계에서 걸린다는 점이 중요하다. 실행해 봐야 아는 문제가 아니라 트리거를 만드는 순간 알 수 있다. 다만 SQL*Plus 는 경고만 출력하고 넘어가므로 SHOW ERRORS 를 습관적으로 실행해야 놓치지 않는다. 해결책은 두 가지 중 하나다. 행 단위 값이 필요하면 FOR EACH ROW 를 붙이고, 필요 없다면 :NEW 참조를 지운다. SQL*Plus 가 경고만 출력하고 프롬프트로 돌아오기 때문에 성공한 줄 알고 넘어가기 쉽다는 점을 특히 강조한다.</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행 트리거의 핵심은 두 가지다. 실행 횟수가 행 수와 같다는 것과 :OLD 및 :NEW 로 그 행의 값을 볼 수 있다는 것이다. 이벤트별로 어느 쪽이 NULL 인지는 표로 외우기보다 논리로 이해시키는 편이 좋다. INSERT 는 변경 전 값이 없으니 :OLD 가 NULL 이고, DELETE 는 변경 후 값이 없으니 :NEW 가 NULL 이다. 대입은 값이 확정되기 전인 BEFORE 에서만 가능하다. 표를 외우게 하지 말고 왜 그런지 논리로 설명하게 하면 시험이 아니라 실무에서도 틀리지 않는다.</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행 트리거의 대표적 용도인 값 정규화 예제다. 입력한 값과 실제로 저장된 값이 다르다는 사실을 SELECT 로 확인시키는 것이 핵심이다. 이렇게 트리거가 값을 바꾸면 애플리케이션 개발자는 자신이 보낸 값이 왜 달라졌는지 알 수 없다. 그래서 트리거의 존재와 동작을 반드시 문서화해야 한다는 점을 여기서 다시 강조한다. 입력한 값과 저장된 값이 다르다는 사실이 디버깅을 얼마나 어렵게 만드는지 함께 이야기하면 문서화의 필요성이 와닿는다.</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감사 이력 기록은 AFTER 행 트리거의 표준 용도다. 값이 이미 확정된 뒤이므로 안전하게 다른 테이블에 기록할 수 있다. WHEN 절에서 콜론을 붙이지 않는다는 문법 규칙을 여기서 확인시킨다. 또 NULL 이 섞이는 비교는 NVL 로 감싸야 의도대로 동작한다. 마지막으로 한 문장이 다섯 개의 감사 행을 만들었다는 사실로 행 트리거의 실행 횟수를 다시 각인시킨다. 감사 테이블이 원본 테이블보다 훨씬 빨리 커진다는 점을 언급하고 파티셔닝이나 보관 주기 정책의 필요성을 짚어 준다.</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값을 바꾸려면 BEFORE, 값을 기록하려면 AFTER 라는 원칙을 이 오류로 확정한다. AFTER 시점에는 이미 변경이 반영되었기 때문에 :NEW 를 바꾸어도 반영할 곳이 없다. 그래서 오라클은 대입 자체를 허용하지 않는다. 문장 트리거에서 :NEW 에 대입을 시도한 경우에도 같은 계열의 오류가 나오므로 시점과 수준을 함께 확인하는 습관을 들이게 한다. 값을 바꾸려면 BEFORE, 기록하려면 AFTER 라는 한 줄 규칙으로 정리해 주면 이후 실습에서 헷갈리지 않는다.</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발화 조건을 좁히는 수단은 세 가지이고 비용이 다르다. UPDATE OF 절은 트리거 자체를 발화시키지 않아 가장 저렴하고, WHEN 절은 진입은 하지만 본문을 실행하지 않으며, 본문 안의 IF 문은 항상 본문에 진입하므로 가장 비싸다. 다만 함수 호출이나 서브쿼리가 필요하면 IF 문밖에 쓸 수 없다. 상황에 맞게 고르는 판단력을 기르도록 지도한다. WHEN 절에 함수를 넣어 오류를 만들어 보고 그것을 본문 IF 문으로 옮기는 연습을 하면 세 수단의 차이가 분명해진다.</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하나의 트리거가 세 이벤트를 모두 담당할 때의 표준 구조다. 조건 술어로 분기해 필요한 값을 지역 변수에 담고 마지막에 한 번만 INSERT 한다. 이렇게 하면 INSERT 문이 세 번 반복되지 않아 유지보수가 쉬워진다. DELETE 분기에서 :NEW 가 아니라 :OLD 를 쓰는 이유, INSERT 분기에서 :OLD 를 쓰지 않는 이유를 학생들에게 직접 설명하게 하면 이해도를 점검할 수 있다. UPDATE OF 절과 UPDATING 조건 술어의 차이를 여기서 다시 물어보면 앞 슬라이드의 내용을 자연스럽게 복습할 수 있다.</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구간은 여러 트리거가 얽혔을 때의 순서 문제, 뷰에 대한 DML 을 가능하게 하는 INSTEAD OF 트리거, 그리고 실무에서 가장 자주 부딪히는 뮤테이팅 테이블 오류를 다룬다. 마지막으로 트리거를 껐다 켜는 운영 작업과 그 과정에서 실제로 벌어졌던 사고를 살펴본다. 이 구간의 내용은 대부분 장애 대응 상황에서 필요한 지식이다. 이 구간의 실습은 트랜스크립트 06번과 07번에 대응한다. 뷰와 복합 트리거를 만들 권한이 있는지 미리 확인하게 한다.</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실행 순서는 말로만 설명하면 잘 남지 않으므로 DBMS_OUTPUT 으로 번호를 찍는 실습을 반드시 하게 한다. 단일 행 UPDATE 와 다중 행 UPDATE 를 각각 실행해 출력 패턴이 어떻게 달라지는지 비교하면 구조가 한눈에 들어온다. 같은 시점에 트리거가 둘 이상이면 순서가 보장되지 않으므로 FOLLOWS 로 명시해야 한다는 점도 함께 강조한다. 단일 행과 다중 행 UPDATE 를 각각 실행해 출력 패턴을 비교하게 하면 구조가 한눈에 들어온다.</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출력 결과를 보면 BEFORE 문장이 한 번, 행 단위 트리거 쌍이 행 수만큼 반복, AFTER 문장이 한 번이라는 구조가 그대로 드러난다. FOLLOWS 절은 11g 에서 도입되어 19c 에서도 그대로 쓰인다. 검증 트리거가 먼저 돌고 값 보정 트리거가 나중에 돌아야 한다면 이렇게 순서를 고정한다. PRECEDES 는 반대 방향을 지정할 때 쓴다. 확인이 끝난 뒤에는 네 개의 테스트 트리거를 반드시 삭제하도록 안내한다. 남아 있으면 이후 실습 출력이 지저분해진다.</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INSTEAD OF 트리거는 이름 그대로 원래의 DML 대신 실행된다. 조인 뷰에 UPDATE 를 걸면 오라클은 어느 테이블을 바꿔야 할지 모르지만, 업무를 아는 개발자는 알 수 있다. 그 지식을 트리거 본문에 담는 것이다. 제약은 두 가지다. 뷰에만 만들 수 있고 항상 행 수준이다. 테이블에 만들려고 하면 ORA-25002 로 즉시 거부된다. 키 보존 테이블이라는 개념을 간단히 설명하면 왜 어떤 조인 뷰는 갱신이 되고 어떤 것은 안 되는지 이해할 수 있다.</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트리거 본문에서 두 개의 기저 테이블을 각각 갱신한다. 사원 정보는 EMPLOYEES 로, 부서 이름은 DEPARTMENTS 로 보낸다. 부서 이름이 실제로 바뀐 경우에만 두 번째 UPDATE 를 수행하도록 조건을 걸어 불필요한 갱신을 막았다. 여러 테이블을 한 트랜잭션에서 바꾸므로 중간에 실패하면 전체가 취소되도록 예외를 그대로 전파시켜야 한다는 점도 강조한다. INSTEAD OF DELETE 를 만들 때 어느 기저 테이블을 지울지 결정하기 어렵다는 점을 토론 주제로 던져 보면 좋다.</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뮤테이팅 테이블 오류는 트리거를 쓰다 보면 반드시 만나는 벽이다. 컴파일은 통과하고 실행할 때 터지기 때문에 테스트가 부실하면 운영에서 발견된다. 회피 방법 세 가지 중 자율 트랜잭션은 겉보기에는 동작하지만 아직 커밋되지 않은 변경을 볼 수 없어 검증 결과가 틀릴 수 있다. 복합 트리거가 표준 해법이라는 점을 분명히 전달한다. 컴파일은 통과하고 실행할 때 터지는 오류라는 점 때문에 단위 테스트가 부실하면 운영에서 발견된다는 사실을 강조한다.</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복합 트리거의 구조는 네 개의 타이밍 지점이 하나의 선언부를 공유한다는 점이 전부다. BEFORE STATEMENT 에서 수집용 컬렉션을 비우고, AFTER EACH ROW 에서 대상만 모으고, AFTER STATEMENT 에서 실제로 조회하고 검증한다. 행 시점에는 자기 테이블을 읽지 않으므로 ORA-04091 이 발생하지 않는다. 선언부의 값은 문장 하나가 끝나면 초기화된다는 점도 함께 짚는다. 복합 트리거는 11g 에서 도입되어 19c 에서도 동일하게 동작한다. 그 이전 버전에서는 패키지 변수와 세 개의 트리거를 조합해야 했다.</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대량 적재 작업에서는 트리거를 잠시 꺼 두는 것이 일반적이다. 문제는 다시 켜는 것을 잊는 경우다. 실제로 야간 적재 스크립트가 중간에 실패해 ENABLE 이 실행되지 않았고 사흘치 감사 이력이 통째로 비어 있던 사고가 있었다. 적재 스크립트를 익명 블록으로 감싸 EXCEPTION 절에서 반드시 켜도록 만들고, 매일 DISABLED 상태를 점검하는 모니터링을 두어야 한다. 적재 성능을 위해 트리거를 끄기 전에 정말 꺼도 되는지, 꺼진 동안의 데이터는 어떻게 보정할지 먼저 결정해야 한다.</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운영 점검 쿼리 두 개를 표준으로 삼도록 안내한다. 하나는 꺼져 있는 트리거를 찾는 쿼리, 다른 하나는 컴파일 오류가 있는 트리거를 찾는 쿼리다. 두 쿼리를 일일 점검 스크립트에 넣어 두면 앞의 사고를 예방할 수 있다. ORA-04080 은 단순한 이름 오타지만 스크립트에서 나면 원인을 찾느라 시간을 낭비하기 쉬우므로 항상 딕셔너리로 정확한 이름을 확인한다. TRIGGER_BODY 컬럼은 LONG 타입이라 일반 문자열 함수로 검색하기 어렵다는 점도 함께 언급해 둔다.</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만난 오류를 한 장으로 모았다. PLS 로 시작하는 것은 컴파일 단계, ORA 로 시작하는 것은 실행 단계라는 큰 구분을 먼저 기억하게 한다. 그다음 각 오류가 어떤 규칙을 어긴 결과인지 한 줄로 설명할 수 있게 연습시킨다. 실습 트랜스크립트 일곱 편에 이 오류들이 모두 재현되어 있으므로 직접 만나 보고 수정해 보는 과정을 반드시 거치게 한다. 이 슬라이드는 실습 중 참고용으로 인쇄해 두면 유용하다. 오류 번호만 보고 원인을 말할 수 있는지 서로 퀴즈를 내게 한다.</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앞의 세 문항은 모두 패키지의 구조와 상태에 관한 것이다. Q1 은 명세와 본문이 별개의 객체라는 사실을 이해했는지, Q2 는 가시성 규칙과 설계 판단을 함께 묻는다. Q3 은 UGA 라는 메모리 구조를 알고 있는지 확인한다. 정답을 바로 말해 주기보다 학생들이 서로 설명하게 한 뒤 실습 트랜스크립트로 검증하도록 진행하면 효과가 좋다. 각 문항은 실습문제 파일의 상 난이도 문항과 연결되어 있으므로 답을 정리한 뒤 해당 문항을 풀어 보게 하면 좋다.</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뒤의 세 문항은 트리거의 수준과 시점에 관한 것이다. Q4 는 문장 트리거와 행 트리거의 차이, Q5 는 이벤트별 :OLD 와 :NEW 의 의미, Q6 은 뮤테이팅 테이블 오류의 원인과 복합 트리거 해법을 묻는다. 특히 Q6 은 네 개의 타이밍 지점 각각에서 무엇을 해야 하는지 순서대로 말할 수 있어야 완전히 이해한 것으로 볼 수 있다. Q6 을 설명할 때 네 개의 타이밍 지점 이름을 정확히 말하는지 확인하면 복합 트리거의 이해도를 정밀하게 점검할 수 있다.</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장의 핵심을 여덟 줄로 정리했다. 패키지에서는 명세와 본문의 분리, 가시성, 상태 유지 세 가지가 핵심이고, 트리거에서는 수준에 따른 실행 횟수, :OLD 와 :NEW 의 사용 규칙, 실행 순서 세 가지가 핵심이다. 여기에 INSTEAD OF 와 복합 트리거라는 두 개의 특수 도구가 더해진다. 이 여덟 줄을 보고 각각을 설명할 수 있으면 이 장의 목표는 달성된 것이다. 다음 6장에서는 동적 SQL 을 다루며 이 장에서 만든 패키지 구조를 DBA 자동화 패키지로 확장해 나간다.</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실습은 SQL*Plus 세션 트랜스크립트 일곱 편으로 구성된다. 각 편은 정상 흐름만 보여 주지 않고 반드시 한 번 이상 컴파일 오류나 런타임 예외를 만난 뒤 원인을 진단하고 수정하는 과정을 담고 있다. HR 스키마로 접속해 순서대로 따라 하되 오류 메시지를 먼저 읽고 원인을 스스로 추측한 다음 해설을 확인하는 방식으로 진행하도록 안내한다. 실습을 마친 뒤에는 이 장에서 만든 트리거를 모두 삭제하거나 비활성화하도록 안내한다. 다음 장 실습에 영향을 주기 때문이다.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ea typeface="Malgun Gothic"/>
              </a:rPr>
              <a:t>Oracle PL/SQL </a:t>
            </a:r>
            <a:r>
              <a:rPr sz="1800" b="1" dirty="0" err="1">
                <a:solidFill>
                  <a:srgbClr val="C0392B"/>
                </a:solidFill>
                <a:latin typeface="Malgun Gothic"/>
                <a:ea typeface="Malgun Gothic"/>
              </a:rPr>
              <a:t>실무·DBA</a:t>
            </a:r>
            <a:r>
              <a:rPr sz="1800" b="1" dirty="0">
                <a:solidFill>
                  <a:srgbClr val="C0392B"/>
                </a:solidFill>
                <a:latin typeface="Malgun Gothic"/>
                <a:ea typeface="Malgun Gothic"/>
              </a:rPr>
              <a:t> </a:t>
            </a:r>
            <a:r>
              <a:rPr sz="1800" b="1" dirty="0" err="1">
                <a:solidFill>
                  <a:srgbClr val="C0392B"/>
                </a:solidFill>
                <a:latin typeface="Malgun Gothic"/>
                <a:ea typeface="Malgun Gothic"/>
              </a:rPr>
              <a:t>운영자동화</a:t>
            </a:r>
            <a:r>
              <a:rPr sz="1800" b="1" dirty="0">
                <a:solidFill>
                  <a:srgbClr val="C0392B"/>
                </a:solidFill>
                <a:latin typeface="Malgun Gothic"/>
                <a:ea typeface="Malgun Gothic"/>
              </a:rPr>
              <a:t> </a:t>
            </a:r>
            <a:r>
              <a:rPr sz="1800" b="1" dirty="0" err="1">
                <a:solidFill>
                  <a:srgbClr val="C0392B"/>
                </a:solidFill>
                <a:latin typeface="Malgun Gothic"/>
                <a:ea typeface="Malgun Gothic"/>
              </a:rPr>
              <a:t>과정</a:t>
            </a:r>
            <a:r>
              <a:rPr sz="1800" b="1" dirty="0">
                <a:solidFill>
                  <a:srgbClr val="C0392B"/>
                </a:solidFill>
                <a:latin typeface="Malgun Gothic"/>
                <a:ea typeface="Malgun Gothic"/>
              </a:rPr>
              <a:t>  ·  제5장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ea typeface="Malgun Gothic"/>
              </a:rPr>
              <a:t>패키지와 트리거</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ea typeface="Malgun Gothic"/>
              </a:rPr>
              <a:t>Package · Specification/Body · Public/Private · Package Variable · Trigger · :OLD/:NEW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이 장을 마치면 다음을 수행할 수 있어야 한다.</a:t>
            </a:r>
          </a:p>
          <a:p>
            <a:pPr>
              <a:spcAft>
                <a:spcPts val="300"/>
              </a:spcAft>
            </a:pPr>
            <a:r>
              <a:rPr sz="1600" b="0">
                <a:solidFill>
                  <a:srgbClr val="5A6672"/>
                </a:solidFill>
                <a:latin typeface="Malgun Gothic"/>
                <a:ea typeface="Malgun Gothic"/>
              </a:rPr>
              <a:t>    –  패키지 명세와 본문을 분리해 작성하고 두 객체의 관계를 설명한다</a:t>
            </a:r>
          </a:p>
          <a:p>
            <a:pPr>
              <a:spcAft>
                <a:spcPts val="300"/>
              </a:spcAft>
            </a:pPr>
            <a:r>
              <a:rPr sz="1600" b="0">
                <a:solidFill>
                  <a:srgbClr val="5A6672"/>
                </a:solidFill>
                <a:latin typeface="Malgun Gothic"/>
                <a:ea typeface="Malgun Gothic"/>
              </a:rPr>
              <a:t>    –  Public 과 Private 의 가시성 차이를 설명하고 PLS-00302 를 진단한다</a:t>
            </a:r>
          </a:p>
          <a:p>
            <a:pPr>
              <a:spcAft>
                <a:spcPts val="300"/>
              </a:spcAft>
            </a:pPr>
            <a:r>
              <a:rPr sz="1600" b="0">
                <a:solidFill>
                  <a:srgbClr val="5A6672"/>
                </a:solidFill>
                <a:latin typeface="Malgun Gothic"/>
                <a:ea typeface="Malgun Gothic"/>
              </a:rPr>
              <a:t>    –  패키지 변수의 세션별 상태 유지(Persistent State) 성질을 활용한다</a:t>
            </a:r>
          </a:p>
          <a:p>
            <a:pPr>
              <a:spcAft>
                <a:spcPts val="300"/>
              </a:spcAft>
            </a:pPr>
            <a:r>
              <a:rPr sz="1600" b="0">
                <a:solidFill>
                  <a:srgbClr val="5A6672"/>
                </a:solidFill>
                <a:latin typeface="Malgun Gothic"/>
                <a:ea typeface="Malgun Gothic"/>
              </a:rPr>
              <a:t>    –  오버로딩 · 전방 선언 · 초기화 블록으로 패키지 본문을 구조화한다</a:t>
            </a:r>
          </a:p>
          <a:p>
            <a:pPr>
              <a:spcAft>
                <a:spcPts val="300"/>
              </a:spcAft>
            </a:pPr>
            <a:r>
              <a:rPr sz="1600" b="0">
                <a:solidFill>
                  <a:srgbClr val="5A6672"/>
                </a:solidFill>
                <a:latin typeface="Malgun Gothic"/>
                <a:ea typeface="Malgun Gothic"/>
              </a:rPr>
              <a:t>    –  BEFORE/AFTER · INSERT/UPDATE/DELETE · 문장/행 을 조합해 트리거를 만든다</a:t>
            </a:r>
          </a:p>
          <a:p>
            <a:pPr>
              <a:spcAft>
                <a:spcPts val="300"/>
              </a:spcAft>
            </a:pPr>
            <a:r>
              <a:rPr sz="1600" b="0">
                <a:solidFill>
                  <a:srgbClr val="5A6672"/>
                </a:solidFill>
                <a:latin typeface="Malgun Gothic"/>
                <a:ea typeface="Malgun Gothic"/>
              </a:rPr>
              <a:t>    –  :OLD 와 :NEW 를 이벤트와 시점에 맞게 사용하고 ORA-04084 를 피한다</a:t>
            </a:r>
          </a:p>
          <a:p>
            <a:pPr>
              <a:spcAft>
                <a:spcPts val="300"/>
              </a:spcAft>
            </a:pPr>
            <a:r>
              <a:rPr sz="1600" b="0">
                <a:solidFill>
                  <a:srgbClr val="5A6672"/>
                </a:solidFill>
                <a:latin typeface="Malgun Gothic"/>
                <a:ea typeface="Malgun Gothic"/>
              </a:rPr>
              <a:t>    –  WHEN 절과 조건 술어로 발화 조건을 좁히고 실행 순서를 설명한다</a:t>
            </a:r>
          </a:p>
          <a:p>
            <a:pPr>
              <a:spcAft>
                <a:spcPts val="300"/>
              </a:spcAft>
            </a:pPr>
            <a:r>
              <a:rPr sz="1600" b="0">
                <a:solidFill>
                  <a:srgbClr val="5A6672"/>
                </a:solidFill>
                <a:latin typeface="Malgun Gothic"/>
                <a:ea typeface="Malgun Gothic"/>
              </a:rPr>
              <a:t>    –  INSTEAD OF 트리거로 갱신 불가능한 복합 뷰의 DML 을 처리한다</a:t>
            </a:r>
          </a:p>
          <a:p>
            <a:pPr>
              <a:spcAft>
                <a:spcPts val="300"/>
              </a:spcAft>
            </a:pPr>
            <a:r>
              <a:rPr sz="1600" b="0">
                <a:solidFill>
                  <a:srgbClr val="5A6672"/>
                </a:solidFill>
                <a:latin typeface="Malgun Gothic"/>
                <a:ea typeface="Malgun Gothic"/>
              </a:rPr>
              <a:t>    –  ORA-04091 뮤테이팅 테이블 오류를 복합 트리거로 회피한다</a:t>
            </a:r>
          </a:p>
          <a:p>
            <a:pPr>
              <a:spcAft>
                <a:spcPts val="300"/>
              </a:spcAft>
            </a:pPr>
            <a:r>
              <a:rPr sz="1600" b="0">
                <a:solidFill>
                  <a:srgbClr val="5A6672"/>
                </a:solidFill>
                <a:latin typeface="Malgun Gothic"/>
                <a:ea typeface="Malgun Gothic"/>
              </a:rPr>
              <a:t>    –  ALTER TRIGGER 와 USER_TRIGGERS 로 트리거 상태를 관리한다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5.1~5.4  패키지가 필요한 이유 · 명세와 본문의 분리 · 작성 문법</a:t>
            </a:r>
          </a:p>
          <a:p>
            <a:pPr>
              <a:spcAft>
                <a:spcPts val="500"/>
              </a:spcAft>
            </a:pPr>
            <a:r>
              <a:rPr sz="1800" b="0">
                <a:solidFill>
                  <a:srgbClr val="202830"/>
                </a:solidFill>
                <a:latin typeface="Malgun Gothic"/>
                <a:ea typeface="Malgun Gothic"/>
              </a:rPr>
              <a:t>•  5.5~5.6  Public/Private 가시성 · 패키지 변수와 상태 유지</a:t>
            </a:r>
          </a:p>
          <a:p>
            <a:pPr>
              <a:spcAft>
                <a:spcPts val="500"/>
              </a:spcAft>
            </a:pPr>
            <a:r>
              <a:rPr sz="1800" b="0">
                <a:solidFill>
                  <a:srgbClr val="202830"/>
                </a:solidFill>
                <a:latin typeface="Malgun Gothic"/>
                <a:ea typeface="Malgun Gothic"/>
              </a:rPr>
              <a:t>•  5.7~5.9  호출과 오버로딩 · 전방 선언과 초기화 블록 · 패키지 관리</a:t>
            </a:r>
          </a:p>
          <a:p>
            <a:pPr>
              <a:spcAft>
                <a:spcPts val="500"/>
              </a:spcAft>
            </a:pPr>
            <a:r>
              <a:rPr sz="1800" b="0">
                <a:solidFill>
                  <a:srgbClr val="202830"/>
                </a:solidFill>
                <a:latin typeface="Malgun Gothic"/>
                <a:ea typeface="Malgun Gothic"/>
              </a:rPr>
              <a:t>•  5.10~5.12  트리거의 개념과 분류 · 생성 문법 · Statement Trigger</a:t>
            </a:r>
          </a:p>
          <a:p>
            <a:pPr>
              <a:spcAft>
                <a:spcPts val="500"/>
              </a:spcAft>
            </a:pPr>
            <a:r>
              <a:rPr sz="1800" b="0">
                <a:solidFill>
                  <a:srgbClr val="202830"/>
                </a:solidFill>
                <a:latin typeface="Malgun Gothic"/>
                <a:ea typeface="Malgun Gothic"/>
              </a:rPr>
              <a:t>•  5.13~5.14  Row Trigger 와 :OLD/:NEW · WHEN 절과 조건 술어</a:t>
            </a:r>
          </a:p>
          <a:p>
            <a:pPr>
              <a:spcAft>
                <a:spcPts val="500"/>
              </a:spcAft>
            </a:pPr>
            <a:r>
              <a:rPr sz="1800" b="0">
                <a:solidFill>
                  <a:srgbClr val="202830"/>
                </a:solidFill>
                <a:latin typeface="Malgun Gothic"/>
                <a:ea typeface="Malgun Gothic"/>
              </a:rPr>
              <a:t>•  5.15~5.17  실행 순서 · INSTEAD OF 트리거 · 뮤테이팅 테이블과 복합 트리거</a:t>
            </a:r>
          </a:p>
          <a:p>
            <a:pPr>
              <a:spcAft>
                <a:spcPts val="500"/>
              </a:spcAft>
            </a:pPr>
            <a:r>
              <a:rPr sz="1800" b="0">
                <a:solidFill>
                  <a:srgbClr val="202830"/>
                </a:solidFill>
                <a:latin typeface="Malgun Gothic"/>
                <a:ea typeface="Malgun Gothic"/>
              </a:rPr>
              <a:t>•  5.18~5.19  트리거 상태 관리 · 이 장에서 만난 오류 정리</a:t>
            </a:r>
          </a:p>
          <a:p>
            <a:pPr>
              <a:spcAft>
                <a:spcPts val="500"/>
              </a:spcAft>
            </a:pPr>
            <a:r>
              <a:rPr sz="1800" b="0">
                <a:solidFill>
                  <a:srgbClr val="202830"/>
                </a:solidFill>
                <a:latin typeface="Malgun Gothic"/>
                <a:ea typeface="Malgun Gothic"/>
              </a:rPr>
              <a:t>•  퀴즈 6문항 · 요약 · 실습 트랜스크립트 7편</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4026131" cy="1107996"/>
          </a:xfrm>
          <a:prstGeom prst="rect">
            <a:avLst/>
          </a:prstGeom>
          <a:noFill/>
        </p:spPr>
        <p:txBody>
          <a:bodyPr wrap="square">
            <a:spAutoFit/>
          </a:bodyPr>
          <a:lstStyle/>
          <a:p>
            <a:r>
              <a:rPr sz="6600" b="1" dirty="0">
                <a:solidFill>
                  <a:srgbClr val="C0392B"/>
                </a:solidFill>
                <a:latin typeface="Malgun Gothic"/>
                <a:ea typeface="Malgun Gothic"/>
              </a:rPr>
              <a:t>5.1~5.4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패키지의 구조와 작성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500"/>
              </a:spcAft>
            </a:pPr>
            <a:r>
              <a:rPr sz="1600" b="0">
                <a:solidFill>
                  <a:srgbClr val="C5CED6"/>
                </a:solidFill>
                <a:latin typeface="Malgun Gothic"/>
                <a:ea typeface="Malgun Gothic"/>
              </a:rPr>
              <a:t>•  프로시저·함수만으로는 부족한 세 가지 이유</a:t>
            </a:r>
          </a:p>
          <a:p>
            <a:pPr>
              <a:spcAft>
                <a:spcPts val="500"/>
              </a:spcAft>
            </a:pPr>
            <a:r>
              <a:rPr sz="1600" b="0">
                <a:solidFill>
                  <a:srgbClr val="C5CED6"/>
                </a:solidFill>
                <a:latin typeface="Malgun Gothic"/>
                <a:ea typeface="Malgun Gothic"/>
              </a:rPr>
              <a:t>•  명세(Specification)와 본문(Body)의 분리</a:t>
            </a:r>
          </a:p>
          <a:p>
            <a:pPr>
              <a:spcAft>
                <a:spcPts val="500"/>
              </a:spcAft>
            </a:pPr>
            <a:r>
              <a:rPr sz="1600" b="0">
                <a:solidFill>
                  <a:srgbClr val="C5CED6"/>
                </a:solidFill>
                <a:latin typeface="Malgun Gothic"/>
                <a:ea typeface="Malgun Gothic"/>
              </a:rPr>
              <a:t>•  CREATE OR REPLACE PACKAGE / PACKAGE BODY 문법</a:t>
            </a:r>
          </a:p>
          <a:p>
            <a:pPr>
              <a:spcAft>
                <a:spcPts val="500"/>
              </a:spcAft>
            </a:pPr>
            <a:r>
              <a:rPr sz="1600" b="0">
                <a:solidFill>
                  <a:srgbClr val="C5CED6"/>
                </a:solidFill>
                <a:latin typeface="Malgun Gothic"/>
                <a:ea typeface="Malgun Gothic"/>
              </a:rPr>
              <a:t>•  본문 컴파일에서 자주 만나는 PLS 오류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프로시저·함수만으로는 부족하다</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ea typeface="Malgun Gothic"/>
              </a:rPr>
              <a:t>4장에서 만든 객체가 수백 개가 되면 생기는 문제</a:t>
            </a:r>
          </a:p>
        </p:txBody>
      </p:sp>
      <p:sp>
        <p:nvSpPr>
          <p:cNvPr id="5" name="TextBox 4"/>
          <p:cNvSpPr txBox="1"/>
          <p:nvPr/>
        </p:nvSpPr>
        <p:spPr>
          <a:xfrm>
            <a:off x="640080" y="173736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이름만 나열될 뿐 소속이 없다</a:t>
            </a:r>
          </a:p>
          <a:p>
            <a:pPr>
              <a:spcAft>
                <a:spcPts val="300"/>
              </a:spcAft>
            </a:pPr>
            <a:r>
              <a:rPr sz="1600" b="0">
                <a:solidFill>
                  <a:srgbClr val="5A6672"/>
                </a:solidFill>
                <a:latin typeface="Malgun Gothic"/>
                <a:ea typeface="Malgun Gothic"/>
              </a:rPr>
              <a:t>    –  인사 업무를 옮기면 수백 개의 객체가 스키마에 평면적으로 쌓인다</a:t>
            </a:r>
          </a:p>
          <a:p>
            <a:pPr>
              <a:spcAft>
                <a:spcPts val="500"/>
              </a:spcAft>
            </a:pPr>
            <a:r>
              <a:rPr sz="1800" b="0">
                <a:solidFill>
                  <a:srgbClr val="202830"/>
                </a:solidFill>
                <a:latin typeface="Malgun Gothic"/>
                <a:ea typeface="Malgun Gothic"/>
              </a:rPr>
              <a:t>•  호출 사이에 값을 유지할 곳이 없다</a:t>
            </a:r>
          </a:p>
          <a:p>
            <a:pPr>
              <a:spcAft>
                <a:spcPts val="300"/>
              </a:spcAft>
            </a:pPr>
            <a:r>
              <a:rPr sz="1600" b="0">
                <a:solidFill>
                  <a:srgbClr val="5A6672"/>
                </a:solidFill>
                <a:latin typeface="Malgun Gothic"/>
                <a:ea typeface="Malgun Gothic"/>
              </a:rPr>
              <a:t>    –  파라미터와 반환값이 전부라 상태를 두려면 임시 테이블을 써야 한다</a:t>
            </a:r>
          </a:p>
          <a:p>
            <a:pPr>
              <a:spcAft>
                <a:spcPts val="500"/>
              </a:spcAft>
            </a:pPr>
            <a:r>
              <a:rPr sz="1800" b="0">
                <a:solidFill>
                  <a:srgbClr val="202830"/>
                </a:solidFill>
                <a:latin typeface="Malgun Gothic"/>
                <a:ea typeface="Malgun Gothic"/>
              </a:rPr>
              <a:t>•  감추고 싶은 로직도 전부 드러난다</a:t>
            </a:r>
          </a:p>
          <a:p>
            <a:pPr>
              <a:spcAft>
                <a:spcPts val="300"/>
              </a:spcAft>
            </a:pPr>
            <a:r>
              <a:rPr sz="1600" b="0">
                <a:solidFill>
                  <a:srgbClr val="5A6672"/>
                </a:solidFill>
                <a:latin typeface="Malgun Gothic"/>
                <a:ea typeface="Malgun Gothic"/>
              </a:rPr>
              <a:t>    –  CREATE PROCEDURE 로 만드는 순간 스키마 전체에 이름이 노출된다</a:t>
            </a:r>
          </a:p>
          <a:p>
            <a:pPr>
              <a:spcAft>
                <a:spcPts val="500"/>
              </a:spcAft>
            </a:pPr>
            <a:r>
              <a:rPr sz="1800" b="0">
                <a:solidFill>
                  <a:srgbClr val="202830"/>
                </a:solidFill>
                <a:latin typeface="Malgun Gothic"/>
                <a:ea typeface="Malgun Gothic"/>
              </a:rPr>
              <a:t>•  의존성이 연쇄적으로 깨진다</a:t>
            </a:r>
          </a:p>
          <a:p>
            <a:pPr>
              <a:spcAft>
                <a:spcPts val="300"/>
              </a:spcAft>
            </a:pPr>
            <a:r>
              <a:rPr sz="1600" b="0">
                <a:solidFill>
                  <a:srgbClr val="5A6672"/>
                </a:solidFill>
                <a:latin typeface="Malgun Gothic"/>
                <a:ea typeface="Malgun Gothic"/>
              </a:rPr>
              <a:t>    –  하나를 재컴파일하면 호출하는 객체들이 함께 INVALID 가 된다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패키지가 해결하는 것</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연관된 요소를 하나의 이름으로 묶는다</a:t>
            </a:r>
          </a:p>
          <a:p>
            <a:pPr>
              <a:spcAft>
                <a:spcPts val="300"/>
              </a:spcAft>
            </a:pPr>
            <a:r>
              <a:rPr sz="1600" b="0">
                <a:solidFill>
                  <a:srgbClr val="5A6672"/>
                </a:solidFill>
                <a:latin typeface="Malgun Gothic"/>
                <a:ea typeface="Malgun Gothic"/>
              </a:rPr>
              <a:t>    –  프로시저 · 함수 · 변수 · 상수 · 커서 · 예외 · 타입을 함께 담는다</a:t>
            </a:r>
          </a:p>
          <a:p>
            <a:pPr>
              <a:spcAft>
                <a:spcPts val="500"/>
              </a:spcAft>
            </a:pPr>
            <a:r>
              <a:rPr sz="1800" b="0">
                <a:solidFill>
                  <a:srgbClr val="202830"/>
                </a:solidFill>
                <a:latin typeface="Malgun Gothic"/>
                <a:ea typeface="Malgun Gothic"/>
              </a:rPr>
              <a:t>•  공개할 것과 감출 것을 문법으로 구분한다</a:t>
            </a:r>
          </a:p>
          <a:p>
            <a:pPr>
              <a:spcAft>
                <a:spcPts val="300"/>
              </a:spcAft>
            </a:pPr>
            <a:r>
              <a:rPr sz="1600" b="0">
                <a:solidFill>
                  <a:srgbClr val="5A6672"/>
                </a:solidFill>
                <a:latin typeface="Malgun Gothic"/>
                <a:ea typeface="Malgun Gothic"/>
              </a:rPr>
              <a:t>    –  명세에 쓴 것만 Public, 본문에만 있는 것은 Private</a:t>
            </a:r>
          </a:p>
          <a:p>
            <a:pPr>
              <a:spcAft>
                <a:spcPts val="500"/>
              </a:spcAft>
            </a:pPr>
            <a:r>
              <a:rPr sz="1800" b="0">
                <a:solidFill>
                  <a:srgbClr val="202830"/>
                </a:solidFill>
                <a:latin typeface="Malgun Gothic"/>
                <a:ea typeface="Malgun Gothic"/>
              </a:rPr>
              <a:t>•  세션 동안 값을 유지하는 패키지 변수를 제공한다</a:t>
            </a:r>
          </a:p>
          <a:p>
            <a:pPr>
              <a:spcAft>
                <a:spcPts val="500"/>
              </a:spcAft>
            </a:pPr>
            <a:r>
              <a:rPr sz="1800" b="0">
                <a:solidFill>
                  <a:srgbClr val="202830"/>
                </a:solidFill>
                <a:latin typeface="Malgun Gothic"/>
                <a:ea typeface="Malgun Gothic"/>
              </a:rPr>
              <a:t>•  본문만 고쳐도 호출 객체가 VALID 를 유지한다</a:t>
            </a:r>
          </a:p>
          <a:p>
            <a:pPr>
              <a:spcAft>
                <a:spcPts val="300"/>
              </a:spcAft>
            </a:pPr>
            <a:r>
              <a:rPr sz="1600" b="0">
                <a:solidFill>
                  <a:srgbClr val="5A6672"/>
                </a:solidFill>
                <a:latin typeface="Malgun Gothic"/>
                <a:ea typeface="Malgun Gothic"/>
              </a:rPr>
              <a:t>    –  의존 대상은 명세뿐이므로 구현 변경이 호출자에게 전파되지 않는다</a:t>
            </a:r>
          </a:p>
          <a:p>
            <a:pPr>
              <a:spcAft>
                <a:spcPts val="500"/>
              </a:spcAft>
            </a:pPr>
            <a:r>
              <a:rPr sz="1800" b="0">
                <a:solidFill>
                  <a:srgbClr val="202830"/>
                </a:solidFill>
                <a:latin typeface="Malgun Gothic"/>
                <a:ea typeface="Malgun Gothic"/>
              </a:rPr>
              <a:t>•  첫 호출 시 전체가 한 번에 메모리에 적재된다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패키지의 구조 — 명세와 본문</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패키지 명세(Package Specification)</a:t>
            </a:r>
          </a:p>
          <a:p>
            <a:pPr>
              <a:spcAft>
                <a:spcPts val="300"/>
              </a:spcAft>
            </a:pPr>
            <a:r>
              <a:rPr sz="1600" b="0">
                <a:solidFill>
                  <a:srgbClr val="5A6672"/>
                </a:solidFill>
                <a:latin typeface="Malgun Gothic"/>
                <a:ea typeface="Malgun Gothic"/>
              </a:rPr>
              <a:t>    –  외부에 무엇을 제공하는지 선언하는 인터페이스</a:t>
            </a:r>
          </a:p>
          <a:p>
            <a:pPr>
              <a:spcAft>
                <a:spcPts val="300"/>
              </a:spcAft>
            </a:pPr>
            <a:r>
              <a:rPr sz="1600" b="0">
                <a:solidFill>
                  <a:srgbClr val="5A6672"/>
                </a:solidFill>
                <a:latin typeface="Malgun Gothic"/>
                <a:ea typeface="Malgun Gothic"/>
              </a:rPr>
              <a:t>    –  USER_OBJECTS 에서 OBJECT_TYPE = 'PACKAGE'</a:t>
            </a:r>
          </a:p>
          <a:p>
            <a:pPr>
              <a:spcAft>
                <a:spcPts val="500"/>
              </a:spcAft>
            </a:pPr>
            <a:r>
              <a:rPr sz="1800" b="0">
                <a:solidFill>
                  <a:srgbClr val="202830"/>
                </a:solidFill>
                <a:latin typeface="Malgun Gothic"/>
                <a:ea typeface="Malgun Gothic"/>
              </a:rPr>
              <a:t>•  패키지 본문(Package Body)</a:t>
            </a:r>
          </a:p>
          <a:p>
            <a:pPr>
              <a:spcAft>
                <a:spcPts val="300"/>
              </a:spcAft>
            </a:pPr>
            <a:r>
              <a:rPr sz="1600" b="0">
                <a:solidFill>
                  <a:srgbClr val="5A6672"/>
                </a:solidFill>
                <a:latin typeface="Malgun Gothic"/>
                <a:ea typeface="Malgun Gothic"/>
              </a:rPr>
              <a:t>    –  명세의 선언을 실제로 구현하는 코드 + Private 요소</a:t>
            </a:r>
          </a:p>
          <a:p>
            <a:pPr>
              <a:spcAft>
                <a:spcPts val="300"/>
              </a:spcAft>
            </a:pPr>
            <a:r>
              <a:rPr sz="1600" b="0">
                <a:solidFill>
                  <a:srgbClr val="5A6672"/>
                </a:solidFill>
                <a:latin typeface="Malgun Gothic"/>
                <a:ea typeface="Malgun Gothic"/>
              </a:rPr>
              <a:t>    –  USER_OBJECTS 에서 OBJECT_TYPE = 'PACKAGE BODY'</a:t>
            </a:r>
          </a:p>
          <a:p>
            <a:pPr>
              <a:spcAft>
                <a:spcPts val="500"/>
              </a:spcAft>
            </a:pPr>
            <a:r>
              <a:rPr sz="1800" b="0">
                <a:solidFill>
                  <a:srgbClr val="202830"/>
                </a:solidFill>
                <a:latin typeface="Malgun Gothic"/>
                <a:ea typeface="Malgun Gothic"/>
              </a:rPr>
              <a:t>•  이름은 같지만 데이터베이스 안에서는 서로 다른 두 객체다</a:t>
            </a:r>
          </a:p>
          <a:p>
            <a:pPr>
              <a:spcAft>
                <a:spcPts val="500"/>
              </a:spcAft>
            </a:pPr>
            <a:r>
              <a:rPr sz="1800" b="0">
                <a:solidFill>
                  <a:srgbClr val="202830"/>
                </a:solidFill>
                <a:latin typeface="Malgun Gothic"/>
                <a:ea typeface="Malgun Gothic"/>
              </a:rPr>
              <a:t>•  명세만 있고 본문이 없는 무본문 패키지도 정상이다</a:t>
            </a:r>
          </a:p>
          <a:p>
            <a:pPr>
              <a:spcAft>
                <a:spcPts val="300"/>
              </a:spcAft>
            </a:pPr>
            <a:r>
              <a:rPr sz="1600" b="0">
                <a:solidFill>
                  <a:srgbClr val="5A6672"/>
                </a:solidFill>
                <a:latin typeface="Malgun Gothic"/>
                <a:ea typeface="Malgun Gothic"/>
              </a:rPr>
              <a:t>    –  상수·타입·예외만 모아 표준으로 공유하는 용도로 자주 쓴다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명세와 본문의 기본 골격</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PACKAGE 패키지이름 IS</a:t>
            </a:r>
          </a:p>
          <a:p>
            <a:pPr>
              <a:spcAft>
                <a:spcPts val="0"/>
              </a:spcAft>
            </a:pPr>
            <a:r>
              <a:rPr sz="1250" b="0">
                <a:solidFill>
                  <a:srgbClr val="7EC699"/>
                </a:solidFill>
                <a:latin typeface="Consolas"/>
                <a:ea typeface="Consolas"/>
              </a:rPr>
              <a:t>   -- 공개 상수·변수·타입·커서·예외 선언</a:t>
            </a:r>
          </a:p>
          <a:p>
            <a:pPr>
              <a:spcAft>
                <a:spcPts val="0"/>
              </a:spcAft>
            </a:pPr>
            <a:r>
              <a:rPr sz="1250" b="0">
                <a:solidFill>
                  <a:srgbClr val="7EC699"/>
                </a:solidFill>
                <a:latin typeface="Consolas"/>
                <a:ea typeface="Consolas"/>
              </a:rPr>
              <a:t>   -- 공개 프로시저·함수의 헤더(구현부 없음)</a:t>
            </a:r>
          </a:p>
          <a:p>
            <a:pPr>
              <a:spcAft>
                <a:spcPts val="0"/>
              </a:spcAft>
            </a:pPr>
            <a:r>
              <a:rPr sz="1250" b="0">
                <a:solidFill>
                  <a:srgbClr val="E6E6E6"/>
                </a:solidFill>
                <a:latin typeface="Consolas"/>
                <a:ea typeface="Consolas"/>
              </a:rPr>
              <a:t>END 패키지이름;</a:t>
            </a:r>
          </a:p>
          <a:p>
            <a:pPr>
              <a:spcAft>
                <a:spcPts val="0"/>
              </a:spcAft>
            </a:pPr>
            <a:r>
              <a:rPr sz="1250" b="0">
                <a:solidFill>
                  <a:srgbClr val="E6E6E6"/>
                </a:solidFill>
                <a:latin typeface="Consolas"/>
                <a:ea typeface="Consolas"/>
              </a:rPr>
              <a:t>/</a:t>
            </a:r>
          </a:p>
          <a:p>
            <a:pPr>
              <a:spcAft>
                <a:spcPts val="0"/>
              </a:spcAft>
            </a:pPr>
            <a:endParaRPr sz="1250" b="0">
              <a:solidFill>
                <a:srgbClr val="E6E6E6"/>
              </a:solidFill>
              <a:latin typeface="Consolas"/>
              <a:ea typeface="Consolas"/>
            </a:endParaRPr>
          </a:p>
          <a:p>
            <a:pPr>
              <a:spcAft>
                <a:spcPts val="0"/>
              </a:spcAft>
            </a:pPr>
            <a:r>
              <a:rPr sz="1250" b="0">
                <a:solidFill>
                  <a:srgbClr val="E6E6E6"/>
                </a:solidFill>
                <a:latin typeface="Consolas"/>
                <a:ea typeface="Consolas"/>
              </a:rPr>
              <a:t>CREATE OR REPLACE PACKAGE BODY 패키지이름 IS</a:t>
            </a:r>
          </a:p>
          <a:p>
            <a:pPr>
              <a:spcAft>
                <a:spcPts val="0"/>
              </a:spcAft>
            </a:pPr>
            <a:r>
              <a:rPr sz="1250" b="0">
                <a:solidFill>
                  <a:srgbClr val="7EC699"/>
                </a:solidFill>
                <a:latin typeface="Consolas"/>
                <a:ea typeface="Consolas"/>
              </a:rPr>
              <a:t>   -- 비공개(Private) 변수·서브프로그램</a:t>
            </a:r>
          </a:p>
          <a:p>
            <a:pPr>
              <a:spcAft>
                <a:spcPts val="0"/>
              </a:spcAft>
            </a:pPr>
            <a:r>
              <a:rPr sz="1250" b="0">
                <a:solidFill>
                  <a:srgbClr val="7EC699"/>
                </a:solidFill>
                <a:latin typeface="Consolas"/>
                <a:ea typeface="Consolas"/>
              </a:rPr>
              <a:t>   -- 명세에 선언한 모든 서브프로그램의 구현부</a:t>
            </a:r>
          </a:p>
          <a:p>
            <a:pPr>
              <a:spcAft>
                <a:spcPts val="0"/>
              </a:spcAft>
            </a:pPr>
            <a:r>
              <a:rPr sz="1250" b="0">
                <a:solidFill>
                  <a:srgbClr val="E6E6E6"/>
                </a:solidFill>
                <a:latin typeface="Consolas"/>
                <a:ea typeface="Consolas"/>
              </a:rPr>
              <a:t>[BEGIN</a:t>
            </a:r>
          </a:p>
          <a:p>
            <a:pPr>
              <a:spcAft>
                <a:spcPts val="0"/>
              </a:spcAft>
            </a:pPr>
            <a:r>
              <a:rPr sz="1250" b="0">
                <a:solidFill>
                  <a:srgbClr val="7EC699"/>
                </a:solidFill>
                <a:latin typeface="Consolas"/>
                <a:ea typeface="Consolas"/>
              </a:rPr>
              <a:t>   -- 선택 사항 : 패키지 초기화 블록]</a:t>
            </a:r>
          </a:p>
          <a:p>
            <a:pPr>
              <a:spcAft>
                <a:spcPts val="0"/>
              </a:spcAft>
            </a:pPr>
            <a:r>
              <a:rPr sz="1250" b="0">
                <a:solidFill>
                  <a:srgbClr val="E6E6E6"/>
                </a:solidFill>
                <a:latin typeface="Consolas"/>
                <a:ea typeface="Consolas"/>
              </a:rPr>
              <a:t>END 패키지이름;</a:t>
            </a:r>
          </a:p>
          <a:p>
            <a:pPr>
              <a:spcAft>
                <a:spcPts val="0"/>
              </a:spcAft>
            </a:pPr>
            <a:r>
              <a:rPr sz="1250" b="0">
                <a:solidFill>
                  <a:srgbClr val="E6E6E6"/>
                </a:solidFill>
                <a:latin typeface="Consolas"/>
                <a:ea typeface="Consolas"/>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명세 작성 규칙</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CREATE OR REPLACE PACKAGE 로 시작한다</a:t>
            </a:r>
          </a:p>
          <a:p>
            <a:pPr>
              <a:spcAft>
                <a:spcPts val="300"/>
              </a:spcAft>
            </a:pPr>
            <a:r>
              <a:rPr sz="1600" b="0">
                <a:solidFill>
                  <a:srgbClr val="5A6672"/>
                </a:solidFill>
                <a:latin typeface="Malgun Gothic"/>
                <a:ea typeface="Malgun Gothic"/>
              </a:rPr>
              <a:t>    –  DROP 후 재생성하면 GRANT 가 사라진다 — 운영에서는 반드시 OR REPLACE</a:t>
            </a:r>
          </a:p>
          <a:p>
            <a:pPr>
              <a:spcAft>
                <a:spcPts val="500"/>
              </a:spcAft>
            </a:pPr>
            <a:r>
              <a:rPr sz="1800" b="0">
                <a:solidFill>
                  <a:srgbClr val="202830"/>
                </a:solidFill>
                <a:latin typeface="Malgun Gothic"/>
                <a:ea typeface="Malgun Gothic"/>
              </a:rPr>
              <a:t>•  자료형은 %TYPE 으로 잡아 테이블 변경을 따라가게 한다</a:t>
            </a:r>
          </a:p>
          <a:p>
            <a:pPr>
              <a:spcAft>
                <a:spcPts val="500"/>
              </a:spcAft>
            </a:pPr>
            <a:r>
              <a:rPr sz="1800" b="0">
                <a:solidFill>
                  <a:srgbClr val="202830"/>
                </a:solidFill>
                <a:latin typeface="Malgun Gothic"/>
                <a:ea typeface="Malgun Gothic"/>
              </a:rPr>
              <a:t>•  파라미터에는 크기를 적지 않는다 — VARCHAR2(30) 이 아니라 VARCHAR2</a:t>
            </a:r>
          </a:p>
          <a:p>
            <a:pPr>
              <a:spcAft>
                <a:spcPts val="500"/>
              </a:spcAft>
            </a:pPr>
            <a:r>
              <a:rPr sz="1800" b="0">
                <a:solidFill>
                  <a:srgbClr val="202830"/>
                </a:solidFill>
                <a:latin typeface="Malgun Gothic"/>
                <a:ea typeface="Malgun Gothic"/>
              </a:rPr>
              <a:t>•  DEFAULT 는 IN 파라미터에만, 관례상 명세에만 적는다</a:t>
            </a:r>
          </a:p>
          <a:p>
            <a:pPr>
              <a:spcAft>
                <a:spcPts val="500"/>
              </a:spcAft>
            </a:pPr>
            <a:r>
              <a:rPr sz="1800" b="0">
                <a:solidFill>
                  <a:srgbClr val="202830"/>
                </a:solidFill>
                <a:latin typeface="Malgun Gothic"/>
                <a:ea typeface="Malgun Gothic"/>
              </a:rPr>
              <a:t>•  예외와 BOOLEAN 반환 함수를 명세에 두면 호출 코드가 읽기 좋아진다</a:t>
            </a:r>
          </a:p>
          <a:p>
            <a:pPr>
              <a:spcAft>
                <a:spcPts val="500"/>
              </a:spcAft>
            </a:pPr>
            <a:r>
              <a:rPr sz="1800" b="0">
                <a:solidFill>
                  <a:srgbClr val="202830"/>
                </a:solidFill>
                <a:latin typeface="Malgun Gothic"/>
                <a:ea typeface="Malgun Gothic"/>
              </a:rPr>
              <a:t>•  넣을 수 없는 것 — 실행문, 커서의 SELECT 본문, 로컬 변수</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EMP_PKG 명세</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PACKAGE emp_pkg IS</a:t>
            </a:r>
          </a:p>
          <a:p>
            <a:pPr>
              <a:spcAft>
                <a:spcPts val="0"/>
              </a:spcAft>
            </a:pPr>
            <a:r>
              <a:rPr sz="1250" b="0">
                <a:solidFill>
                  <a:srgbClr val="E6E6E6"/>
                </a:solidFill>
                <a:latin typeface="Consolas"/>
                <a:ea typeface="Consolas"/>
              </a:rPr>
              <a:t>   c_min_salary   CONSTANT NUMBER := 2000;   -- 공개 상수</a:t>
            </a:r>
          </a:p>
          <a:p>
            <a:pPr>
              <a:spcAft>
                <a:spcPts val="0"/>
              </a:spcAft>
            </a:pPr>
            <a:r>
              <a:rPr sz="1250" b="0">
                <a:solidFill>
                  <a:srgbClr val="E6E6E6"/>
                </a:solidFill>
                <a:latin typeface="Consolas"/>
                <a:ea typeface="Consolas"/>
              </a:rPr>
              <a:t>   e_invalid_dept EXCEPTION;                 -- 공개 예외</a:t>
            </a:r>
          </a:p>
          <a:p>
            <a:pPr>
              <a:spcAft>
                <a:spcPts val="0"/>
              </a:spcAft>
            </a:pPr>
            <a:endParaRPr sz="1250" b="0">
              <a:solidFill>
                <a:srgbClr val="E6E6E6"/>
              </a:solidFill>
              <a:latin typeface="Consolas"/>
              <a:ea typeface="Consolas"/>
            </a:endParaRPr>
          </a:p>
          <a:p>
            <a:pPr>
              <a:spcAft>
                <a:spcPts val="0"/>
              </a:spcAft>
            </a:pPr>
            <a:r>
              <a:rPr sz="1250" b="0">
                <a:solidFill>
                  <a:srgbClr val="E6E6E6"/>
                </a:solidFill>
                <a:latin typeface="Consolas"/>
                <a:ea typeface="Consolas"/>
              </a:rPr>
              <a:t>   PROCEDURE add_employee(p_last_name IN employees.last_name%TYPE,</a:t>
            </a:r>
          </a:p>
          <a:p>
            <a:pPr>
              <a:spcAft>
                <a:spcPts val="0"/>
              </a:spcAft>
            </a:pPr>
            <a:r>
              <a:rPr sz="1250" b="0">
                <a:solidFill>
                  <a:srgbClr val="E6E6E6"/>
                </a:solidFill>
                <a:latin typeface="Consolas"/>
                <a:ea typeface="Consolas"/>
              </a:rPr>
              <a:t>                          p_email  IN employees.email%TYPE,</a:t>
            </a:r>
          </a:p>
          <a:p>
            <a:pPr>
              <a:spcAft>
                <a:spcPts val="0"/>
              </a:spcAft>
            </a:pPr>
            <a:r>
              <a:rPr sz="1250" b="0">
                <a:solidFill>
                  <a:srgbClr val="E6E6E6"/>
                </a:solidFill>
                <a:latin typeface="Consolas"/>
                <a:ea typeface="Consolas"/>
              </a:rPr>
              <a:t>                          p_job_id IN employees.job_id%TYPE,</a:t>
            </a:r>
          </a:p>
          <a:p>
            <a:pPr>
              <a:spcAft>
                <a:spcPts val="0"/>
              </a:spcAft>
            </a:pPr>
            <a:r>
              <a:rPr sz="1250" b="0">
                <a:solidFill>
                  <a:srgbClr val="E6E6E6"/>
                </a:solidFill>
                <a:latin typeface="Consolas"/>
                <a:ea typeface="Consolas"/>
              </a:rPr>
              <a:t>                          p_salary IN employees.salary%TYPE DEFAULT 3000,</a:t>
            </a:r>
          </a:p>
          <a:p>
            <a:pPr>
              <a:spcAft>
                <a:spcPts val="0"/>
              </a:spcAft>
            </a:pPr>
            <a:r>
              <a:rPr sz="1250" b="0">
                <a:solidFill>
                  <a:srgbClr val="E6E6E6"/>
                </a:solidFill>
                <a:latin typeface="Consolas"/>
                <a:ea typeface="Consolas"/>
              </a:rPr>
              <a:t>                          p_dept_id IN employees.department_id%TYPE);</a:t>
            </a:r>
          </a:p>
          <a:p>
            <a:pPr>
              <a:spcAft>
                <a:spcPts val="0"/>
              </a:spcAft>
            </a:pPr>
            <a:r>
              <a:rPr sz="1250" b="0">
                <a:solidFill>
                  <a:srgbClr val="E6E6E6"/>
                </a:solidFill>
                <a:latin typeface="Consolas"/>
                <a:ea typeface="Consolas"/>
              </a:rPr>
              <a:t>   PROCEDURE raise_salary(p_emp_id IN employees.employee_id%TYPE,</a:t>
            </a:r>
          </a:p>
          <a:p>
            <a:pPr>
              <a:spcAft>
                <a:spcPts val="0"/>
              </a:spcAft>
            </a:pPr>
            <a:r>
              <a:rPr sz="1250" b="0">
                <a:solidFill>
                  <a:srgbClr val="E6E6E6"/>
                </a:solidFill>
                <a:latin typeface="Consolas"/>
                <a:ea typeface="Consolas"/>
              </a:rPr>
              <a:t>                          p_pct IN NUMBER);</a:t>
            </a:r>
          </a:p>
          <a:p>
            <a:pPr>
              <a:spcAft>
                <a:spcPts val="0"/>
              </a:spcAft>
            </a:pPr>
            <a:r>
              <a:rPr sz="1250" b="0">
                <a:solidFill>
                  <a:srgbClr val="E6E6E6"/>
                </a:solidFill>
                <a:latin typeface="Consolas"/>
                <a:ea typeface="Consolas"/>
              </a:rPr>
              <a:t>   FUNCTION dept_exists(p_dept_id IN departments.department_id%TYPE)</a:t>
            </a:r>
          </a:p>
          <a:p>
            <a:pPr>
              <a:spcAft>
                <a:spcPts val="0"/>
              </a:spcAft>
            </a:pPr>
            <a:r>
              <a:rPr sz="1250" b="0">
                <a:solidFill>
                  <a:srgbClr val="E6E6E6"/>
                </a:solidFill>
                <a:latin typeface="Consolas"/>
                <a:ea typeface="Consolas"/>
              </a:rPr>
              <a:t>      RETURN BOOLEAN;</a:t>
            </a:r>
          </a:p>
          <a:p>
            <a:pPr>
              <a:spcAft>
                <a:spcPts val="0"/>
              </a:spcAft>
            </a:pPr>
            <a:r>
              <a:rPr sz="1250" b="0">
                <a:solidFill>
                  <a:srgbClr val="E6E6E6"/>
                </a:solidFill>
                <a:latin typeface="Consolas"/>
                <a:ea typeface="Consolas"/>
              </a:rPr>
              <a:t>   FUNCTION get_annual_comp(p_emp_id IN NUMBER) RETURN NUMBER;</a:t>
            </a:r>
          </a:p>
          <a:p>
            <a:pPr>
              <a:spcAft>
                <a:spcPts val="0"/>
              </a:spcAft>
            </a:pPr>
            <a:r>
              <a:rPr sz="1250" b="0">
                <a:solidFill>
                  <a:srgbClr val="E6E6E6"/>
                </a:solidFill>
                <a:latin typeface="Consolas"/>
                <a:ea typeface="Consolas"/>
              </a:rPr>
              <a:t>END emp_pkg;</a:t>
            </a:r>
          </a:p>
          <a:p>
            <a:pPr>
              <a:spcAft>
                <a:spcPts val="0"/>
              </a:spcAft>
            </a:pPr>
            <a:r>
              <a:rPr sz="1250" b="0">
                <a:solidFill>
                  <a:srgbClr val="E6E6E6"/>
                </a:solidFill>
                <a:latin typeface="Consolas"/>
                <a:ea typeface="Consolas"/>
              </a:rPr>
              <a:t>/</a:t>
            </a:r>
          </a:p>
          <a:p>
            <a:pPr>
              <a:spcAft>
                <a:spcPts val="0"/>
              </a:spcAft>
            </a:pPr>
            <a:r>
              <a:rPr sz="1250" b="0">
                <a:solidFill>
                  <a:srgbClr val="9CDCFE"/>
                </a:solidFill>
                <a:latin typeface="Consolas"/>
                <a:ea typeface="Consolas"/>
              </a:rPr>
              <a:t>결과) Package EMP_PKG compiled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본문 작성 규칙</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CREATE OR REPLACE PACKAGE BODY, 이름은 명세와 정확히 같아야 한다</a:t>
            </a:r>
          </a:p>
          <a:p>
            <a:pPr>
              <a:spcAft>
                <a:spcPts val="500"/>
              </a:spcAft>
            </a:pPr>
            <a:r>
              <a:rPr sz="1800" b="0">
                <a:solidFill>
                  <a:srgbClr val="202830"/>
                </a:solidFill>
                <a:latin typeface="Malgun Gothic"/>
                <a:ea typeface="Malgun Gothic"/>
              </a:rPr>
              <a:t>•  명세의 모든 서브프로그램을 빠짐없이 구현한다</a:t>
            </a:r>
          </a:p>
          <a:p>
            <a:pPr>
              <a:spcAft>
                <a:spcPts val="300"/>
              </a:spcAft>
            </a:pPr>
            <a:r>
              <a:rPr sz="1600" b="0">
                <a:solidFill>
                  <a:srgbClr val="5A6672"/>
                </a:solidFill>
                <a:latin typeface="Malgun Gothic"/>
                <a:ea typeface="Malgun Gothic"/>
              </a:rPr>
              <a:t>    –  헤더가 파라미터 이름 하나라도 다르면 컴파일되지 않는다</a:t>
            </a:r>
          </a:p>
          <a:p>
            <a:pPr>
              <a:spcAft>
                <a:spcPts val="500"/>
              </a:spcAft>
            </a:pPr>
            <a:r>
              <a:rPr sz="1800" b="0">
                <a:solidFill>
                  <a:srgbClr val="202830"/>
                </a:solidFill>
                <a:latin typeface="Malgun Gothic"/>
                <a:ea typeface="Malgun Gothic"/>
              </a:rPr>
              <a:t>•  명세에 없는 변수·서브프로그램을 추가로 둘 수 있다 → Private</a:t>
            </a:r>
          </a:p>
          <a:p>
            <a:pPr>
              <a:spcAft>
                <a:spcPts val="500"/>
              </a:spcAft>
            </a:pPr>
            <a:r>
              <a:rPr sz="1800" b="0">
                <a:solidFill>
                  <a:srgbClr val="202830"/>
                </a:solidFill>
                <a:latin typeface="Malgun Gothic"/>
                <a:ea typeface="Malgun Gothic"/>
              </a:rPr>
              <a:t>•  같은 패키지 안에서는 패키지 이름 없이 이름만으로 호출한다</a:t>
            </a:r>
          </a:p>
          <a:p>
            <a:pPr>
              <a:spcAft>
                <a:spcPts val="300"/>
              </a:spcAft>
            </a:pPr>
            <a:r>
              <a:rPr sz="1600" b="0">
                <a:solidFill>
                  <a:srgbClr val="5A6672"/>
                </a:solidFill>
                <a:latin typeface="Malgun Gothic"/>
                <a:ea typeface="Malgun Gothic"/>
              </a:rPr>
              <a:t>    –  밖에서는 반드시 emp_pkg.get_annual_comp 처럼 점 표기법을 쓴다</a:t>
            </a:r>
          </a:p>
          <a:p>
            <a:pPr>
              <a:spcAft>
                <a:spcPts val="500"/>
              </a:spcAft>
            </a:pPr>
            <a:r>
              <a:rPr sz="1800" b="0">
                <a:solidFill>
                  <a:srgbClr val="202830"/>
                </a:solidFill>
                <a:latin typeface="Malgun Gothic"/>
                <a:ea typeface="Malgun Gothic"/>
              </a:rPr>
              <a:t>•  본문 마지막에 선택적 초기화 블록을 둘 수 있다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EMP_PKG 본문</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PACKAGE BODY emp_pkg IS</a:t>
            </a:r>
          </a:p>
          <a:p>
            <a:pPr>
              <a:spcAft>
                <a:spcPts val="0"/>
              </a:spcAft>
            </a:pPr>
            <a:r>
              <a:rPr sz="1250" b="0">
                <a:solidFill>
                  <a:srgbClr val="E6E6E6"/>
                </a:solidFill>
                <a:latin typeface="Consolas"/>
                <a:ea typeface="Consolas"/>
              </a:rPr>
              <a:t>   g_call_count NUMBER := 0;   -- Private 변수(외부에서 보이지 않음)</a:t>
            </a:r>
          </a:p>
          <a:p>
            <a:pPr>
              <a:spcAft>
                <a:spcPts val="0"/>
              </a:spcAft>
            </a:pPr>
            <a:endParaRPr sz="1250" b="0">
              <a:solidFill>
                <a:srgbClr val="E6E6E6"/>
              </a:solidFill>
              <a:latin typeface="Consolas"/>
              <a:ea typeface="Consolas"/>
            </a:endParaRPr>
          </a:p>
          <a:p>
            <a:pPr>
              <a:spcAft>
                <a:spcPts val="0"/>
              </a:spcAft>
            </a:pPr>
            <a:r>
              <a:rPr sz="1250" b="0">
                <a:solidFill>
                  <a:srgbClr val="7EC699"/>
                </a:solidFill>
                <a:latin typeface="Consolas"/>
                <a:ea typeface="Consolas"/>
              </a:rPr>
              <a:t>   -- Private 함수 : 명세에 없으므로 패키지 내부에서만 호출 가능</a:t>
            </a:r>
          </a:p>
          <a:p>
            <a:pPr>
              <a:spcAft>
                <a:spcPts val="0"/>
              </a:spcAft>
            </a:pPr>
            <a:r>
              <a:rPr sz="1250" b="0">
                <a:solidFill>
                  <a:srgbClr val="E6E6E6"/>
                </a:solidFill>
                <a:latin typeface="Consolas"/>
                <a:ea typeface="Consolas"/>
              </a:rPr>
              <a:t>   FUNCTION valid_job(p_job_id IN jobs.job_id%TYPE) RETURN BOOLEAN IS</a:t>
            </a:r>
          </a:p>
          <a:p>
            <a:pPr>
              <a:spcAft>
                <a:spcPts val="0"/>
              </a:spcAft>
            </a:pPr>
            <a:r>
              <a:rPr sz="1250" b="0">
                <a:solidFill>
                  <a:srgbClr val="E6E6E6"/>
                </a:solidFill>
                <a:latin typeface="Consolas"/>
                <a:ea typeface="Consolas"/>
              </a:rPr>
              <a:t>      v_cnt NUMBER;</a:t>
            </a:r>
          </a:p>
          <a:p>
            <a:pPr>
              <a:spcAft>
                <a:spcPts val="0"/>
              </a:spcAft>
            </a:pPr>
            <a:r>
              <a:rPr sz="1250" b="0">
                <a:solidFill>
                  <a:srgbClr val="E6E6E6"/>
                </a:solidFill>
                <a:latin typeface="Consolas"/>
                <a:ea typeface="Consolas"/>
              </a:rPr>
              <a:t>   BEGIN</a:t>
            </a:r>
          </a:p>
          <a:p>
            <a:pPr>
              <a:spcAft>
                <a:spcPts val="0"/>
              </a:spcAft>
            </a:pPr>
            <a:r>
              <a:rPr sz="1250" b="0">
                <a:solidFill>
                  <a:srgbClr val="E6E6E6"/>
                </a:solidFill>
                <a:latin typeface="Consolas"/>
                <a:ea typeface="Consolas"/>
              </a:rPr>
              <a:t>      SELECT COUNT(*) INTO v_cnt FROM jobs WHERE job_id = p_job_id;</a:t>
            </a:r>
          </a:p>
          <a:p>
            <a:pPr>
              <a:spcAft>
                <a:spcPts val="0"/>
              </a:spcAft>
            </a:pPr>
            <a:r>
              <a:rPr sz="1250" b="0">
                <a:solidFill>
                  <a:srgbClr val="E6E6E6"/>
                </a:solidFill>
                <a:latin typeface="Consolas"/>
                <a:ea typeface="Consolas"/>
              </a:rPr>
              <a:t>      RETURN (v_cnt &gt; 0);</a:t>
            </a:r>
          </a:p>
          <a:p>
            <a:pPr>
              <a:spcAft>
                <a:spcPts val="0"/>
              </a:spcAft>
            </a:pPr>
            <a:r>
              <a:rPr sz="1250" b="0">
                <a:solidFill>
                  <a:srgbClr val="E6E6E6"/>
                </a:solidFill>
                <a:latin typeface="Consolas"/>
                <a:ea typeface="Consolas"/>
              </a:rPr>
              <a:t>   END valid_job;</a:t>
            </a:r>
          </a:p>
          <a:p>
            <a:pPr>
              <a:spcAft>
                <a:spcPts val="0"/>
              </a:spcAft>
            </a:pPr>
            <a:endParaRPr sz="1250" b="0">
              <a:solidFill>
                <a:srgbClr val="E6E6E6"/>
              </a:solidFill>
              <a:latin typeface="Consolas"/>
              <a:ea typeface="Consolas"/>
            </a:endParaRPr>
          </a:p>
          <a:p>
            <a:pPr>
              <a:spcAft>
                <a:spcPts val="0"/>
              </a:spcAft>
            </a:pPr>
            <a:r>
              <a:rPr sz="1250" b="0">
                <a:solidFill>
                  <a:srgbClr val="E6E6E6"/>
                </a:solidFill>
                <a:latin typeface="Consolas"/>
                <a:ea typeface="Consolas"/>
              </a:rPr>
              <a:t>   PROCEDURE add_employee(...) IS</a:t>
            </a:r>
          </a:p>
          <a:p>
            <a:pPr>
              <a:spcAft>
                <a:spcPts val="0"/>
              </a:spcAft>
            </a:pPr>
            <a:r>
              <a:rPr sz="1250" b="0">
                <a:solidFill>
                  <a:srgbClr val="E6E6E6"/>
                </a:solidFill>
                <a:latin typeface="Consolas"/>
                <a:ea typeface="Consolas"/>
              </a:rPr>
              <a:t>   BEGIN</a:t>
            </a:r>
          </a:p>
          <a:p>
            <a:pPr>
              <a:spcAft>
                <a:spcPts val="0"/>
              </a:spcAft>
            </a:pPr>
            <a:r>
              <a:rPr sz="1250" b="0">
                <a:solidFill>
                  <a:srgbClr val="E6E6E6"/>
                </a:solidFill>
                <a:latin typeface="Consolas"/>
                <a:ea typeface="Consolas"/>
              </a:rPr>
              <a:t>      IF NOT dept_exists(p_dept_id) THEN   -- 이름만으로 호출</a:t>
            </a:r>
          </a:p>
          <a:p>
            <a:pPr>
              <a:spcAft>
                <a:spcPts val="0"/>
              </a:spcAft>
            </a:pPr>
            <a:r>
              <a:rPr sz="1250" b="0">
                <a:solidFill>
                  <a:srgbClr val="E6E6E6"/>
                </a:solidFill>
                <a:latin typeface="Consolas"/>
                <a:ea typeface="Consolas"/>
              </a:rPr>
              <a:t>         RAISE e_invalid_dept;             -- 명세의 공개 예외</a:t>
            </a:r>
          </a:p>
          <a:p>
            <a:pPr>
              <a:spcAft>
                <a:spcPts val="0"/>
              </a:spcAft>
            </a:pPr>
            <a:r>
              <a:rPr sz="1250" b="0">
                <a:solidFill>
                  <a:srgbClr val="E6E6E6"/>
                </a:solidFill>
                <a:latin typeface="Consolas"/>
                <a:ea typeface="Consolas"/>
              </a:rPr>
              <a:t>      END IF;</a:t>
            </a:r>
          </a:p>
          <a:p>
            <a:pPr>
              <a:spcAft>
                <a:spcPts val="0"/>
              </a:spcAft>
            </a:pPr>
            <a:r>
              <a:rPr sz="1250" b="0">
                <a:solidFill>
                  <a:srgbClr val="E6E6E6"/>
                </a:solidFill>
                <a:latin typeface="Consolas"/>
                <a:ea typeface="Consolas"/>
              </a:rPr>
              <a:t>      IF NOT valid_job(p_job_id) THEN      -- Private 함수 호출</a:t>
            </a:r>
          </a:p>
          <a:p>
            <a:pPr>
              <a:spcAft>
                <a:spcPts val="0"/>
              </a:spcAft>
            </a:pPr>
            <a:r>
              <a:rPr sz="1250" b="0">
                <a:solidFill>
                  <a:srgbClr val="E6E6E6"/>
                </a:solidFill>
                <a:latin typeface="Consolas"/>
                <a:ea typeface="Consolas"/>
              </a:rPr>
              <a:t>         RAISE_APPLICATION_ERROR(-20101, '없는 직무');</a:t>
            </a:r>
          </a:p>
          <a:p>
            <a:pPr>
              <a:spcAft>
                <a:spcPts val="0"/>
              </a:spcAft>
            </a:pPr>
            <a:r>
              <a:rPr sz="1250" b="0">
                <a:solidFill>
                  <a:srgbClr val="E6E6E6"/>
                </a:solidFill>
                <a:latin typeface="Consolas"/>
                <a:ea typeface="Consolas"/>
              </a:rPr>
              <a:t>      END IF;</a:t>
            </a:r>
          </a:p>
          <a:p>
            <a:pPr>
              <a:spcAft>
                <a:spcPts val="0"/>
              </a:spcAft>
            </a:pPr>
            <a:r>
              <a:rPr sz="1250" b="0">
                <a:solidFill>
                  <a:srgbClr val="E6E6E6"/>
                </a:solidFill>
                <a:latin typeface="Consolas"/>
                <a:ea typeface="Consolas"/>
              </a:rPr>
              <a:t>      INSERT INTO employees(...) VALUES (...);</a:t>
            </a:r>
          </a:p>
          <a:p>
            <a:pPr>
              <a:spcAft>
                <a:spcPts val="0"/>
              </a:spcAft>
            </a:pPr>
            <a:r>
              <a:rPr sz="1250" b="0">
                <a:solidFill>
                  <a:srgbClr val="E6E6E6"/>
                </a:solidFill>
                <a:latin typeface="Consolas"/>
                <a:ea typeface="Consolas"/>
              </a:rPr>
              <a:t>   END add_employee;</a:t>
            </a:r>
          </a:p>
          <a:p>
            <a:pPr>
              <a:spcAft>
                <a:spcPts val="0"/>
              </a:spcAft>
            </a:pPr>
            <a:r>
              <a:rPr sz="1250" b="0">
                <a:solidFill>
                  <a:srgbClr val="E6E6E6"/>
                </a:solidFill>
                <a:latin typeface="Consolas"/>
                <a:ea typeface="Consolas"/>
              </a:rPr>
              <a:t>END emp_pkg;</a:t>
            </a:r>
          </a:p>
          <a:p>
            <a:pPr>
              <a:spcAft>
                <a:spcPts val="0"/>
              </a:spcAft>
            </a:pPr>
            <a:r>
              <a:rPr sz="1250" b="0">
                <a:solidFill>
                  <a:srgbClr val="E6E6E6"/>
                </a:solidFill>
                <a:latin typeface="Consolas"/>
                <a:ea typeface="Consola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본문 컴파일에서 자주 만나는 오류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PLS-00323 — 명세의 선언이 본문에 구현되지 않았다</a:t>
            </a:r>
          </a:p>
          <a:p>
            <a:pPr>
              <a:spcAft>
                <a:spcPts val="300"/>
              </a:spcAft>
            </a:pPr>
            <a:r>
              <a:rPr sz="1600" b="0">
                <a:solidFill>
                  <a:srgbClr val="5A6672"/>
                </a:solidFill>
                <a:latin typeface="Malgun Gothic"/>
                <a:ea typeface="Malgun Gothic"/>
              </a:rPr>
              <a:t>    –  구현 자체를 빠뜨렸거나 헤더가 다르다. 파라미터 이름 오타가 가장 흔하다</a:t>
            </a:r>
          </a:p>
          <a:p>
            <a:pPr>
              <a:spcAft>
                <a:spcPts val="500"/>
              </a:spcAft>
            </a:pPr>
            <a:r>
              <a:rPr sz="1800" b="0">
                <a:solidFill>
                  <a:srgbClr val="202830"/>
                </a:solidFill>
                <a:latin typeface="Malgun Gothic"/>
                <a:ea typeface="Malgun Gothic"/>
              </a:rPr>
              <a:t>•  PLS-00304 — 본문이 없거나 본문 컴파일에 실패한 패키지를 호출했다</a:t>
            </a:r>
          </a:p>
          <a:p>
            <a:pPr>
              <a:spcAft>
                <a:spcPts val="300"/>
              </a:spcAft>
            </a:pPr>
            <a:r>
              <a:rPr sz="1600" b="0">
                <a:solidFill>
                  <a:srgbClr val="5A6672"/>
                </a:solidFill>
                <a:latin typeface="Malgun Gothic"/>
                <a:ea typeface="Malgun Gothic"/>
              </a:rPr>
              <a:t>    –  명세만 남은 상태에서 호출하면 이 오류를 만난다</a:t>
            </a:r>
          </a:p>
          <a:p>
            <a:pPr>
              <a:spcAft>
                <a:spcPts val="500"/>
              </a:spcAft>
            </a:pPr>
            <a:r>
              <a:rPr sz="1800" b="0">
                <a:solidFill>
                  <a:srgbClr val="202830"/>
                </a:solidFill>
                <a:latin typeface="Malgun Gothic"/>
                <a:ea typeface="Malgun Gothic"/>
              </a:rPr>
              <a:t>•  PLS-00201 — 참조한 식별자가 어디에도 선언되어 있지 않다</a:t>
            </a:r>
          </a:p>
          <a:p>
            <a:pPr>
              <a:spcAft>
                <a:spcPts val="300"/>
              </a:spcAft>
            </a:pPr>
            <a:r>
              <a:rPr sz="1600" b="0">
                <a:solidFill>
                  <a:srgbClr val="5A6672"/>
                </a:solidFill>
                <a:latin typeface="Malgun Gothic"/>
                <a:ea typeface="Malgun Gothic"/>
              </a:rPr>
              <a:t>    –  Private 함수를 정의보다 앞에서 호출한 경우가 대표적이다</a:t>
            </a:r>
          </a:p>
          <a:p>
            <a:pPr>
              <a:spcAft>
                <a:spcPts val="500"/>
              </a:spcAft>
            </a:pPr>
            <a:r>
              <a:rPr sz="1800" b="0">
                <a:solidFill>
                  <a:srgbClr val="202830"/>
                </a:solidFill>
                <a:latin typeface="Malgun Gothic"/>
                <a:ea typeface="Malgun Gothic"/>
              </a:rPr>
              <a:t>•  확인 방법 — SHOW ERRORS 또는 USER_ERRORS 조회</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4903585" cy="1107996"/>
          </a:xfrm>
          <a:prstGeom prst="rect">
            <a:avLst/>
          </a:prstGeom>
          <a:noFill/>
        </p:spPr>
        <p:txBody>
          <a:bodyPr wrap="square">
            <a:spAutoFit/>
          </a:bodyPr>
          <a:lstStyle/>
          <a:p>
            <a:r>
              <a:rPr sz="6600" b="1" dirty="0">
                <a:solidFill>
                  <a:srgbClr val="C0392B"/>
                </a:solidFill>
                <a:latin typeface="Malgun Gothic"/>
                <a:ea typeface="Malgun Gothic"/>
              </a:rPr>
              <a:t>5.5~5.9</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가시성 · 상태 유지 · 패키지 관리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500"/>
              </a:spcAft>
            </a:pPr>
            <a:r>
              <a:rPr sz="1600" b="0">
                <a:solidFill>
                  <a:srgbClr val="C5CED6"/>
                </a:solidFill>
                <a:latin typeface="Malgun Gothic"/>
                <a:ea typeface="Malgun Gothic"/>
              </a:rPr>
              <a:t>•  Public · Private · Local 세 단계의 가시성</a:t>
            </a:r>
          </a:p>
          <a:p>
            <a:pPr>
              <a:spcAft>
                <a:spcPts val="500"/>
              </a:spcAft>
            </a:pPr>
            <a:r>
              <a:rPr sz="1600" b="0">
                <a:solidFill>
                  <a:srgbClr val="C5CED6"/>
                </a:solidFill>
                <a:latin typeface="Malgun Gothic"/>
                <a:ea typeface="Malgun Gothic"/>
              </a:rPr>
              <a:t>•  패키지 변수와 세션별 상태 유지(UGA)</a:t>
            </a:r>
          </a:p>
          <a:p>
            <a:pPr>
              <a:spcAft>
                <a:spcPts val="500"/>
              </a:spcAft>
            </a:pPr>
            <a:r>
              <a:rPr sz="1600" b="0">
                <a:solidFill>
                  <a:srgbClr val="C5CED6"/>
                </a:solidFill>
                <a:latin typeface="Malgun Gothic"/>
                <a:ea typeface="Malgun Gothic"/>
              </a:rPr>
              <a:t>•  호출과 오버로딩 · 전방 선언 · 초기화 블록</a:t>
            </a:r>
          </a:p>
          <a:p>
            <a:pPr>
              <a:spcAft>
                <a:spcPts val="500"/>
              </a:spcAft>
            </a:pPr>
            <a:r>
              <a:rPr sz="1600" b="0">
                <a:solidFill>
                  <a:srgbClr val="C5CED6"/>
                </a:solidFill>
                <a:latin typeface="Malgun Gothic"/>
                <a:ea typeface="Malgun Gothic"/>
              </a:rPr>
              <a:t>•  데이터 딕셔너리 조회 · 재컴파일 · 삭제</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가시성 세 단계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Public — 패키지 명세에 선언</a:t>
            </a:r>
          </a:p>
          <a:p>
            <a:pPr>
              <a:spcAft>
                <a:spcPts val="300"/>
              </a:spcAft>
            </a:pPr>
            <a:r>
              <a:rPr sz="1600" b="0">
                <a:solidFill>
                  <a:srgbClr val="5A6672"/>
                </a:solidFill>
                <a:latin typeface="Malgun Gothic"/>
                <a:ea typeface="Malgun Gothic"/>
              </a:rPr>
              <a:t>    –  권한만 있으면 외부에서 패키지이름.요소이름 으로 접근 가능</a:t>
            </a:r>
          </a:p>
          <a:p>
            <a:pPr>
              <a:spcAft>
                <a:spcPts val="500"/>
              </a:spcAft>
            </a:pPr>
            <a:r>
              <a:rPr sz="1800" b="0">
                <a:solidFill>
                  <a:srgbClr val="202830"/>
                </a:solidFill>
                <a:latin typeface="Malgun Gothic"/>
                <a:ea typeface="Malgun Gothic"/>
              </a:rPr>
              <a:t>•  Private — 패키지 본문에만 선언</a:t>
            </a:r>
          </a:p>
          <a:p>
            <a:pPr>
              <a:spcAft>
                <a:spcPts val="300"/>
              </a:spcAft>
            </a:pPr>
            <a:r>
              <a:rPr sz="1600" b="0">
                <a:solidFill>
                  <a:srgbClr val="5A6672"/>
                </a:solidFill>
                <a:latin typeface="Malgun Gothic"/>
                <a:ea typeface="Malgun Gothic"/>
              </a:rPr>
              <a:t>    –  같은 본문 안의 다른 서브프로그램에서만 보인다</a:t>
            </a:r>
          </a:p>
          <a:p>
            <a:pPr>
              <a:spcAft>
                <a:spcPts val="300"/>
              </a:spcAft>
            </a:pPr>
            <a:r>
              <a:rPr sz="1600" b="0">
                <a:solidFill>
                  <a:srgbClr val="5A6672"/>
                </a:solidFill>
                <a:latin typeface="Malgun Gothic"/>
                <a:ea typeface="Malgun Gothic"/>
              </a:rPr>
              <a:t>    –  외부에서 참조하면 PLS-00302 component must be declared</a:t>
            </a:r>
          </a:p>
          <a:p>
            <a:pPr>
              <a:spcAft>
                <a:spcPts val="500"/>
              </a:spcAft>
            </a:pPr>
            <a:r>
              <a:rPr sz="1800" b="0">
                <a:solidFill>
                  <a:srgbClr val="202830"/>
                </a:solidFill>
                <a:latin typeface="Malgun Gothic"/>
                <a:ea typeface="Malgun Gothic"/>
              </a:rPr>
              <a:t>•  Local — 서브프로그램의 선언부에 선언</a:t>
            </a:r>
          </a:p>
          <a:p>
            <a:pPr>
              <a:spcAft>
                <a:spcPts val="300"/>
              </a:spcAft>
            </a:pPr>
            <a:r>
              <a:rPr sz="1600" b="0">
                <a:solidFill>
                  <a:srgbClr val="5A6672"/>
                </a:solidFill>
                <a:latin typeface="Malgun Gothic"/>
                <a:ea typeface="Malgun Gothic"/>
              </a:rPr>
              <a:t>    –  그 서브프로그램과 중첩 블록 안에서만 보인다</a:t>
            </a:r>
          </a:p>
          <a:p>
            <a:pPr>
              <a:spcAft>
                <a:spcPts val="500"/>
              </a:spcAft>
            </a:pPr>
            <a:r>
              <a:rPr sz="1800" b="0">
                <a:solidFill>
                  <a:srgbClr val="202830"/>
                </a:solidFill>
                <a:latin typeface="Malgun Gothic"/>
                <a:ea typeface="Malgun Gothic"/>
              </a:rPr>
              <a:t>•  세 겹의 동심원 구조로 기억하면 쉽다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오류 → 원인 → 수정 : PLS-00302</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SQL&gt; BEGIN</a:t>
            </a:r>
          </a:p>
          <a:p>
            <a:pPr>
              <a:spcAft>
                <a:spcPts val="0"/>
              </a:spcAft>
            </a:pPr>
            <a:r>
              <a:rPr sz="1250" b="0">
                <a:solidFill>
                  <a:srgbClr val="E6E6E6"/>
                </a:solidFill>
                <a:latin typeface="Consolas"/>
                <a:ea typeface="Consolas"/>
              </a:rPr>
              <a:t>  2     IF emp_pkg.valid_job('IT_PROG') THEN NULL; END IF;</a:t>
            </a:r>
          </a:p>
          <a:p>
            <a:pPr>
              <a:spcAft>
                <a:spcPts val="0"/>
              </a:spcAft>
            </a:pPr>
            <a:r>
              <a:rPr sz="1250" b="0">
                <a:solidFill>
                  <a:srgbClr val="E6E6E6"/>
                </a:solidFill>
                <a:latin typeface="Consolas"/>
                <a:ea typeface="Consolas"/>
              </a:rPr>
              <a:t>  3  END;</a:t>
            </a:r>
          </a:p>
          <a:p>
            <a:pPr>
              <a:spcAft>
                <a:spcPts val="0"/>
              </a:spcAft>
            </a:pPr>
            <a:r>
              <a:rPr sz="1250" b="0">
                <a:solidFill>
                  <a:srgbClr val="E6E6E6"/>
                </a:solidFill>
                <a:latin typeface="Consolas"/>
                <a:ea typeface="Consolas"/>
              </a:rPr>
              <a:t>  4  /</a:t>
            </a:r>
          </a:p>
          <a:p>
            <a:pPr>
              <a:spcAft>
                <a:spcPts val="0"/>
              </a:spcAft>
            </a:pPr>
            <a:r>
              <a:rPr sz="1250" b="0">
                <a:solidFill>
                  <a:srgbClr val="E6E6E6"/>
                </a:solidFill>
                <a:latin typeface="Consolas"/>
                <a:ea typeface="Consolas"/>
              </a:rPr>
              <a:t>ERROR at line 1:</a:t>
            </a:r>
          </a:p>
          <a:p>
            <a:pPr>
              <a:spcAft>
                <a:spcPts val="0"/>
              </a:spcAft>
            </a:pPr>
            <a:r>
              <a:rPr sz="1250" b="0">
                <a:solidFill>
                  <a:srgbClr val="F08A8A"/>
                </a:solidFill>
                <a:latin typeface="Consolas"/>
                <a:ea typeface="Consolas"/>
              </a:rPr>
              <a:t>ORA-06550: line 2, column 17:</a:t>
            </a:r>
          </a:p>
          <a:p>
            <a:pPr>
              <a:spcAft>
                <a:spcPts val="0"/>
              </a:spcAft>
            </a:pPr>
            <a:r>
              <a:rPr sz="1250" b="0">
                <a:solidFill>
                  <a:srgbClr val="F08A8A"/>
                </a:solidFill>
                <a:latin typeface="Consolas"/>
                <a:ea typeface="Consolas"/>
              </a:rPr>
              <a:t>PLS-00302: component 'VALID_JOB' must be declared</a:t>
            </a:r>
          </a:p>
          <a:p>
            <a:pPr>
              <a:spcAft>
                <a:spcPts val="0"/>
              </a:spcAft>
            </a:pPr>
            <a:endParaRPr sz="1250" b="0">
              <a:solidFill>
                <a:srgbClr val="F08A8A"/>
              </a:solidFill>
              <a:latin typeface="Consolas"/>
              <a:ea typeface="Consolas"/>
            </a:endParaRPr>
          </a:p>
          <a:p>
            <a:pPr>
              <a:spcAft>
                <a:spcPts val="0"/>
              </a:spcAft>
            </a:pPr>
            <a:r>
              <a:rPr sz="1250" b="0">
                <a:solidFill>
                  <a:srgbClr val="7EC699"/>
                </a:solidFill>
                <a:latin typeface="Consolas"/>
                <a:ea typeface="Consolas"/>
              </a:rPr>
              <a:t>-- 원인) valid_job 은 본문에만 있는 Private 함수라 외부에서 보이지 않는다.</a:t>
            </a:r>
          </a:p>
          <a:p>
            <a:pPr>
              <a:spcAft>
                <a:spcPts val="0"/>
              </a:spcAft>
            </a:pPr>
            <a:r>
              <a:rPr sz="1250" b="0">
                <a:solidFill>
                  <a:srgbClr val="7EC699"/>
                </a:solidFill>
                <a:latin typeface="Consolas"/>
                <a:ea typeface="Consolas"/>
              </a:rPr>
              <a:t>-- 조치 1) 공개 프로시저를 통해 간접적으로 사용한다 (권장)</a:t>
            </a:r>
          </a:p>
          <a:p>
            <a:pPr>
              <a:spcAft>
                <a:spcPts val="0"/>
              </a:spcAft>
            </a:pPr>
            <a:r>
              <a:rPr sz="1250" b="0">
                <a:solidFill>
                  <a:srgbClr val="7EC699"/>
                </a:solidFill>
                <a:latin typeface="Consolas"/>
                <a:ea typeface="Consolas"/>
              </a:rPr>
              <a:t>-- 조치 2) 정말 공개가 필요하면 명세에 헤더를 추가하고 명세를 재컴파일한다</a:t>
            </a:r>
          </a:p>
          <a:p>
            <a:pPr>
              <a:spcAft>
                <a:spcPts val="0"/>
              </a:spcAft>
            </a:pPr>
            <a:r>
              <a:rPr sz="1250" b="0">
                <a:solidFill>
                  <a:srgbClr val="7EC699"/>
                </a:solidFill>
                <a:latin typeface="Consolas"/>
                <a:ea typeface="Consolas"/>
              </a:rPr>
              <a:t>--         단, 명세 변경은 의존 객체를 전면 INVALID 로 만든다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무엇을 공개할 것인가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업무 단위만 공개한다</a:t>
            </a:r>
          </a:p>
          <a:p>
            <a:pPr>
              <a:spcAft>
                <a:spcPts val="300"/>
              </a:spcAft>
            </a:pPr>
            <a:r>
              <a:rPr sz="1600" b="0">
                <a:solidFill>
                  <a:srgbClr val="5A6672"/>
                </a:solidFill>
                <a:latin typeface="Malgun Gothic"/>
                <a:ea typeface="Malgun Gothic"/>
              </a:rPr>
              <a:t>    –  사원 등록, 급여 인상처럼 외부가 이해해야 하는 행위</a:t>
            </a:r>
          </a:p>
          <a:p>
            <a:pPr>
              <a:spcAft>
                <a:spcPts val="500"/>
              </a:spcAft>
            </a:pPr>
            <a:r>
              <a:rPr sz="1800" b="0">
                <a:solidFill>
                  <a:srgbClr val="202830"/>
                </a:solidFill>
                <a:latin typeface="Malgun Gothic"/>
                <a:ea typeface="Malgun Gothic"/>
              </a:rPr>
              <a:t>•  검증·계산·변환 같은 보조 로직은 Private 으로 둔다</a:t>
            </a:r>
          </a:p>
          <a:p>
            <a:pPr>
              <a:spcAft>
                <a:spcPts val="300"/>
              </a:spcAft>
            </a:pPr>
            <a:r>
              <a:rPr sz="1600" b="0">
                <a:solidFill>
                  <a:srgbClr val="5A6672"/>
                </a:solidFill>
                <a:latin typeface="Malgun Gothic"/>
                <a:ea typeface="Malgun Gothic"/>
              </a:rPr>
              <a:t>    –  Private 요소는 이름을 바꾸거나 없애도 외부에 영향이 없다</a:t>
            </a:r>
          </a:p>
          <a:p>
            <a:pPr>
              <a:spcAft>
                <a:spcPts val="500"/>
              </a:spcAft>
            </a:pPr>
            <a:r>
              <a:rPr sz="1800" b="0">
                <a:solidFill>
                  <a:srgbClr val="202830"/>
                </a:solidFill>
                <a:latin typeface="Malgun Gothic"/>
                <a:ea typeface="Malgun Gothic"/>
              </a:rPr>
              <a:t>•  패키지 변수는 되도록 Private 으로 두고 getter/setter 를 제공한다</a:t>
            </a:r>
          </a:p>
          <a:p>
            <a:pPr>
              <a:spcAft>
                <a:spcPts val="300"/>
              </a:spcAft>
            </a:pPr>
            <a:r>
              <a:rPr sz="1600" b="0">
                <a:solidFill>
                  <a:srgbClr val="5A6672"/>
                </a:solidFill>
                <a:latin typeface="Malgun Gothic"/>
                <a:ea typeface="Malgun Gothic"/>
              </a:rPr>
              <a:t>    –  공개 변수는 외부에서 임의로 대입할 수 있어 상태가 쉽게 깨진다</a:t>
            </a:r>
          </a:p>
          <a:p>
            <a:pPr>
              <a:spcAft>
                <a:spcPts val="500"/>
              </a:spcAft>
            </a:pPr>
            <a:r>
              <a:rPr sz="1800" b="0">
                <a:solidFill>
                  <a:srgbClr val="202830"/>
                </a:solidFill>
                <a:latin typeface="Malgun Gothic"/>
                <a:ea typeface="Malgun Gothic"/>
              </a:rPr>
              <a:t>•  명세는 계약서다 — 한 번 공개하면 지우기 어렵다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패키지 변수와 상태 유지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최상위 선언부의 변수 = 패키지 변수</a:t>
            </a:r>
          </a:p>
          <a:p>
            <a:pPr>
              <a:spcAft>
                <a:spcPts val="300"/>
              </a:spcAft>
            </a:pPr>
            <a:r>
              <a:rPr sz="1600" b="0">
                <a:solidFill>
                  <a:srgbClr val="5A6672"/>
                </a:solidFill>
                <a:latin typeface="Malgun Gothic"/>
                <a:ea typeface="Malgun Gothic"/>
              </a:rPr>
              <a:t>    –  로컬 변수와 달리 호출이 끝나도 값이 사라지지 않는다</a:t>
            </a:r>
          </a:p>
          <a:p>
            <a:pPr>
              <a:spcAft>
                <a:spcPts val="500"/>
              </a:spcAft>
            </a:pPr>
            <a:r>
              <a:rPr sz="1800" b="0">
                <a:solidFill>
                  <a:srgbClr val="202830"/>
                </a:solidFill>
                <a:latin typeface="Malgun Gothic"/>
                <a:ea typeface="Malgun Gothic"/>
              </a:rPr>
              <a:t>•  세션이 패키지를 처음 참조할 때 초기화된다</a:t>
            </a:r>
          </a:p>
          <a:p>
            <a:pPr>
              <a:spcAft>
                <a:spcPts val="300"/>
              </a:spcAft>
            </a:pPr>
            <a:r>
              <a:rPr sz="1600" b="0">
                <a:solidFill>
                  <a:srgbClr val="5A6672"/>
                </a:solidFill>
                <a:latin typeface="Malgun Gothic"/>
                <a:ea typeface="Malgun Gothic"/>
              </a:rPr>
              <a:t>    –  선언부의 := 초기값이 이때 한 번 평가된다</a:t>
            </a:r>
          </a:p>
          <a:p>
            <a:pPr>
              <a:spcAft>
                <a:spcPts val="500"/>
              </a:spcAft>
            </a:pPr>
            <a:r>
              <a:rPr sz="1800" b="0">
                <a:solidFill>
                  <a:srgbClr val="202830"/>
                </a:solidFill>
                <a:latin typeface="Malgun Gothic"/>
                <a:ea typeface="Malgun Gothic"/>
              </a:rPr>
              <a:t>•  값은 세션이 끝날 때까지 유지된다 — Persistent State</a:t>
            </a:r>
          </a:p>
          <a:p>
            <a:pPr>
              <a:spcAft>
                <a:spcPts val="500"/>
              </a:spcAft>
            </a:pPr>
            <a:r>
              <a:rPr sz="1800" b="0">
                <a:solidFill>
                  <a:srgbClr val="202830"/>
                </a:solidFill>
                <a:latin typeface="Malgun Gothic"/>
                <a:ea typeface="Malgun Gothic"/>
              </a:rPr>
              <a:t>•  UGA(User Global Area)에 세션마다 별도의 사본으로 저장된다</a:t>
            </a:r>
          </a:p>
          <a:p>
            <a:pPr>
              <a:spcAft>
                <a:spcPts val="300"/>
              </a:spcAft>
            </a:pPr>
            <a:r>
              <a:rPr sz="1600" b="0">
                <a:solidFill>
                  <a:srgbClr val="5A6672"/>
                </a:solidFill>
                <a:latin typeface="Malgun Gothic"/>
                <a:ea typeface="Malgun Gothic"/>
              </a:rPr>
              <a:t>    –  A 세션에서 바꾼 값이 B 세션에 보이지 않는다</a:t>
            </a:r>
          </a:p>
          <a:p>
            <a:pPr>
              <a:spcAft>
                <a:spcPts val="300"/>
              </a:spcAft>
            </a:pPr>
            <a:r>
              <a:rPr sz="1600" b="0">
                <a:solidFill>
                  <a:srgbClr val="5A6672"/>
                </a:solidFill>
                <a:latin typeface="Malgun Gothic"/>
                <a:ea typeface="Malgun Gothic"/>
              </a:rPr>
              <a:t>    –  세션 간 공유가 필요하면 테이블이나 RESULT_CACHE 를 쓴다</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상태 유지형 패키지</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PACKAGE stat_pkg IS</a:t>
            </a:r>
          </a:p>
          <a:p>
            <a:pPr>
              <a:spcAft>
                <a:spcPts val="0"/>
              </a:spcAft>
            </a:pPr>
            <a:r>
              <a:rPr sz="1250" b="0">
                <a:solidFill>
                  <a:srgbClr val="E6E6E6"/>
                </a:solidFill>
                <a:latin typeface="Consolas"/>
                <a:ea typeface="Consolas"/>
              </a:rPr>
              <a:t>   PROCEDURE hit;   FUNCTION hits RETURN NUMBER;</a:t>
            </a:r>
          </a:p>
          <a:p>
            <a:pPr>
              <a:spcAft>
                <a:spcPts val="0"/>
              </a:spcAft>
            </a:pPr>
            <a:r>
              <a:rPr sz="1250" b="0">
                <a:solidFill>
                  <a:srgbClr val="E6E6E6"/>
                </a:solidFill>
                <a:latin typeface="Consolas"/>
                <a:ea typeface="Consolas"/>
              </a:rPr>
              <a:t>END stat_pkg;</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CREATE OR REPLACE PACKAGE BODY stat_pkg IS</a:t>
            </a:r>
          </a:p>
          <a:p>
            <a:pPr>
              <a:spcAft>
                <a:spcPts val="0"/>
              </a:spcAft>
            </a:pPr>
            <a:r>
              <a:rPr sz="1250" b="0">
                <a:solidFill>
                  <a:srgbClr val="E6E6E6"/>
                </a:solidFill>
                <a:latin typeface="Consolas"/>
                <a:ea typeface="Consolas"/>
              </a:rPr>
              <a:t>   g_hits NUMBER := 0;         -- Private 패키지 변수(세션별 1개)</a:t>
            </a:r>
          </a:p>
          <a:p>
            <a:pPr>
              <a:spcAft>
                <a:spcPts val="0"/>
              </a:spcAft>
            </a:pPr>
            <a:r>
              <a:rPr sz="1250" b="0">
                <a:solidFill>
                  <a:srgbClr val="E6E6E6"/>
                </a:solidFill>
                <a:latin typeface="Consolas"/>
                <a:ea typeface="Consolas"/>
              </a:rPr>
              <a:t>   PROCEDURE hit  IS BEGIN g_hits := g_hits + 1; END hit;</a:t>
            </a:r>
          </a:p>
          <a:p>
            <a:pPr>
              <a:spcAft>
                <a:spcPts val="0"/>
              </a:spcAft>
            </a:pPr>
            <a:r>
              <a:rPr sz="1250" b="0">
                <a:solidFill>
                  <a:srgbClr val="E6E6E6"/>
                </a:solidFill>
                <a:latin typeface="Consolas"/>
                <a:ea typeface="Consolas"/>
              </a:rPr>
              <a:t>   FUNCTION  hits RETURN NUMBER IS BEGIN RETURN g_hits; END hits;</a:t>
            </a:r>
          </a:p>
          <a:p>
            <a:pPr>
              <a:spcAft>
                <a:spcPts val="0"/>
              </a:spcAft>
            </a:pPr>
            <a:r>
              <a:rPr sz="1250" b="0">
                <a:solidFill>
                  <a:srgbClr val="E6E6E6"/>
                </a:solidFill>
                <a:latin typeface="Consolas"/>
                <a:ea typeface="Consolas"/>
              </a:rPr>
              <a:t>END stat_pkg;</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SQL&gt; EXEC stat_pkg.hit</a:t>
            </a:r>
          </a:p>
          <a:p>
            <a:pPr>
              <a:spcAft>
                <a:spcPts val="0"/>
              </a:spcAft>
            </a:pPr>
            <a:r>
              <a:rPr sz="1250" b="0">
                <a:solidFill>
                  <a:srgbClr val="E6E6E6"/>
                </a:solidFill>
                <a:latin typeface="Consolas"/>
                <a:ea typeface="Consolas"/>
              </a:rPr>
              <a:t>SQL&gt; EXEC stat_pkg.hit</a:t>
            </a:r>
          </a:p>
          <a:p>
            <a:pPr>
              <a:spcAft>
                <a:spcPts val="0"/>
              </a:spcAft>
            </a:pPr>
            <a:r>
              <a:rPr sz="1250" b="0">
                <a:solidFill>
                  <a:srgbClr val="E6E6E6"/>
                </a:solidFill>
                <a:latin typeface="Consolas"/>
                <a:ea typeface="Consolas"/>
              </a:rPr>
              <a:t>SQL&gt; EXEC DBMS_OUTPUT.PUT_LINE('누적 : ' || stat_pkg.hits)</a:t>
            </a:r>
          </a:p>
          <a:p>
            <a:pPr>
              <a:spcAft>
                <a:spcPts val="0"/>
              </a:spcAft>
            </a:pPr>
            <a:r>
              <a:rPr sz="1250" b="0">
                <a:solidFill>
                  <a:srgbClr val="9CDCFE"/>
                </a:solidFill>
                <a:latin typeface="Consolas"/>
                <a:ea typeface="Consolas"/>
              </a:rPr>
              <a:t>출력) 누적 : 2</a:t>
            </a:r>
          </a:p>
          <a:p>
            <a:pPr>
              <a:spcAft>
                <a:spcPts val="0"/>
              </a:spcAft>
            </a:pPr>
            <a:endParaRPr sz="1250" b="0">
              <a:solidFill>
                <a:srgbClr val="9CDCFE"/>
              </a:solidFill>
              <a:latin typeface="Consolas"/>
              <a:ea typeface="Consolas"/>
            </a:endParaRPr>
          </a:p>
          <a:p>
            <a:pPr>
              <a:spcAft>
                <a:spcPts val="0"/>
              </a:spcAft>
            </a:pPr>
            <a:r>
              <a:rPr sz="1250" b="0">
                <a:solidFill>
                  <a:srgbClr val="7EC699"/>
                </a:solidFill>
                <a:latin typeface="Consolas"/>
                <a:ea typeface="Consolas"/>
              </a:rPr>
              <a:t>-- 접속을 끊고 다시 붙으면 g_hits 는 다시 0 부터 시작한다.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상태가 초기화되는 세 시점과 ORA-04068</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세션이 그 패키지를 처음 참조할 때</a:t>
            </a:r>
          </a:p>
          <a:p>
            <a:pPr>
              <a:spcAft>
                <a:spcPts val="300"/>
              </a:spcAft>
            </a:pPr>
            <a:r>
              <a:rPr sz="1600" b="0">
                <a:solidFill>
                  <a:srgbClr val="5A6672"/>
                </a:solidFill>
                <a:latin typeface="Malgun Gothic"/>
                <a:ea typeface="Malgun Gothic"/>
              </a:rPr>
              <a:t>    –  선언부의 := 초기값과 초기화 블록이 이때 한 번 실행된다</a:t>
            </a:r>
          </a:p>
          <a:p>
            <a:pPr>
              <a:spcAft>
                <a:spcPts val="500"/>
              </a:spcAft>
            </a:pPr>
            <a:r>
              <a:rPr sz="1800" b="0">
                <a:solidFill>
                  <a:srgbClr val="202830"/>
                </a:solidFill>
                <a:latin typeface="Malgun Gothic"/>
                <a:ea typeface="Malgun Gothic"/>
              </a:rPr>
              <a:t>•  세션이 종료될 때</a:t>
            </a:r>
          </a:p>
          <a:p>
            <a:pPr>
              <a:spcAft>
                <a:spcPts val="300"/>
              </a:spcAft>
            </a:pPr>
            <a:r>
              <a:rPr sz="1600" b="0">
                <a:solidFill>
                  <a:srgbClr val="5A6672"/>
                </a:solidFill>
                <a:latin typeface="Malgun Gothic"/>
                <a:ea typeface="Malgun Gothic"/>
              </a:rPr>
              <a:t>    –  UGA 가 해제되면서 값도 함께 사라진다</a:t>
            </a:r>
          </a:p>
          <a:p>
            <a:pPr>
              <a:spcAft>
                <a:spcPts val="500"/>
              </a:spcAft>
            </a:pPr>
            <a:r>
              <a:rPr sz="1800" b="0">
                <a:solidFill>
                  <a:srgbClr val="202830"/>
                </a:solidFill>
                <a:latin typeface="Malgun Gothic"/>
                <a:ea typeface="Malgun Gothic"/>
              </a:rPr>
              <a:t>•  패키지가 재컴파일되어 기존 세션의 상태가 무효화될 때</a:t>
            </a:r>
          </a:p>
          <a:p>
            <a:pPr>
              <a:spcAft>
                <a:spcPts val="300"/>
              </a:spcAft>
            </a:pPr>
            <a:r>
              <a:rPr sz="1600" b="0">
                <a:solidFill>
                  <a:srgbClr val="5A6672"/>
                </a:solidFill>
                <a:latin typeface="Malgun Gothic"/>
                <a:ea typeface="Malgun Gothic"/>
              </a:rPr>
              <a:t>    –  ORA-04068 existing state of packages has been discarded</a:t>
            </a:r>
          </a:p>
          <a:p>
            <a:pPr>
              <a:spcAft>
                <a:spcPts val="300"/>
              </a:spcAft>
            </a:pPr>
            <a:r>
              <a:rPr sz="1600" b="0">
                <a:solidFill>
                  <a:srgbClr val="5A6672"/>
                </a:solidFill>
                <a:latin typeface="Malgun Gothic"/>
                <a:ea typeface="Malgun Gothic"/>
              </a:rPr>
              <a:t>    –  그 호출은 실패하지만 상태가 다시 초기화되므로 재시도하면 성공한다</a:t>
            </a:r>
          </a:p>
          <a:p>
            <a:pPr>
              <a:spcAft>
                <a:spcPts val="500"/>
              </a:spcAft>
            </a:pPr>
            <a:r>
              <a:rPr sz="1800" b="0">
                <a:solidFill>
                  <a:srgbClr val="202830"/>
                </a:solidFill>
                <a:latin typeface="Malgun Gothic"/>
                <a:ea typeface="Malgun Gothic"/>
              </a:rPr>
              <a:t>•  커넥션 풀 환경에서는 앞 사용자의 상태가 남아 있을 수 있다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실무 시나리오 — 커넥션 풀에 남은 상태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상황 — 로그인 사용자 ID 를 패키지 변수에 담아 두고 참조하도록 설계</a:t>
            </a:r>
          </a:p>
          <a:p>
            <a:pPr>
              <a:spcAft>
                <a:spcPts val="500"/>
              </a:spcAft>
            </a:pPr>
            <a:r>
              <a:rPr sz="1800" b="0">
                <a:solidFill>
                  <a:srgbClr val="202830"/>
                </a:solidFill>
                <a:latin typeface="Malgun Gothic"/>
                <a:ea typeface="Malgun Gothic"/>
              </a:rPr>
              <a:t>•  증상 — 특정 사용자가 다른 사용자의 데이터를 보는 사고가 간헐적으로 발생</a:t>
            </a:r>
          </a:p>
          <a:p>
            <a:pPr>
              <a:spcAft>
                <a:spcPts val="500"/>
              </a:spcAft>
            </a:pPr>
            <a:r>
              <a:rPr sz="1800" b="0">
                <a:solidFill>
                  <a:srgbClr val="202830"/>
                </a:solidFill>
                <a:latin typeface="Malgun Gothic"/>
                <a:ea typeface="Malgun Gothic"/>
              </a:rPr>
              <a:t>•  원인 — 커넥션 풀이 물리 세션을 재사용했고 앞 요청의 값이 살아 있었다</a:t>
            </a:r>
          </a:p>
          <a:p>
            <a:pPr>
              <a:spcAft>
                <a:spcPts val="300"/>
              </a:spcAft>
            </a:pPr>
            <a:r>
              <a:rPr sz="1600" b="0">
                <a:solidFill>
                  <a:srgbClr val="5A6672"/>
                </a:solidFill>
                <a:latin typeface="Malgun Gothic"/>
                <a:ea typeface="Malgun Gothic"/>
              </a:rPr>
              <a:t>    –  패키지 상태는 세션 단위이지 요청 단위가 아니다</a:t>
            </a:r>
          </a:p>
          <a:p>
            <a:pPr>
              <a:spcAft>
                <a:spcPts val="500"/>
              </a:spcAft>
            </a:pPr>
            <a:r>
              <a:rPr sz="1800" b="0">
                <a:solidFill>
                  <a:srgbClr val="202830"/>
                </a:solidFill>
                <a:latin typeface="Malgun Gothic"/>
                <a:ea typeface="Malgun Gothic"/>
              </a:rPr>
              <a:t>•  조치 1 — 요청 시작 시 초기화 프로시저를 반드시 호출</a:t>
            </a:r>
          </a:p>
          <a:p>
            <a:pPr>
              <a:spcAft>
                <a:spcPts val="500"/>
              </a:spcAft>
            </a:pPr>
            <a:r>
              <a:rPr sz="1800" b="0">
                <a:solidFill>
                  <a:srgbClr val="202830"/>
                </a:solidFill>
                <a:latin typeface="Malgun Gothic"/>
                <a:ea typeface="Malgun Gothic"/>
              </a:rPr>
              <a:t>•  조치 2 — 사용자 식별은 SYS_CONTEXT 애플리케이션 컨텍스트로 이관</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호출 방법과 오버로딩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외부 호출은 점 표기법 — [스키마.]패키지.요소</a:t>
            </a:r>
          </a:p>
          <a:p>
            <a:pPr>
              <a:spcAft>
                <a:spcPts val="300"/>
              </a:spcAft>
            </a:pPr>
            <a:r>
              <a:rPr sz="1600" b="0">
                <a:solidFill>
                  <a:srgbClr val="5A6672"/>
                </a:solidFill>
                <a:latin typeface="Malgun Gothic"/>
                <a:ea typeface="Malgun Gothic"/>
              </a:rPr>
              <a:t>    –  프로시저는 EXECUTE 나 익명 블록, 함수는 SELECT 나 대입문에서</a:t>
            </a:r>
          </a:p>
          <a:p>
            <a:pPr>
              <a:spcAft>
                <a:spcPts val="500"/>
              </a:spcAft>
            </a:pPr>
            <a:r>
              <a:rPr sz="1800" b="0">
                <a:solidFill>
                  <a:srgbClr val="202830"/>
                </a:solidFill>
                <a:latin typeface="Malgun Gothic"/>
                <a:ea typeface="Malgun Gothic"/>
              </a:rPr>
              <a:t>•  오버로딩 — 같은 이름의 서브프로그램을 여러 개 선언</a:t>
            </a:r>
          </a:p>
          <a:p>
            <a:pPr>
              <a:spcAft>
                <a:spcPts val="300"/>
              </a:spcAft>
            </a:pPr>
            <a:r>
              <a:rPr sz="1600" b="0">
                <a:solidFill>
                  <a:srgbClr val="5A6672"/>
                </a:solidFill>
                <a:latin typeface="Malgun Gothic"/>
                <a:ea typeface="Malgun Gothic"/>
              </a:rPr>
              <a:t>    –  파라미터의 개수 · 순서 · 자료형 계열이 달라야 한다</a:t>
            </a:r>
          </a:p>
          <a:p>
            <a:pPr>
              <a:spcAft>
                <a:spcPts val="500"/>
              </a:spcAft>
            </a:pPr>
            <a:r>
              <a:rPr sz="1800" b="0">
                <a:solidFill>
                  <a:srgbClr val="202830"/>
                </a:solidFill>
                <a:latin typeface="Malgun Gothic"/>
                <a:ea typeface="Malgun Gothic"/>
              </a:rPr>
              <a:t>•  허용되지 않는 경우</a:t>
            </a:r>
          </a:p>
          <a:p>
            <a:pPr>
              <a:spcAft>
                <a:spcPts val="300"/>
              </a:spcAft>
            </a:pPr>
            <a:r>
              <a:rPr sz="1600" b="0">
                <a:solidFill>
                  <a:srgbClr val="5A6672"/>
                </a:solidFill>
                <a:latin typeface="Malgun Gothic"/>
                <a:ea typeface="Malgun Gothic"/>
              </a:rPr>
              <a:t>    –  파라미터 이름만 다르고 개수·자료형이 같으면 PLS-00305</a:t>
            </a:r>
          </a:p>
          <a:p>
            <a:pPr>
              <a:spcAft>
                <a:spcPts val="300"/>
              </a:spcAft>
            </a:pPr>
            <a:r>
              <a:rPr sz="1600" b="0">
                <a:solidFill>
                  <a:srgbClr val="5A6672"/>
                </a:solidFill>
                <a:latin typeface="Malgun Gothic"/>
                <a:ea typeface="Malgun Gothic"/>
              </a:rPr>
              <a:t>    –  반환 자료형만 다른 두 함수는 구분되지 않는다</a:t>
            </a:r>
          </a:p>
          <a:p>
            <a:pPr>
              <a:spcAft>
                <a:spcPts val="300"/>
              </a:spcAft>
            </a:pPr>
            <a:r>
              <a:rPr sz="1600" b="0">
                <a:solidFill>
                  <a:srgbClr val="5A6672"/>
                </a:solidFill>
                <a:latin typeface="Malgun Gothic"/>
                <a:ea typeface="Malgun Gothic"/>
              </a:rPr>
              <a:t>    –  NUMBER 와 INTEGER, VARCHAR2 와 CHAR 는 같은 계열이라 모호하다</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패키지 요소 호출과 오버로딩</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SQL&gt; EXEC emp_pkg.raise_salary(p_emp_id =&gt; 176, p_pct =&gt; 0.05)</a:t>
            </a:r>
          </a:p>
          <a:p>
            <a:pPr>
              <a:spcAft>
                <a:spcPts val="0"/>
              </a:spcAft>
            </a:pPr>
            <a:r>
              <a:rPr sz="1250" b="0">
                <a:solidFill>
                  <a:srgbClr val="E6E6E6"/>
                </a:solidFill>
                <a:latin typeface="Consolas"/>
                <a:ea typeface="Consolas"/>
              </a:rPr>
              <a:t>SQL&gt; SELECT emp_pkg.get_annual_comp(176) FROM dual;</a:t>
            </a:r>
          </a:p>
          <a:p>
            <a:pPr>
              <a:spcAft>
                <a:spcPts val="0"/>
              </a:spcAft>
            </a:pPr>
            <a:r>
              <a:rPr sz="1250" b="0">
                <a:solidFill>
                  <a:srgbClr val="9CDCFE"/>
                </a:solidFill>
                <a:latin typeface="Consolas"/>
                <a:ea typeface="Consolas"/>
              </a:rPr>
              <a:t>결과) 107100</a:t>
            </a:r>
          </a:p>
          <a:p>
            <a:pPr>
              <a:spcAft>
                <a:spcPts val="0"/>
              </a:spcAft>
            </a:pPr>
            <a:r>
              <a:rPr sz="1250" b="0">
                <a:solidFill>
                  <a:srgbClr val="E6E6E6"/>
                </a:solidFill>
                <a:latin typeface="Consolas"/>
                <a:ea typeface="Consolas"/>
              </a:rPr>
              <a:t>SQL&gt; EXEC DBMS_OUTPUT.PUT_LINE(emp_pkg.c_min_salary)</a:t>
            </a:r>
          </a:p>
          <a:p>
            <a:pPr>
              <a:spcAft>
                <a:spcPts val="0"/>
              </a:spcAft>
            </a:pPr>
            <a:r>
              <a:rPr sz="1250" b="0">
                <a:solidFill>
                  <a:srgbClr val="9CDCFE"/>
                </a:solidFill>
                <a:latin typeface="Consolas"/>
                <a:ea typeface="Consolas"/>
              </a:rPr>
              <a:t>출력) 2000</a:t>
            </a:r>
          </a:p>
          <a:p>
            <a:pPr>
              <a:spcAft>
                <a:spcPts val="0"/>
              </a:spcAft>
            </a:pPr>
            <a:endParaRPr sz="1250" b="0">
              <a:solidFill>
                <a:srgbClr val="9CDCFE"/>
              </a:solidFill>
              <a:latin typeface="Consolas"/>
              <a:ea typeface="Consolas"/>
            </a:endParaRPr>
          </a:p>
          <a:p>
            <a:pPr>
              <a:spcAft>
                <a:spcPts val="0"/>
              </a:spcAft>
            </a:pPr>
            <a:r>
              <a:rPr sz="1250" b="0">
                <a:solidFill>
                  <a:srgbClr val="7EC699"/>
                </a:solidFill>
                <a:latin typeface="Consolas"/>
                <a:ea typeface="Consolas"/>
              </a:rPr>
              <a:t>-- 오버로딩 : 이름은 같고 파라미터 자료형이 다르다</a:t>
            </a:r>
          </a:p>
          <a:p>
            <a:pPr>
              <a:spcAft>
                <a:spcPts val="0"/>
              </a:spcAft>
            </a:pPr>
            <a:r>
              <a:rPr sz="1250" b="0">
                <a:solidFill>
                  <a:srgbClr val="E6E6E6"/>
                </a:solidFill>
                <a:latin typeface="Consolas"/>
                <a:ea typeface="Consolas"/>
              </a:rPr>
              <a:t>CREATE OR REPLACE PACKAGE emp_find_pkg IS</a:t>
            </a:r>
          </a:p>
          <a:p>
            <a:pPr>
              <a:spcAft>
                <a:spcPts val="0"/>
              </a:spcAft>
            </a:pPr>
            <a:r>
              <a:rPr sz="1250" b="0">
                <a:solidFill>
                  <a:srgbClr val="E6E6E6"/>
                </a:solidFill>
                <a:latin typeface="Consolas"/>
                <a:ea typeface="Consolas"/>
              </a:rPr>
              <a:t>   PROCEDURE find_emp(p_emp_id    IN employees.employee_id%TYPE);</a:t>
            </a:r>
          </a:p>
          <a:p>
            <a:pPr>
              <a:spcAft>
                <a:spcPts val="0"/>
              </a:spcAft>
            </a:pPr>
            <a:r>
              <a:rPr sz="1250" b="0">
                <a:solidFill>
                  <a:srgbClr val="E6E6E6"/>
                </a:solidFill>
                <a:latin typeface="Consolas"/>
                <a:ea typeface="Consolas"/>
              </a:rPr>
              <a:t>   PROCEDURE find_emp(p_last_name IN employees.last_name%TYPE);</a:t>
            </a:r>
          </a:p>
          <a:p>
            <a:pPr>
              <a:spcAft>
                <a:spcPts val="0"/>
              </a:spcAft>
            </a:pPr>
            <a:r>
              <a:rPr sz="1250" b="0">
                <a:solidFill>
                  <a:srgbClr val="E6E6E6"/>
                </a:solidFill>
                <a:latin typeface="Consolas"/>
                <a:ea typeface="Consolas"/>
              </a:rPr>
              <a:t>END emp_find_pkg;</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SQL&gt; EXEC emp_find_pkg.find_emp(100)      -- 숫자   → 첫 번째</a:t>
            </a:r>
          </a:p>
          <a:p>
            <a:pPr>
              <a:spcAft>
                <a:spcPts val="0"/>
              </a:spcAft>
            </a:pPr>
            <a:r>
              <a:rPr sz="1250" b="0">
                <a:solidFill>
                  <a:srgbClr val="E6E6E6"/>
                </a:solidFill>
                <a:latin typeface="Consolas"/>
                <a:ea typeface="Consolas"/>
              </a:rPr>
              <a:t>SQL&gt; EXEC emp_find_pkg.find_emp('King')   -- 문자열 → 두 번째</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전방 선언과 초기화 블록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전방 선언(Forward Declaration)</a:t>
            </a:r>
          </a:p>
          <a:p>
            <a:pPr>
              <a:spcAft>
                <a:spcPts val="300"/>
              </a:spcAft>
            </a:pPr>
            <a:r>
              <a:rPr sz="1600" b="0">
                <a:solidFill>
                  <a:srgbClr val="5A6672"/>
                </a:solidFill>
                <a:latin typeface="Malgun Gothic"/>
                <a:ea typeface="Malgun Gothic"/>
              </a:rPr>
              <a:t>    –  본문에서 아직 정의되지 않은 Private 서브프로그램을 부르면 PLS-00313</a:t>
            </a:r>
          </a:p>
          <a:p>
            <a:pPr>
              <a:spcAft>
                <a:spcPts val="300"/>
              </a:spcAft>
            </a:pPr>
            <a:r>
              <a:rPr sz="1600" b="0">
                <a:solidFill>
                  <a:srgbClr val="5A6672"/>
                </a:solidFill>
                <a:latin typeface="Malgun Gothic"/>
                <a:ea typeface="Malgun Gothic"/>
              </a:rPr>
              <a:t>    –  본문 위쪽에 헤더만 먼저 쓰고 구현은 뒤에 둔다</a:t>
            </a:r>
          </a:p>
          <a:p>
            <a:pPr>
              <a:spcAft>
                <a:spcPts val="300"/>
              </a:spcAft>
            </a:pPr>
            <a:r>
              <a:rPr sz="1600" b="0">
                <a:solidFill>
                  <a:srgbClr val="5A6672"/>
                </a:solidFill>
                <a:latin typeface="Malgun Gothic"/>
                <a:ea typeface="Malgun Gothic"/>
              </a:rPr>
              <a:t>    –  상호 재귀 구조는 순서를 바꿔도 해결되지 않으므로 필수다</a:t>
            </a:r>
          </a:p>
          <a:p>
            <a:pPr>
              <a:spcAft>
                <a:spcPts val="500"/>
              </a:spcAft>
            </a:pPr>
            <a:r>
              <a:rPr sz="1800" b="0">
                <a:solidFill>
                  <a:srgbClr val="202830"/>
                </a:solidFill>
                <a:latin typeface="Malgun Gothic"/>
                <a:ea typeface="Malgun Gothic"/>
              </a:rPr>
              <a:t>•  초기화 블록</a:t>
            </a:r>
          </a:p>
          <a:p>
            <a:pPr>
              <a:spcAft>
                <a:spcPts val="300"/>
              </a:spcAft>
            </a:pPr>
            <a:r>
              <a:rPr sz="1600" b="0">
                <a:solidFill>
                  <a:srgbClr val="5A6672"/>
                </a:solidFill>
                <a:latin typeface="Malgun Gothic"/>
                <a:ea typeface="Malgun Gothic"/>
              </a:rPr>
              <a:t>    –  본문 마지막 BEGIN ... END 로 세션당 최초 1회만 실행된다</a:t>
            </a:r>
          </a:p>
          <a:p>
            <a:pPr>
              <a:spcAft>
                <a:spcPts val="300"/>
              </a:spcAft>
            </a:pPr>
            <a:r>
              <a:rPr sz="1600" b="0">
                <a:solidFill>
                  <a:srgbClr val="5A6672"/>
                </a:solidFill>
                <a:latin typeface="Malgun Gothic"/>
                <a:ea typeface="Malgun Gothic"/>
              </a:rPr>
              <a:t>    –  설정 테이블에서 읽어 오는 초기값을 채우는 데 쓴다</a:t>
            </a:r>
          </a:p>
          <a:p>
            <a:pPr>
              <a:spcAft>
                <a:spcPts val="300"/>
              </a:spcAft>
            </a:pPr>
            <a:r>
              <a:rPr sz="1600" b="0">
                <a:solidFill>
                  <a:srgbClr val="5A6672"/>
                </a:solidFill>
                <a:latin typeface="Malgun Gothic"/>
                <a:ea typeface="Malgun Gothic"/>
              </a:rPr>
              <a:t>    –  반드시 EXCEPTION 절을 둔다 — 실패하면 패키지 적재 자체가 실패한다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오류 → 원인 → 수정 : PLS-00313</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PACKAGE BODY chk_pkg IS</a:t>
            </a:r>
          </a:p>
          <a:p>
            <a:pPr>
              <a:spcAft>
                <a:spcPts val="0"/>
              </a:spcAft>
            </a:pPr>
            <a:r>
              <a:rPr sz="1250" b="0">
                <a:solidFill>
                  <a:srgbClr val="E6E6E6"/>
                </a:solidFill>
                <a:latin typeface="Consolas"/>
                <a:ea typeface="Consolas"/>
              </a:rPr>
              <a:t>   PROCEDURE outer_chk IS</a:t>
            </a:r>
          </a:p>
          <a:p>
            <a:pPr>
              <a:spcAft>
                <a:spcPts val="0"/>
              </a:spcAft>
            </a:pPr>
            <a:r>
              <a:rPr sz="1250" b="0">
                <a:solidFill>
                  <a:srgbClr val="E6E6E6"/>
                </a:solidFill>
                <a:latin typeface="Consolas"/>
                <a:ea typeface="Consolas"/>
              </a:rPr>
              <a:t>   BEGIN inner_chk; END outer_chk;    -- 아직 정의되지 않았다</a:t>
            </a:r>
          </a:p>
          <a:p>
            <a:pPr>
              <a:spcAft>
                <a:spcPts val="0"/>
              </a:spcAft>
            </a:pPr>
            <a:r>
              <a:rPr sz="1250" b="0">
                <a:solidFill>
                  <a:srgbClr val="E6E6E6"/>
                </a:solidFill>
                <a:latin typeface="Consolas"/>
                <a:ea typeface="Consolas"/>
              </a:rPr>
              <a:t>   PROCEDURE inner_chk IS</a:t>
            </a:r>
          </a:p>
          <a:p>
            <a:pPr>
              <a:spcAft>
                <a:spcPts val="0"/>
              </a:spcAft>
            </a:pPr>
            <a:r>
              <a:rPr sz="1250" b="0">
                <a:solidFill>
                  <a:srgbClr val="E6E6E6"/>
                </a:solidFill>
                <a:latin typeface="Consolas"/>
                <a:ea typeface="Consolas"/>
              </a:rPr>
              <a:t>   BEGIN DBMS_OUTPUT.PUT_LINE('내부 점검'); END inner_chk;</a:t>
            </a:r>
          </a:p>
          <a:p>
            <a:pPr>
              <a:spcAft>
                <a:spcPts val="0"/>
              </a:spcAft>
            </a:pPr>
            <a:r>
              <a:rPr sz="1250" b="0">
                <a:solidFill>
                  <a:srgbClr val="E6E6E6"/>
                </a:solidFill>
                <a:latin typeface="Consolas"/>
                <a:ea typeface="Consolas"/>
              </a:rPr>
              <a:t>END chk_pkg;</a:t>
            </a:r>
          </a:p>
          <a:p>
            <a:pPr>
              <a:spcAft>
                <a:spcPts val="0"/>
              </a:spcAft>
            </a:pPr>
            <a:r>
              <a:rPr sz="1250" b="0">
                <a:solidFill>
                  <a:srgbClr val="E6E6E6"/>
                </a:solidFill>
                <a:latin typeface="Consolas"/>
                <a:ea typeface="Consolas"/>
              </a:rPr>
              <a:t>/</a:t>
            </a:r>
          </a:p>
          <a:p>
            <a:pPr>
              <a:spcAft>
                <a:spcPts val="0"/>
              </a:spcAft>
            </a:pPr>
            <a:r>
              <a:rPr sz="1250" b="0">
                <a:solidFill>
                  <a:srgbClr val="F08A8A"/>
                </a:solidFill>
                <a:latin typeface="Consolas"/>
                <a:ea typeface="Consolas"/>
              </a:rPr>
              <a:t>Warning: Package Body created with compilation errors.</a:t>
            </a:r>
          </a:p>
          <a:p>
            <a:pPr>
              <a:spcAft>
                <a:spcPts val="0"/>
              </a:spcAft>
            </a:pPr>
            <a:r>
              <a:rPr sz="1250" b="0">
                <a:solidFill>
                  <a:srgbClr val="E6E6E6"/>
                </a:solidFill>
                <a:latin typeface="Consolas"/>
                <a:ea typeface="Consolas"/>
              </a:rPr>
              <a:t>SQL&gt; SHOW ERRORS</a:t>
            </a:r>
          </a:p>
          <a:p>
            <a:pPr>
              <a:spcAft>
                <a:spcPts val="0"/>
              </a:spcAft>
            </a:pPr>
            <a:r>
              <a:rPr sz="1250" b="0">
                <a:solidFill>
                  <a:srgbClr val="E6E6E6"/>
                </a:solidFill>
                <a:latin typeface="Consolas"/>
                <a:ea typeface="Consolas"/>
              </a:rPr>
              <a:t>4/10  PLS-00313: 'INNER_CHK' not declared in this scope</a:t>
            </a:r>
          </a:p>
          <a:p>
            <a:pPr>
              <a:spcAft>
                <a:spcPts val="0"/>
              </a:spcAft>
            </a:pPr>
            <a:endParaRPr sz="1250" b="0">
              <a:solidFill>
                <a:srgbClr val="E6E6E6"/>
              </a:solidFill>
              <a:latin typeface="Consolas"/>
              <a:ea typeface="Consolas"/>
            </a:endParaRPr>
          </a:p>
          <a:p>
            <a:pPr>
              <a:spcAft>
                <a:spcPts val="0"/>
              </a:spcAft>
            </a:pPr>
            <a:r>
              <a:rPr sz="1250" b="0">
                <a:solidFill>
                  <a:srgbClr val="7EC699"/>
                </a:solidFill>
                <a:latin typeface="Consolas"/>
                <a:ea typeface="Consolas"/>
              </a:rPr>
              <a:t>-- 조치) 본문 맨 앞에 전방 선언(헤더만)을 추가한다</a:t>
            </a:r>
          </a:p>
          <a:p>
            <a:pPr>
              <a:spcAft>
                <a:spcPts val="0"/>
              </a:spcAft>
            </a:pPr>
            <a:r>
              <a:rPr sz="1250" b="0">
                <a:solidFill>
                  <a:srgbClr val="E6E6E6"/>
                </a:solidFill>
                <a:latin typeface="Consolas"/>
                <a:ea typeface="Consolas"/>
              </a:rPr>
              <a:t>CREATE OR REPLACE PACKAGE BODY chk_pkg IS</a:t>
            </a:r>
          </a:p>
          <a:p>
            <a:pPr>
              <a:spcAft>
                <a:spcPts val="0"/>
              </a:spcAft>
            </a:pPr>
            <a:r>
              <a:rPr sz="1250" b="0">
                <a:solidFill>
                  <a:srgbClr val="E6E6E6"/>
                </a:solidFill>
                <a:latin typeface="Consolas"/>
                <a:ea typeface="Consolas"/>
              </a:rPr>
              <a:t>   PROCEDURE inner_chk;               -- 전방 선언</a:t>
            </a:r>
          </a:p>
          <a:p>
            <a:pPr>
              <a:spcAft>
                <a:spcPts val="0"/>
              </a:spcAft>
            </a:pPr>
            <a:r>
              <a:rPr sz="1250" b="0">
                <a:solidFill>
                  <a:srgbClr val="E6E6E6"/>
                </a:solidFill>
                <a:latin typeface="Consolas"/>
                <a:ea typeface="Consolas"/>
              </a:rPr>
              <a:t>   PROCEDURE outer_chk IS</a:t>
            </a:r>
          </a:p>
          <a:p>
            <a:pPr>
              <a:spcAft>
                <a:spcPts val="0"/>
              </a:spcAft>
            </a:pPr>
            <a:r>
              <a:rPr sz="1250" b="0">
                <a:solidFill>
                  <a:srgbClr val="E6E6E6"/>
                </a:solidFill>
                <a:latin typeface="Consolas"/>
                <a:ea typeface="Consolas"/>
              </a:rPr>
              <a:t>   BEGIN inner_chk; END outer_chk;</a:t>
            </a:r>
          </a:p>
          <a:p>
            <a:pPr>
              <a:spcAft>
                <a:spcPts val="0"/>
              </a:spcAft>
            </a:pPr>
            <a:r>
              <a:rPr sz="1250" b="0">
                <a:solidFill>
                  <a:srgbClr val="E6E6E6"/>
                </a:solidFill>
                <a:latin typeface="Consolas"/>
                <a:ea typeface="Consolas"/>
              </a:rPr>
              <a:t>   PROCEDURE inner_chk IS</a:t>
            </a:r>
          </a:p>
          <a:p>
            <a:pPr>
              <a:spcAft>
                <a:spcPts val="0"/>
              </a:spcAft>
            </a:pPr>
            <a:r>
              <a:rPr sz="1250" b="0">
                <a:solidFill>
                  <a:srgbClr val="E6E6E6"/>
                </a:solidFill>
                <a:latin typeface="Consolas"/>
                <a:ea typeface="Consolas"/>
              </a:rPr>
              <a:t>   BEGIN DBMS_OUTPUT.PUT_LINE('내부 점검'); END inner_chk;</a:t>
            </a:r>
          </a:p>
          <a:p>
            <a:pPr>
              <a:spcAft>
                <a:spcPts val="0"/>
              </a:spcAft>
            </a:pPr>
            <a:r>
              <a:rPr sz="1250" b="0">
                <a:solidFill>
                  <a:srgbClr val="E6E6E6"/>
                </a:solidFill>
                <a:latin typeface="Consolas"/>
                <a:ea typeface="Consolas"/>
              </a:rPr>
              <a:t>END chk_pkg;</a:t>
            </a:r>
          </a:p>
          <a:p>
            <a:pPr>
              <a:spcAft>
                <a:spcPts val="0"/>
              </a:spcAft>
            </a:pPr>
            <a:r>
              <a:rPr sz="1250" b="0">
                <a:solidFill>
                  <a:srgbClr val="E6E6E6"/>
                </a:solidFill>
                <a:latin typeface="Consolas"/>
                <a:ea typeface="Consolas"/>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패키지 관리 — 조회 · 재컴파일 · 삭제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USER_OBJECTS — PACKAGE 와 PACKAGE BODY 가 각각 한 행씩, STATUS 확인</a:t>
            </a:r>
          </a:p>
          <a:p>
            <a:pPr>
              <a:spcAft>
                <a:spcPts val="500"/>
              </a:spcAft>
            </a:pPr>
            <a:r>
              <a:rPr sz="1800" b="0">
                <a:solidFill>
                  <a:srgbClr val="202830"/>
                </a:solidFill>
                <a:latin typeface="Malgun Gothic"/>
                <a:ea typeface="Malgun Gothic"/>
              </a:rPr>
              <a:t>•  USER_SOURCE — 소스 조회, TYPE 으로 명세와 본문을 구분</a:t>
            </a:r>
          </a:p>
          <a:p>
            <a:pPr>
              <a:spcAft>
                <a:spcPts val="500"/>
              </a:spcAft>
            </a:pPr>
            <a:r>
              <a:rPr sz="1800" b="0">
                <a:solidFill>
                  <a:srgbClr val="202830"/>
                </a:solidFill>
                <a:latin typeface="Malgun Gothic"/>
                <a:ea typeface="Malgun Gothic"/>
              </a:rPr>
              <a:t>•  USER_ERRORS — 컴파일 오류의 줄과 열, SHOW ERRORS 와 같은 정보</a:t>
            </a:r>
          </a:p>
          <a:p>
            <a:pPr>
              <a:spcAft>
                <a:spcPts val="500"/>
              </a:spcAft>
            </a:pPr>
            <a:r>
              <a:rPr sz="1800" b="0">
                <a:solidFill>
                  <a:srgbClr val="202830"/>
                </a:solidFill>
                <a:latin typeface="Malgun Gothic"/>
                <a:ea typeface="Malgun Gothic"/>
              </a:rPr>
              <a:t>•  USER_ARGUMENTS — 공개 서브프로그램의 파라미터 정보</a:t>
            </a:r>
          </a:p>
          <a:p>
            <a:pPr>
              <a:spcAft>
                <a:spcPts val="500"/>
              </a:spcAft>
            </a:pPr>
            <a:r>
              <a:rPr sz="1800" b="0">
                <a:solidFill>
                  <a:srgbClr val="202830"/>
                </a:solidFill>
                <a:latin typeface="Malgun Gothic"/>
                <a:ea typeface="Malgun Gothic"/>
              </a:rPr>
              <a:t>•  ALTER PACKAGE ... COMPILE BODY — 본문만 재컴파일(운영 권장)</a:t>
            </a:r>
          </a:p>
          <a:p>
            <a:pPr>
              <a:spcAft>
                <a:spcPts val="300"/>
              </a:spcAft>
            </a:pPr>
            <a:r>
              <a:rPr sz="1600" b="0">
                <a:solidFill>
                  <a:srgbClr val="5A6672"/>
                </a:solidFill>
                <a:latin typeface="Malgun Gothic"/>
                <a:ea typeface="Malgun Gothic"/>
              </a:rPr>
              <a:t>    –  COMPILE SPECIFICATION 은 의존 객체를 전면 INVALID 로 만든다</a:t>
            </a:r>
          </a:p>
          <a:p>
            <a:pPr>
              <a:spcAft>
                <a:spcPts val="500"/>
              </a:spcAft>
            </a:pPr>
            <a:r>
              <a:rPr sz="1800" b="0">
                <a:solidFill>
                  <a:srgbClr val="202830"/>
                </a:solidFill>
                <a:latin typeface="Malgun Gothic"/>
                <a:ea typeface="Malgun Gothic"/>
              </a:rPr>
              <a:t>•  DROP PACKAGE BODY 는 본문만, DROP PACKAGE 는 둘 다 삭제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딕셔너리 조회와 재컴파일</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SQL&gt; SELECT object_name, object_type, status FROM user_objects</a:t>
            </a:r>
          </a:p>
          <a:p>
            <a:pPr>
              <a:spcAft>
                <a:spcPts val="0"/>
              </a:spcAft>
            </a:pPr>
            <a:r>
              <a:rPr sz="1250" b="0">
                <a:solidFill>
                  <a:srgbClr val="E6E6E6"/>
                </a:solidFill>
                <a:latin typeface="Consolas"/>
                <a:ea typeface="Consolas"/>
              </a:rPr>
              <a:t>  2   WHERE object_type IN ('PACKAGE','PACKAGE BODY') ORDER BY 1,2;</a:t>
            </a:r>
          </a:p>
          <a:p>
            <a:pPr>
              <a:spcAft>
                <a:spcPts val="0"/>
              </a:spcAft>
            </a:pPr>
            <a:r>
              <a:rPr sz="1250" b="0">
                <a:solidFill>
                  <a:srgbClr val="9CDCFE"/>
                </a:solidFill>
                <a:latin typeface="Consolas"/>
                <a:ea typeface="Consolas"/>
              </a:rPr>
              <a:t>결과) EMP_PKG   PACKAGE       VALID</a:t>
            </a:r>
          </a:p>
          <a:p>
            <a:pPr>
              <a:spcAft>
                <a:spcPts val="0"/>
              </a:spcAft>
            </a:pPr>
            <a:r>
              <a:rPr sz="1250" b="0">
                <a:solidFill>
                  <a:srgbClr val="E6E6E6"/>
                </a:solidFill>
                <a:latin typeface="Consolas"/>
                <a:ea typeface="Consolas"/>
              </a:rPr>
              <a:t>     EMP_PKG   PACKAGE BODY  VALID</a:t>
            </a:r>
          </a:p>
          <a:p>
            <a:pPr>
              <a:spcAft>
                <a:spcPts val="0"/>
              </a:spcAft>
            </a:pPr>
            <a:endParaRPr sz="1250" b="0">
              <a:solidFill>
                <a:srgbClr val="E6E6E6"/>
              </a:solidFill>
              <a:latin typeface="Consolas"/>
              <a:ea typeface="Consolas"/>
            </a:endParaRPr>
          </a:p>
          <a:p>
            <a:pPr>
              <a:spcAft>
                <a:spcPts val="0"/>
              </a:spcAft>
            </a:pPr>
            <a:r>
              <a:rPr sz="1250" b="0">
                <a:solidFill>
                  <a:srgbClr val="E6E6E6"/>
                </a:solidFill>
                <a:latin typeface="Consolas"/>
                <a:ea typeface="Consolas"/>
              </a:rPr>
              <a:t>SQL&gt; ALTER PACKAGE emp_pkg COMPILE BODY;           -- 본문만</a:t>
            </a:r>
          </a:p>
          <a:p>
            <a:pPr>
              <a:spcAft>
                <a:spcPts val="0"/>
              </a:spcAft>
            </a:pPr>
            <a:r>
              <a:rPr sz="1250" b="0">
                <a:solidFill>
                  <a:srgbClr val="E6E6E6"/>
                </a:solidFill>
                <a:latin typeface="Consolas"/>
                <a:ea typeface="Consolas"/>
              </a:rPr>
              <a:t>SQL&gt; ALTER PACKAGE emp_pkg COMPILE SPECIFICATION;  -- 명세만</a:t>
            </a:r>
          </a:p>
          <a:p>
            <a:pPr>
              <a:spcAft>
                <a:spcPts val="0"/>
              </a:spcAft>
            </a:pPr>
            <a:r>
              <a:rPr sz="1250" b="0">
                <a:solidFill>
                  <a:srgbClr val="E6E6E6"/>
                </a:solidFill>
                <a:latin typeface="Consolas"/>
                <a:ea typeface="Consolas"/>
              </a:rPr>
              <a:t>SQL&gt; ALTER PACKAGE emp_pkg COMPILE;                -- 둘 다</a:t>
            </a:r>
          </a:p>
          <a:p>
            <a:pPr>
              <a:spcAft>
                <a:spcPts val="0"/>
              </a:spcAft>
            </a:pPr>
            <a:endParaRPr sz="1250" b="0">
              <a:solidFill>
                <a:srgbClr val="E6E6E6"/>
              </a:solidFill>
              <a:latin typeface="Consolas"/>
              <a:ea typeface="Consolas"/>
            </a:endParaRPr>
          </a:p>
          <a:p>
            <a:pPr>
              <a:spcAft>
                <a:spcPts val="0"/>
              </a:spcAft>
            </a:pPr>
            <a:r>
              <a:rPr sz="1250" b="0">
                <a:solidFill>
                  <a:srgbClr val="7EC699"/>
                </a:solidFill>
                <a:latin typeface="Consolas"/>
                <a:ea typeface="Consolas"/>
              </a:rPr>
              <a:t>-- 본문만 삭제하면 명세는 남고 호출 시 오류가 난다</a:t>
            </a:r>
          </a:p>
          <a:p>
            <a:pPr>
              <a:spcAft>
                <a:spcPts val="0"/>
              </a:spcAft>
            </a:pPr>
            <a:r>
              <a:rPr sz="1250" b="0">
                <a:solidFill>
                  <a:srgbClr val="E6E6E6"/>
                </a:solidFill>
                <a:latin typeface="Consolas"/>
                <a:ea typeface="Consolas"/>
              </a:rPr>
              <a:t>SQL&gt; DROP PACKAGE BODY emp_pkg;</a:t>
            </a:r>
          </a:p>
          <a:p>
            <a:pPr>
              <a:spcAft>
                <a:spcPts val="0"/>
              </a:spcAft>
            </a:pPr>
            <a:r>
              <a:rPr sz="1250" b="0">
                <a:solidFill>
                  <a:srgbClr val="E6E6E6"/>
                </a:solidFill>
                <a:latin typeface="Consolas"/>
                <a:ea typeface="Consolas"/>
              </a:rPr>
              <a:t>SQL&gt; EXEC emp_pkg.raise_salary(176, 0.05)</a:t>
            </a:r>
          </a:p>
          <a:p>
            <a:pPr>
              <a:spcAft>
                <a:spcPts val="0"/>
              </a:spcAft>
            </a:pPr>
            <a:r>
              <a:rPr sz="1250" b="0">
                <a:solidFill>
                  <a:srgbClr val="F08A8A"/>
                </a:solidFill>
                <a:latin typeface="Consolas"/>
                <a:ea typeface="Consolas"/>
              </a:rPr>
              <a:t>ORA-04063: package body "HR.EMP_PKG" has errors</a:t>
            </a:r>
          </a:p>
          <a:p>
            <a:pPr>
              <a:spcAft>
                <a:spcPts val="0"/>
              </a:spcAft>
            </a:pPr>
            <a:r>
              <a:rPr sz="1250" b="0">
                <a:solidFill>
                  <a:srgbClr val="F08A8A"/>
                </a:solidFill>
                <a:latin typeface="Consolas"/>
                <a:ea typeface="Consolas"/>
              </a:rPr>
              <a:t>PLS-00905: object HR.EMP_PKG is invalid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4497185" cy="1107996"/>
          </a:xfrm>
          <a:prstGeom prst="rect">
            <a:avLst/>
          </a:prstGeom>
          <a:noFill/>
        </p:spPr>
        <p:txBody>
          <a:bodyPr wrap="square">
            <a:spAutoFit/>
          </a:bodyPr>
          <a:lstStyle/>
          <a:p>
            <a:r>
              <a:rPr sz="6600" b="1" dirty="0">
                <a:solidFill>
                  <a:srgbClr val="C0392B"/>
                </a:solidFill>
                <a:latin typeface="Malgun Gothic"/>
                <a:ea typeface="Malgun Gothic"/>
              </a:rPr>
              <a:t>5.10~5.14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트리거의 개념과 DML 트리거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500"/>
              </a:spcAft>
            </a:pPr>
            <a:r>
              <a:rPr sz="1600" b="0">
                <a:solidFill>
                  <a:srgbClr val="C5CED6"/>
                </a:solidFill>
                <a:latin typeface="Malgun Gothic"/>
                <a:ea typeface="Malgun Gothic"/>
              </a:rPr>
              <a:t>•  사건 기반 프로그램으로서의 트리거</a:t>
            </a:r>
          </a:p>
          <a:p>
            <a:pPr>
              <a:spcAft>
                <a:spcPts val="500"/>
              </a:spcAft>
            </a:pPr>
            <a:r>
              <a:rPr sz="1600" b="0">
                <a:solidFill>
                  <a:srgbClr val="C5CED6"/>
                </a:solidFill>
                <a:latin typeface="Malgun Gothic"/>
                <a:ea typeface="Malgun Gothic"/>
              </a:rPr>
              <a:t>•  시점 · 이벤트 · 대상 · 수준 · 본문의 다섯 요소</a:t>
            </a:r>
          </a:p>
          <a:p>
            <a:pPr>
              <a:spcAft>
                <a:spcPts val="500"/>
              </a:spcAft>
            </a:pPr>
            <a:r>
              <a:rPr sz="1600" b="0">
                <a:solidFill>
                  <a:srgbClr val="C5CED6"/>
                </a:solidFill>
                <a:latin typeface="Malgun Gothic"/>
                <a:ea typeface="Malgun Gothic"/>
              </a:rPr>
              <a:t>•  Statement Trigger 와 Row Trigger</a:t>
            </a:r>
          </a:p>
          <a:p>
            <a:pPr>
              <a:spcAft>
                <a:spcPts val="500"/>
              </a:spcAft>
            </a:pPr>
            <a:r>
              <a:rPr sz="1600" b="0">
                <a:solidFill>
                  <a:srgbClr val="C5CED6"/>
                </a:solidFill>
                <a:latin typeface="Malgun Gothic"/>
                <a:ea typeface="Malgun Gothic"/>
              </a:rPr>
              <a:t>•  :OLD / :NEW · WHEN 절 · 조건 술어</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트리거란 무엇인가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특정 사건이 일어나면 데이터베이스가 자동으로 실행하는 PL/SQL 블록</a:t>
            </a:r>
          </a:p>
          <a:p>
            <a:pPr>
              <a:spcAft>
                <a:spcPts val="300"/>
              </a:spcAft>
            </a:pPr>
            <a:r>
              <a:rPr sz="1600" b="0">
                <a:solidFill>
                  <a:srgbClr val="5A6672"/>
                </a:solidFill>
                <a:latin typeface="Malgun Gothic"/>
                <a:ea typeface="Malgun Gothic"/>
              </a:rPr>
              <a:t>    –  이름을 부르는 사람이 없다 — 사건 기반(Event-driven) 프로그램</a:t>
            </a:r>
          </a:p>
          <a:p>
            <a:pPr>
              <a:spcAft>
                <a:spcPts val="500"/>
              </a:spcAft>
            </a:pPr>
            <a:r>
              <a:rPr sz="1800" b="0">
                <a:solidFill>
                  <a:srgbClr val="202830"/>
                </a:solidFill>
                <a:latin typeface="Malgun Gothic"/>
                <a:ea typeface="Malgun Gothic"/>
              </a:rPr>
              <a:t>•  다섯 가지 요소로 정의된다</a:t>
            </a:r>
          </a:p>
          <a:p>
            <a:pPr>
              <a:spcAft>
                <a:spcPts val="300"/>
              </a:spcAft>
            </a:pPr>
            <a:r>
              <a:rPr sz="1600" b="0">
                <a:solidFill>
                  <a:srgbClr val="5A6672"/>
                </a:solidFill>
                <a:latin typeface="Malgun Gothic"/>
                <a:ea typeface="Malgun Gothic"/>
              </a:rPr>
              <a:t>    –  시점(Timing) — BEFORE / AFTER</a:t>
            </a:r>
          </a:p>
          <a:p>
            <a:pPr>
              <a:spcAft>
                <a:spcPts val="300"/>
              </a:spcAft>
            </a:pPr>
            <a:r>
              <a:rPr sz="1600" b="0">
                <a:solidFill>
                  <a:srgbClr val="5A6672"/>
                </a:solidFill>
                <a:latin typeface="Malgun Gothic"/>
                <a:ea typeface="Malgun Gothic"/>
              </a:rPr>
              <a:t>    –  이벤트(Event) — INSERT / UPDATE / DELETE</a:t>
            </a:r>
          </a:p>
          <a:p>
            <a:pPr>
              <a:spcAft>
                <a:spcPts val="300"/>
              </a:spcAft>
            </a:pPr>
            <a:r>
              <a:rPr sz="1600" b="0">
                <a:solidFill>
                  <a:srgbClr val="5A6672"/>
                </a:solidFill>
                <a:latin typeface="Malgun Gothic"/>
                <a:ea typeface="Malgun Gothic"/>
              </a:rPr>
              <a:t>    –  대상(Object) — 테이블 또는 뷰</a:t>
            </a:r>
          </a:p>
          <a:p>
            <a:pPr>
              <a:spcAft>
                <a:spcPts val="300"/>
              </a:spcAft>
            </a:pPr>
            <a:r>
              <a:rPr sz="1600" b="0">
                <a:solidFill>
                  <a:srgbClr val="5A6672"/>
                </a:solidFill>
                <a:latin typeface="Malgun Gothic"/>
                <a:ea typeface="Malgun Gothic"/>
              </a:rPr>
              <a:t>    –  수준(Type) — 문장(Statement) / 행(Row)</a:t>
            </a:r>
          </a:p>
          <a:p>
            <a:pPr>
              <a:spcAft>
                <a:spcPts val="300"/>
              </a:spcAft>
            </a:pPr>
            <a:r>
              <a:rPr sz="1600" b="0">
                <a:solidFill>
                  <a:srgbClr val="5A6672"/>
                </a:solidFill>
                <a:latin typeface="Malgun Gothic"/>
                <a:ea typeface="Malgun Gothic"/>
              </a:rPr>
              <a:t>    –  본문(Body) — 실행할 PL/SQL 코드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트리거의 분류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DML 트리거 — 테이블·뷰의 INSERT/UPDATE/DELETE 시 발화 (이 장의 주제)</a:t>
            </a:r>
          </a:p>
          <a:p>
            <a:pPr>
              <a:spcAft>
                <a:spcPts val="500"/>
              </a:spcAft>
            </a:pPr>
            <a:r>
              <a:rPr sz="1800" b="0">
                <a:solidFill>
                  <a:srgbClr val="202830"/>
                </a:solidFill>
                <a:latin typeface="Malgun Gothic"/>
                <a:ea typeface="Malgun Gothic"/>
              </a:rPr>
              <a:t>•  INSTEAD OF 트리거 — 갱신 불가능한 복합 뷰의 DML 을 대신 처리</a:t>
            </a:r>
          </a:p>
          <a:p>
            <a:pPr>
              <a:spcAft>
                <a:spcPts val="300"/>
              </a:spcAft>
            </a:pPr>
            <a:r>
              <a:rPr sz="1600" b="0">
                <a:solidFill>
                  <a:srgbClr val="5A6672"/>
                </a:solidFill>
                <a:latin typeface="Malgun Gothic"/>
                <a:ea typeface="Malgun Gothic"/>
              </a:rPr>
              <a:t>    –  뷰 전용이며 반드시 행 수준이다</a:t>
            </a:r>
          </a:p>
          <a:p>
            <a:pPr>
              <a:spcAft>
                <a:spcPts val="500"/>
              </a:spcAft>
            </a:pPr>
            <a:r>
              <a:rPr sz="1800" b="0">
                <a:solidFill>
                  <a:srgbClr val="202830"/>
                </a:solidFill>
                <a:latin typeface="Malgun Gothic"/>
                <a:ea typeface="Malgun Gothic"/>
              </a:rPr>
              <a:t>•  DDL 트리거 — CREATE/ALTER/DROP 시 발화, 스키마 변경 감사에 사용</a:t>
            </a:r>
          </a:p>
          <a:p>
            <a:pPr>
              <a:spcAft>
                <a:spcPts val="500"/>
              </a:spcAft>
            </a:pPr>
            <a:r>
              <a:rPr sz="1800" b="0">
                <a:solidFill>
                  <a:srgbClr val="202830"/>
                </a:solidFill>
                <a:latin typeface="Malgun Gothic"/>
                <a:ea typeface="Malgun Gothic"/>
              </a:rPr>
              <a:t>•  데이터베이스 이벤트 트리거 — LOGON/LOGOFF/STARTUP/SERVERERROR</a:t>
            </a:r>
          </a:p>
          <a:p>
            <a:pPr>
              <a:spcAft>
                <a:spcPts val="500"/>
              </a:spcAft>
            </a:pPr>
            <a:r>
              <a:rPr sz="1800" b="0">
                <a:solidFill>
                  <a:srgbClr val="202830"/>
                </a:solidFill>
                <a:latin typeface="Malgun Gothic"/>
                <a:ea typeface="Malgun Gothic"/>
              </a:rPr>
              <a:t>•  복합 트리거(Compound Trigger) — 네 타이밍 지점을 하나에 담는다</a:t>
            </a:r>
          </a:p>
          <a:p>
            <a:pPr>
              <a:spcAft>
                <a:spcPts val="300"/>
              </a:spcAft>
            </a:pPr>
            <a:r>
              <a:rPr sz="1600" b="0">
                <a:solidFill>
                  <a:srgbClr val="5A6672"/>
                </a:solidFill>
                <a:latin typeface="Malgun Gothic"/>
                <a:ea typeface="Malgun Gothic"/>
              </a:rPr>
              <a:t>    –  뮤테이팅 테이블 오류를 회피하는 표준 해법</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트리거를 언제 쓰는가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선언적 제약 조건으로 표현할 수 있으면 반드시 제약 조건으로 구현한다</a:t>
            </a:r>
          </a:p>
          <a:p>
            <a:pPr>
              <a:spcAft>
                <a:spcPts val="300"/>
              </a:spcAft>
            </a:pPr>
            <a:r>
              <a:rPr sz="1600" b="0">
                <a:solidFill>
                  <a:srgbClr val="5A6672"/>
                </a:solidFill>
                <a:latin typeface="Malgun Gothic"/>
                <a:ea typeface="Malgun Gothic"/>
              </a:rPr>
              <a:t>    –  제약 조건이 더 빠르고 옵티마이저가 활용하며 무엇보다 눈에 보인다</a:t>
            </a:r>
          </a:p>
          <a:p>
            <a:pPr>
              <a:spcAft>
                <a:spcPts val="500"/>
              </a:spcAft>
            </a:pPr>
            <a:r>
              <a:rPr sz="1800" b="0">
                <a:solidFill>
                  <a:srgbClr val="202830"/>
                </a:solidFill>
                <a:latin typeface="Malgun Gothic"/>
                <a:ea typeface="Malgun Gothic"/>
              </a:rPr>
              <a:t>•  적절한 용도</a:t>
            </a:r>
          </a:p>
          <a:p>
            <a:pPr>
              <a:spcAft>
                <a:spcPts val="300"/>
              </a:spcAft>
            </a:pPr>
            <a:r>
              <a:rPr sz="1600" b="0">
                <a:solidFill>
                  <a:srgbClr val="5A6672"/>
                </a:solidFill>
                <a:latin typeface="Malgun Gothic"/>
                <a:ea typeface="Malgun Gothic"/>
              </a:rPr>
              <a:t>    –  감사 이력 기록, 파생 값 자동 계산, 복잡한 업무 규칙 강제</a:t>
            </a:r>
          </a:p>
          <a:p>
            <a:pPr>
              <a:spcAft>
                <a:spcPts val="300"/>
              </a:spcAft>
            </a:pPr>
            <a:r>
              <a:rPr sz="1600" b="0">
                <a:solidFill>
                  <a:srgbClr val="5A6672"/>
                </a:solidFill>
                <a:latin typeface="Malgun Gothic"/>
                <a:ea typeface="Malgun Gothic"/>
              </a:rPr>
              <a:t>    –  갱신 불가능한 뷰의 DML 처리, 접근 시간대 제한</a:t>
            </a:r>
          </a:p>
          <a:p>
            <a:pPr>
              <a:spcAft>
                <a:spcPts val="500"/>
              </a:spcAft>
            </a:pPr>
            <a:r>
              <a:rPr sz="1800" b="0">
                <a:solidFill>
                  <a:srgbClr val="202830"/>
                </a:solidFill>
                <a:latin typeface="Malgun Gothic"/>
                <a:ea typeface="Malgun Gothic"/>
              </a:rPr>
              <a:t>•  부적절한 용도</a:t>
            </a:r>
          </a:p>
          <a:p>
            <a:pPr>
              <a:spcAft>
                <a:spcPts val="300"/>
              </a:spcAft>
            </a:pPr>
            <a:r>
              <a:rPr sz="1600" b="0">
                <a:solidFill>
                  <a:srgbClr val="5A6672"/>
                </a:solidFill>
                <a:latin typeface="Malgun Gothic"/>
                <a:ea typeface="Malgun Gothic"/>
              </a:rPr>
              <a:t>    –  단순 범위 검사(CHECK), 참조 무결성(FK), 기본값(DEFAULT)</a:t>
            </a:r>
          </a:p>
          <a:p>
            <a:pPr>
              <a:spcAft>
                <a:spcPts val="500"/>
              </a:spcAft>
            </a:pPr>
            <a:r>
              <a:rPr sz="1800" b="0">
                <a:solidFill>
                  <a:srgbClr val="202830"/>
                </a:solidFill>
                <a:latin typeface="Malgun Gothic"/>
                <a:ea typeface="Malgun Gothic"/>
              </a:rPr>
              <a:t>•  금지 — 트리거 안에서 COMMIT/ROLLBACK (ORA-04092)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DML 트리거 생성 문법</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TRIGGER 트리거이름</a:t>
            </a:r>
          </a:p>
          <a:p>
            <a:pPr>
              <a:spcAft>
                <a:spcPts val="0"/>
              </a:spcAft>
            </a:pPr>
            <a:r>
              <a:rPr sz="1250" b="0">
                <a:solidFill>
                  <a:srgbClr val="E6E6E6"/>
                </a:solidFill>
                <a:latin typeface="Consolas"/>
                <a:ea typeface="Consolas"/>
              </a:rPr>
              <a:t>   {BEFORE | AFTER}                          -- 시점</a:t>
            </a:r>
          </a:p>
          <a:p>
            <a:pPr>
              <a:spcAft>
                <a:spcPts val="0"/>
              </a:spcAft>
            </a:pPr>
            <a:r>
              <a:rPr sz="1250" b="0">
                <a:solidFill>
                  <a:srgbClr val="E6E6E6"/>
                </a:solidFill>
                <a:latin typeface="Consolas"/>
                <a:ea typeface="Consolas"/>
              </a:rPr>
              <a:t>   {INSERT | UPDATE [OF 컬럼목록] | DELETE}    -- 이벤트(OR 로 연결 가능)</a:t>
            </a:r>
          </a:p>
          <a:p>
            <a:pPr>
              <a:spcAft>
                <a:spcPts val="0"/>
              </a:spcAft>
            </a:pPr>
            <a:r>
              <a:rPr sz="1250" b="0">
                <a:solidFill>
                  <a:srgbClr val="E6E6E6"/>
                </a:solidFill>
                <a:latin typeface="Consolas"/>
                <a:ea typeface="Consolas"/>
              </a:rPr>
              <a:t>   ON 테이블이름</a:t>
            </a:r>
          </a:p>
          <a:p>
            <a:pPr>
              <a:spcAft>
                <a:spcPts val="0"/>
              </a:spcAft>
            </a:pPr>
            <a:r>
              <a:rPr sz="1250" b="0">
                <a:solidFill>
                  <a:srgbClr val="E6E6E6"/>
                </a:solidFill>
                <a:latin typeface="Consolas"/>
                <a:ea typeface="Consolas"/>
              </a:rPr>
              <a:t>   [REFERENCING OLD AS old NEW AS new]       -- 상관 식별자 별칭(선택)</a:t>
            </a:r>
          </a:p>
          <a:p>
            <a:pPr>
              <a:spcAft>
                <a:spcPts val="0"/>
              </a:spcAft>
            </a:pPr>
            <a:r>
              <a:rPr sz="1250" b="0">
                <a:solidFill>
                  <a:srgbClr val="E6E6E6"/>
                </a:solidFill>
                <a:latin typeface="Consolas"/>
                <a:ea typeface="Consolas"/>
              </a:rPr>
              <a:t>   [FOR EACH ROW]                            -- 있으면 행, 없으면 문장</a:t>
            </a:r>
          </a:p>
          <a:p>
            <a:pPr>
              <a:spcAft>
                <a:spcPts val="0"/>
              </a:spcAft>
            </a:pPr>
            <a:r>
              <a:rPr sz="1250" b="0">
                <a:solidFill>
                  <a:srgbClr val="E6E6E6"/>
                </a:solidFill>
                <a:latin typeface="Consolas"/>
                <a:ea typeface="Consolas"/>
              </a:rPr>
              <a:t>   [WHEN (조건)]                              -- 행 트리거에서만 사용</a:t>
            </a:r>
          </a:p>
          <a:p>
            <a:pPr>
              <a:spcAft>
                <a:spcPts val="0"/>
              </a:spcAft>
            </a:pPr>
            <a:r>
              <a:rPr sz="1250" b="0">
                <a:solidFill>
                  <a:srgbClr val="E6E6E6"/>
                </a:solidFill>
                <a:latin typeface="Consolas"/>
                <a:ea typeface="Consolas"/>
              </a:rPr>
              <a:t>[DECLARE</a:t>
            </a:r>
          </a:p>
          <a:p>
            <a:pPr>
              <a:spcAft>
                <a:spcPts val="0"/>
              </a:spcAft>
            </a:pPr>
            <a:r>
              <a:rPr sz="1250" b="0">
                <a:solidFill>
                  <a:srgbClr val="E6E6E6"/>
                </a:solidFill>
                <a:latin typeface="Consolas"/>
                <a:ea typeface="Consolas"/>
              </a:rPr>
              <a:t>   선언부]</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실행부</a:t>
            </a:r>
          </a:p>
          <a:p>
            <a:pPr>
              <a:spcAft>
                <a:spcPts val="0"/>
              </a:spcAft>
            </a:pPr>
            <a:r>
              <a:rPr sz="1250" b="0">
                <a:solidFill>
                  <a:srgbClr val="E6E6E6"/>
                </a:solidFill>
                <a:latin typeface="Consolas"/>
                <a:ea typeface="Consolas"/>
              </a:rPr>
              <a:t>[EXCEPTION</a:t>
            </a:r>
          </a:p>
          <a:p>
            <a:pPr>
              <a:spcAft>
                <a:spcPts val="0"/>
              </a:spcAft>
            </a:pPr>
            <a:r>
              <a:rPr sz="1250" b="0">
                <a:solidFill>
                  <a:srgbClr val="E6E6E6"/>
                </a:solidFill>
                <a:latin typeface="Consolas"/>
                <a:ea typeface="Consolas"/>
              </a:rPr>
              <a:t>   예외 처리부]</a:t>
            </a:r>
          </a:p>
          <a:p>
            <a:pPr>
              <a:spcAft>
                <a:spcPts val="0"/>
              </a:spcAft>
            </a:pPr>
            <a:r>
              <a:rPr sz="1250" b="0">
                <a:solidFill>
                  <a:srgbClr val="E6E6E6"/>
                </a:solidFill>
                <a:latin typeface="Consolas"/>
                <a:ea typeface="Consolas"/>
              </a:rPr>
              <a:t>END [트리거이름];</a:t>
            </a:r>
          </a:p>
          <a:p>
            <a:pPr>
              <a:spcAft>
                <a:spcPts val="0"/>
              </a:spcAft>
            </a:pPr>
            <a:r>
              <a:rPr sz="1250" b="0">
                <a:solidFill>
                  <a:srgbClr val="E6E6E6"/>
                </a:solidFill>
                <a:latin typeface="Consolas"/>
                <a:ea typeface="Consolas"/>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Statement Trigger — 문장 수준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FOR EACH ROW 를 쓰지 않으면 문장 트리거</a:t>
            </a:r>
          </a:p>
          <a:p>
            <a:pPr>
              <a:spcAft>
                <a:spcPts val="500"/>
              </a:spcAft>
            </a:pPr>
            <a:r>
              <a:rPr sz="1800" b="0">
                <a:solidFill>
                  <a:srgbClr val="202830"/>
                </a:solidFill>
                <a:latin typeface="Malgun Gothic"/>
                <a:ea typeface="Malgun Gothic"/>
              </a:rPr>
              <a:t>•  트리거링 문장 하나당 정확히 한 번 실행된다</a:t>
            </a:r>
          </a:p>
          <a:p>
            <a:pPr>
              <a:spcAft>
                <a:spcPts val="300"/>
              </a:spcAft>
            </a:pPr>
            <a:r>
              <a:rPr sz="1600" b="0">
                <a:solidFill>
                  <a:srgbClr val="5A6672"/>
                </a:solidFill>
                <a:latin typeface="Malgun Gothic"/>
                <a:ea typeface="Malgun Gothic"/>
              </a:rPr>
              <a:t>    –  100 개 행을 바꾸든 한 행도 바꾸지 못하든 딱 한 번</a:t>
            </a:r>
          </a:p>
          <a:p>
            <a:pPr>
              <a:spcAft>
                <a:spcPts val="300"/>
              </a:spcAft>
            </a:pPr>
            <a:r>
              <a:rPr sz="1600" b="0">
                <a:solidFill>
                  <a:srgbClr val="5A6672"/>
                </a:solidFill>
                <a:latin typeface="Malgun Gothic"/>
                <a:ea typeface="Malgun Gothic"/>
              </a:rPr>
              <a:t>    –  조건에 맞는 행이 하나도 없어도 발화한다 — 행 트리거와의 결정적 차이</a:t>
            </a:r>
          </a:p>
          <a:p>
            <a:pPr>
              <a:spcAft>
                <a:spcPts val="500"/>
              </a:spcAft>
            </a:pPr>
            <a:r>
              <a:rPr sz="1800" b="0">
                <a:solidFill>
                  <a:srgbClr val="202830"/>
                </a:solidFill>
                <a:latin typeface="Malgun Gothic"/>
                <a:ea typeface="Malgun Gothic"/>
              </a:rPr>
              <a:t>•  :OLD 와 :NEW 를 쓸 수 없다</a:t>
            </a:r>
          </a:p>
          <a:p>
            <a:pPr>
              <a:spcAft>
                <a:spcPts val="300"/>
              </a:spcAft>
            </a:pPr>
            <a:r>
              <a:rPr sz="1600" b="0">
                <a:solidFill>
                  <a:srgbClr val="5A6672"/>
                </a:solidFill>
                <a:latin typeface="Malgun Gothic"/>
                <a:ea typeface="Malgun Gothic"/>
              </a:rPr>
              <a:t>    –  여러 행을 다룰 수 있어 어느 행의 값인지 특정할 수 없기 때문</a:t>
            </a:r>
          </a:p>
          <a:p>
            <a:pPr>
              <a:spcAft>
                <a:spcPts val="500"/>
              </a:spcAft>
            </a:pPr>
            <a:r>
              <a:rPr sz="1800" b="0">
                <a:solidFill>
                  <a:srgbClr val="202830"/>
                </a:solidFill>
                <a:latin typeface="Malgun Gothic"/>
                <a:ea typeface="Malgun Gothic"/>
              </a:rPr>
              <a:t>•  대표적 용도 — 접근 시간·요일 제한, 작업 시작/종료 로그</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문장 트리거와 오류 스택 읽기</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TRIGGER trg_emp_secure</a:t>
            </a:r>
          </a:p>
          <a:p>
            <a:pPr>
              <a:spcAft>
                <a:spcPts val="0"/>
              </a:spcAft>
            </a:pPr>
            <a:r>
              <a:rPr sz="1250" b="0">
                <a:solidFill>
                  <a:srgbClr val="E6E6E6"/>
                </a:solidFill>
                <a:latin typeface="Consolas"/>
                <a:ea typeface="Consolas"/>
              </a:rPr>
              <a:t>   BEFORE INSERT OR UPDATE OR DELETE ON employees</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IF TO_CHAR(SYSDATE,'DY','NLS_DATE_LANGUAGE=ENGLISH') IN ('SAT','SUN')</a:t>
            </a:r>
          </a:p>
          <a:p>
            <a:pPr>
              <a:spcAft>
                <a:spcPts val="0"/>
              </a:spcAft>
            </a:pPr>
            <a:r>
              <a:rPr sz="1250" b="0">
                <a:solidFill>
                  <a:srgbClr val="E6E6E6"/>
                </a:solidFill>
                <a:latin typeface="Consolas"/>
                <a:ea typeface="Consolas"/>
              </a:rPr>
              <a:t>      OR TO_NUMBER(TO_CHAR(SYSDATE,'HH24')) NOT BETWEEN 8 AND 18 THEN</a:t>
            </a:r>
          </a:p>
          <a:p>
            <a:pPr>
              <a:spcAft>
                <a:spcPts val="0"/>
              </a:spcAft>
            </a:pPr>
            <a:r>
              <a:rPr sz="1250" b="0">
                <a:solidFill>
                  <a:srgbClr val="E6E6E6"/>
                </a:solidFill>
                <a:latin typeface="Consolas"/>
                <a:ea typeface="Consolas"/>
              </a:rPr>
              <a:t>      RAISE_APPLICATION_ERROR(-20500, '평일 08~18시에만 변경 가능합니다.');</a:t>
            </a:r>
          </a:p>
          <a:p>
            <a:pPr>
              <a:spcAft>
                <a:spcPts val="0"/>
              </a:spcAft>
            </a:pPr>
            <a:r>
              <a:rPr sz="1250" b="0">
                <a:solidFill>
                  <a:srgbClr val="E6E6E6"/>
                </a:solidFill>
                <a:latin typeface="Consolas"/>
                <a:ea typeface="Consolas"/>
              </a:rPr>
              <a:t>   END IF;</a:t>
            </a:r>
          </a:p>
          <a:p>
            <a:pPr>
              <a:spcAft>
                <a:spcPts val="0"/>
              </a:spcAft>
            </a:pPr>
            <a:r>
              <a:rPr sz="1250" b="0">
                <a:solidFill>
                  <a:srgbClr val="E6E6E6"/>
                </a:solidFill>
                <a:latin typeface="Consolas"/>
                <a:ea typeface="Consolas"/>
              </a:rPr>
              <a:t>END trg_emp_secure;</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SQL&gt; UPDATE employees SET salary = salary * 1.1 WHERE department_id = 60;</a:t>
            </a:r>
          </a:p>
          <a:p>
            <a:pPr>
              <a:spcAft>
                <a:spcPts val="0"/>
              </a:spcAft>
            </a:pPr>
            <a:r>
              <a:rPr sz="1250" b="0">
                <a:solidFill>
                  <a:srgbClr val="F08A8A"/>
                </a:solidFill>
                <a:latin typeface="Consolas"/>
                <a:ea typeface="Consolas"/>
              </a:rPr>
              <a:t>ORA-20500: 평일 08~18시에만 변경 가능합니다.      -- 내가 던진 메시지</a:t>
            </a:r>
          </a:p>
          <a:p>
            <a:pPr>
              <a:spcAft>
                <a:spcPts val="0"/>
              </a:spcAft>
            </a:pPr>
            <a:r>
              <a:rPr sz="1250" b="0">
                <a:solidFill>
                  <a:srgbClr val="F08A8A"/>
                </a:solidFill>
                <a:latin typeface="Consolas"/>
                <a:ea typeface="Consolas"/>
              </a:rPr>
              <a:t>ORA-06512: at "HR.TRG_EMP_SECURE", line 4        -- 오류 발생 위치</a:t>
            </a:r>
          </a:p>
          <a:p>
            <a:pPr>
              <a:spcAft>
                <a:spcPts val="0"/>
              </a:spcAft>
            </a:pPr>
            <a:r>
              <a:rPr sz="1250" b="0">
                <a:solidFill>
                  <a:srgbClr val="F08A8A"/>
                </a:solidFill>
                <a:latin typeface="Consolas"/>
                <a:ea typeface="Consolas"/>
              </a:rPr>
              <a:t>ORA-04088: error during execution of trigger     -- 트리거 실행 중 오류</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오류 → 원인 → 수정 : PLS-00049</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TRIGGER trg_stmt_bad</a:t>
            </a:r>
          </a:p>
          <a:p>
            <a:pPr>
              <a:spcAft>
                <a:spcPts val="0"/>
              </a:spcAft>
            </a:pPr>
            <a:r>
              <a:rPr sz="1250" b="0">
                <a:solidFill>
                  <a:srgbClr val="E6E6E6"/>
                </a:solidFill>
                <a:latin typeface="Consolas"/>
                <a:ea typeface="Consolas"/>
              </a:rPr>
              <a:t>   BEFORE INSERT ON employees          -- FOR EACH ROW 가 없다</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DBMS_OUTPUT.PUT_LINE('신규 사번 : ' || :NEW.employee_id);</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a:p>
            <a:pPr>
              <a:spcAft>
                <a:spcPts val="0"/>
              </a:spcAft>
            </a:pPr>
            <a:r>
              <a:rPr sz="1250" b="0">
                <a:solidFill>
                  <a:srgbClr val="F08A8A"/>
                </a:solidFill>
                <a:latin typeface="Consolas"/>
                <a:ea typeface="Consolas"/>
              </a:rPr>
              <a:t>Warning: Trigger created with compilation errors.</a:t>
            </a:r>
          </a:p>
          <a:p>
            <a:pPr>
              <a:spcAft>
                <a:spcPts val="0"/>
              </a:spcAft>
            </a:pPr>
            <a:r>
              <a:rPr sz="1250" b="0">
                <a:solidFill>
                  <a:srgbClr val="E6E6E6"/>
                </a:solidFill>
                <a:latin typeface="Consolas"/>
                <a:ea typeface="Consolas"/>
              </a:rPr>
              <a:t>SQL&gt; SHOW ERRORS</a:t>
            </a:r>
          </a:p>
          <a:p>
            <a:pPr>
              <a:spcAft>
                <a:spcPts val="0"/>
              </a:spcAft>
            </a:pPr>
            <a:r>
              <a:rPr sz="1250" b="0">
                <a:solidFill>
                  <a:srgbClr val="E6E6E6"/>
                </a:solidFill>
                <a:latin typeface="Consolas"/>
                <a:ea typeface="Consolas"/>
              </a:rPr>
              <a:t>4/40  PLS-00049: bad bind variable 'NEW.EMPLOYEE_ID'</a:t>
            </a:r>
          </a:p>
          <a:p>
            <a:pPr>
              <a:spcAft>
                <a:spcPts val="0"/>
              </a:spcAft>
            </a:pPr>
            <a:endParaRPr sz="1250" b="0">
              <a:solidFill>
                <a:srgbClr val="E6E6E6"/>
              </a:solidFill>
              <a:latin typeface="Consolas"/>
              <a:ea typeface="Consolas"/>
            </a:endParaRPr>
          </a:p>
          <a:p>
            <a:pPr>
              <a:spcAft>
                <a:spcPts val="0"/>
              </a:spcAft>
            </a:pPr>
            <a:r>
              <a:rPr sz="1250" b="0">
                <a:solidFill>
                  <a:srgbClr val="7EC699"/>
                </a:solidFill>
                <a:latin typeface="Consolas"/>
                <a:ea typeface="Consolas"/>
              </a:rPr>
              <a:t>-- 원인) :OLD/:NEW 는 행 트리거 전용 상관 식별자다.</a:t>
            </a:r>
          </a:p>
          <a:p>
            <a:pPr>
              <a:spcAft>
                <a:spcPts val="0"/>
              </a:spcAft>
            </a:pPr>
            <a:r>
              <a:rPr sz="1250" b="0">
                <a:solidFill>
                  <a:srgbClr val="7EC699"/>
                </a:solidFill>
                <a:latin typeface="Consolas"/>
                <a:ea typeface="Consolas"/>
              </a:rPr>
              <a:t>--       FOR EACH ROW 가 없으면 바인드 변수 NEW 가 정의되지 않는다.</a:t>
            </a:r>
          </a:p>
          <a:p>
            <a:pPr>
              <a:spcAft>
                <a:spcPts val="0"/>
              </a:spcAft>
            </a:pPr>
            <a:r>
              <a:rPr sz="1250" b="0">
                <a:solidFill>
                  <a:srgbClr val="7EC699"/>
                </a:solidFill>
                <a:latin typeface="Consolas"/>
                <a:ea typeface="Consolas"/>
              </a:rPr>
              <a:t>-- 조치) FOR EACH ROW 를 추가해 행 트리거로 만든다.</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Row Trigger 와 :OLD / :NEW</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FOR EACH ROW 를 붙이면 영향받는 행마다 본문이 실행된다</a:t>
            </a:r>
          </a:p>
          <a:p>
            <a:pPr>
              <a:spcAft>
                <a:spcPts val="300"/>
              </a:spcAft>
            </a:pPr>
            <a:r>
              <a:rPr sz="1600" b="0">
                <a:solidFill>
                  <a:srgbClr val="5A6672"/>
                </a:solidFill>
                <a:latin typeface="Malgun Gothic"/>
                <a:ea typeface="Malgun Gothic"/>
              </a:rPr>
              <a:t>    –  50 개 행을 UPDATE 하면 트리거 본문도 50 번 실행된다</a:t>
            </a:r>
          </a:p>
          <a:p>
            <a:pPr>
              <a:spcAft>
                <a:spcPts val="500"/>
              </a:spcAft>
            </a:pPr>
            <a:r>
              <a:rPr sz="1800" b="0">
                <a:solidFill>
                  <a:srgbClr val="202830"/>
                </a:solidFill>
                <a:latin typeface="Malgun Gothic"/>
                <a:ea typeface="Malgun Gothic"/>
              </a:rPr>
              <a:t>•  INSERT — :OLD 는 전부 NULL, :NEW 는 삽입될 값</a:t>
            </a:r>
          </a:p>
          <a:p>
            <a:pPr>
              <a:spcAft>
                <a:spcPts val="500"/>
              </a:spcAft>
            </a:pPr>
            <a:r>
              <a:rPr sz="1800" b="0">
                <a:solidFill>
                  <a:srgbClr val="202830"/>
                </a:solidFill>
                <a:latin typeface="Malgun Gothic"/>
                <a:ea typeface="Malgun Gothic"/>
              </a:rPr>
              <a:t>•  UPDATE — :OLD 는 변경 전 값, :NEW 는 변경 후 값</a:t>
            </a:r>
          </a:p>
          <a:p>
            <a:pPr>
              <a:spcAft>
                <a:spcPts val="500"/>
              </a:spcAft>
            </a:pPr>
            <a:r>
              <a:rPr sz="1800" b="0">
                <a:solidFill>
                  <a:srgbClr val="202830"/>
                </a:solidFill>
                <a:latin typeface="Malgun Gothic"/>
                <a:ea typeface="Malgun Gothic"/>
              </a:rPr>
              <a:t>•  DELETE — :OLD 는 삭제될 값, :NEW 는 전부 NULL</a:t>
            </a:r>
          </a:p>
          <a:p>
            <a:pPr>
              <a:spcAft>
                <a:spcPts val="500"/>
              </a:spcAft>
            </a:pPr>
            <a:r>
              <a:rPr sz="1800" b="0">
                <a:solidFill>
                  <a:srgbClr val="202830"/>
                </a:solidFill>
                <a:latin typeface="Malgun Gothic"/>
                <a:ea typeface="Malgun Gothic"/>
              </a:rPr>
              <a:t>•  :NEW 에 값을 대입할 수 있는 곳은 BEFORE 행 트리거뿐</a:t>
            </a:r>
          </a:p>
          <a:p>
            <a:pPr>
              <a:spcAft>
                <a:spcPts val="300"/>
              </a:spcAft>
            </a:pPr>
            <a:r>
              <a:rPr sz="1600" b="0">
                <a:solidFill>
                  <a:srgbClr val="5A6672"/>
                </a:solidFill>
                <a:latin typeface="Malgun Gothic"/>
                <a:ea typeface="Malgun Gothic"/>
              </a:rPr>
              <a:t>    –  그 밖에서 대입하면 PLS-00363 또는 ORA-04084</a:t>
            </a:r>
          </a:p>
          <a:p>
            <a:pPr>
              <a:spcAft>
                <a:spcPts val="500"/>
              </a:spcAft>
            </a:pPr>
            <a:r>
              <a:rPr sz="1800" b="0">
                <a:solidFill>
                  <a:srgbClr val="202830"/>
                </a:solidFill>
                <a:latin typeface="Malgun Gothic"/>
                <a:ea typeface="Malgun Gothic"/>
              </a:rPr>
              <a:t>•  :OLD 는 어떤 트리거에서도 읽기 전용이다</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BEFORE 행 트리거 — 값 보정</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TRIGGER trg_emp_biu_normalize</a:t>
            </a:r>
          </a:p>
          <a:p>
            <a:pPr>
              <a:spcAft>
                <a:spcPts val="0"/>
              </a:spcAft>
            </a:pPr>
            <a:r>
              <a:rPr sz="1250" b="0">
                <a:solidFill>
                  <a:srgbClr val="E6E6E6"/>
                </a:solidFill>
                <a:latin typeface="Consolas"/>
                <a:ea typeface="Consolas"/>
              </a:rPr>
              <a:t>   BEFORE INSERT OR UPDATE ON employees</a:t>
            </a:r>
          </a:p>
          <a:p>
            <a:pPr>
              <a:spcAft>
                <a:spcPts val="0"/>
              </a:spcAft>
            </a:pPr>
            <a:r>
              <a:rPr sz="1250" b="0">
                <a:solidFill>
                  <a:srgbClr val="E6E6E6"/>
                </a:solidFill>
                <a:latin typeface="Consolas"/>
                <a:ea typeface="Consolas"/>
              </a:rPr>
              <a:t>   FOR EACH ROW</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:NEW.email := UPPER(TRIM(:NEW.email));      -- 항상 대문자로 저장</a:t>
            </a:r>
          </a:p>
          <a:p>
            <a:pPr>
              <a:spcAft>
                <a:spcPts val="0"/>
              </a:spcAft>
            </a:pPr>
            <a:r>
              <a:rPr sz="1250" b="0">
                <a:solidFill>
                  <a:srgbClr val="E6E6E6"/>
                </a:solidFill>
                <a:latin typeface="Consolas"/>
                <a:ea typeface="Consolas"/>
              </a:rPr>
              <a:t>   IF :NEW.hire_date IS NULL THEN</a:t>
            </a:r>
          </a:p>
          <a:p>
            <a:pPr>
              <a:spcAft>
                <a:spcPts val="0"/>
              </a:spcAft>
            </a:pPr>
            <a:r>
              <a:rPr sz="1250" b="0">
                <a:solidFill>
                  <a:srgbClr val="E6E6E6"/>
                </a:solidFill>
                <a:latin typeface="Consolas"/>
                <a:ea typeface="Consolas"/>
              </a:rPr>
              <a:t>      :NEW.hire_date := TRUNC(SYSDATE);        -- 비어 있으면 오늘로</a:t>
            </a:r>
          </a:p>
          <a:p>
            <a:pPr>
              <a:spcAft>
                <a:spcPts val="0"/>
              </a:spcAft>
            </a:pPr>
            <a:r>
              <a:rPr sz="1250" b="0">
                <a:solidFill>
                  <a:srgbClr val="E6E6E6"/>
                </a:solidFill>
                <a:latin typeface="Consolas"/>
                <a:ea typeface="Consolas"/>
              </a:rPr>
              <a:t>   END IF;</a:t>
            </a:r>
          </a:p>
          <a:p>
            <a:pPr>
              <a:spcAft>
                <a:spcPts val="0"/>
              </a:spcAft>
            </a:pPr>
            <a:r>
              <a:rPr sz="1250" b="0">
                <a:solidFill>
                  <a:srgbClr val="E6E6E6"/>
                </a:solidFill>
                <a:latin typeface="Consolas"/>
                <a:ea typeface="Consolas"/>
              </a:rPr>
              <a:t>   IF :NEW.salary &lt; 2000 THEN :NEW.salary := 2000; END IF;</a:t>
            </a:r>
          </a:p>
          <a:p>
            <a:pPr>
              <a:spcAft>
                <a:spcPts val="0"/>
              </a:spcAft>
            </a:pPr>
            <a:r>
              <a:rPr sz="1250" b="0">
                <a:solidFill>
                  <a:srgbClr val="E6E6E6"/>
                </a:solidFill>
                <a:latin typeface="Consolas"/>
                <a:ea typeface="Consolas"/>
              </a:rPr>
              <a:t>END trg_emp_biu_normalize;</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SQL&gt; INSERT INTO employees(employee_id, last_name, email, hire_date,</a:t>
            </a:r>
          </a:p>
          <a:p>
            <a:pPr>
              <a:spcAft>
                <a:spcPts val="0"/>
              </a:spcAft>
            </a:pPr>
            <a:r>
              <a:rPr sz="1250" b="0">
                <a:solidFill>
                  <a:srgbClr val="E6E6E6"/>
                </a:solidFill>
                <a:latin typeface="Consolas"/>
                <a:ea typeface="Consolas"/>
              </a:rPr>
              <a:t>  2    job_id, salary) VALUES (900,'Park','  jpark  ',NULL,'IT_PROG',1500);</a:t>
            </a:r>
          </a:p>
          <a:p>
            <a:pPr>
              <a:spcAft>
                <a:spcPts val="0"/>
              </a:spcAft>
            </a:pPr>
            <a:r>
              <a:rPr sz="1250" b="0">
                <a:solidFill>
                  <a:srgbClr val="E6E6E6"/>
                </a:solidFill>
                <a:latin typeface="Consolas"/>
                <a:ea typeface="Consolas"/>
              </a:rPr>
              <a:t>SQL&gt; SELECT email, salary FROM employees WHERE employee_id = 900;</a:t>
            </a:r>
          </a:p>
          <a:p>
            <a:pPr>
              <a:spcAft>
                <a:spcPts val="0"/>
              </a:spcAft>
            </a:pPr>
            <a:r>
              <a:rPr sz="1250" b="0">
                <a:solidFill>
                  <a:srgbClr val="9CDCFE"/>
                </a:solidFill>
                <a:latin typeface="Consolas"/>
                <a:ea typeface="Consolas"/>
              </a:rPr>
              <a:t>결과) JPARK  2000   -- 대문자·공백 제거·하한 보정이 모두 적용됐다</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AFTER 행 트리거 — 감사 이력</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TRIGGER trg_emp_ar_audit</a:t>
            </a:r>
          </a:p>
          <a:p>
            <a:pPr>
              <a:spcAft>
                <a:spcPts val="0"/>
              </a:spcAft>
            </a:pPr>
            <a:r>
              <a:rPr sz="1250" b="0">
                <a:solidFill>
                  <a:srgbClr val="E6E6E6"/>
                </a:solidFill>
                <a:latin typeface="Consolas"/>
                <a:ea typeface="Consolas"/>
              </a:rPr>
              <a:t>   AFTER UPDATE OF salary ON employees</a:t>
            </a:r>
          </a:p>
          <a:p>
            <a:pPr>
              <a:spcAft>
                <a:spcPts val="0"/>
              </a:spcAft>
            </a:pPr>
            <a:r>
              <a:rPr sz="1250" b="0">
                <a:solidFill>
                  <a:srgbClr val="E6E6E6"/>
                </a:solidFill>
                <a:latin typeface="Consolas"/>
                <a:ea typeface="Consolas"/>
              </a:rPr>
              <a:t>   FOR EACH ROW</a:t>
            </a:r>
          </a:p>
          <a:p>
            <a:pPr>
              <a:spcAft>
                <a:spcPts val="0"/>
              </a:spcAft>
            </a:pPr>
            <a:r>
              <a:rPr sz="1250" b="0">
                <a:solidFill>
                  <a:srgbClr val="E6E6E6"/>
                </a:solidFill>
                <a:latin typeface="Consolas"/>
                <a:ea typeface="Consolas"/>
              </a:rPr>
              <a:t>   WHEN (NVL(OLD.salary,-1) &lt;&gt; NVL(NEW.salary,-1))  -- WHEN 절엔 콜론 없음</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INSERT INTO emp_audit_detail(employee_id, column_name,</a:t>
            </a:r>
          </a:p>
          <a:p>
            <a:pPr>
              <a:spcAft>
                <a:spcPts val="0"/>
              </a:spcAft>
            </a:pPr>
            <a:r>
              <a:rPr sz="1250" b="0">
                <a:solidFill>
                  <a:srgbClr val="E6E6E6"/>
                </a:solidFill>
                <a:latin typeface="Consolas"/>
                <a:ea typeface="Consolas"/>
              </a:rPr>
              <a:t>          old_value, new_value, changed_by, changed_at)</a:t>
            </a:r>
          </a:p>
          <a:p>
            <a:pPr>
              <a:spcAft>
                <a:spcPts val="0"/>
              </a:spcAft>
            </a:pPr>
            <a:r>
              <a:rPr sz="1250" b="0">
                <a:solidFill>
                  <a:srgbClr val="E6E6E6"/>
                </a:solidFill>
                <a:latin typeface="Consolas"/>
                <a:ea typeface="Consolas"/>
              </a:rPr>
              <a:t>   VALUES (:OLD.employee_id, 'SALARY', TO_CHAR(:OLD.salary),</a:t>
            </a:r>
          </a:p>
          <a:p>
            <a:pPr>
              <a:spcAft>
                <a:spcPts val="0"/>
              </a:spcAft>
            </a:pPr>
            <a:r>
              <a:rPr sz="1250" b="0">
                <a:solidFill>
                  <a:srgbClr val="E6E6E6"/>
                </a:solidFill>
                <a:latin typeface="Consolas"/>
                <a:ea typeface="Consolas"/>
              </a:rPr>
              <a:t>           TO_CHAR(:NEW.salary), USER, SYSTIMESTAMP);</a:t>
            </a:r>
          </a:p>
          <a:p>
            <a:pPr>
              <a:spcAft>
                <a:spcPts val="0"/>
              </a:spcAft>
            </a:pPr>
            <a:r>
              <a:rPr sz="1250" b="0">
                <a:solidFill>
                  <a:srgbClr val="E6E6E6"/>
                </a:solidFill>
                <a:latin typeface="Consolas"/>
                <a:ea typeface="Consolas"/>
              </a:rPr>
              <a:t>END trg_emp_ar_audit;</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SQL&gt; UPDATE employees SET salary = salary * 1.10 WHERE department_id = 60;</a:t>
            </a:r>
          </a:p>
          <a:p>
            <a:pPr>
              <a:spcAft>
                <a:spcPts val="0"/>
              </a:spcAft>
            </a:pPr>
            <a:r>
              <a:rPr sz="1250" b="0">
                <a:solidFill>
                  <a:srgbClr val="E6E6E6"/>
                </a:solidFill>
                <a:latin typeface="Consolas"/>
                <a:ea typeface="Consolas"/>
              </a:rPr>
              <a:t>5 rows updated.</a:t>
            </a:r>
          </a:p>
          <a:p>
            <a:pPr>
              <a:spcAft>
                <a:spcPts val="0"/>
              </a:spcAft>
            </a:pPr>
            <a:r>
              <a:rPr sz="1250" b="0">
                <a:solidFill>
                  <a:srgbClr val="9CDCFE"/>
                </a:solidFill>
                <a:latin typeface="Consolas"/>
                <a:ea typeface="Consolas"/>
              </a:rPr>
              <a:t>결과) 103  9000  9900</a:t>
            </a:r>
          </a:p>
          <a:p>
            <a:pPr>
              <a:spcAft>
                <a:spcPts val="0"/>
              </a:spcAft>
            </a:pPr>
            <a:r>
              <a:rPr sz="1250" b="0">
                <a:solidFill>
                  <a:srgbClr val="E6E6E6"/>
                </a:solidFill>
                <a:latin typeface="Consolas"/>
                <a:ea typeface="Consolas"/>
              </a:rPr>
              <a:t>     104  6000  6600      -- 한 문장이 행 트리거를 5번 발화시켰다</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오류 → 원인 → 수정 : ORA-04084</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TRIGGER trg_emp_ar_bad</a:t>
            </a:r>
          </a:p>
          <a:p>
            <a:pPr>
              <a:spcAft>
                <a:spcPts val="0"/>
              </a:spcAft>
            </a:pPr>
            <a:r>
              <a:rPr sz="1250" b="0">
                <a:solidFill>
                  <a:srgbClr val="E6E6E6"/>
                </a:solidFill>
                <a:latin typeface="Consolas"/>
                <a:ea typeface="Consolas"/>
              </a:rPr>
              <a:t>   AFTER INSERT ON employees FOR EACH ROW</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:NEW.email := UPPER(:NEW.email);      -- AFTER 에서 값 변경 시도</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a:p>
            <a:pPr>
              <a:spcAft>
                <a:spcPts val="0"/>
              </a:spcAft>
            </a:pPr>
            <a:r>
              <a:rPr sz="1250" b="0">
                <a:solidFill>
                  <a:srgbClr val="F08A8A"/>
                </a:solidFill>
                <a:latin typeface="Consolas"/>
                <a:ea typeface="Consolas"/>
              </a:rPr>
              <a:t>Warning: Trigger created with compilation errors.</a:t>
            </a:r>
          </a:p>
          <a:p>
            <a:pPr>
              <a:spcAft>
                <a:spcPts val="0"/>
              </a:spcAft>
            </a:pPr>
            <a:r>
              <a:rPr sz="1250" b="0">
                <a:solidFill>
                  <a:srgbClr val="E6E6E6"/>
                </a:solidFill>
                <a:latin typeface="Consolas"/>
                <a:ea typeface="Consolas"/>
              </a:rPr>
              <a:t>SQL&gt; SHOW ERRORS</a:t>
            </a:r>
          </a:p>
          <a:p>
            <a:pPr>
              <a:spcAft>
                <a:spcPts val="0"/>
              </a:spcAft>
            </a:pPr>
            <a:r>
              <a:rPr sz="1250" b="0">
                <a:solidFill>
                  <a:srgbClr val="E6E6E6"/>
                </a:solidFill>
                <a:latin typeface="Consolas"/>
                <a:ea typeface="Consolas"/>
              </a:rPr>
              <a:t>4/7  PLS-00363: ':NEW.EMAIL' cannot be used as an assignment target</a:t>
            </a:r>
          </a:p>
          <a:p>
            <a:pPr>
              <a:spcAft>
                <a:spcPts val="0"/>
              </a:spcAft>
            </a:pPr>
            <a:r>
              <a:rPr sz="1250" b="0">
                <a:solidFill>
                  <a:srgbClr val="E6E6E6"/>
                </a:solidFill>
                <a:latin typeface="Consolas"/>
                <a:ea typeface="Consolas"/>
              </a:rPr>
              <a:t>     (실행 시점에 걸리면 ORA-04084: cannot change NEW values ...)</a:t>
            </a:r>
          </a:p>
          <a:p>
            <a:pPr>
              <a:spcAft>
                <a:spcPts val="0"/>
              </a:spcAft>
            </a:pPr>
            <a:endParaRPr sz="1250" b="0">
              <a:solidFill>
                <a:srgbClr val="E6E6E6"/>
              </a:solidFill>
              <a:latin typeface="Consolas"/>
              <a:ea typeface="Consolas"/>
            </a:endParaRPr>
          </a:p>
          <a:p>
            <a:pPr>
              <a:spcAft>
                <a:spcPts val="0"/>
              </a:spcAft>
            </a:pPr>
            <a:r>
              <a:rPr sz="1250" b="0">
                <a:solidFill>
                  <a:srgbClr val="7EC699"/>
                </a:solidFill>
                <a:latin typeface="Consolas"/>
                <a:ea typeface="Consolas"/>
              </a:rPr>
              <a:t>-- 원인) AFTER 시점에는 값이 이미 확정되어 :NEW 가 읽기 전용이다.</a:t>
            </a:r>
          </a:p>
          <a:p>
            <a:pPr>
              <a:spcAft>
                <a:spcPts val="0"/>
              </a:spcAft>
            </a:pPr>
            <a:r>
              <a:rPr sz="1250" b="0">
                <a:solidFill>
                  <a:srgbClr val="7EC699"/>
                </a:solidFill>
                <a:latin typeface="Consolas"/>
                <a:ea typeface="Consolas"/>
              </a:rPr>
              <a:t>-- 조치) 값 보정은 BEFORE 행 트리거에서 수행한다.</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WHEN 절과 조건 술어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WHEN (조건) — 행 트리거의 발화 조건을 미리 거른다</a:t>
            </a:r>
          </a:p>
          <a:p>
            <a:pPr>
              <a:spcAft>
                <a:spcPts val="300"/>
              </a:spcAft>
            </a:pPr>
            <a:r>
              <a:rPr sz="1600" b="0">
                <a:solidFill>
                  <a:srgbClr val="5A6672"/>
                </a:solidFill>
                <a:latin typeface="Malgun Gothic"/>
                <a:ea typeface="Malgun Gothic"/>
              </a:rPr>
              <a:t>    –  SQL 표현식만 가능, PL/SQL 함수 호출과 서브쿼리는 불가</a:t>
            </a:r>
          </a:p>
          <a:p>
            <a:pPr>
              <a:spcAft>
                <a:spcPts val="300"/>
              </a:spcAft>
            </a:pPr>
            <a:r>
              <a:rPr sz="1600" b="0">
                <a:solidFill>
                  <a:srgbClr val="5A6672"/>
                </a:solidFill>
                <a:latin typeface="Malgun Gothic"/>
                <a:ea typeface="Malgun Gothic"/>
              </a:rPr>
              <a:t>    –  콜론을 붙이지 않는다 — WHEN (NEW.salary &gt; 10000)</a:t>
            </a:r>
          </a:p>
          <a:p>
            <a:pPr>
              <a:spcAft>
                <a:spcPts val="500"/>
              </a:spcAft>
            </a:pPr>
            <a:r>
              <a:rPr sz="1800" b="0">
                <a:solidFill>
                  <a:srgbClr val="202830"/>
                </a:solidFill>
                <a:latin typeface="Malgun Gothic"/>
                <a:ea typeface="Malgun Gothic"/>
              </a:rPr>
              <a:t>•  조건 술어 — INSERTING / UPDATING / DELETING</a:t>
            </a:r>
          </a:p>
          <a:p>
            <a:pPr>
              <a:spcAft>
                <a:spcPts val="300"/>
              </a:spcAft>
            </a:pPr>
            <a:r>
              <a:rPr sz="1600" b="0">
                <a:solidFill>
                  <a:srgbClr val="5A6672"/>
                </a:solidFill>
                <a:latin typeface="Malgun Gothic"/>
                <a:ea typeface="Malgun Gothic"/>
              </a:rPr>
              <a:t>    –  하나의 트리거가 세 이벤트를 모두 담당할 때 분기에 사용</a:t>
            </a:r>
          </a:p>
          <a:p>
            <a:pPr>
              <a:spcAft>
                <a:spcPts val="300"/>
              </a:spcAft>
            </a:pPr>
            <a:r>
              <a:rPr sz="1600" b="0">
                <a:solidFill>
                  <a:srgbClr val="5A6672"/>
                </a:solidFill>
                <a:latin typeface="Malgun Gothic"/>
                <a:ea typeface="Malgun Gothic"/>
              </a:rPr>
              <a:t>    –  UPDATING('SALARY') 는 그 컬럼이 SET 절에 포함되었는지 판별</a:t>
            </a:r>
          </a:p>
          <a:p>
            <a:pPr>
              <a:spcAft>
                <a:spcPts val="500"/>
              </a:spcAft>
            </a:pPr>
            <a:r>
              <a:rPr sz="1800" b="0">
                <a:solidFill>
                  <a:srgbClr val="202830"/>
                </a:solidFill>
                <a:latin typeface="Malgun Gothic"/>
                <a:ea typeface="Malgun Gothic"/>
              </a:rPr>
              <a:t>•  UPDATE OF 절과의 차이</a:t>
            </a:r>
          </a:p>
          <a:p>
            <a:pPr>
              <a:spcAft>
                <a:spcPts val="300"/>
              </a:spcAft>
            </a:pPr>
            <a:r>
              <a:rPr sz="1600" b="0">
                <a:solidFill>
                  <a:srgbClr val="5A6672"/>
                </a:solidFill>
                <a:latin typeface="Malgun Gothic"/>
                <a:ea typeface="Malgun Gothic"/>
              </a:rPr>
              <a:t>    –  UPDATE OF 는 트리거 자체를 발화시키지 않아 가장 저렴하다</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조건 술어로 세 이벤트 분기</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TRIGGER trg_emp_ar_history</a:t>
            </a:r>
          </a:p>
          <a:p>
            <a:pPr>
              <a:spcAft>
                <a:spcPts val="0"/>
              </a:spcAft>
            </a:pPr>
            <a:r>
              <a:rPr sz="1250" b="0">
                <a:solidFill>
                  <a:srgbClr val="E6E6E6"/>
                </a:solidFill>
                <a:latin typeface="Consolas"/>
                <a:ea typeface="Consolas"/>
              </a:rPr>
              <a:t>   AFTER INSERT OR UPDATE OR DELETE ON employees FOR EACH ROW</a:t>
            </a:r>
          </a:p>
          <a:p>
            <a:pPr>
              <a:spcAft>
                <a:spcPts val="0"/>
              </a:spcAft>
            </a:pPr>
            <a:r>
              <a:rPr sz="1250" b="0">
                <a:solidFill>
                  <a:srgbClr val="E6E6E6"/>
                </a:solidFill>
                <a:latin typeface="Consolas"/>
                <a:ea typeface="Consolas"/>
              </a:rPr>
              <a:t>DECLARE</a:t>
            </a:r>
          </a:p>
          <a:p>
            <a:pPr>
              <a:spcAft>
                <a:spcPts val="0"/>
              </a:spcAft>
            </a:pPr>
            <a:r>
              <a:rPr sz="1250" b="0">
                <a:solidFill>
                  <a:srgbClr val="E6E6E6"/>
                </a:solidFill>
                <a:latin typeface="Consolas"/>
                <a:ea typeface="Consolas"/>
              </a:rPr>
              <a:t>   v_id NUMBER;  v_col VARCHAR2(30);  v_old VARCHAR2(100);</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IF INSERTING THEN</a:t>
            </a:r>
          </a:p>
          <a:p>
            <a:pPr>
              <a:spcAft>
                <a:spcPts val="0"/>
              </a:spcAft>
            </a:pPr>
            <a:r>
              <a:rPr sz="1250" b="0">
                <a:solidFill>
                  <a:srgbClr val="E6E6E6"/>
                </a:solidFill>
                <a:latin typeface="Consolas"/>
                <a:ea typeface="Consolas"/>
              </a:rPr>
              <a:t>      v_id := :NEW.employee_id;  v_col := 'ROW';</a:t>
            </a:r>
          </a:p>
          <a:p>
            <a:pPr>
              <a:spcAft>
                <a:spcPts val="0"/>
              </a:spcAft>
            </a:pPr>
            <a:r>
              <a:rPr sz="1250" b="0">
                <a:solidFill>
                  <a:srgbClr val="E6E6E6"/>
                </a:solidFill>
                <a:latin typeface="Consolas"/>
                <a:ea typeface="Consolas"/>
              </a:rPr>
              <a:t>   ELSIF UPDATING('DEPARTMENT_ID') THEN   -- 부서 컬럼이 바뀐 경우만</a:t>
            </a:r>
          </a:p>
          <a:p>
            <a:pPr>
              <a:spcAft>
                <a:spcPts val="0"/>
              </a:spcAft>
            </a:pPr>
            <a:r>
              <a:rPr sz="1250" b="0">
                <a:solidFill>
                  <a:srgbClr val="E6E6E6"/>
                </a:solidFill>
                <a:latin typeface="Consolas"/>
                <a:ea typeface="Consolas"/>
              </a:rPr>
              <a:t>      v_id := :NEW.employee_id;  v_col := 'DEPT';</a:t>
            </a:r>
          </a:p>
          <a:p>
            <a:pPr>
              <a:spcAft>
                <a:spcPts val="0"/>
              </a:spcAft>
            </a:pPr>
            <a:r>
              <a:rPr sz="1250" b="0">
                <a:solidFill>
                  <a:srgbClr val="E6E6E6"/>
                </a:solidFill>
                <a:latin typeface="Consolas"/>
                <a:ea typeface="Consolas"/>
              </a:rPr>
              <a:t>      v_old := TO_CHAR(:OLD.department_id);</a:t>
            </a:r>
          </a:p>
          <a:p>
            <a:pPr>
              <a:spcAft>
                <a:spcPts val="0"/>
              </a:spcAft>
            </a:pPr>
            <a:r>
              <a:rPr sz="1250" b="0">
                <a:solidFill>
                  <a:srgbClr val="E6E6E6"/>
                </a:solidFill>
                <a:latin typeface="Consolas"/>
                <a:ea typeface="Consolas"/>
              </a:rPr>
              <a:t>   ELSIF DELETING THEN</a:t>
            </a:r>
          </a:p>
          <a:p>
            <a:pPr>
              <a:spcAft>
                <a:spcPts val="0"/>
              </a:spcAft>
            </a:pPr>
            <a:r>
              <a:rPr sz="1250" b="0">
                <a:solidFill>
                  <a:srgbClr val="E6E6E6"/>
                </a:solidFill>
                <a:latin typeface="Consolas"/>
                <a:ea typeface="Consolas"/>
              </a:rPr>
              <a:t>      v_id := :OLD.employee_id;  v_col := 'ROW';  v_old := :OLD.last_name;</a:t>
            </a:r>
          </a:p>
          <a:p>
            <a:pPr>
              <a:spcAft>
                <a:spcPts val="0"/>
              </a:spcAft>
            </a:pPr>
            <a:r>
              <a:rPr sz="1250" b="0">
                <a:solidFill>
                  <a:srgbClr val="E6E6E6"/>
                </a:solidFill>
                <a:latin typeface="Consolas"/>
                <a:ea typeface="Consolas"/>
              </a:rPr>
              <a:t>   ELSE</a:t>
            </a:r>
          </a:p>
          <a:p>
            <a:pPr>
              <a:spcAft>
                <a:spcPts val="0"/>
              </a:spcAft>
            </a:pPr>
            <a:r>
              <a:rPr sz="1250" b="0">
                <a:solidFill>
                  <a:srgbClr val="E6E6E6"/>
                </a:solidFill>
                <a:latin typeface="Consolas"/>
                <a:ea typeface="Consolas"/>
              </a:rPr>
              <a:t>      RETURN;                             -- 그 밖의 UPDATE 는 기록 안 함</a:t>
            </a:r>
          </a:p>
          <a:p>
            <a:pPr>
              <a:spcAft>
                <a:spcPts val="0"/>
              </a:spcAft>
            </a:pPr>
            <a:r>
              <a:rPr sz="1250" b="0">
                <a:solidFill>
                  <a:srgbClr val="E6E6E6"/>
                </a:solidFill>
                <a:latin typeface="Consolas"/>
                <a:ea typeface="Consolas"/>
              </a:rPr>
              <a:t>   END IF;</a:t>
            </a:r>
          </a:p>
          <a:p>
            <a:pPr>
              <a:spcAft>
                <a:spcPts val="0"/>
              </a:spcAft>
            </a:pPr>
            <a:r>
              <a:rPr sz="1250" b="0">
                <a:solidFill>
                  <a:srgbClr val="E6E6E6"/>
                </a:solidFill>
                <a:latin typeface="Consolas"/>
                <a:ea typeface="Consolas"/>
              </a:rPr>
              <a:t>   INSERT INTO emp_audit_detail(employee_id, column_name, old_value,</a:t>
            </a:r>
          </a:p>
          <a:p>
            <a:pPr>
              <a:spcAft>
                <a:spcPts val="0"/>
              </a:spcAft>
            </a:pPr>
            <a:r>
              <a:rPr sz="1250" b="0">
                <a:solidFill>
                  <a:srgbClr val="E6E6E6"/>
                </a:solidFill>
                <a:latin typeface="Consolas"/>
                <a:ea typeface="Consolas"/>
              </a:rPr>
              <a:t>          changed_by, changed_at) VALUES (v_id, v_col, v_old, USER, SYSTIMESTAMP);</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5383876" cy="1107996"/>
          </a:xfrm>
          <a:prstGeom prst="rect">
            <a:avLst/>
          </a:prstGeom>
          <a:noFill/>
        </p:spPr>
        <p:txBody>
          <a:bodyPr wrap="square">
            <a:spAutoFit/>
          </a:bodyPr>
          <a:lstStyle/>
          <a:p>
            <a:r>
              <a:rPr sz="6600" b="1" dirty="0">
                <a:solidFill>
                  <a:srgbClr val="C0392B"/>
                </a:solidFill>
                <a:latin typeface="Malgun Gothic"/>
                <a:ea typeface="Malgun Gothic"/>
              </a:rPr>
              <a:t>5.15~5.19</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실행 순서 · INSTEAD OF · 운영 관리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500"/>
              </a:spcAft>
            </a:pPr>
            <a:r>
              <a:rPr sz="1600" b="0">
                <a:solidFill>
                  <a:srgbClr val="C5CED6"/>
                </a:solidFill>
                <a:latin typeface="Malgun Gothic"/>
                <a:ea typeface="Malgun Gothic"/>
              </a:rPr>
              <a:t>•  네 종류 트리거의 발화 순서와 FOLLOWS</a:t>
            </a:r>
          </a:p>
          <a:p>
            <a:pPr>
              <a:spcAft>
                <a:spcPts val="500"/>
              </a:spcAft>
            </a:pPr>
            <a:r>
              <a:rPr sz="1600" b="0">
                <a:solidFill>
                  <a:srgbClr val="C5CED6"/>
                </a:solidFill>
                <a:latin typeface="Malgun Gothic"/>
                <a:ea typeface="Malgun Gothic"/>
              </a:rPr>
              <a:t>•  INSTEAD OF 트리거와 복합 뷰</a:t>
            </a:r>
          </a:p>
          <a:p>
            <a:pPr>
              <a:spcAft>
                <a:spcPts val="500"/>
              </a:spcAft>
            </a:pPr>
            <a:r>
              <a:rPr sz="1600" b="0">
                <a:solidFill>
                  <a:srgbClr val="C5CED6"/>
                </a:solidFill>
                <a:latin typeface="Malgun Gothic"/>
                <a:ea typeface="Malgun Gothic"/>
              </a:rPr>
              <a:t>•  뮤테이팅 테이블 오류와 복합 트리거</a:t>
            </a:r>
          </a:p>
          <a:p>
            <a:pPr>
              <a:spcAft>
                <a:spcPts val="500"/>
              </a:spcAft>
            </a:pPr>
            <a:r>
              <a:rPr sz="1600" b="0">
                <a:solidFill>
                  <a:srgbClr val="C5CED6"/>
                </a:solidFill>
                <a:latin typeface="Malgun Gothic"/>
                <a:ea typeface="Malgun Gothic"/>
              </a:rPr>
              <a:t>•  트리거 상태 관리와 오류 정리</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트리거 실행 순서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1. BEFORE 문장 트리거 — 1회</a:t>
            </a:r>
          </a:p>
          <a:p>
            <a:pPr>
              <a:spcAft>
                <a:spcPts val="500"/>
              </a:spcAft>
            </a:pPr>
            <a:r>
              <a:rPr sz="1800" b="0">
                <a:solidFill>
                  <a:srgbClr val="202830"/>
                </a:solidFill>
                <a:latin typeface="Malgun Gothic"/>
                <a:ea typeface="Malgun Gothic"/>
              </a:rPr>
              <a:t>•  2. 각 행마다 반복</a:t>
            </a:r>
          </a:p>
          <a:p>
            <a:pPr>
              <a:spcAft>
                <a:spcPts val="300"/>
              </a:spcAft>
            </a:pPr>
            <a:r>
              <a:rPr sz="1600" b="0">
                <a:solidFill>
                  <a:srgbClr val="5A6672"/>
                </a:solidFill>
                <a:latin typeface="Malgun Gothic"/>
                <a:ea typeface="Malgun Gothic"/>
              </a:rPr>
              <a:t>    –  BEFORE 행 트리거 → 행 변경 및 무결성 제약 검사 → AFTER 행 트리거</a:t>
            </a:r>
          </a:p>
          <a:p>
            <a:pPr>
              <a:spcAft>
                <a:spcPts val="500"/>
              </a:spcAft>
            </a:pPr>
            <a:r>
              <a:rPr sz="1800" b="0">
                <a:solidFill>
                  <a:srgbClr val="202830"/>
                </a:solidFill>
                <a:latin typeface="Malgun Gothic"/>
                <a:ea typeface="Malgun Gothic"/>
              </a:rPr>
              <a:t>•  3. AFTER 문장 트리거 — 1회</a:t>
            </a:r>
          </a:p>
          <a:p>
            <a:pPr>
              <a:spcAft>
                <a:spcPts val="500"/>
              </a:spcAft>
            </a:pPr>
            <a:r>
              <a:rPr sz="1800" b="0">
                <a:solidFill>
                  <a:srgbClr val="202830"/>
                </a:solidFill>
                <a:latin typeface="Malgun Gothic"/>
                <a:ea typeface="Malgun Gothic"/>
              </a:rPr>
              <a:t>•  단일 행 DML 이면 전체가 네 단계로 끝난다</a:t>
            </a:r>
          </a:p>
          <a:p>
            <a:pPr>
              <a:spcAft>
                <a:spcPts val="500"/>
              </a:spcAft>
            </a:pPr>
            <a:r>
              <a:rPr sz="1800" b="0">
                <a:solidFill>
                  <a:srgbClr val="202830"/>
                </a:solidFill>
                <a:latin typeface="Malgun Gothic"/>
                <a:ea typeface="Malgun Gothic"/>
              </a:rPr>
              <a:t>•  같은 시점·같은 이벤트의 여러 트리거는 순서가 정의되지 않는다</a:t>
            </a:r>
          </a:p>
          <a:p>
            <a:pPr>
              <a:spcAft>
                <a:spcPts val="300"/>
              </a:spcAft>
            </a:pPr>
            <a:r>
              <a:rPr sz="1600" b="0">
                <a:solidFill>
                  <a:srgbClr val="5A6672"/>
                </a:solidFill>
                <a:latin typeface="Malgun Gothic"/>
                <a:ea typeface="Malgun Gothic"/>
              </a:rPr>
              <a:t>    –  FOLLOWS / PRECEDES 절로 명시해야 순서를 보장받는다</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실행 순서 확인과 FOLLOWS</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TRIGGER trg_ord_bs BEFORE UPDATE ON employees</a:t>
            </a:r>
          </a:p>
          <a:p>
            <a:pPr>
              <a:spcAft>
                <a:spcPts val="0"/>
              </a:spcAft>
            </a:pPr>
            <a:r>
              <a:rPr sz="1250" b="0">
                <a:solidFill>
                  <a:srgbClr val="E6E6E6"/>
                </a:solidFill>
                <a:latin typeface="Consolas"/>
                <a:ea typeface="Consolas"/>
              </a:rPr>
              <a:t>BEGIN DBMS_OUTPUT.PUT_LINE('1. BEFORE 문장'); END;</a:t>
            </a:r>
          </a:p>
          <a:p>
            <a:pPr>
              <a:spcAft>
                <a:spcPts val="0"/>
              </a:spcAft>
            </a:pPr>
            <a:r>
              <a:rPr sz="1250" b="0">
                <a:solidFill>
                  <a:srgbClr val="E6E6E6"/>
                </a:solidFill>
                <a:latin typeface="Consolas"/>
                <a:ea typeface="Consolas"/>
              </a:rPr>
              <a:t>/</a:t>
            </a:r>
          </a:p>
          <a:p>
            <a:pPr>
              <a:spcAft>
                <a:spcPts val="0"/>
              </a:spcAft>
            </a:pPr>
            <a:r>
              <a:rPr sz="1250" b="0">
                <a:solidFill>
                  <a:srgbClr val="7EC699"/>
                </a:solidFill>
                <a:latin typeface="Consolas"/>
                <a:ea typeface="Consolas"/>
              </a:rPr>
              <a:t>-- trg_ord_br(BEFORE 행), trg_ord_ar(AFTER 행), trg_ord_as(AFTER 문장)도</a:t>
            </a:r>
          </a:p>
          <a:p>
            <a:pPr>
              <a:spcAft>
                <a:spcPts val="0"/>
              </a:spcAft>
            </a:pPr>
            <a:r>
              <a:rPr sz="1250" b="0">
                <a:solidFill>
                  <a:srgbClr val="7EC699"/>
                </a:solidFill>
                <a:latin typeface="Consolas"/>
                <a:ea typeface="Consolas"/>
              </a:rPr>
              <a:t>-- 같은 방식으로 만든 뒤 5행을 바꾸는 UPDATE 를 실행한다</a:t>
            </a:r>
          </a:p>
          <a:p>
            <a:pPr>
              <a:spcAft>
                <a:spcPts val="0"/>
              </a:spcAft>
            </a:pPr>
            <a:r>
              <a:rPr sz="1250" b="0">
                <a:solidFill>
                  <a:srgbClr val="E6E6E6"/>
                </a:solidFill>
                <a:latin typeface="Consolas"/>
                <a:ea typeface="Consolas"/>
              </a:rPr>
              <a:t>SQL&gt; UPDATE employees SET salary = salary + 100 WHERE department_id = 60;</a:t>
            </a:r>
          </a:p>
          <a:p>
            <a:pPr>
              <a:spcAft>
                <a:spcPts val="0"/>
              </a:spcAft>
            </a:pPr>
            <a:r>
              <a:rPr sz="1250" b="0">
                <a:solidFill>
                  <a:srgbClr val="9CDCFE"/>
                </a:solidFill>
                <a:latin typeface="Consolas"/>
                <a:ea typeface="Consolas"/>
              </a:rPr>
              <a:t>출력) 1. BEFORE 문장</a:t>
            </a:r>
          </a:p>
          <a:p>
            <a:pPr>
              <a:spcAft>
                <a:spcPts val="0"/>
              </a:spcAft>
            </a:pPr>
            <a:r>
              <a:rPr sz="1250" b="0">
                <a:solidFill>
                  <a:srgbClr val="9CDCFE"/>
                </a:solidFill>
                <a:latin typeface="Consolas"/>
                <a:ea typeface="Consolas"/>
              </a:rPr>
              <a:t>출력) 2. BEFORE 행 / 3. AFTER 행</a:t>
            </a:r>
          </a:p>
          <a:p>
            <a:pPr>
              <a:spcAft>
                <a:spcPts val="0"/>
              </a:spcAft>
            </a:pPr>
            <a:r>
              <a:rPr sz="1250" b="0">
                <a:solidFill>
                  <a:srgbClr val="9CDCFE"/>
                </a:solidFill>
                <a:latin typeface="Consolas"/>
                <a:ea typeface="Consolas"/>
              </a:rPr>
              <a:t>출력) 2. BEFORE 행 / 3. AFTER 행   ... (행 수만큼 반복)</a:t>
            </a:r>
          </a:p>
          <a:p>
            <a:pPr>
              <a:spcAft>
                <a:spcPts val="0"/>
              </a:spcAft>
            </a:pPr>
            <a:r>
              <a:rPr sz="1250" b="0">
                <a:solidFill>
                  <a:srgbClr val="9CDCFE"/>
                </a:solidFill>
                <a:latin typeface="Consolas"/>
                <a:ea typeface="Consolas"/>
              </a:rPr>
              <a:t>출력) 4. AFTER 문장</a:t>
            </a:r>
          </a:p>
          <a:p>
            <a:pPr>
              <a:spcAft>
                <a:spcPts val="0"/>
              </a:spcAft>
            </a:pPr>
            <a:endParaRPr sz="1250" b="0">
              <a:solidFill>
                <a:srgbClr val="9CDCFE"/>
              </a:solidFill>
              <a:latin typeface="Consolas"/>
              <a:ea typeface="Consolas"/>
            </a:endParaRPr>
          </a:p>
          <a:p>
            <a:pPr>
              <a:spcAft>
                <a:spcPts val="0"/>
              </a:spcAft>
            </a:pPr>
            <a:r>
              <a:rPr sz="1250" b="0">
                <a:solidFill>
                  <a:srgbClr val="7EC699"/>
                </a:solidFill>
                <a:latin typeface="Consolas"/>
                <a:ea typeface="Consolas"/>
              </a:rPr>
              <a:t>-- 같은 시점 트리거의 순서 고정</a:t>
            </a:r>
          </a:p>
          <a:p>
            <a:pPr>
              <a:spcAft>
                <a:spcPts val="0"/>
              </a:spcAft>
            </a:pPr>
            <a:r>
              <a:rPr sz="1250" b="0">
                <a:solidFill>
                  <a:srgbClr val="E6E6E6"/>
                </a:solidFill>
                <a:latin typeface="Consolas"/>
                <a:ea typeface="Consolas"/>
              </a:rPr>
              <a:t>CREATE OR REPLACE TRIGGER trg_emp_br_default</a:t>
            </a:r>
          </a:p>
          <a:p>
            <a:pPr>
              <a:spcAft>
                <a:spcPts val="0"/>
              </a:spcAft>
            </a:pPr>
            <a:r>
              <a:rPr sz="1250" b="0">
                <a:solidFill>
                  <a:srgbClr val="E6E6E6"/>
                </a:solidFill>
                <a:latin typeface="Consolas"/>
                <a:ea typeface="Consolas"/>
              </a:rPr>
              <a:t>   BEFORE INSERT ON employees FOR EACH ROW</a:t>
            </a:r>
          </a:p>
          <a:p>
            <a:pPr>
              <a:spcAft>
                <a:spcPts val="0"/>
              </a:spcAft>
            </a:pPr>
            <a:r>
              <a:rPr sz="1250" b="0">
                <a:solidFill>
                  <a:srgbClr val="E6E6E6"/>
                </a:solidFill>
                <a:latin typeface="Consolas"/>
                <a:ea typeface="Consolas"/>
              </a:rPr>
              <a:t>   FOLLOWS trg_emp_br_validate      -- 검증 트리거 이후에 실행</a:t>
            </a:r>
          </a:p>
          <a:p>
            <a:pPr>
              <a:spcAft>
                <a:spcPts val="0"/>
              </a:spcAft>
            </a:pPr>
            <a:r>
              <a:rPr sz="1250" b="0">
                <a:solidFill>
                  <a:srgbClr val="E6E6E6"/>
                </a:solidFill>
                <a:latin typeface="Consolas"/>
                <a:ea typeface="Consolas"/>
              </a:rPr>
              <a:t>BEGIN :NEW.email := UPPER(:NEW.email); END;</a:t>
            </a:r>
          </a:p>
          <a:p>
            <a:pPr>
              <a:spcAft>
                <a:spcPts val="0"/>
              </a:spcAft>
            </a:pPr>
            <a:r>
              <a:rPr sz="1250" b="0">
                <a:solidFill>
                  <a:srgbClr val="E6E6E6"/>
                </a:solidFill>
                <a:latin typeface="Consolas"/>
                <a:ea typeface="Consolas"/>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INSTEAD OF 트리거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여러 테이블을 조인한 뷰에는 원칙적으로 DML 을 할 수 없다</a:t>
            </a:r>
          </a:p>
          <a:p>
            <a:pPr>
              <a:spcAft>
                <a:spcPts val="300"/>
              </a:spcAft>
            </a:pPr>
            <a:r>
              <a:rPr sz="1600" b="0">
                <a:solidFill>
                  <a:srgbClr val="5A6672"/>
                </a:solidFill>
                <a:latin typeface="Malgun Gothic"/>
                <a:ea typeface="Malgun Gothic"/>
              </a:rPr>
              <a:t>    –  어느 기저 테이블의 어느 행을 바꿔야 할지 결정할 수 없기 때문</a:t>
            </a:r>
          </a:p>
          <a:p>
            <a:pPr>
              <a:spcAft>
                <a:spcPts val="300"/>
              </a:spcAft>
            </a:pPr>
            <a:r>
              <a:rPr sz="1600" b="0">
                <a:solidFill>
                  <a:srgbClr val="5A6672"/>
                </a:solidFill>
                <a:latin typeface="Malgun Gothic"/>
                <a:ea typeface="Malgun Gothic"/>
              </a:rPr>
              <a:t>    –  시도하면 ORA-01779 non key-preserved table</a:t>
            </a:r>
          </a:p>
          <a:p>
            <a:pPr>
              <a:spcAft>
                <a:spcPts val="500"/>
              </a:spcAft>
            </a:pPr>
            <a:r>
              <a:rPr sz="1800" b="0">
                <a:solidFill>
                  <a:srgbClr val="202830"/>
                </a:solidFill>
                <a:latin typeface="Malgun Gothic"/>
                <a:ea typeface="Malgun Gothic"/>
              </a:rPr>
              <a:t>•  INSTEAD OF 트리거는 그 결정을 개발자가 대신 내리게 한다</a:t>
            </a:r>
          </a:p>
          <a:p>
            <a:pPr>
              <a:spcAft>
                <a:spcPts val="300"/>
              </a:spcAft>
            </a:pPr>
            <a:r>
              <a:rPr sz="1600" b="0">
                <a:solidFill>
                  <a:srgbClr val="5A6672"/>
                </a:solidFill>
                <a:latin typeface="Malgun Gothic"/>
                <a:ea typeface="Malgun Gothic"/>
              </a:rPr>
              <a:t>    –  뷰에 대한 DML 을 수행하는 대신 트리거 본문을 실행한다</a:t>
            </a:r>
          </a:p>
          <a:p>
            <a:pPr>
              <a:spcAft>
                <a:spcPts val="500"/>
              </a:spcAft>
            </a:pPr>
            <a:r>
              <a:rPr sz="1800" b="0">
                <a:solidFill>
                  <a:srgbClr val="202830"/>
                </a:solidFill>
                <a:latin typeface="Malgun Gothic"/>
                <a:ea typeface="Malgun Gothic"/>
              </a:rPr>
              <a:t>•  두 가지 제약</a:t>
            </a:r>
          </a:p>
          <a:p>
            <a:pPr>
              <a:spcAft>
                <a:spcPts val="300"/>
              </a:spcAft>
            </a:pPr>
            <a:r>
              <a:rPr sz="1600" b="0">
                <a:solidFill>
                  <a:srgbClr val="5A6672"/>
                </a:solidFill>
                <a:latin typeface="Malgun Gothic"/>
                <a:ea typeface="Malgun Gothic"/>
              </a:rPr>
              <a:t>    –  테이블이 아니라 뷰에만 만들 수 있다 — 위반 시 ORA-25002</a:t>
            </a:r>
          </a:p>
          <a:p>
            <a:pPr>
              <a:spcAft>
                <a:spcPts val="300"/>
              </a:spcAft>
            </a:pPr>
            <a:r>
              <a:rPr sz="1600" b="0">
                <a:solidFill>
                  <a:srgbClr val="5A6672"/>
                </a:solidFill>
                <a:latin typeface="Malgun Gothic"/>
                <a:ea typeface="Malgun Gothic"/>
              </a:rPr>
              <a:t>    –  항상 행 수준이며 BEFORE/AFTER 를 지정할 수 없다</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INSTEAD OF 트리거 작성</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VIEW emp_dept_v AS</a:t>
            </a:r>
          </a:p>
          <a:p>
            <a:pPr>
              <a:spcAft>
                <a:spcPts val="0"/>
              </a:spcAft>
            </a:pPr>
            <a:r>
              <a:rPr sz="1250" b="0">
                <a:solidFill>
                  <a:srgbClr val="E6E6E6"/>
                </a:solidFill>
                <a:latin typeface="Consolas"/>
                <a:ea typeface="Consolas"/>
              </a:rPr>
              <a:t>SELECT e.employee_id, e.last_name, e.salary,</a:t>
            </a:r>
          </a:p>
          <a:p>
            <a:pPr>
              <a:spcAft>
                <a:spcPts val="0"/>
              </a:spcAft>
            </a:pPr>
            <a:r>
              <a:rPr sz="1250" b="0">
                <a:solidFill>
                  <a:srgbClr val="E6E6E6"/>
                </a:solidFill>
                <a:latin typeface="Consolas"/>
                <a:ea typeface="Consolas"/>
              </a:rPr>
              <a:t>       d.department_id, d.department_name</a:t>
            </a:r>
          </a:p>
          <a:p>
            <a:pPr>
              <a:spcAft>
                <a:spcPts val="0"/>
              </a:spcAft>
            </a:pPr>
            <a:r>
              <a:rPr sz="1250" b="0">
                <a:solidFill>
                  <a:srgbClr val="E6E6E6"/>
                </a:solidFill>
                <a:latin typeface="Consolas"/>
                <a:ea typeface="Consolas"/>
              </a:rPr>
              <a:t>  FROM employees e JOIN departments d ON e.department_id=d.department_id;</a:t>
            </a:r>
          </a:p>
          <a:p>
            <a:pPr>
              <a:spcAft>
                <a:spcPts val="0"/>
              </a:spcAft>
            </a:pPr>
            <a:endParaRPr sz="1250" b="0">
              <a:solidFill>
                <a:srgbClr val="E6E6E6"/>
              </a:solidFill>
              <a:latin typeface="Consolas"/>
              <a:ea typeface="Consolas"/>
            </a:endParaRPr>
          </a:p>
          <a:p>
            <a:pPr>
              <a:spcAft>
                <a:spcPts val="0"/>
              </a:spcAft>
            </a:pPr>
            <a:r>
              <a:rPr sz="1250" b="0">
                <a:solidFill>
                  <a:srgbClr val="E6E6E6"/>
                </a:solidFill>
                <a:latin typeface="Consolas"/>
                <a:ea typeface="Consolas"/>
              </a:rPr>
              <a:t>SQL&gt; UPDATE emp_dept_v SET department_name='연구소' WHERE employee_id=103;</a:t>
            </a:r>
          </a:p>
          <a:p>
            <a:pPr>
              <a:spcAft>
                <a:spcPts val="0"/>
              </a:spcAft>
            </a:pPr>
            <a:r>
              <a:rPr sz="1250" b="0">
                <a:solidFill>
                  <a:srgbClr val="F08A8A"/>
                </a:solidFill>
                <a:latin typeface="Consolas"/>
                <a:ea typeface="Consolas"/>
              </a:rPr>
              <a:t>ORA-01779: cannot modify a column which maps to a non key-preserved table</a:t>
            </a:r>
          </a:p>
          <a:p>
            <a:pPr>
              <a:spcAft>
                <a:spcPts val="0"/>
              </a:spcAft>
            </a:pPr>
            <a:endParaRPr sz="1250" b="0">
              <a:solidFill>
                <a:srgbClr val="F08A8A"/>
              </a:solidFill>
              <a:latin typeface="Consolas"/>
              <a:ea typeface="Consolas"/>
            </a:endParaRPr>
          </a:p>
          <a:p>
            <a:pPr>
              <a:spcAft>
                <a:spcPts val="0"/>
              </a:spcAft>
            </a:pPr>
            <a:r>
              <a:rPr sz="1250" b="0">
                <a:solidFill>
                  <a:srgbClr val="E6E6E6"/>
                </a:solidFill>
                <a:latin typeface="Consolas"/>
                <a:ea typeface="Consolas"/>
              </a:rPr>
              <a:t>CREATE OR REPLACE TRIGGER trg_emp_dept_v_iou</a:t>
            </a:r>
          </a:p>
          <a:p>
            <a:pPr>
              <a:spcAft>
                <a:spcPts val="0"/>
              </a:spcAft>
            </a:pPr>
            <a:r>
              <a:rPr sz="1250" b="0">
                <a:solidFill>
                  <a:srgbClr val="E6E6E6"/>
                </a:solidFill>
                <a:latin typeface="Consolas"/>
                <a:ea typeface="Consolas"/>
              </a:rPr>
              <a:t>   INSTEAD OF UPDATE ON emp_dept_v FOR EACH ROW</a:t>
            </a:r>
          </a:p>
          <a:p>
            <a:pPr>
              <a:spcAft>
                <a:spcPts val="0"/>
              </a:spcAft>
            </a:pPr>
            <a:r>
              <a:rPr sz="1250" b="0">
                <a:solidFill>
                  <a:srgbClr val="E6E6E6"/>
                </a:solidFill>
                <a:latin typeface="Consolas"/>
                <a:ea typeface="Consolas"/>
              </a:rPr>
              <a:t>BEGIN</a:t>
            </a:r>
          </a:p>
          <a:p>
            <a:pPr>
              <a:spcAft>
                <a:spcPts val="0"/>
              </a:spcAft>
            </a:pPr>
            <a:r>
              <a:rPr sz="1250" b="0">
                <a:solidFill>
                  <a:srgbClr val="E6E6E6"/>
                </a:solidFill>
                <a:latin typeface="Consolas"/>
                <a:ea typeface="Consolas"/>
              </a:rPr>
              <a:t>   UPDATE employees SET last_name=:NEW.last_name, salary=:NEW.salary</a:t>
            </a:r>
          </a:p>
          <a:p>
            <a:pPr>
              <a:spcAft>
                <a:spcPts val="0"/>
              </a:spcAft>
            </a:pPr>
            <a:r>
              <a:rPr sz="1250" b="0">
                <a:solidFill>
                  <a:srgbClr val="E6E6E6"/>
                </a:solidFill>
                <a:latin typeface="Consolas"/>
                <a:ea typeface="Consolas"/>
              </a:rPr>
              <a:t>    WHERE employee_id = :OLD.employee_id;</a:t>
            </a:r>
          </a:p>
          <a:p>
            <a:pPr>
              <a:spcAft>
                <a:spcPts val="0"/>
              </a:spcAft>
            </a:pPr>
            <a:r>
              <a:rPr sz="1250" b="0">
                <a:solidFill>
                  <a:srgbClr val="E6E6E6"/>
                </a:solidFill>
                <a:latin typeface="Consolas"/>
                <a:ea typeface="Consolas"/>
              </a:rPr>
              <a:t>   IF NVL(:OLD.department_name,'~') &lt;&gt; NVL(:NEW.department_name,'~') THEN</a:t>
            </a:r>
          </a:p>
          <a:p>
            <a:pPr>
              <a:spcAft>
                <a:spcPts val="0"/>
              </a:spcAft>
            </a:pPr>
            <a:r>
              <a:rPr sz="1250" b="0">
                <a:solidFill>
                  <a:srgbClr val="E6E6E6"/>
                </a:solidFill>
                <a:latin typeface="Consolas"/>
                <a:ea typeface="Consolas"/>
              </a:rPr>
              <a:t>      UPDATE departments SET department_name=:NEW.department_name</a:t>
            </a:r>
          </a:p>
          <a:p>
            <a:pPr>
              <a:spcAft>
                <a:spcPts val="0"/>
              </a:spcAft>
            </a:pPr>
            <a:r>
              <a:rPr sz="1250" b="0">
                <a:solidFill>
                  <a:srgbClr val="E6E6E6"/>
                </a:solidFill>
                <a:latin typeface="Consolas"/>
                <a:ea typeface="Consolas"/>
              </a:rPr>
              <a:t>       WHERE department_id = :NEW.department_id;</a:t>
            </a:r>
          </a:p>
          <a:p>
            <a:pPr>
              <a:spcAft>
                <a:spcPts val="0"/>
              </a:spcAft>
            </a:pPr>
            <a:r>
              <a:rPr sz="1250" b="0">
                <a:solidFill>
                  <a:srgbClr val="E6E6E6"/>
                </a:solidFill>
                <a:latin typeface="Consolas"/>
                <a:ea typeface="Consolas"/>
              </a:rPr>
              <a:t>   END IF;</a:t>
            </a:r>
          </a:p>
          <a:p>
            <a:pPr>
              <a:spcAft>
                <a:spcPts val="0"/>
              </a:spcAft>
            </a:pPr>
            <a:r>
              <a:rPr sz="1250" b="0">
                <a:solidFill>
                  <a:srgbClr val="E6E6E6"/>
                </a:solidFill>
                <a:latin typeface="Consolas"/>
                <a:ea typeface="Consolas"/>
              </a:rPr>
              <a:t>END;</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SQL&gt; UPDATE emp_dept_v SET department_name='연구소' WHERE employee_id=103;</a:t>
            </a:r>
          </a:p>
          <a:p>
            <a:pPr>
              <a:spcAft>
                <a:spcPts val="0"/>
              </a:spcAft>
            </a:pPr>
            <a:r>
              <a:rPr sz="1250" b="0">
                <a:solidFill>
                  <a:srgbClr val="E6E6E6"/>
                </a:solidFill>
                <a:latin typeface="Consolas"/>
                <a:ea typeface="Consolas"/>
              </a:rPr>
              <a:t>1 row updated.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뮤테이팅 테이블 오류 (ORA-04091)</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행 트리거에서 자기 테이블을 SELECT 하거나 변경하면 발생한다</a:t>
            </a:r>
          </a:p>
          <a:p>
            <a:pPr>
              <a:spcAft>
                <a:spcPts val="300"/>
              </a:spcAft>
            </a:pPr>
            <a:r>
              <a:rPr sz="1600" b="0">
                <a:solidFill>
                  <a:srgbClr val="5A6672"/>
                </a:solidFill>
                <a:latin typeface="Malgun Gothic"/>
                <a:ea typeface="Malgun Gothic"/>
              </a:rPr>
              <a:t>    –  문장 진행 중에는 그 테이블의 상태가 확정되지 않기 때문</a:t>
            </a:r>
          </a:p>
          <a:p>
            <a:pPr>
              <a:spcAft>
                <a:spcPts val="300"/>
              </a:spcAft>
            </a:pPr>
            <a:r>
              <a:rPr sz="1600" b="0">
                <a:solidFill>
                  <a:srgbClr val="5A6672"/>
                </a:solidFill>
                <a:latin typeface="Malgun Gothic"/>
                <a:ea typeface="Malgun Gothic"/>
              </a:rPr>
              <a:t>    –  컴파일은 통과하고 실행할 때 터진다 — 발견이 늦다</a:t>
            </a:r>
          </a:p>
          <a:p>
            <a:pPr>
              <a:spcAft>
                <a:spcPts val="500"/>
              </a:spcAft>
            </a:pPr>
            <a:r>
              <a:rPr sz="1800" b="0">
                <a:solidFill>
                  <a:srgbClr val="202830"/>
                </a:solidFill>
                <a:latin typeface="Malgun Gothic"/>
                <a:ea typeface="Malgun Gothic"/>
              </a:rPr>
              <a:t>•  회피 방법 1 — 규칙을 트리거가 아닌 프로시저로 옮긴다</a:t>
            </a:r>
          </a:p>
          <a:p>
            <a:pPr>
              <a:spcAft>
                <a:spcPts val="500"/>
              </a:spcAft>
            </a:pPr>
            <a:r>
              <a:rPr sz="1800" b="0">
                <a:solidFill>
                  <a:srgbClr val="202830"/>
                </a:solidFill>
                <a:latin typeface="Malgun Gothic"/>
                <a:ea typeface="Malgun Gothic"/>
              </a:rPr>
              <a:t>•  회피 방법 2 — 자율 트랜잭션 (권장하지 않음)</a:t>
            </a:r>
          </a:p>
          <a:p>
            <a:pPr>
              <a:spcAft>
                <a:spcPts val="300"/>
              </a:spcAft>
            </a:pPr>
            <a:r>
              <a:rPr sz="1600" b="0">
                <a:solidFill>
                  <a:srgbClr val="5A6672"/>
                </a:solidFill>
                <a:latin typeface="Malgun Gothic"/>
                <a:ea typeface="Malgun Gothic"/>
              </a:rPr>
              <a:t>    –  커밋되지 않은 변경을 볼 수 없어 논리적으로 틀린 결과가 나온다</a:t>
            </a:r>
          </a:p>
          <a:p>
            <a:pPr>
              <a:spcAft>
                <a:spcPts val="500"/>
              </a:spcAft>
            </a:pPr>
            <a:r>
              <a:rPr sz="1800" b="0">
                <a:solidFill>
                  <a:srgbClr val="202830"/>
                </a:solidFill>
                <a:latin typeface="Malgun Gothic"/>
                <a:ea typeface="Malgun Gothic"/>
              </a:rPr>
              <a:t>•  회피 방법 3 — 복합 트리거 (표준 해법)</a:t>
            </a:r>
          </a:p>
          <a:p>
            <a:pPr>
              <a:spcAft>
                <a:spcPts val="300"/>
              </a:spcAft>
            </a:pPr>
            <a:r>
              <a:rPr sz="1600" b="0">
                <a:solidFill>
                  <a:srgbClr val="5A6672"/>
                </a:solidFill>
                <a:latin typeface="Malgun Gothic"/>
                <a:ea typeface="Malgun Gothic"/>
              </a:rPr>
              <a:t>    –  행 시점에는 수집만, 검증은 AFTER STATEMENT 에서</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복합 트리거로 회피</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CREATE OR REPLACE TRIGGER trg_emp_comp</a:t>
            </a:r>
          </a:p>
          <a:p>
            <a:pPr>
              <a:spcAft>
                <a:spcPts val="0"/>
              </a:spcAft>
            </a:pPr>
            <a:r>
              <a:rPr sz="1250" b="0">
                <a:solidFill>
                  <a:srgbClr val="E6E6E6"/>
                </a:solidFill>
                <a:latin typeface="Consolas"/>
                <a:ea typeface="Consolas"/>
              </a:rPr>
              <a:t>   FOR INSERT OR UPDATE OF salary ON employees</a:t>
            </a:r>
          </a:p>
          <a:p>
            <a:pPr>
              <a:spcAft>
                <a:spcPts val="0"/>
              </a:spcAft>
            </a:pPr>
            <a:r>
              <a:rPr sz="1250" b="0">
                <a:solidFill>
                  <a:srgbClr val="E6E6E6"/>
                </a:solidFill>
                <a:latin typeface="Consolas"/>
                <a:ea typeface="Consolas"/>
              </a:rPr>
              <a:t>   COMPOUND TRIGGER</a:t>
            </a:r>
          </a:p>
          <a:p>
            <a:pPr>
              <a:spcAft>
                <a:spcPts val="0"/>
              </a:spcAft>
            </a:pPr>
            <a:endParaRPr sz="1250" b="0">
              <a:solidFill>
                <a:srgbClr val="E6E6E6"/>
              </a:solidFill>
              <a:latin typeface="Consolas"/>
              <a:ea typeface="Consolas"/>
            </a:endParaRPr>
          </a:p>
          <a:p>
            <a:pPr>
              <a:spcAft>
                <a:spcPts val="0"/>
              </a:spcAft>
            </a:pPr>
            <a:r>
              <a:rPr sz="1250" b="0">
                <a:solidFill>
                  <a:srgbClr val="E6E6E6"/>
                </a:solidFill>
                <a:latin typeface="Consolas"/>
                <a:ea typeface="Consolas"/>
              </a:rPr>
              <a:t>   TYPE t_dept_list IS TABLE OF NUMBER INDEX BY PLS_INTEGER;</a:t>
            </a:r>
          </a:p>
          <a:p>
            <a:pPr>
              <a:spcAft>
                <a:spcPts val="0"/>
              </a:spcAft>
            </a:pPr>
            <a:r>
              <a:rPr sz="1250" b="0">
                <a:solidFill>
                  <a:srgbClr val="E6E6E6"/>
                </a:solidFill>
                <a:latin typeface="Consolas"/>
                <a:ea typeface="Consolas"/>
              </a:rPr>
              <a:t>   g_depts t_dept_list;   g_idx PLS_INTEGER := 0;   -- 네 지점이 공유</a:t>
            </a:r>
          </a:p>
          <a:p>
            <a:pPr>
              <a:spcAft>
                <a:spcPts val="0"/>
              </a:spcAft>
            </a:pPr>
            <a:endParaRPr sz="1250" b="0">
              <a:solidFill>
                <a:srgbClr val="E6E6E6"/>
              </a:solidFill>
              <a:latin typeface="Consolas"/>
              <a:ea typeface="Consolas"/>
            </a:endParaRPr>
          </a:p>
          <a:p>
            <a:pPr>
              <a:spcAft>
                <a:spcPts val="0"/>
              </a:spcAft>
            </a:pPr>
            <a:r>
              <a:rPr sz="1250" b="0">
                <a:solidFill>
                  <a:srgbClr val="E6E6E6"/>
                </a:solidFill>
                <a:latin typeface="Consolas"/>
                <a:ea typeface="Consolas"/>
              </a:rPr>
              <a:t>   BEFORE STATEMENT IS</a:t>
            </a:r>
          </a:p>
          <a:p>
            <a:pPr>
              <a:spcAft>
                <a:spcPts val="0"/>
              </a:spcAft>
            </a:pPr>
            <a:r>
              <a:rPr sz="1250" b="0">
                <a:solidFill>
                  <a:srgbClr val="E6E6E6"/>
                </a:solidFill>
                <a:latin typeface="Consolas"/>
                <a:ea typeface="Consolas"/>
              </a:rPr>
              <a:t>   BEGIN g_depts.DELETE; g_idx := 0; END BEFORE STATEMENT;</a:t>
            </a:r>
          </a:p>
          <a:p>
            <a:pPr>
              <a:spcAft>
                <a:spcPts val="0"/>
              </a:spcAft>
            </a:pPr>
            <a:endParaRPr sz="1250" b="0">
              <a:solidFill>
                <a:srgbClr val="E6E6E6"/>
              </a:solidFill>
              <a:latin typeface="Consolas"/>
              <a:ea typeface="Consolas"/>
            </a:endParaRPr>
          </a:p>
          <a:p>
            <a:pPr>
              <a:spcAft>
                <a:spcPts val="0"/>
              </a:spcAft>
            </a:pPr>
            <a:r>
              <a:rPr sz="1250" b="0">
                <a:solidFill>
                  <a:srgbClr val="E6E6E6"/>
                </a:solidFill>
                <a:latin typeface="Consolas"/>
                <a:ea typeface="Consolas"/>
              </a:rPr>
              <a:t>   AFTER EACH ROW IS</a:t>
            </a:r>
          </a:p>
          <a:p>
            <a:pPr>
              <a:spcAft>
                <a:spcPts val="0"/>
              </a:spcAft>
            </a:pPr>
            <a:r>
              <a:rPr sz="1250" b="0">
                <a:solidFill>
                  <a:srgbClr val="E6E6E6"/>
                </a:solidFill>
                <a:latin typeface="Consolas"/>
                <a:ea typeface="Consolas"/>
              </a:rPr>
              <a:t>   BEGIN                            -- 행 시점에는 조회하지 않고 수집만</a:t>
            </a:r>
          </a:p>
          <a:p>
            <a:pPr>
              <a:spcAft>
                <a:spcPts val="0"/>
              </a:spcAft>
            </a:pPr>
            <a:r>
              <a:rPr sz="1250" b="0">
                <a:solidFill>
                  <a:srgbClr val="E6E6E6"/>
                </a:solidFill>
                <a:latin typeface="Consolas"/>
                <a:ea typeface="Consolas"/>
              </a:rPr>
              <a:t>      g_idx := g_idx + 1;  g_depts(g_idx) := :NEW.department_id;</a:t>
            </a:r>
          </a:p>
          <a:p>
            <a:pPr>
              <a:spcAft>
                <a:spcPts val="0"/>
              </a:spcAft>
            </a:pPr>
            <a:r>
              <a:rPr sz="1250" b="0">
                <a:solidFill>
                  <a:srgbClr val="E6E6E6"/>
                </a:solidFill>
                <a:latin typeface="Consolas"/>
                <a:ea typeface="Consolas"/>
              </a:rPr>
              <a:t>   END AFTER EACH ROW;</a:t>
            </a:r>
          </a:p>
          <a:p>
            <a:pPr>
              <a:spcAft>
                <a:spcPts val="0"/>
              </a:spcAft>
            </a:pPr>
            <a:endParaRPr sz="1250" b="0">
              <a:solidFill>
                <a:srgbClr val="E6E6E6"/>
              </a:solidFill>
              <a:latin typeface="Consolas"/>
              <a:ea typeface="Consolas"/>
            </a:endParaRPr>
          </a:p>
          <a:p>
            <a:pPr>
              <a:spcAft>
                <a:spcPts val="0"/>
              </a:spcAft>
            </a:pPr>
            <a:r>
              <a:rPr sz="1250" b="0">
                <a:solidFill>
                  <a:srgbClr val="E6E6E6"/>
                </a:solidFill>
                <a:latin typeface="Consolas"/>
                <a:ea typeface="Consolas"/>
              </a:rPr>
              <a:t>   AFTER STATEMENT IS</a:t>
            </a:r>
          </a:p>
          <a:p>
            <a:pPr>
              <a:spcAft>
                <a:spcPts val="0"/>
              </a:spcAft>
            </a:pPr>
            <a:r>
              <a:rPr sz="1250" b="0">
                <a:solidFill>
                  <a:srgbClr val="E6E6E6"/>
                </a:solidFill>
                <a:latin typeface="Consolas"/>
                <a:ea typeface="Consolas"/>
              </a:rPr>
              <a:t>      v_avg NUMBER; v_max NUMBER;</a:t>
            </a:r>
          </a:p>
          <a:p>
            <a:pPr>
              <a:spcAft>
                <a:spcPts val="0"/>
              </a:spcAft>
            </a:pPr>
            <a:r>
              <a:rPr sz="1250" b="0">
                <a:solidFill>
                  <a:srgbClr val="E6E6E6"/>
                </a:solidFill>
                <a:latin typeface="Consolas"/>
                <a:ea typeface="Consolas"/>
              </a:rPr>
              <a:t>   BEGIN                            -- 테이블이 안정된 시점에서 검증</a:t>
            </a:r>
          </a:p>
          <a:p>
            <a:pPr>
              <a:spcAft>
                <a:spcPts val="0"/>
              </a:spcAft>
            </a:pPr>
            <a:r>
              <a:rPr sz="1250" b="0">
                <a:solidFill>
                  <a:srgbClr val="E6E6E6"/>
                </a:solidFill>
                <a:latin typeface="Consolas"/>
                <a:ea typeface="Consolas"/>
              </a:rPr>
              <a:t>      FOR i IN 1 .. g_idx LOOP</a:t>
            </a:r>
          </a:p>
          <a:p>
            <a:pPr>
              <a:spcAft>
                <a:spcPts val="0"/>
              </a:spcAft>
            </a:pPr>
            <a:r>
              <a:rPr sz="1250" b="0">
                <a:solidFill>
                  <a:srgbClr val="E6E6E6"/>
                </a:solidFill>
                <a:latin typeface="Consolas"/>
                <a:ea typeface="Consolas"/>
              </a:rPr>
              <a:t>         SELECT AVG(salary), MAX(salary) INTO v_avg, v_max</a:t>
            </a:r>
          </a:p>
          <a:p>
            <a:pPr>
              <a:spcAft>
                <a:spcPts val="0"/>
              </a:spcAft>
            </a:pPr>
            <a:r>
              <a:rPr sz="1250" b="0">
                <a:solidFill>
                  <a:srgbClr val="E6E6E6"/>
                </a:solidFill>
                <a:latin typeface="Consolas"/>
                <a:ea typeface="Consolas"/>
              </a:rPr>
              <a:t>           FROM employees WHERE department_id = g_depts(i);</a:t>
            </a:r>
          </a:p>
          <a:p>
            <a:pPr>
              <a:spcAft>
                <a:spcPts val="0"/>
              </a:spcAft>
            </a:pPr>
            <a:r>
              <a:rPr sz="1250" b="0">
                <a:solidFill>
                  <a:srgbClr val="E6E6E6"/>
                </a:solidFill>
                <a:latin typeface="Consolas"/>
                <a:ea typeface="Consolas"/>
              </a:rPr>
              <a:t>         IF v_max &gt; v_avg*2 THEN RAISE_APPLICATION_ERROR(-20701,'초과'); END IF;</a:t>
            </a:r>
          </a:p>
          <a:p>
            <a:pPr>
              <a:spcAft>
                <a:spcPts val="0"/>
              </a:spcAft>
            </a:pPr>
            <a:r>
              <a:rPr sz="1250" b="0">
                <a:solidFill>
                  <a:srgbClr val="E6E6E6"/>
                </a:solidFill>
                <a:latin typeface="Consolas"/>
                <a:ea typeface="Consolas"/>
              </a:rPr>
              <a:t>      END LOOP;</a:t>
            </a:r>
          </a:p>
          <a:p>
            <a:pPr>
              <a:spcAft>
                <a:spcPts val="0"/>
              </a:spcAft>
            </a:pPr>
            <a:r>
              <a:rPr sz="1250" b="0">
                <a:solidFill>
                  <a:srgbClr val="E6E6E6"/>
                </a:solidFill>
                <a:latin typeface="Consolas"/>
                <a:ea typeface="Consolas"/>
              </a:rPr>
              <a:t>   END AFTER STATEMENT;</a:t>
            </a:r>
          </a:p>
          <a:p>
            <a:pPr>
              <a:spcAft>
                <a:spcPts val="0"/>
              </a:spcAft>
            </a:pPr>
            <a:r>
              <a:rPr sz="1250" b="0">
                <a:solidFill>
                  <a:srgbClr val="E6E6E6"/>
                </a:solidFill>
                <a:latin typeface="Consolas"/>
                <a:ea typeface="Consolas"/>
              </a:rPr>
              <a:t>END trg_emp_comp;</a:t>
            </a:r>
          </a:p>
          <a:p>
            <a:pPr>
              <a:spcAft>
                <a:spcPts val="0"/>
              </a:spcAft>
            </a:pPr>
            <a:r>
              <a:rPr sz="1250" b="0">
                <a:solidFill>
                  <a:srgbClr val="E6E6E6"/>
                </a:solidFill>
                <a:latin typeface="Consolas"/>
                <a:ea typeface="Consolas"/>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트리거 상태 관리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ENABLED / DISABLED 두 가지 상태를 가진다</a:t>
            </a:r>
          </a:p>
          <a:p>
            <a:pPr>
              <a:spcAft>
                <a:spcPts val="300"/>
              </a:spcAft>
            </a:pPr>
            <a:r>
              <a:rPr sz="1600" b="0">
                <a:solidFill>
                  <a:srgbClr val="5A6672"/>
                </a:solidFill>
                <a:latin typeface="Malgun Gothic"/>
                <a:ea typeface="Malgun Gothic"/>
              </a:rPr>
              <a:t>    –  DISABLED 트리거는 존재하지만 발화하지 않는다</a:t>
            </a:r>
          </a:p>
          <a:p>
            <a:pPr>
              <a:spcAft>
                <a:spcPts val="500"/>
              </a:spcAft>
            </a:pPr>
            <a:r>
              <a:rPr sz="1800" b="0">
                <a:solidFill>
                  <a:srgbClr val="202830"/>
                </a:solidFill>
                <a:latin typeface="Malgun Gothic"/>
                <a:ea typeface="Malgun Gothic"/>
              </a:rPr>
              <a:t>•  ALTER TRIGGER 이름 DISABLE / ENABLE</a:t>
            </a:r>
          </a:p>
          <a:p>
            <a:pPr>
              <a:spcAft>
                <a:spcPts val="500"/>
              </a:spcAft>
            </a:pPr>
            <a:r>
              <a:rPr sz="1800" b="0">
                <a:solidFill>
                  <a:srgbClr val="202830"/>
                </a:solidFill>
                <a:latin typeface="Malgun Gothic"/>
                <a:ea typeface="Malgun Gothic"/>
              </a:rPr>
              <a:t>•  ALTER TABLE 이름 DISABLE ALL TRIGGERS — 테이블 단위 일괄 처리</a:t>
            </a:r>
          </a:p>
          <a:p>
            <a:pPr>
              <a:spcAft>
                <a:spcPts val="500"/>
              </a:spcAft>
            </a:pPr>
            <a:r>
              <a:rPr sz="1800" b="0">
                <a:solidFill>
                  <a:srgbClr val="202830"/>
                </a:solidFill>
                <a:latin typeface="Malgun Gothic"/>
                <a:ea typeface="Malgun Gothic"/>
              </a:rPr>
              <a:t>•  CREATE TRIGGER ... DISABLE — 처음부터 꺼진 상태로 생성</a:t>
            </a:r>
          </a:p>
          <a:p>
            <a:pPr>
              <a:spcAft>
                <a:spcPts val="500"/>
              </a:spcAft>
            </a:pPr>
            <a:r>
              <a:rPr sz="1800" b="0">
                <a:solidFill>
                  <a:srgbClr val="202830"/>
                </a:solidFill>
                <a:latin typeface="Malgun Gothic"/>
                <a:ea typeface="Malgun Gothic"/>
              </a:rPr>
              <a:t>•  USER_TRIGGERS 로 유형·이벤트·대상·상태를 조회한다</a:t>
            </a:r>
          </a:p>
          <a:p>
            <a:pPr>
              <a:spcAft>
                <a:spcPts val="300"/>
              </a:spcAft>
            </a:pPr>
            <a:r>
              <a:rPr sz="1600" b="0">
                <a:solidFill>
                  <a:srgbClr val="5A6672"/>
                </a:solidFill>
                <a:latin typeface="Malgun Gothic"/>
                <a:ea typeface="Malgun Gothic"/>
              </a:rPr>
              <a:t>    –  TRIGGER_TYPE 이 BEFORE EACH ROW 처럼 시점과 수준을 함께 보여 준다</a:t>
            </a:r>
          </a:p>
          <a:p>
            <a:pPr>
              <a:spcAft>
                <a:spcPts val="500"/>
              </a:spcAft>
            </a:pPr>
            <a:r>
              <a:rPr sz="1800" b="0">
                <a:solidFill>
                  <a:srgbClr val="202830"/>
                </a:solidFill>
                <a:latin typeface="Malgun Gothic"/>
                <a:ea typeface="Malgun Gothic"/>
              </a:rPr>
              <a:t>•  이름을 잘못 적으면 ORA-04080 trigger does not exist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USER_TRIGGERS 로 상태 점검</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SQL&gt; SELECT trigger_name, trigger_type, triggering_event, status</a:t>
            </a:r>
          </a:p>
          <a:p>
            <a:pPr>
              <a:spcAft>
                <a:spcPts val="0"/>
              </a:spcAft>
            </a:pPr>
            <a:r>
              <a:rPr sz="1250" b="0">
                <a:solidFill>
                  <a:srgbClr val="E6E6E6"/>
                </a:solidFill>
                <a:latin typeface="Consolas"/>
                <a:ea typeface="Consolas"/>
              </a:rPr>
              <a:t>  2    FROM user_triggers WHERE table_name='EMPLOYEES' ORDER BY 1;</a:t>
            </a:r>
          </a:p>
          <a:p>
            <a:pPr>
              <a:spcAft>
                <a:spcPts val="0"/>
              </a:spcAft>
            </a:pPr>
            <a:r>
              <a:rPr sz="1250" b="0">
                <a:solidFill>
                  <a:srgbClr val="9CDCFE"/>
                </a:solidFill>
                <a:latin typeface="Consolas"/>
                <a:ea typeface="Consolas"/>
              </a:rPr>
              <a:t>결과) TRG_EMP_AR_AUDIT       AFTER EACH ROW   UPDATE   ENABLED</a:t>
            </a:r>
          </a:p>
          <a:p>
            <a:pPr>
              <a:spcAft>
                <a:spcPts val="0"/>
              </a:spcAft>
            </a:pPr>
            <a:r>
              <a:rPr sz="1250" b="0">
                <a:solidFill>
                  <a:srgbClr val="E6E6E6"/>
                </a:solidFill>
                <a:latin typeface="Consolas"/>
                <a:ea typeface="Consolas"/>
              </a:rPr>
              <a:t>     TRG_EMP_BIU_NORMALIZE  BEFORE EACH ROW  INSERT   ENABLED</a:t>
            </a:r>
          </a:p>
          <a:p>
            <a:pPr>
              <a:spcAft>
                <a:spcPts val="0"/>
              </a:spcAft>
            </a:pPr>
            <a:r>
              <a:rPr sz="1250" b="0">
                <a:solidFill>
                  <a:srgbClr val="E6E6E6"/>
                </a:solidFill>
                <a:latin typeface="Consolas"/>
                <a:ea typeface="Consolas"/>
              </a:rPr>
              <a:t>     TRG_EMP_SECURE         BEFORE STATEMENT DELETE   DISABLED</a:t>
            </a:r>
          </a:p>
          <a:p>
            <a:pPr>
              <a:spcAft>
                <a:spcPts val="0"/>
              </a:spcAft>
            </a:pPr>
            <a:endParaRPr sz="1250" b="0">
              <a:solidFill>
                <a:srgbClr val="E6E6E6"/>
              </a:solidFill>
              <a:latin typeface="Consolas"/>
              <a:ea typeface="Consolas"/>
            </a:endParaRPr>
          </a:p>
          <a:p>
            <a:pPr>
              <a:spcAft>
                <a:spcPts val="0"/>
              </a:spcAft>
            </a:pPr>
            <a:r>
              <a:rPr sz="1250" b="0">
                <a:solidFill>
                  <a:srgbClr val="E6E6E6"/>
                </a:solidFill>
                <a:latin typeface="Consolas"/>
                <a:ea typeface="Consolas"/>
              </a:rPr>
              <a:t>SQL&gt; SELECT trigger_name FROM user_triggers WHERE status='DISABLED';</a:t>
            </a:r>
          </a:p>
          <a:p>
            <a:pPr>
              <a:spcAft>
                <a:spcPts val="0"/>
              </a:spcAft>
            </a:pPr>
            <a:r>
              <a:rPr sz="1250" b="0">
                <a:solidFill>
                  <a:srgbClr val="E6E6E6"/>
                </a:solidFill>
                <a:latin typeface="Consolas"/>
                <a:ea typeface="Consolas"/>
              </a:rPr>
              <a:t>SQL&gt; SELECT object_name FROM user_objects</a:t>
            </a:r>
          </a:p>
          <a:p>
            <a:pPr>
              <a:spcAft>
                <a:spcPts val="0"/>
              </a:spcAft>
            </a:pPr>
            <a:r>
              <a:rPr sz="1250" b="0">
                <a:solidFill>
                  <a:srgbClr val="E6E6E6"/>
                </a:solidFill>
                <a:latin typeface="Consolas"/>
                <a:ea typeface="Consolas"/>
              </a:rPr>
              <a:t>  2   WHERE object_type='TRIGGER' AND status='INVALID';</a:t>
            </a:r>
          </a:p>
          <a:p>
            <a:pPr>
              <a:spcAft>
                <a:spcPts val="0"/>
              </a:spcAft>
            </a:pPr>
            <a:endParaRPr sz="1250" b="0">
              <a:solidFill>
                <a:srgbClr val="E6E6E6"/>
              </a:solidFill>
              <a:latin typeface="Consolas"/>
              <a:ea typeface="Consolas"/>
            </a:endParaRPr>
          </a:p>
          <a:p>
            <a:pPr>
              <a:spcAft>
                <a:spcPts val="0"/>
              </a:spcAft>
            </a:pPr>
            <a:r>
              <a:rPr sz="1250" b="0">
                <a:solidFill>
                  <a:srgbClr val="7EC699"/>
                </a:solidFill>
                <a:latin typeface="Consolas"/>
                <a:ea typeface="Consolas"/>
              </a:rPr>
              <a:t>-- (오류 상황) 이름을 잘못 적으면</a:t>
            </a:r>
          </a:p>
          <a:p>
            <a:pPr>
              <a:spcAft>
                <a:spcPts val="0"/>
              </a:spcAft>
            </a:pPr>
            <a:r>
              <a:rPr sz="1250" b="0">
                <a:solidFill>
                  <a:srgbClr val="E6E6E6"/>
                </a:solidFill>
                <a:latin typeface="Consolas"/>
                <a:ea typeface="Consolas"/>
              </a:rPr>
              <a:t>SQL&gt; ALTER TRIGGER trg_emp_audit DISABLE;</a:t>
            </a:r>
          </a:p>
          <a:p>
            <a:pPr>
              <a:spcAft>
                <a:spcPts val="0"/>
              </a:spcAft>
            </a:pPr>
            <a:r>
              <a:rPr sz="1250" b="0">
                <a:solidFill>
                  <a:srgbClr val="F08A8A"/>
                </a:solidFill>
                <a:latin typeface="Consolas"/>
                <a:ea typeface="Consolas"/>
              </a:rPr>
              <a:t>ORA-04080: trigger 'TRG_EMP_AUDIT' does not exist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이 장에서 만난 오류 정리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PLS-00302 — Private 요소를 외부에서 참조</a:t>
            </a:r>
          </a:p>
          <a:p>
            <a:pPr>
              <a:spcAft>
                <a:spcPts val="500"/>
              </a:spcAft>
            </a:pPr>
            <a:r>
              <a:rPr sz="1800" b="0">
                <a:solidFill>
                  <a:srgbClr val="202830"/>
                </a:solidFill>
                <a:latin typeface="Malgun Gothic"/>
                <a:ea typeface="Malgun Gothic"/>
              </a:rPr>
              <a:t>•  PLS-00323 — 명세 선언과 본문 구현의 헤더 불일치 또는 구현 누락</a:t>
            </a:r>
          </a:p>
          <a:p>
            <a:pPr>
              <a:spcAft>
                <a:spcPts val="500"/>
              </a:spcAft>
            </a:pPr>
            <a:r>
              <a:rPr sz="1800" b="0">
                <a:solidFill>
                  <a:srgbClr val="202830"/>
                </a:solidFill>
                <a:latin typeface="Malgun Gothic"/>
                <a:ea typeface="Malgun Gothic"/>
              </a:rPr>
              <a:t>•  PLS-00313 — 정의보다 앞선 호출, 전방 선언으로 해결</a:t>
            </a:r>
          </a:p>
          <a:p>
            <a:pPr>
              <a:spcAft>
                <a:spcPts val="500"/>
              </a:spcAft>
            </a:pPr>
            <a:r>
              <a:rPr sz="1800" b="0">
                <a:solidFill>
                  <a:srgbClr val="202830"/>
                </a:solidFill>
                <a:latin typeface="Malgun Gothic"/>
                <a:ea typeface="Malgun Gothic"/>
              </a:rPr>
              <a:t>•  PLS-00049 — 문장 트리거에서 :NEW/:OLD 참조 (FOR EACH ROW 누락)</a:t>
            </a:r>
          </a:p>
          <a:p>
            <a:pPr>
              <a:spcAft>
                <a:spcPts val="500"/>
              </a:spcAft>
            </a:pPr>
            <a:r>
              <a:rPr sz="1800" b="0">
                <a:solidFill>
                  <a:srgbClr val="202830"/>
                </a:solidFill>
                <a:latin typeface="Malgun Gothic"/>
                <a:ea typeface="Malgun Gothic"/>
              </a:rPr>
              <a:t>•  PLS-00363 / ORA-04084 — 허용되지 않는 시점에서 :NEW 에 대입</a:t>
            </a:r>
          </a:p>
          <a:p>
            <a:pPr>
              <a:spcAft>
                <a:spcPts val="500"/>
              </a:spcAft>
            </a:pPr>
            <a:r>
              <a:rPr sz="1800" b="0">
                <a:solidFill>
                  <a:srgbClr val="202830"/>
                </a:solidFill>
                <a:latin typeface="Malgun Gothic"/>
                <a:ea typeface="Malgun Gothic"/>
              </a:rPr>
              <a:t>•  ORA-04091 — 행 트리거에서 자기 테이블 조회 (복합 트리거로 회피)</a:t>
            </a:r>
          </a:p>
          <a:p>
            <a:pPr>
              <a:spcAft>
                <a:spcPts val="500"/>
              </a:spcAft>
            </a:pPr>
            <a:r>
              <a:rPr sz="1800" b="0">
                <a:solidFill>
                  <a:srgbClr val="202830"/>
                </a:solidFill>
                <a:latin typeface="Malgun Gothic"/>
                <a:ea typeface="Malgun Gothic"/>
              </a:rPr>
              <a:t>•  ORA-25002 / ORA-01779 — INSTEAD OF 는 뷰 전용, 복합 뷰 DML 문제</a:t>
            </a:r>
          </a:p>
          <a:p>
            <a:pPr>
              <a:spcAft>
                <a:spcPts val="500"/>
              </a:spcAft>
            </a:pPr>
            <a:r>
              <a:rPr sz="1800" b="0">
                <a:solidFill>
                  <a:srgbClr val="202830"/>
                </a:solidFill>
                <a:latin typeface="Malgun Gothic"/>
                <a:ea typeface="Malgun Gothic"/>
              </a:rPr>
              <a:t>•  ORA-04080 / ORA-04092 / ORA-04068 — 이름 오타 · 커밋 시도 · 상태 폐기</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이해도 점검 퀴즈 (1/2)</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Q1. 본문만 재컴파일했을 때 호출 객체가 INVALID 가 되지 않는 이유는?</a:t>
            </a:r>
          </a:p>
          <a:p>
            <a:pPr>
              <a:spcAft>
                <a:spcPts val="300"/>
              </a:spcAft>
            </a:pPr>
            <a:r>
              <a:rPr sz="1600" b="0">
                <a:solidFill>
                  <a:srgbClr val="5A6672"/>
                </a:solidFill>
                <a:latin typeface="Malgun Gothic"/>
                <a:ea typeface="Malgun Gothic"/>
              </a:rPr>
              <a:t>    –  명세를 수정했다면 어떻게 달라지는지도 함께 설명하시오</a:t>
            </a:r>
          </a:p>
          <a:p>
            <a:pPr>
              <a:spcAft>
                <a:spcPts val="500"/>
              </a:spcAft>
            </a:pPr>
            <a:r>
              <a:rPr sz="1800" b="0">
                <a:solidFill>
                  <a:srgbClr val="202830"/>
                </a:solidFill>
                <a:latin typeface="Malgun Gothic"/>
                <a:ea typeface="Malgun Gothic"/>
              </a:rPr>
              <a:t>•  Q2. 본문에만 정의한 함수를 외부에서 호출하면 어떤 오류가 나는가?</a:t>
            </a:r>
          </a:p>
          <a:p>
            <a:pPr>
              <a:spcAft>
                <a:spcPts val="300"/>
              </a:spcAft>
            </a:pPr>
            <a:r>
              <a:rPr sz="1600" b="0">
                <a:solidFill>
                  <a:srgbClr val="5A6672"/>
                </a:solidFill>
                <a:latin typeface="Malgun Gothic"/>
                <a:ea typeface="Malgun Gothic"/>
              </a:rPr>
              <a:t>    –  해결하는 두 가지 방법과 각각의 장단점을 쓰시오</a:t>
            </a:r>
          </a:p>
          <a:p>
            <a:pPr>
              <a:spcAft>
                <a:spcPts val="500"/>
              </a:spcAft>
            </a:pPr>
            <a:r>
              <a:rPr sz="1800" b="0">
                <a:solidFill>
                  <a:srgbClr val="202830"/>
                </a:solidFill>
                <a:latin typeface="Malgun Gothic"/>
                <a:ea typeface="Malgun Gothic"/>
              </a:rPr>
              <a:t>•  Q3. 같은 패키지 변수가 세션 A 는 5, 세션 B 는 0 으로 보이는 이유는?</a:t>
            </a:r>
          </a:p>
          <a:p>
            <a:pPr>
              <a:spcAft>
                <a:spcPts val="300"/>
              </a:spcAft>
            </a:pPr>
            <a:r>
              <a:rPr sz="1600" b="0">
                <a:solidFill>
                  <a:srgbClr val="5A6672"/>
                </a:solidFill>
                <a:latin typeface="Malgun Gothic"/>
                <a:ea typeface="Malgun Gothic"/>
              </a:rPr>
              <a:t>    –  UGA 개념으로 설명하고 세션 간 공유 대안을 두 가지 이상 제시하시오</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이해도 점검 퀴즈 (2/2)</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Q4. FOR EACH ROW 없는 트리거에서 :NEW.salary 를 참조했다</a:t>
            </a:r>
          </a:p>
          <a:p>
            <a:pPr>
              <a:spcAft>
                <a:spcPts val="300"/>
              </a:spcAft>
            </a:pPr>
            <a:r>
              <a:rPr sz="1600" b="0">
                <a:solidFill>
                  <a:srgbClr val="5A6672"/>
                </a:solidFill>
                <a:latin typeface="Malgun Gothic"/>
                <a:ea typeface="Malgun Gothic"/>
              </a:rPr>
              <a:t>    –  컴파일 시점과 실행 시점 중 언제 문제가 되며 어떤 오류가 나는가?</a:t>
            </a:r>
          </a:p>
          <a:p>
            <a:pPr>
              <a:spcAft>
                <a:spcPts val="500"/>
              </a:spcAft>
            </a:pPr>
            <a:r>
              <a:rPr sz="1800" b="0">
                <a:solidFill>
                  <a:srgbClr val="202830"/>
                </a:solidFill>
                <a:latin typeface="Malgun Gothic"/>
                <a:ea typeface="Malgun Gothic"/>
              </a:rPr>
              <a:t>•  Q5. DELETE 로 발화한 행 트리거에서 :NEW 의 값은 무엇인가?</a:t>
            </a:r>
          </a:p>
          <a:p>
            <a:pPr>
              <a:spcAft>
                <a:spcPts val="300"/>
              </a:spcAft>
            </a:pPr>
            <a:r>
              <a:rPr sz="1600" b="0">
                <a:solidFill>
                  <a:srgbClr val="5A6672"/>
                </a:solidFill>
                <a:latin typeface="Malgun Gothic"/>
                <a:ea typeface="Malgun Gothic"/>
              </a:rPr>
              <a:t>    –  INSERT 로 발화한 경우 :OLD 는 어떤 값이며 그 이유는?</a:t>
            </a:r>
          </a:p>
          <a:p>
            <a:pPr>
              <a:spcAft>
                <a:spcPts val="500"/>
              </a:spcAft>
            </a:pPr>
            <a:r>
              <a:rPr sz="1800" b="0">
                <a:solidFill>
                  <a:srgbClr val="202830"/>
                </a:solidFill>
                <a:latin typeface="Malgun Gothic"/>
                <a:ea typeface="Malgun Gothic"/>
              </a:rPr>
              <a:t>•  Q6. BEFORE 행 트리거에서 ORA-04091 이 발생했다</a:t>
            </a:r>
          </a:p>
          <a:p>
            <a:pPr>
              <a:spcAft>
                <a:spcPts val="300"/>
              </a:spcAft>
            </a:pPr>
            <a:r>
              <a:rPr sz="1600" b="0">
                <a:solidFill>
                  <a:srgbClr val="5A6672"/>
                </a:solidFill>
                <a:latin typeface="Malgun Gothic"/>
                <a:ea typeface="Malgun Gothic"/>
              </a:rPr>
              <a:t>    –  원인을 설명하고 복합 트리거 해결 구조를 타이밍 지점별로 서술하시오</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패키지는 명세와 본문이 별개의 객체로 저장되어 의존성을 격리한다</a:t>
            </a:r>
          </a:p>
          <a:p>
            <a:pPr>
              <a:spcAft>
                <a:spcPts val="500"/>
              </a:spcAft>
            </a:pPr>
            <a:r>
              <a:rPr sz="1800" b="0">
                <a:solidFill>
                  <a:srgbClr val="202830"/>
                </a:solidFill>
                <a:latin typeface="Malgun Gothic"/>
                <a:ea typeface="Malgun Gothic"/>
              </a:rPr>
              <a:t>•  명세에 선언된 것이 Public, 본문에만 있는 것이 Private 이다</a:t>
            </a:r>
          </a:p>
          <a:p>
            <a:pPr>
              <a:spcAft>
                <a:spcPts val="500"/>
              </a:spcAft>
            </a:pPr>
            <a:r>
              <a:rPr sz="1800" b="0">
                <a:solidFill>
                  <a:srgbClr val="202830"/>
                </a:solidFill>
                <a:latin typeface="Malgun Gothic"/>
                <a:ea typeface="Malgun Gothic"/>
              </a:rPr>
              <a:t>•  패키지 변수는 세션별 UGA 에 저장되어 세션 동안 값을 유지한다</a:t>
            </a:r>
          </a:p>
          <a:p>
            <a:pPr>
              <a:spcAft>
                <a:spcPts val="500"/>
              </a:spcAft>
            </a:pPr>
            <a:r>
              <a:rPr sz="1800" b="0">
                <a:solidFill>
                  <a:srgbClr val="202830"/>
                </a:solidFill>
                <a:latin typeface="Malgun Gothic"/>
                <a:ea typeface="Malgun Gothic"/>
              </a:rPr>
              <a:t>•  오버로딩은 파라미터의 개수·순서·자료형 계열이 다를 때만 가능하다</a:t>
            </a:r>
          </a:p>
          <a:p>
            <a:pPr>
              <a:spcAft>
                <a:spcPts val="500"/>
              </a:spcAft>
            </a:pPr>
            <a:r>
              <a:rPr sz="1800" b="0">
                <a:solidFill>
                  <a:srgbClr val="202830"/>
                </a:solidFill>
                <a:latin typeface="Malgun Gothic"/>
                <a:ea typeface="Malgun Gothic"/>
              </a:rPr>
              <a:t>•  문장 트리거는 문장당 1회, 행 트리거는 행마다 1회 실행된다</a:t>
            </a:r>
          </a:p>
          <a:p>
            <a:pPr>
              <a:spcAft>
                <a:spcPts val="500"/>
              </a:spcAft>
            </a:pPr>
            <a:r>
              <a:rPr sz="1800" b="0">
                <a:solidFill>
                  <a:srgbClr val="202830"/>
                </a:solidFill>
                <a:latin typeface="Malgun Gothic"/>
                <a:ea typeface="Malgun Gothic"/>
              </a:rPr>
              <a:t>•  :NEW 대입은 BEFORE 행 트리거에서만, :OLD 는 항상 읽기 전용이다</a:t>
            </a:r>
          </a:p>
          <a:p>
            <a:pPr>
              <a:spcAft>
                <a:spcPts val="500"/>
              </a:spcAft>
            </a:pPr>
            <a:r>
              <a:rPr sz="1800" b="0">
                <a:solidFill>
                  <a:srgbClr val="202830"/>
                </a:solidFill>
                <a:latin typeface="Malgun Gothic"/>
                <a:ea typeface="Malgun Gothic"/>
              </a:rPr>
              <a:t>•  실행 순서는 BEFORE 문장 → (BEFORE 행 → 변경 → AFTER 행) → AFTER 문장</a:t>
            </a:r>
          </a:p>
          <a:p>
            <a:pPr>
              <a:spcAft>
                <a:spcPts val="500"/>
              </a:spcAft>
            </a:pPr>
            <a:r>
              <a:rPr sz="1800" b="0">
                <a:solidFill>
                  <a:srgbClr val="202830"/>
                </a:solidFill>
                <a:latin typeface="Malgun Gothic"/>
                <a:ea typeface="Malgun Gothic"/>
              </a:rPr>
              <a:t>•  INSTEAD OF 는 뷰 전용, ORA-04091 은 복합 트리거로 회피한다</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ea typeface="Malgun Gothic"/>
              </a:rPr>
              <a:t>실습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ea typeface="Malgun Gothic"/>
              </a:rPr>
              <a:t>•  실습 01  Package Specification 과 Body 분리 작성</a:t>
            </a:r>
          </a:p>
          <a:p>
            <a:pPr>
              <a:spcAft>
                <a:spcPts val="500"/>
              </a:spcAft>
            </a:pPr>
            <a:r>
              <a:rPr sz="1800" b="0">
                <a:solidFill>
                  <a:srgbClr val="202830"/>
                </a:solidFill>
                <a:latin typeface="Malgun Gothic"/>
                <a:ea typeface="Malgun Gothic"/>
              </a:rPr>
              <a:t>•  실습 02  Public/Private 요소와 Package 변수(상태 유지)</a:t>
            </a:r>
          </a:p>
          <a:p>
            <a:pPr>
              <a:spcAft>
                <a:spcPts val="500"/>
              </a:spcAft>
            </a:pPr>
            <a:r>
              <a:rPr sz="1800" b="0">
                <a:solidFill>
                  <a:srgbClr val="202830"/>
                </a:solidFill>
                <a:latin typeface="Malgun Gothic"/>
                <a:ea typeface="Malgun Gothic"/>
              </a:rPr>
              <a:t>•  실습 03  Package Procedure/Function 호출</a:t>
            </a:r>
          </a:p>
          <a:p>
            <a:pPr>
              <a:spcAft>
                <a:spcPts val="500"/>
              </a:spcAft>
            </a:pPr>
            <a:r>
              <a:rPr sz="1800" b="0">
                <a:solidFill>
                  <a:srgbClr val="202830"/>
                </a:solidFill>
                <a:latin typeface="Malgun Gothic"/>
                <a:ea typeface="Malgun Gothic"/>
              </a:rPr>
              <a:t>•  실습 04  BEFORE/AFTER Row Trigger 와 :OLD/:NEW 활용</a:t>
            </a:r>
          </a:p>
          <a:p>
            <a:pPr>
              <a:spcAft>
                <a:spcPts val="500"/>
              </a:spcAft>
            </a:pPr>
            <a:r>
              <a:rPr sz="1800" b="0">
                <a:solidFill>
                  <a:srgbClr val="202830"/>
                </a:solidFill>
                <a:latin typeface="Malgun Gothic"/>
                <a:ea typeface="Malgun Gothic"/>
              </a:rPr>
              <a:t>•  실습 05  Statement Trigger</a:t>
            </a:r>
          </a:p>
          <a:p>
            <a:pPr>
              <a:spcAft>
                <a:spcPts val="500"/>
              </a:spcAft>
            </a:pPr>
            <a:r>
              <a:rPr sz="1800" b="0">
                <a:solidFill>
                  <a:srgbClr val="202830"/>
                </a:solidFill>
                <a:latin typeface="Malgun Gothic"/>
                <a:ea typeface="Malgun Gothic"/>
              </a:rPr>
              <a:t>•  실습 06  INSTEAD OF Trigger 개념 확인</a:t>
            </a:r>
          </a:p>
          <a:p>
            <a:pPr>
              <a:spcAft>
                <a:spcPts val="500"/>
              </a:spcAft>
            </a:pPr>
            <a:r>
              <a:rPr sz="1800" b="0">
                <a:solidFill>
                  <a:srgbClr val="202830"/>
                </a:solidFill>
                <a:latin typeface="Malgun Gothic"/>
                <a:ea typeface="Malgun Gothic"/>
              </a:rPr>
              <a:t>•  실습 07  Trigger 비활성화/활성화 및 실행 순서 확인</a:t>
            </a:r>
          </a:p>
          <a:p>
            <a:pPr>
              <a:spcAft>
                <a:spcPts val="300"/>
              </a:spcAft>
            </a:pPr>
            <a:r>
              <a:rPr sz="1600" b="0">
                <a:solidFill>
                  <a:srgbClr val="5A6672"/>
                </a:solidFill>
                <a:latin typeface="Malgun Gothic"/>
                <a:ea typeface="Malgun Gothic"/>
              </a:rPr>
              <a:t>    –  모든 트랜스크립트에 오류 발생 → 원인 파악 → 수정 흐름이 포함되어 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10070</Words>
  <Application>Microsoft Office PowerPoint</Application>
  <PresentationFormat>와이드스크린</PresentationFormat>
  <Paragraphs>680</Paragraphs>
  <Slides>55</Slides>
  <Notes>55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55</vt:i4>
      </vt:variant>
    </vt:vector>
  </HeadingPairs>
  <TitlesOfParts>
    <vt:vector size="60" baseType="lpstr">
      <vt:lpstr>Malgun Gothic</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3</cp:revision>
  <dcterms:created xsi:type="dcterms:W3CDTF">2013-01-27T09:14:16Z</dcterms:created>
  <dcterms:modified xsi:type="dcterms:W3CDTF">2026-08-19T09:14:28Z</dcterms:modified>
  <cp:category/>
</cp:coreProperties>
</file>
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과정의 마지막 장이다. 1장부터 6장까지 만든 PL/SQL 코드를 사람이 호출하지 않아도 정해진 시각에 스스로 돌게 만드는 것이 이 장의 목표다. 앞 장에서 배운 동적 SQL과 딕셔너리 조회, 패키지, 예외 처리가 모두 여기서 하나의 운영 자동화 프레임워크로 합쳐진다. 실습은 여덟 개이며 모두 Oracle 19c와 HR 스키마를 기준으로 한다. 강의 시작 전 HR 계정에 CREATE JOB 권한이 부여되어 있는지 먼저 확인시키고, 없으면 SYSTEM 으로 접속해 부여한 뒤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목표를 두 덩어리로 나눠 소개한다. 앞의 다섯 항목은 스케줄러라는 도구 자체를 다루는 능력이고, 뒤의 네 항목은 그 도구 위에 운영 자동화를 얹는 능력이다. 교육생 중 개발자는 앞쪽에, DBA는 뒤쪽에 관심이 더 클 수 있으나 두 영역이 맞물려야 야간 배치가 안정적으로 돈다는 점을 강조하고 시작한다. 각 목표 옆에 대응하는 절 번호를 적어 두면 복습 시 곧바로 해당 절로 돌아갈 수 있다는 점도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도구 → 제어 → 관찰 → 자동화 네 단계로 이어진다. 앞부분에서 Job 을 만드는 법을 배우고, 중간에서 만든 Job 을 실행하고 멈추고 지우는 법을 배우며, 후반에서 그 결과를 관찰해 실패를 잡아내고, 마지막에 점검 루틴을 패키지로 묶는다. 각 단계마다 대응하는 실습 트랜스크립트가 있다는 점을 미리 알려 준다. 전체 분량이 많으므로 7.10 까지를 오전에, 7.11 이후를 오후에 배치하고 그 사이에 실습 01~03 을 끼워 넣는 진행을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구획에서는 스케줄러가 무엇이고 어떻게 동작하는지, 그리고 가장 단순한 형태의 Job 을 어떻게 만드는지를 다룬다. 여기서 익힐 핵심은 두 가지다. 작업이 내 세션이 아닌 슬레이브 세션에서 돈다는 사실과, CREATE_JOB 의 기본값이 초보자의 의도와 반대라는 사실이다. 이 둘을 모르면 이후 실습 전부가 막힌다. 이 구획이 끝나면 실습 01 을 바로 수행해 개념을 손으로 확인하게 한 뒤 다음 구획으로 넘어가는 것이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자동화의 본질이 실행이 아니라 추적이라는 점이다. 정해진 시각에 돌리는 것만이라면 OS 크론으로도 충분하다. 그러나 크론은 데이터베이스 안에서 무슨 일이 있었는지 알려 주지 않는다. 스케줄러를 쓰는 진짜 이유는 실행 이력과 실패 원인이 딕셔너리에 남아 사후 진단이 가능해지기 때문이라고 정리해 준다. OS 크론과의 비교를 한 번 더 던져 보면 좋다. 크론은 서버가 죽으면 함께 죽지만 스케줄러는 데이터베이스와 생사를 같이한다.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하나씩 짚기보다 마지막 두 줄에 시간을 쓴다. DBMS_JOB.SUBMIT 은 트랜잭션의 일부라서 COMMIT 을 잊으면 등록조차 되지 않는데, 이 때문에 과거 현장에서 배치 누락 사고가 잦았다. 반대로 DBMS_SCHEDULER 호출은 DDL 처럼 즉시 확정되어 ROLLBACK 으로 되돌릴 수 없다는 점도 함께 알려 준다. 19c 신규 개발에서 DBMS_JOB 을 고를 이유는 없다. 기존 시스템을 인수인계받았다면 DBA_JOBS 뷰에 남아 있는 옛 DBMS_JOB 작업이 있는지 먼저 조사해 보라고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 대응에서 가장 먼저 확인하는 파라미터가 JOB_QUEUE_PROCESSES 다. 유지보수 중 0 으로 내려놓고 되돌리지 않아 밤새 모든 배치가 멈춘 사례가 실제로 흔하다. Job 이 SCHEDULED 상태인데 NEXT_RUN_DATE 를 지나도 돌지 않으면 코드가 아니라 이 파라미터를 의심하라고 알려 준다. 슬레이브가 별도 프로세스라는 점도 함께 짚는다. RAC 환경에서는 인스턴스마다 코디네이터가 존재하며 instance_id 속성으로 특정 인스턴스에 고정할 수도 있다는 점만 언급하고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 전체에서 가장 자주 되돌아올 내용이다. 실습 05 와 06 에서 여기 나온 세 가지 함정을 모두 재현한다. 특히 마지막 항목은 개발 환경에서 잘 돌던 코드가 스케줄러에서만 실패하는 전형적인 원인이므로, 자동화 코드는 처음부터 화면이 없고 세션 설정이 없는 환경을 전제로 작성해야 한다고 못 박아 둔다. 디버깅이 필요할 때는 RUN_JOB 을 동기 방식으로 호출하면 DBMS_OUTPUT 이 보인다는 우회로가 있다는 것도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권한은 최소 권한 원칙으로 접근한다. 실습에서 HR 계정에 주는 것은 CREATE JOB 하나뿐이며, 딕셔너리 뷰는 필요한 것만 직접 GRANT 한다. CREATE ANY JOB 이 왜 위험한지도 설명한다. 이 권한이 있으면 다른 스키마 소유로 Job 을 만들어 그 계정의 권한으로 코드를 실행할 수 있으므로 사실상 권한 상승 통로가 된다. 권한 부여는 SYSTEM 계정에서 수행하므로 실습 환경의 접속 정보를 이 시점에 한 번 정리해 칠판에 적어 두면 이후 혼선이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6장에서 다룬 롤 권한 문제를 여기서 다시 확인한다. 자동화 계정에 SELECT_CATALOG_ROLE 을 부여해 두고 "권한을 줬는데 왜 안 되냐"고 묻는 상황이 현장에서 매우 흔하다. 정의자 권한 프로그램의 정적 SQL 은 롤을 무시하므로 컴파일 시점에 ORA-00942 가 난다. 실습 07 에서 이 오류를 직접 재현하고 직접 GRANT 로 해결한다. USER_SYS_PRIVS 와 USER_ROLE_PRIVS 를 각각 조회해 직접 권한과 롤 권한을 눈으로 구분해 보게 하면 이해가 확실해진다.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시그니처에서 붉게 표시할 곳은 마지막 두 기본값이다. 나머지 파라미터는 이름만 봐도 역할이 짐작되지만 enabled 와 auto_drop 은 직관과 반대로 동작한다. 이 화면을 캡처해 두고 다음 슬라이드에서 두 값이 어떤 증상을 만드는지 설명하면 교육생이 확실히 기억한다. CREATE_JOB 에는 program_name · schedule_name 을 받는 다른 오버로드도 있음을 예고한다. CREATE_JOB 의 오버로드는 여러 개지만 실무에서 쓰는 것은 인라인형과 Program/Schedule 참조형 둘뿐이라고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 의 첫 번째 함정이 바로 이것이다. 교육생 대부분이 Job 을 만들고 한참 기다린 뒤에야 실행되지 않는다는 사실을 깨닫는다. 두 기본값을 항상 명시적으로 지정하는 습관을 들이면 이 문제는 영구히 사라진다. auto_drop 이 TRUE 인 일회성 작업도 이력은 JOB_RUN_DETAILS 에 남으므로 실행 여부 자체는 확인할 수 있다는 점도 덧붙인다. 일회성 검증 작업이라면 auto_drop 기본값 TRUE 가 오히려 편리하다. 상황에 따라 다르므로 항상 의도를 갖고 지정하라는 것이 결론이다.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인라인 방식의 전형적인 형태다. job_action 이 완전한 익명 블록이라는 점, 즉 BEGIN 으로 시작해 END 와 세미콜론으로 끝난다는 점을 반드시 짚는다. 생성 직후에는 반드시 USER_SCHEDULER_JOBS 에서 ENABLED 가 TRUE 인지, STATE 가 SCHEDULED 인지, NEXT_RUN_DATE 가 기대한 시각인지 세 컬럼을 확인하는 습관을 함께 가르친다. job_action 문자열 안에 작은따옴표가 들어가야 한다면 두 개로 이스케이프하거나 q'[ ]' 표기를 쓰라는 팁도 함께 준다.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job_type 은 문자열이므로 컴파일러가 오타를 잡아 주지 않는다. 값이 조금이라도 다르면 CREATE_JOB 호출 자체가 ORA-27465 로 거절된다. 반대로 job_type 은 맞는데 job_action 형식이 틀리면 생성은 성공하고 실행 시점에야 실패하므로 훨씬 발견이 늦다. 이 두 실패의 시점 차이를 명확히 구분해 설명하는 것이 이 슬라이드의 목적이다. 실무에서는 STORED_PROCEDURE 형을 가장 많이 쓴다. 로직이 데이터베이스 객체로 남아 버전 관리와 재컴파일이 쉽기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사례의 발견 시점이 다르다는 점이 핵심이다. 첫 번째는 즉시 실패하므로 오히려 안전하지만, 두 번째와 세 번째는 생성에 성공해 정상처럼 보이다가 실제 실행 시각에야 실패한다. 새벽 두 시에 처음 실패하는 배치가 바로 이런 유형이다. 그래서 Job 을 만든 뒤에는 반드시 RUN_JOB 으로 한 번 수동 실행해 검증하라고 강조한다. 실습 01 에서 직접 재현한다. job_action 을 바꾸려면 SET_ATTRIBUTE 로 job_action 속성을 갱신하면 되고 Job 을 지웠다 다시 만들 필요는 없다.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구획은 실무에서 실제로 쓰는 구조를 다룬다. 인라인 방식은 배우기 쉽지만 재사용이 되지 않으므로 현장에서는 Program 과 Schedule 을 분리한다. 그리고 만든 Job 을 실행하고 멈추고 지우는 제어 명령과, 실패했을 때 어떻게 행동할지를 정하는 속성들을 익힌다. 실습 02 와 03 이 이 구획에 대응한다. 이 구획을 마치면 실습 02 와 03 을 연달아 수행한다. 두 실습은 앞뒤로 이어지므로 중간에 세션을 끊지 않도록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은 실행할 내용을 이름 붙은 독립 객체로 떼어 낸 것이다. 여러 Job 이 같은 Program 을 공유하므로 로직이 바뀌어도 한 곳만 고치면 된다. 순서가 중요하다는 점을 강조한다. 인자를 가진 Program 은 인자를 정의하기 전에는 ENABLE 할 수 없으므로 생성 · 인자 정의 · 활성화 세 단계를 반드시 이 순서로 실행해야 한다. Program 이름도 스키마 이름 공간을 쓰므로 같은 이름의 테이블이 있으면 ORA-27477 이 난다는 점을 다시 상기시킨다.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오류를 구분하는 법이 이 슬라이드의 핵심이다. ORA-27476 은 이름 자체를 찾지 못한 것이므로 오타나 스키마 문제이고, ORA-27367 은 이름은 찾았지만 비활성 상태라는 뜻이다. 메시지만 잘 읽어도 진단 경로가 갈린다. 실습 02 에서 두 오류를 순서대로 재현하고 각각 다른 방법으로 고치는 과정을 보여 준다. DISABLE 은 객체를 지우지 않고 잠시 멈추는 수단이므로, 점검 기간 동안 특정 배치만 쉬게 할 때 유용하다는 활용법도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 을 별도 객체로 만드는 이유는 조직의 표준 배치 시각을 한 곳에서 관리하기 위해서다. 캘린더 표현식은 FREQ 가 후보 시각을 생성하고 BY 절이 그것을 걸러 내는 구조라고 설명하면 이해가 빠르다. 예를 들어 FREQ=DAILY 는 하루에 한 번 후보를 만들고, BYHOUR=2 는 그중 두 시만 남긴다는 식이다. start_date 를 과거로 주면 첫 실행 시각은 그 시점부터 계산되어 다음 후보로 넘어간다. 과거 회차를 몰아 실행하지는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유용한 것은 네 번째 BYMONTHDAY=-1 이다. 월말 마감 배치를 만들 때 달마다 마지막 날이 28일에서 31일까지 달라지는 문제를 오라클이 알아서 처리해 준다. 음수 인덱스가 뒤에서 센다는 규칙은 BYDAY 에도 적용되어 BYDAY=-1FRI 로 매월 마지막 금요일도 표현할 수 있다는 점을 덧붙인다. BYDAY 에 -1FRI 처럼 음수 인덱스를 붙이면 매월 마지막 금요일도 표현할 수 있다는 확장 문법도 소개한다.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캘린더 표현식은 머리로 검산하지 말고 반드시 이 프로시저로 확인시킨다. 실무에서 BYDAY 와 BYMONTHDAY 를 함께 쓰거나 INTERVAL 을 잘못 조합해 의도와 다른 시각이 나오는 경우가 잦은데, 세 회차만 뽑아 봐도 즉시 드러난다. 반환 인자가 OUT 파라미터이므로 함수가 아니라 프로시저라는 점, 기준 시각을 갱신하며 반복 호출한다는 점을 설명한다. 국내 환경에서는 시간대 문제가 자주 발생한다. SET_SCHEDULER_ATTRIBUTE 로 default_timezone 을 Asia/Seoul 로 지정해 두라고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CREATE_JOB 의 다른 오버로드가 등장한다. job_type · job_action 대신 program_name · schedule_name 을 받는 형태다. 같은 Program 을 서로 다른 Schedule 로 두 번 등록하면 평일에는 매시, 주말에는 하루 한 번 같은 정책도 만들 수 있다. 인자 값은 Program 의 기본값을 Job 단위로 덮어쓸 수 있다는 점이 재사용성의 핵심이다. 인자 값을 설정하지 않은 상태로 ENABLE 하면 실행 시점에 실패하므로 SET_JOB_ARGUMENT_VALUE 를 먼저 호출하는 순서를 지킨다.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 판단의 기준을 주는 슬라이드다. 작업이 하나뿐이라면 인라인이 간단하지만, 같은 시각을 공유하는 작업이 둘 이상 생기는 순간 Schedule 객체로 뽑는 편이 이득이다. 반대로 실행 로직이 같고 시각만 다른 경우에는 Program 을 뽑는다. 어느 쪽을 분리할지는 무엇이 함께 변하는지를 보고 결정하라고 정리해 준다. Job Class 를 함께 설명해도 좋다. 자원 소비 그룹과 로그 보존 기간을 묶어 관리하는 또 다른 공통화 수단이기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배치는 언젠가 반드시 실패한다는 전제에서 출발한다. max_failures 를 두지 않으면 코드 오류로 실패하는 작업이 무한히 재시도되며 로그를 채우고 자원을 잠식한다. schedule_limit 은 실행이 길어져 다음 회차와 겹치는 상황을 막아 준다. 이 두 속성은 운영 배치에서 사실상 필수 설정이라고 강조한다. 속성 이름은 문자열이므로 오타가 나도 컴파일러가 잡아 주지 않는다. 반드시 설정 직후 USER_SCHEDULER_JOBS 에서 값을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SET_ATTRIBUTE 는 속성 이름을 문자열로 받으므로 오타가 나면 ORA-27469 계열 오류가 발생한다. 값의 타입도 속성마다 달라 schedule_limit 은 INTERVAL, max_failures 는 숫자, restartable 은 불리언이다. 마지막 주석이 중요하다. BROKEN 상태는 자동으로 풀리지 않으므로 운영 절차서에 발견 · 조치 · ENABLE 세 단계를 명시해 두어야 한다. 여러 속성을 한 번에 바꾸려면 SET_JOB_ATTRIBUTES 를 쓸 수도 있지만 가독성 때문에 실무에서는 개별 호출을 더 선호한다.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방식을 언제 쓰는지가 핵심이다. 개발 단계에서는 동기 실행으로 오류를 바로 확인하고, 배포 전 최종 검증은 비동기 실행으로 실제 슬레이브 환경에서 돌려 본다. 동기 실행에서는 잘 되는데 비동기에서 실패한다면 원인은 거의 항상 세션 환경 차이 즉 권한 · NLS · 미확정 데이터 셋 중 하나다. 실습 03 과 04 에서 확인한다. 동기 실행 중에는 세션이 묶이므로 오래 걸리는 배치를 동기로 돌리면 SQL*Plus 가 멈춘 것처럼 보인다는 점도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오류를 한 화면에서 비교한다. ORA-27366 은 멈출 것이 없다는 뜻이고, ORA-27478 은 지우려는 것이 아직 돌고 있다는 뜻이며, ORA-27475 는 그 이름이 아예 없다는 뜻이다. 마지막 메시지가 must be a job 이라 낯설게 느껴지지만 스케줄러는 이름을 찾지 못하면 이렇게 답한다. 자동화 스크립트에서는 PRAGMA EXCEPTION_INIT 으로 미리 처리해 둔다. 삭제 전에 반드시 실행 이력을 확인하라고 강조한다. auto_drop 이 TRUE 였다면 이미 사라졌을 수도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구획은 관찰이다. 지금까지 만든 Job 이 실제로 어떻게 돌고 있는지를 딕셔너리 뷰로 확인하는 방법을 배운다. 운영 자동화에서 가장 많은 시간을 쓰는 영역이 바로 여기다. 실습 04 와 05 가 이 구획에 대응하며, 특히 실패한 작업의 원인을 ADDITIONAL_INFO 에서 추적하는 과정을 직접 수행한다. 이 구획을 마치면 실습 04 와 05 를 수행한다. 두 실습 모두 앞에서 만든 Job 이 남아 있어야 하므로 삭제하지 않도록 주의시킨다.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줄 질의를 운영 점검의 첫 명령으로 삼으라고 권한다. 네 컬럼만 보면 대부분의 이상 징후가 드러난다. ENABLED 가 FALSE 인데 아무도 끈 기억이 없다면 max_failures 도달을 의심하고, NEXT_RUN_DATE 가 NULL 이면 반복 주기 계산 실패나 end_date 경과를 의심한다. RUNNING 이 오래 유지되면 다음 슬라이드의 RUNNING_JOBS 를 본다. 운영 점검 스크립트로 만들어 두고 매일 아침 한 번씩 돌리는 습관을 권한다. 이상 징후 대부분이 이 한 화면에서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조심해야 할 상태는 BROKEN 과 COMPLETED 다. 둘 다 Job 이 더 이상 돌지 않는데 오류를 내지도 않으므로 아무도 모르게 배치가 멈춘다. 특히 COMPLETED 는 end_date 를 지났을 뿐인데 정상 종료처럼 보여 발견이 더 늦다. 그래서 STATE 가 SCHEDULED 가 아닌 Job 을 매일 자동으로 찾아내는 점검 루틴이 필요하다. STATE 가 SCHEDULED 가 아닌 Job 을 찾아내는 것이 곧 CHECK_JOB_STATUS 루틴이며 이 장 후반에서 직접 만든다.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자주 나오는 착각을 교정하는 슬라이드다. 대시보드를 USER_SCHEDULER_JOBS 만으로 만들면 간헐적 실패가 전혀 보이지 않는다. 성공률처럼 기간 개념이 들어간 지표는 반드시 이력 뷰에서 집계해야 한다. 이 구분을 이해하면 다음 절의 JOB_RUN_DETAILS 가 왜 중요한지가 자연스럽게 연결된다. RETRY_COUNT 컬럼도 함께 소개한다. 현재 재시도 회차를 보여 주므로 실패가 진행 중인지 판단하는 데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뷰의 용도를 명확히 구분해 준다. JOB_LOG 는 감사 성격이고 JOB_RUN_DETAILS 는 운영 진단 성격이다. 실패 원인을 캘 때는 거의 항상 후자를 본다. 특히 ADDITIONAL_INFO 에는 ORA- 스택이 통째로 들어가므로 어느 프로시저의 몇 번째 줄에서 터졌는지까지 알 수 있다는 점을 미리 알려 준다. logging_level 을 LOGGING_FULL 로 두면 JOB_LOG 에 상태 변경까지 남으므로 감사 요건이 있는 시스템에서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출력에서 읽어야 할 정보는 두 가지다. 첫째 ERROR# 가 942 이므로 ORA-00942 즉 객체가 없거나 권한이 없는 상황이다. 둘째 실패 회차의 RUN_DURATION 이 2초로 정상 회차보다 훨씬 짧다. 이는 작업이 시작 직후 예외로 끝났다는 뜻이다. 소요 시간의 패턴만으로도 실패 지점을 짐작할 수 있다는 점을 짚어 준다. RUN_DURATION 은 INTERVAL 타입이라 정렬과 비교가 번거롭다. EXTRACT 로 초 단위 숫자로 바꿔 두면 리포트 작성이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 에서 반드시 겪게 되는 상황이다. 교육생이 비동기로 실행한 뒤 곧바로 이력을 조회하고 아무것도 없자 실패했다고 판단해 Job 을 지우고 다시 만드는 일이 흔하다. 조회 결과가 비었을 때 RUNNING_JOBS 를 먼저 확인하는 순서를 몸에 익히게 한다. 동기 실행이었다면 이런 지연이 없다는 대비도 함께 설명한다. SESSION_ID 컬럼으로 V$SESSION 을 조인하면 그 슬레이브가 지금 무슨 SQL 을 기다리는지까지 추적할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30일이라는 사실을 모르면 두 달 전 장애를 조사하려다 로그가 없어 당황한다. 반대로 보존 기간을 무작정 늘리면 SYS 스키마의 로그 테이블이 커진다. 그래서 실무에서는 스케줄러 로그는 기본값대로 두고, 업무적으로 오래 보관해야 하는 지표만 자체 로그 테이블에 적재하는 방식을 쓴다. 다음 구획의 plsql_job_log 로 자연스럽게 이어진다. Job Class 별로 log_history 를 따로 지정할 수도 있으므로 중요 배치만 길게 보관하는 구성도 가능하다는 점을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진단은 항상 이 순서를 지킨다. ERROR# 만 보고 판단하면 틀리기 쉽다. 같은 ORA-00942 라도 테이블 이름 오타인지, 다른 스키마 객체를 수식 없이 참조한 것인지, 권한이 롤로만 있는 것인지는 스택을 읽어야 구분된다. ADDITIONAL_INFO 의 ORA-06512 줄이 정확히 어느 프로그램의 몇 번째 줄인지 알려 준다는 점을 강조한다. 이 질의를 하루 한 번 도는 Job 으로 등록해 두면 그것이 곧 CHECK_JOB_STATUS 이며 자동화의 첫걸음이 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재시도 정책은 실패 유형에 따라 달라야 한다는 것이 요점이다. 자원 경합 때문에 실패한 작업은 5분 뒤 다시 시도하면 성공하지만, 코드 오류는 영원히 실패한다. max_failures 를 3 정도로 두면 자원 문제는 흡수하고 코드 문제는 조기에 BROKEN 으로 드러내 사람이 개입하게 만들 수 있다. 이 균형점을 설명한다. 재시도 간격은 스케줄러가 지수적으로 늘려 가며 자동 결정하므로 사용자가 직접 지정하지 않는다는 점도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시나리오의 진짜 문제는 공간 부족이 아니라 사흘 동안 아무도 몰랐다는 점이다. 자동화의 마지막 조각은 알림이다. 사람이 매일 대시보드를 들여다볼 것이라는 가정은 현실에서 지켜지지 않으므로, 실패했을 때 사람을 찾아오는 경로를 반드시 만들어 두어야 한다는 결론으로 이어진다. 장애 회고에서 항상 묻는 질문을 던져 본다. 이 사고를 한 시간 안에 알아차리려면 무엇이 있어야 했는가. 답은 실패 알림과 처리 건수 감시 두 가지이며 둘 다 이 장 후반에서 만든다.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스케줄러가 메일 발송 기능을 내장하고 있다는 사실 자체를 모르는 경우가 많다. 별도 배치나 외부 모니터링 도구 없이도 실패 알림을 붙일 수 있다. subject 와 body 에 쓰는 퍼센트 기호 변수는 스케줄러가 실행 시점에 치환해 준다. JOB_OVER_MAX_DUR 은 작업이 예상보다 오래 걸릴 때 알려 주므로 성능 열화 감지에도 쓸 수 있다. 메일 서버가 없는 실습 환경에서는 등록만 해 보고 USER_SCHEDULER_NOTIFICATIONS 뷰로 확인하는 선에서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구획은 이 장의 결론이자 최종 프로젝트의 출발점이다. 스케줄러라는 도구 위에 실제 운영 자동화를 얹는 방법을 다룬다. 점검 프로시저를 표준 구조로 만들고, 결과를 로그 테이블에 남기고, 패키지로 통합하고, 그 로그를 읽어 모니터링 리포트를 만드는 흐름이 실습 06 · 07 · 08 로 이어진다. 이 구획을 마치면 실습 06 · 07 · 08 을 순서대로 수행한다. 세 실습이 하나의 자동화 프레임워크로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테이블의 역할 분담이 핵심이다. plsql_job_log 는 작업 하나당 한 행이므로 모니터링 화면이 빠르게 읽을 수 있고, dba_check_result 는 발견된 문제 하나당 한 행이므로 원인 분석에 쓴다. INVALID 객체 세 개를 찾았다면 job_log 에는 processed_cnt 3 인 한 행이, check_result 에는 세 행이 남는다. IDENTITY 컬럼은 12c 이상에서만 쓸 수 있다. 11g 환경이라면 시퀀스와 트리거로 대체해야 한다는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자율 트랜잭션을 쓰는 이유는 두 가지다. 첫째 본 작업이 ROLLBACK 되어도 로그는 남아야 하고, 둘째 로그를 본 트랜잭션에 섞으면 모니터링 세션이 커밋 전까지 아무것도 볼 수 없다. COMMIT 을 빠뜨리면 ORA-06519 가 발생하고 자율 트랜잭션이 통째로 롤백된다는 점, SQLERRM 은 4000자로 잘라 넣어야 한다는 점도 함께 짚는다. 자율 트랜잭션 안에서 본 트랜잭션이 잠근 행을 갱신하려 하면 교착 상태가 되므로 로그 기록 전용으로만 쓰라고 못 박는다.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 루틴을 개별적으로 외우게 하지 말고 공통 구조를 강조한다. 대상을 조회하고, 이상 여부를 판정하고, dba_check_result 에 적고, 처리 건수를 OUT 으로 돌려준다. 이 틀을 지키면 새 점검 항목을 추가할 때 SQL 만 바꾸면 되고 모니터링 화면은 손대지 않아도 된다. 확장성이 곧 표준화에서 나온다는 점을 설명한다. PRD 가 정의한 여섯 개 루틴은 최종 프로젝트의 요구사항이기도 하므로 이름과 역할을 그대로 기억해 두라고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설계 판단을 설명한다. 첫째 owner 조건을 빠뜨리면 SYS 소유 객체까지 수천 건이 잡히므로 점검 범위는 반드시 명시적으로 좁힌다. 실습 07 에서 이 조건을 일부러 빼서 결과가 폭주하는 것을 직접 보여 준다. 둘째 DBA_OBJECTS 대신 ALL_OBJECTS 를 쓴 이유는 추가 권한 없이 동작하기 때문이며, 관리자 권한이 있으면 그때 바꾼다. OUT 파라미터로 건수를 돌려주는 이유는 상위 루틴이 그 값을 로그의 processed_cnt 에 그대로 적기 위해서다.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6장에서 배운 내용이 여기서 실제 문제로 나타난다. 런타임 오류가 아니라 컴파일 오류라는 점이 중요하다. 프로시저는 만들어지지만 INVALID 상태가 되고, 이 상태로 스케줄러가 호출하면 실행 시점에 실패한다. 즉 CHECK_INVALID_OBJECT 가 잡아내야 할 대상이 바로 자기 자신이 되는 상황이 벌어진다는 점을 재미있게 짚어 준다. 동적 SQL 로 바꾸면 컴파일은 통과하지만 실행 시점에 같은 오류가 난다. 근본 해결은 결국 권한 부여라는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패키지로 묶는 이유를 세 가지로 정리한다. 이름 충돌을 막고, 공통 상수와 private 루틴을 공유하고, 무엇보다 스케줄러에 노출할 진입점을 하나로 좁힌다. Job 의 job_action 은 pkg_dba_automation.run_all_check 한 줄이면 끝난다. 최종 프로젝트에서 이 패키지가 확장되므로 지금은 골격과 최소 로직만 갖춘 실행 가능한 버전을 만든다고 예고한다. 패키지 스펙에 선언하고 바디에 정의하지 않으면 PLS-00323 이 발생한다. 실습 08 에서 이 오류를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코드가 이 장의 결론이다. 개별 예외 블록이 없으면 두 번째 점검이 실패하는 순간 세 번째 이후가 아예 실행되지 않는다. 반대로 모든 예외를 조용히 삼키면 스케줄러 이력에 SUCCEEDED 로 남아 모니터링이 정상이라고 착각한다. 감싸서 멈추지 않게 하되 마지막에 재전파해 숨기지도 않는 것이 정답이다. 실습 08 에서 두 문제를 모두 재현한다. -20001 부터 -20999 까지가 사용자 정의 오류 번호 범위라는 3장 내용도 여기서 한 번 더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모니터링을 막연한 개념이 아니라 다섯 개의 구체적인 질의로 환원한다. 각 질문은 서로 다른 종류의 장애를 잡아낸다. 성공률은 명시적 실패를, 실행 시간은 성능 열화를, 처리 건수는 조용한 실패를, 오류 순위는 구조적 문제를, 최신 결과는 현재 상태를 보여 준다. 다섯 축이 모두 필요한 이유를 이렇게 설명한다. 다섯 질의를 뷰로 만들어 두면 리포팅 도구에서 그대로 읽어 갈 수 있다는 실무 팁도 함께 제시한다.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질의가 이 장에서 가장 실무적인 코드다. 매일 200건을 처리하던 작업이 오늘 0건을 처리하고도 SUCCESS 로 끝났다면 그것은 성공이 아니라 조용한 실패다. 소스 데이터 연결이 끊겼거나 조건절이 잘못 바뀐 경우가 대부분이다. 성공 여부만 감시하는 대시보드로는 절대 잡을 수 없으므로 처리 건수 추세를 반드시 함께 본다. LAG 같은 분석 함수는 SQL 과정에서 다룬 내용이므로 여기서는 활용 사례로만 보여 주고 문법 설명은 생략한다.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관통하는 주제를 마지막으로 한 번 더 정리한다. 여섯 항목 모두 슬레이브가 별도 세션이라는 하나의 사실에서 파생된다. 실무 습관으로는 네 가지를 제시한다. 날짜 리터럴에 항상 포맷 마스크를 붙이고, 스키마 이름을 명시하거나 인자로 받고, 진행 상황을 로그 테이블에 남기고, 권한은 롤이 아니라 직접 부여받는 것이다. 실습 06 에서 COMMIT 을 빠뜨려 작업이 데이터를 보지 못하는 상황을 직접 재현하므로 여기서는 개념만 확실히 잡아 둔다.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번호를 외우는 것보다 각 오류를 만났을 때 어느 뷰를 먼저 볼지를 함께 기억하게 한다. 27465 와 27477 은 생성 시점, 27366 과 27478 은 제어 시점, 27367 과 27476 은 참조 객체 문제, 00942 는 슬레이브 세션 환경 문제다. 마지막 항목은 원인이 셋이므로 COMMIT · 스키마 수식 · 직접 권한 순서로 확인하라고 알려 준다. 오류 번호를 외우기보다 메시지 문장을 읽는 습관이 중요하다. 스케줄러 오류 메시지는 대부분 원인을 그대로 서술하고 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문항은 각각 이 장의 핵심 개념 하나씩을 겨냥한다. 1번과 2번은 Job 생성, 3번은 스케줄, 4번은 모니터링 지표 해석, 5번은 로그 설계, 6번은 예외 설계다. 정답과 해설은 실습문제 정답 파일에 있으므로 여기서는 교육생이 스스로 말로 설명해 보게 하고 막히는 지점을 확인한 뒤 해당 절로 돌아가 보완한다. 여섯 문항 외에 실습문제 50문항과 추가 서술형 20문항이 별도 파일로 제공되므로 복습 과제로 배정하면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아홉 줄이지만 실제로 기억해야 할 것은 세 문장이다. 작업은 다른 세션에서 돈다, 기본값은 의도와 반대다, 실패는 흡수하되 숨기지 않는다. 나머지는 이 세 가지에서 파생된 세부 사항이다. 이 장이 과정의 마지막이므로 최종 프로젝트에서 PKG_DBA_AUTOMATION 이 어떻게 확장되는지도 함께 예고하며 마무리한다. 과정 전체를 돌아보며 1장의 익명 블록이 7장의 자동화 패키지까지 어떻게 이어졌는지 한 문장으로 정리해 주면 마무리가 깔끔하다.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번호 순서대로 진행해야 한다. 01 에서 만든 로그 테이블과 프로시저를 이후 실습이 이어서 사용하기 때문이다. 각 파일에는 의도적으로 오류를 일으키고 원인을 규명한 뒤 고치는 흐름이 최소 한 곳씩 들어 있으므로, 정답 코드를 그대로 옮겨 적기보다 오류 메시지를 읽고 진단하는 과정 자체에 시간을 쓰라고 안내한다. 실습 환경을 정리할 때는 만든 Job 을 force 옵션으로 모두 삭제하고 로그 테이블은 남겨 두어 모니터링 질의를 계속 연습하게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PL/SQL 7일 실무·DBA 운영자동화 과정  ·  제7장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스케줄러·모니터링·운영 자동화</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DBMS_SCHEDULER · Job / Program / Schedule · 실행 이력 · 실패 진단 · PKG_DBA_AUTOMATION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DBMS_JOB 과 DBMS_SCHEDULER 의 차이를 설명하고 19c 기준으로 선택한다</a:t>
            </a:r>
          </a:p>
          <a:p>
            <a:pPr>
              <a:spcAft>
                <a:spcPts val="600"/>
              </a:spcAft>
            </a:pPr>
            <a:r>
              <a:rPr sz="1600" b="0">
                <a:solidFill>
                  <a:srgbClr val="5A6672"/>
                </a:solidFill>
                <a:latin typeface="Malgun Gothic"/>
                <a:ea typeface="Malgun Gothic"/>
              </a:rPr>
              <a:t>    –  CREATE_JOB 으로 Job 을 만들고 enabled · auto_drop 기본값을 제어한다</a:t>
            </a:r>
          </a:p>
          <a:p>
            <a:pPr>
              <a:spcAft>
                <a:spcPts val="600"/>
              </a:spcAft>
            </a:pPr>
            <a:r>
              <a:rPr sz="1600" b="0">
                <a:solidFill>
                  <a:srgbClr val="5A6672"/>
                </a:solidFill>
                <a:latin typeface="Malgun Gothic"/>
                <a:ea typeface="Malgun Gothic"/>
              </a:rPr>
              <a:t>    –  Program 과 Schedule 을 분리 생성해 재사용 가능한 구조를 만든다</a:t>
            </a:r>
          </a:p>
          <a:p>
            <a:pPr>
              <a:spcAft>
                <a:spcPts val="600"/>
              </a:spcAft>
            </a:pPr>
            <a:r>
              <a:rPr sz="1600" b="0">
                <a:solidFill>
                  <a:srgbClr val="5A6672"/>
                </a:solidFill>
                <a:latin typeface="Malgun Gothic"/>
                <a:ea typeface="Malgun Gothic"/>
              </a:rPr>
              <a:t>    –  캘린더 표현식을 작성하고 EVALUATE_CALENDAR_STRING 으로 검증한다</a:t>
            </a:r>
          </a:p>
          <a:p>
            <a:pPr>
              <a:spcAft>
                <a:spcPts val="600"/>
              </a:spcAft>
            </a:pPr>
            <a:r>
              <a:rPr sz="1600" b="0">
                <a:solidFill>
                  <a:srgbClr val="5A6672"/>
                </a:solidFill>
                <a:latin typeface="Malgun Gothic"/>
                <a:ea typeface="Malgun Gothic"/>
              </a:rPr>
              <a:t>    –  RUN_JOB · STOP_JOB · DROP_JOB 과 대표 오류를 구분해 진단한다</a:t>
            </a:r>
          </a:p>
          <a:p>
            <a:pPr>
              <a:spcAft>
                <a:spcPts val="600"/>
              </a:spcAft>
            </a:pPr>
            <a:r>
              <a:rPr sz="1600" b="0">
                <a:solidFill>
                  <a:srgbClr val="5A6672"/>
                </a:solidFill>
                <a:latin typeface="Malgun Gothic"/>
                <a:ea typeface="Malgun Gothic"/>
              </a:rPr>
              <a:t>    –  *_SCHEDULER_JOB_RUN_DETAILS 로 실행 이력과 실패 원인을 추적한다</a:t>
            </a:r>
          </a:p>
          <a:p>
            <a:pPr>
              <a:spcAft>
                <a:spcPts val="600"/>
              </a:spcAft>
            </a:pPr>
            <a:r>
              <a:rPr sz="1600" b="0">
                <a:solidFill>
                  <a:srgbClr val="5A6672"/>
                </a:solidFill>
                <a:latin typeface="Malgun Gothic"/>
                <a:ea typeface="Malgun Gothic"/>
              </a:rPr>
              <a:t>    –  plsql_job_log · dba_check_result 에 자율 트랜잭션으로 로그를 남긴다</a:t>
            </a:r>
          </a:p>
          <a:p>
            <a:pPr>
              <a:spcAft>
                <a:spcPts val="600"/>
              </a:spcAft>
            </a:pPr>
            <a:r>
              <a:rPr sz="1600" b="0">
                <a:solidFill>
                  <a:srgbClr val="5A6672"/>
                </a:solidFill>
                <a:latin typeface="Malgun Gothic"/>
                <a:ea typeface="Malgun Gothic"/>
              </a:rPr>
              <a:t>    –  PKG_DBA_AUTOMATION 으로 점검 루틴을 통합하고 부분 실패에 견디게 만든다</a:t>
            </a:r>
          </a:p>
          <a:p>
            <a:pPr>
              <a:spcAft>
                <a:spcPts val="600"/>
              </a:spcAft>
            </a:pPr>
            <a:r>
              <a:rPr sz="1600" b="0">
                <a:solidFill>
                  <a:srgbClr val="5A6672"/>
                </a:solidFill>
                <a:latin typeface="Malgun Gothic"/>
                <a:ea typeface="Malgun Gothic"/>
              </a:rPr>
              <a:t>    –  성공률 · 실행 시간 · 처리 건수 기준의 모니터링 리포트를 작성한다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7.1~7.3  스케줄러의 필요성 · 아키텍처 · 권한 모델</a:t>
            </a:r>
          </a:p>
          <a:p>
            <a:pPr>
              <a:spcAft>
                <a:spcPts val="600"/>
              </a:spcAft>
            </a:pPr>
            <a:r>
              <a:rPr sz="1800" b="0">
                <a:solidFill>
                  <a:srgbClr val="202830"/>
                </a:solidFill>
                <a:latin typeface="Malgun Gothic"/>
                <a:ea typeface="Malgun Gothic"/>
              </a:rPr>
              <a:t>•  7.4~7.5  CREATE_JOB 인라인 방식 · job_type 과 job_action</a:t>
            </a:r>
          </a:p>
          <a:p>
            <a:pPr>
              <a:spcAft>
                <a:spcPts val="600"/>
              </a:spcAft>
            </a:pPr>
            <a:r>
              <a:rPr sz="1800" b="0">
                <a:solidFill>
                  <a:srgbClr val="202830"/>
                </a:solidFill>
                <a:latin typeface="Malgun Gothic"/>
                <a:ea typeface="Malgun Gothic"/>
              </a:rPr>
              <a:t>•  7.6~7.8  Program · Schedule 분리와 조합</a:t>
            </a:r>
          </a:p>
          <a:p>
            <a:pPr>
              <a:spcAft>
                <a:spcPts val="600"/>
              </a:spcAft>
            </a:pPr>
            <a:r>
              <a:rPr sz="1800" b="0">
                <a:solidFill>
                  <a:srgbClr val="202830"/>
                </a:solidFill>
                <a:latin typeface="Malgun Gothic"/>
                <a:ea typeface="Malgun Gothic"/>
              </a:rPr>
              <a:t>•  7.9~7.10  Job Attribute · 실행 · 중지 · 삭제</a:t>
            </a:r>
          </a:p>
          <a:p>
            <a:pPr>
              <a:spcAft>
                <a:spcPts val="600"/>
              </a:spcAft>
            </a:pPr>
            <a:r>
              <a:rPr sz="1800" b="0">
                <a:solidFill>
                  <a:srgbClr val="202830"/>
                </a:solidFill>
                <a:latin typeface="Malgun Gothic"/>
                <a:ea typeface="Malgun Gothic"/>
              </a:rPr>
              <a:t>•  7.11~7.13  상태 조회 · 실행 이력 · 실패 진단</a:t>
            </a:r>
          </a:p>
          <a:p>
            <a:pPr>
              <a:spcAft>
                <a:spcPts val="600"/>
              </a:spcAft>
            </a:pPr>
            <a:r>
              <a:rPr sz="1800" b="0">
                <a:solidFill>
                  <a:srgbClr val="202830"/>
                </a:solidFill>
                <a:latin typeface="Malgun Gothic"/>
                <a:ea typeface="Malgun Gothic"/>
              </a:rPr>
              <a:t>•  7.14~7.16  운영 로그 · 점검 프로시저 · PKG_DBA_AUTOMATION</a:t>
            </a:r>
          </a:p>
          <a:p>
            <a:pPr>
              <a:spcAft>
                <a:spcPts val="600"/>
              </a:spcAft>
            </a:pPr>
            <a:r>
              <a:rPr sz="1800" b="0">
                <a:solidFill>
                  <a:srgbClr val="202830"/>
                </a:solidFill>
                <a:latin typeface="Malgun Gothic"/>
                <a:ea typeface="Malgun Gothic"/>
              </a:rPr>
              <a:t>•  7.17~7.19  모니터링 리포트 · 수동과 자동의 차이 · 오류 정리</a:t>
            </a:r>
          </a:p>
          <a:p>
            <a:pPr>
              <a:spcAft>
                <a:spcPts val="600"/>
              </a:spcAft>
            </a:pPr>
            <a:r>
              <a:rPr sz="1800" b="0">
                <a:solidFill>
                  <a:srgbClr val="202830"/>
                </a:solidFill>
                <a:latin typeface="Malgun Gothic"/>
                <a:ea typeface="Malgun Gothic"/>
              </a:rPr>
              <a:t>•  이해도 점검 퀴즈 · 요약 · 실습 개요(8개 트랜스크립트)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5400" b="1">
                <a:solidFill>
                  <a:srgbClr val="C0392B"/>
                </a:solidFill>
                <a:latin typeface="Malgun Gothic"/>
                <a:ea typeface="Malgun Gothic"/>
              </a:rPr>
              <a:t>7.1~7.5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스케줄러의 기초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DBMS_JOB 에서 DBMS_SCHEDULER 로 · 무엇이 달라졌나</a:t>
            </a:r>
          </a:p>
          <a:p>
            <a:pPr>
              <a:spcAft>
                <a:spcPts val="600"/>
              </a:spcAft>
            </a:pPr>
            <a:r>
              <a:rPr sz="1600" b="0">
                <a:solidFill>
                  <a:srgbClr val="C5CED6"/>
                </a:solidFill>
                <a:latin typeface="Malgun Gothic"/>
                <a:ea typeface="Malgun Gothic"/>
              </a:rPr>
              <a:t>•  Job Coordinator 와 Job Slave · 별도 세션의 의미</a:t>
            </a:r>
          </a:p>
          <a:p>
            <a:pPr>
              <a:spcAft>
                <a:spcPts val="600"/>
              </a:spcAft>
            </a:pPr>
            <a:r>
              <a:rPr sz="1600" b="0">
                <a:solidFill>
                  <a:srgbClr val="C5CED6"/>
                </a:solidFill>
                <a:latin typeface="Malgun Gothic"/>
                <a:ea typeface="Malgun Gothic"/>
              </a:rPr>
              <a:t>•  CREATE JOB · CREATE ANY JOB · MANAGE SCHEDULER</a:t>
            </a:r>
          </a:p>
          <a:p>
            <a:pPr>
              <a:spcAft>
                <a:spcPts val="600"/>
              </a:spcAft>
            </a:pPr>
            <a:r>
              <a:rPr sz="1600" b="0">
                <a:solidFill>
                  <a:srgbClr val="C5CED6"/>
                </a:solidFill>
                <a:latin typeface="Malgun Gothic"/>
                <a:ea typeface="Malgun Gothic"/>
              </a:rPr>
              <a:t>•  CREATE_JOB 인라인 방식과 두 개의 위험한 기본값</a:t>
            </a:r>
          </a:p>
          <a:p>
            <a:pPr>
              <a:spcAft>
                <a:spcPts val="600"/>
              </a:spcAft>
            </a:pPr>
            <a:r>
              <a:rPr sz="1600" b="0">
                <a:solidFill>
                  <a:srgbClr val="C5CED6"/>
                </a:solidFill>
                <a:latin typeface="Malgun Gothic"/>
                <a:ea typeface="Malgun Gothic"/>
              </a:rPr>
              <a:t>•  job_type 별 job_action 작성 규칙과 ORA-27465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왜 스케줄러인가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운영 점검 작업은 사람이 호출하지 않는다</a:t>
            </a:r>
          </a:p>
          <a:p>
            <a:pPr>
              <a:spcAft>
                <a:spcPts val="600"/>
              </a:spcAft>
            </a:pPr>
            <a:r>
              <a:rPr sz="1600" b="0">
                <a:solidFill>
                  <a:srgbClr val="5A6672"/>
                </a:solidFill>
                <a:latin typeface="Malgun Gothic"/>
                <a:ea typeface="Malgun Gothic"/>
              </a:rPr>
              <a:t>    –  새벽 2시 INVALID 객체 점검, 매시 계정 잠금 점검, 주간 급여 이상치 추출</a:t>
            </a:r>
          </a:p>
          <a:p>
            <a:pPr>
              <a:spcAft>
                <a:spcPts val="600"/>
              </a:spcAft>
            </a:pPr>
            <a:r>
              <a:rPr sz="1800" b="0">
                <a:solidFill>
                  <a:srgbClr val="202830"/>
                </a:solidFill>
                <a:latin typeface="Malgun Gothic"/>
                <a:ea typeface="Malgun Gothic"/>
              </a:rPr>
              <a:t>•  지금까지의 PL/SQL 은 "무엇을 할 것인가"였다</a:t>
            </a:r>
          </a:p>
          <a:p>
            <a:pPr>
              <a:spcAft>
                <a:spcPts val="600"/>
              </a:spcAft>
            </a:pPr>
            <a:r>
              <a:rPr sz="1600" b="0">
                <a:solidFill>
                  <a:srgbClr val="5A6672"/>
                </a:solidFill>
                <a:latin typeface="Malgun Gothic"/>
                <a:ea typeface="Malgun Gothic"/>
              </a:rPr>
              <a:t>    –  이 장은 "언제 · 어떤 조건으로 · 실패하면 어떻게" 를 다룬다</a:t>
            </a:r>
          </a:p>
          <a:p>
            <a:pPr>
              <a:spcAft>
                <a:spcPts val="600"/>
              </a:spcAft>
            </a:pPr>
            <a:r>
              <a:rPr sz="1800" b="0">
                <a:solidFill>
                  <a:srgbClr val="202830"/>
                </a:solidFill>
                <a:latin typeface="Malgun Gothic"/>
                <a:ea typeface="Malgun Gothic"/>
              </a:rPr>
              <a:t>•  자동화가 성립하려면 추적 가능해야 한다</a:t>
            </a:r>
          </a:p>
          <a:p>
            <a:pPr>
              <a:spcAft>
                <a:spcPts val="600"/>
              </a:spcAft>
            </a:pPr>
            <a:r>
              <a:rPr sz="1600" b="0">
                <a:solidFill>
                  <a:srgbClr val="5A6672"/>
                </a:solidFill>
                <a:latin typeface="Malgun Gothic"/>
                <a:ea typeface="Malgun Gothic"/>
              </a:rPr>
              <a:t>    –  실행됐는가 · 몇 초 걸렸는가 · 왜 실패했는가를 사후에 확인할 수 있어야 한다</a:t>
            </a:r>
          </a:p>
          <a:p>
            <a:pPr>
              <a:spcAft>
                <a:spcPts val="600"/>
              </a:spcAft>
            </a:pPr>
            <a:r>
              <a:rPr sz="1600" b="0">
                <a:solidFill>
                  <a:srgbClr val="5A6672"/>
                </a:solidFill>
                <a:latin typeface="Malgun Gothic"/>
                <a:ea typeface="Malgun Gothic"/>
              </a:rPr>
              <a:t>    –  스케줄러는 매 실행마다 로그를 남겨 이 추적을 가능하게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DBMS_JOB 과 DBMS_SCHEDULER</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식별자 — 숫자 job number  vs  이름 있는 스키마 객체</a:t>
            </a:r>
          </a:p>
          <a:p>
            <a:pPr>
              <a:spcAft>
                <a:spcPts val="600"/>
              </a:spcAft>
            </a:pPr>
            <a:r>
              <a:rPr sz="1800" b="0">
                <a:solidFill>
                  <a:srgbClr val="202830"/>
                </a:solidFill>
                <a:latin typeface="Malgun Gothic"/>
                <a:ea typeface="Malgun Gothic"/>
              </a:rPr>
              <a:t>•  실행 대상 — PL/SQL 만  vs  프로시저 · OS 실행 파일 · 스크립트 · 체인</a:t>
            </a:r>
          </a:p>
          <a:p>
            <a:pPr>
              <a:spcAft>
                <a:spcPts val="600"/>
              </a:spcAft>
            </a:pPr>
            <a:r>
              <a:rPr sz="1800" b="0">
                <a:solidFill>
                  <a:srgbClr val="202830"/>
                </a:solidFill>
                <a:latin typeface="Malgun Gothic"/>
                <a:ea typeface="Malgun Gothic"/>
              </a:rPr>
              <a:t>•  반복 주기 — 'SYSDATE+1' 날짜 식  vs  캘린더 표현식</a:t>
            </a:r>
          </a:p>
          <a:p>
            <a:pPr>
              <a:spcAft>
                <a:spcPts val="600"/>
              </a:spcAft>
            </a:pPr>
            <a:r>
              <a:rPr sz="1800" b="0">
                <a:solidFill>
                  <a:srgbClr val="202830"/>
                </a:solidFill>
                <a:latin typeface="Malgun Gothic"/>
                <a:ea typeface="Malgun Gothic"/>
              </a:rPr>
              <a:t>•  이력 — 없음  vs  *_SCHEDULER_JOB_LOG · JOB_RUN_DETAILS</a:t>
            </a:r>
          </a:p>
          <a:p>
            <a:pPr>
              <a:spcAft>
                <a:spcPts val="600"/>
              </a:spcAft>
            </a:pPr>
            <a:r>
              <a:rPr sz="1800" b="0">
                <a:solidFill>
                  <a:srgbClr val="202830"/>
                </a:solidFill>
                <a:latin typeface="Malgun Gothic"/>
                <a:ea typeface="Malgun Gothic"/>
              </a:rPr>
              <a:t>•  트랜잭션 — COMMIT 해야 반영  vs  호출 즉시 확정</a:t>
            </a:r>
          </a:p>
          <a:p>
            <a:pPr>
              <a:spcAft>
                <a:spcPts val="600"/>
              </a:spcAft>
            </a:pPr>
            <a:r>
              <a:rPr sz="1800" b="0">
                <a:solidFill>
                  <a:srgbClr val="202830"/>
                </a:solidFill>
                <a:latin typeface="Malgun Gothic"/>
                <a:ea typeface="Malgun Gothic"/>
              </a:rPr>
              <a:t>•  Oracle 19c 에서 DBMS_JOB 은 사용 중단(deprecated) 상태다</a:t>
            </a:r>
          </a:p>
          <a:p>
            <a:pPr>
              <a:spcAft>
                <a:spcPts val="600"/>
              </a:spcAft>
            </a:pPr>
            <a:r>
              <a:rPr sz="1600" b="0">
                <a:solidFill>
                  <a:srgbClr val="5A6672"/>
                </a:solidFill>
                <a:latin typeface="Malgun Gothic"/>
                <a:ea typeface="Malgun Gothic"/>
              </a:rPr>
              <a:t>    –  DBMS_JOB 으로 만든 작업도 내부적으로 스케줄러 작업으로 변환된다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스케줄러 아키텍처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Job Coordinator (CJQ0) — 백그라운드에서 작업 큐를 감시한다</a:t>
            </a:r>
          </a:p>
          <a:p>
            <a:pPr>
              <a:spcAft>
                <a:spcPts val="600"/>
              </a:spcAft>
            </a:pPr>
            <a:r>
              <a:rPr sz="1600" b="0">
                <a:solidFill>
                  <a:srgbClr val="5A6672"/>
                </a:solidFill>
                <a:latin typeface="Malgun Gothic"/>
                <a:ea typeface="Malgun Gothic"/>
              </a:rPr>
              <a:t>    –  실행할 때가 된 작업을 발견하면 슬레이브를 띄운다</a:t>
            </a:r>
          </a:p>
          <a:p>
            <a:pPr>
              <a:spcAft>
                <a:spcPts val="600"/>
              </a:spcAft>
            </a:pPr>
            <a:r>
              <a:rPr sz="1800" b="0">
                <a:solidFill>
                  <a:srgbClr val="202830"/>
                </a:solidFill>
                <a:latin typeface="Malgun Gothic"/>
                <a:ea typeface="Malgun Gothic"/>
              </a:rPr>
              <a:t>•  Job Slave (J000, J001 …) — 실제로 작업을 수행한다</a:t>
            </a:r>
          </a:p>
          <a:p>
            <a:pPr>
              <a:spcAft>
                <a:spcPts val="600"/>
              </a:spcAft>
            </a:pPr>
            <a:r>
              <a:rPr sz="1600" b="0">
                <a:solidFill>
                  <a:srgbClr val="5A6672"/>
                </a:solidFill>
                <a:latin typeface="Malgun Gothic"/>
                <a:ea typeface="Malgun Gothic"/>
              </a:rPr>
              <a:t>    –  작업 소유자 스키마로 새 세션을 연다</a:t>
            </a:r>
          </a:p>
          <a:p>
            <a:pPr>
              <a:spcAft>
                <a:spcPts val="600"/>
              </a:spcAft>
            </a:pPr>
            <a:r>
              <a:rPr sz="1600" b="0">
                <a:solidFill>
                  <a:srgbClr val="5A6672"/>
                </a:solidFill>
                <a:latin typeface="Malgun Gothic"/>
                <a:ea typeface="Malgun Gothic"/>
              </a:rPr>
              <a:t>    –  실행 결과 · 소요 시간을 로그에 기록하고 세션을 닫는다</a:t>
            </a:r>
          </a:p>
          <a:p>
            <a:pPr>
              <a:spcAft>
                <a:spcPts val="600"/>
              </a:spcAft>
            </a:pPr>
            <a:r>
              <a:rPr sz="1800" b="0">
                <a:solidFill>
                  <a:srgbClr val="202830"/>
                </a:solidFill>
                <a:latin typeface="Malgun Gothic"/>
                <a:ea typeface="Malgun Gothic"/>
              </a:rPr>
              <a:t>•  JOB_QUEUE_PROCESSES — 슬레이브 최대 개수 (19c 기본 4000)</a:t>
            </a:r>
          </a:p>
          <a:p>
            <a:pPr>
              <a:spcAft>
                <a:spcPts val="600"/>
              </a:spcAft>
            </a:pPr>
            <a:r>
              <a:rPr sz="1600" b="0">
                <a:solidFill>
                  <a:srgbClr val="5A6672"/>
                </a:solidFill>
                <a:latin typeface="Malgun Gothic"/>
                <a:ea typeface="Malgun Gothic"/>
              </a:rPr>
              <a:t>    –  0 으로 설정하면 코디네이터가 뜨지 않아 어떤 Job 도 실행되지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슬레이브 세션이 뜻하는 것</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작업은 내 세션이 아니라 별도 세션에서 실행된다</a:t>
            </a:r>
          </a:p>
          <a:p>
            <a:pPr>
              <a:spcAft>
                <a:spcPts val="600"/>
              </a:spcAft>
            </a:pPr>
            <a:r>
              <a:rPr sz="1800" b="0">
                <a:solidFill>
                  <a:srgbClr val="202830"/>
                </a:solidFill>
                <a:latin typeface="Malgun Gothic"/>
                <a:ea typeface="Malgun Gothic"/>
              </a:rPr>
              <a:t>•  따라서 DBMS_OUTPUT.PUT_LINE 은 아무 데도 표시되지 않는다</a:t>
            </a:r>
          </a:p>
          <a:p>
            <a:pPr>
              <a:spcAft>
                <a:spcPts val="600"/>
              </a:spcAft>
            </a:pPr>
            <a:r>
              <a:rPr sz="1600" b="0">
                <a:solidFill>
                  <a:srgbClr val="5A6672"/>
                </a:solidFill>
                <a:latin typeface="Malgun Gothic"/>
                <a:ea typeface="Malgun Gothic"/>
              </a:rPr>
              <a:t>    –  SET SERVEROUTPUT ON 을 켜 두어도 소용없다</a:t>
            </a:r>
          </a:p>
          <a:p>
            <a:pPr>
              <a:spcAft>
                <a:spcPts val="600"/>
              </a:spcAft>
            </a:pPr>
            <a:r>
              <a:rPr sz="1600" b="0">
                <a:solidFill>
                  <a:srgbClr val="5A6672"/>
                </a:solidFill>
                <a:latin typeface="Malgun Gothic"/>
                <a:ea typeface="Malgun Gothic"/>
              </a:rPr>
              <a:t>    –  진행 상황은 반드시 로그 테이블에 남겨야 한다</a:t>
            </a:r>
          </a:p>
          <a:p>
            <a:pPr>
              <a:spcAft>
                <a:spcPts val="600"/>
              </a:spcAft>
            </a:pPr>
            <a:r>
              <a:rPr sz="1800" b="0">
                <a:solidFill>
                  <a:srgbClr val="202830"/>
                </a:solidFill>
                <a:latin typeface="Malgun Gothic"/>
                <a:ea typeface="Malgun Gothic"/>
              </a:rPr>
              <a:t>•  COMMIT 하지 않은 데이터는 작업이 보지 못한다</a:t>
            </a:r>
          </a:p>
          <a:p>
            <a:pPr>
              <a:spcAft>
                <a:spcPts val="600"/>
              </a:spcAft>
            </a:pPr>
            <a:r>
              <a:rPr sz="1600" b="0">
                <a:solidFill>
                  <a:srgbClr val="5A6672"/>
                </a:solidFill>
                <a:latin typeface="Malgun Gothic"/>
                <a:ea typeface="Malgun Gothic"/>
              </a:rPr>
              <a:t>    –  로그 테이블을 만들고 COMMIT 하지 않은 채 실행 → ORA-00942</a:t>
            </a:r>
          </a:p>
          <a:p>
            <a:pPr>
              <a:spcAft>
                <a:spcPts val="600"/>
              </a:spcAft>
            </a:pPr>
            <a:r>
              <a:rPr sz="1800" b="0">
                <a:solidFill>
                  <a:srgbClr val="202830"/>
                </a:solidFill>
                <a:latin typeface="Malgun Gothic"/>
                <a:ea typeface="Malgun Gothic"/>
              </a:rPr>
              <a:t>•  세션 설정(NLS · ALTER SESSION)도 상속되지 않는다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스케줄러 권한 모델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CREATE JOB — 자기 스키마에 Job · Program · Schedule 생성 (기본 권한)</a:t>
            </a:r>
          </a:p>
          <a:p>
            <a:pPr>
              <a:spcAft>
                <a:spcPts val="600"/>
              </a:spcAft>
            </a:pPr>
            <a:r>
              <a:rPr sz="1800" b="0">
                <a:solidFill>
                  <a:srgbClr val="202830"/>
                </a:solidFill>
                <a:latin typeface="Malgun Gothic"/>
                <a:ea typeface="Malgun Gothic"/>
              </a:rPr>
              <a:t>•  CREATE EXTERNAL JOB — EXECUTABLE · EXTERNAL_SCRIPT 실행에 추가 필요</a:t>
            </a:r>
          </a:p>
          <a:p>
            <a:pPr>
              <a:spcAft>
                <a:spcPts val="600"/>
              </a:spcAft>
            </a:pPr>
            <a:r>
              <a:rPr sz="1800" b="0">
                <a:solidFill>
                  <a:srgbClr val="202830"/>
                </a:solidFill>
                <a:latin typeface="Malgun Gothic"/>
                <a:ea typeface="Malgun Gothic"/>
              </a:rPr>
              <a:t>•  CREATE ANY JOB — 임의 스키마에 작업 생성 · 실행</a:t>
            </a:r>
          </a:p>
          <a:p>
            <a:pPr>
              <a:spcAft>
                <a:spcPts val="600"/>
              </a:spcAft>
            </a:pPr>
            <a:r>
              <a:rPr sz="1600" b="0">
                <a:solidFill>
                  <a:srgbClr val="5A6672"/>
                </a:solidFill>
                <a:latin typeface="Malgun Gothic"/>
                <a:ea typeface="Malgun Gothic"/>
              </a:rPr>
              <a:t>    –  사실상 임의 코드를 임의 계정으로 실행하는 권한이므로 부여 금지</a:t>
            </a:r>
          </a:p>
          <a:p>
            <a:pPr>
              <a:spcAft>
                <a:spcPts val="600"/>
              </a:spcAft>
            </a:pPr>
            <a:r>
              <a:rPr sz="1800" b="0">
                <a:solidFill>
                  <a:srgbClr val="202830"/>
                </a:solidFill>
                <a:latin typeface="Malgun Gothic"/>
                <a:ea typeface="Malgun Gothic"/>
              </a:rPr>
              <a:t>•  MANAGE SCHEDULER — 윈도우 · Job Class · 로그 퍼지 · 전역 속성</a:t>
            </a:r>
          </a:p>
          <a:p>
            <a:pPr>
              <a:spcAft>
                <a:spcPts val="600"/>
              </a:spcAft>
            </a:pPr>
            <a:r>
              <a:rPr sz="1800" b="0">
                <a:solidFill>
                  <a:srgbClr val="202830"/>
                </a:solidFill>
                <a:latin typeface="Malgun Gothic"/>
                <a:ea typeface="Malgun Gothic"/>
              </a:rPr>
              <a:t>•  SCHEDULER_ADMIN 롤 — 위 권한을 모아 둔 롤. DBA 롤에 포함</a:t>
            </a:r>
          </a:p>
          <a:p>
            <a:pPr>
              <a:spcAft>
                <a:spcPts val="600"/>
              </a:spcAft>
            </a:pPr>
            <a:r>
              <a:rPr sz="1800" b="0">
                <a:solidFill>
                  <a:srgbClr val="202830"/>
                </a:solidFill>
                <a:latin typeface="Malgun Gothic"/>
                <a:ea typeface="Malgun Gothic"/>
              </a:rPr>
              <a:t>•  권한 없이 CREATE_JOB 호출 → ORA-27486 insufficient privileges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권한 부여와 롤의 함정</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SYSTEM 으로 접속해 HR 에게 최소 권한만 부여한다.</a:t>
            </a:r>
          </a:p>
          <a:p>
            <a:pPr>
              <a:spcAft>
                <a:spcPts val="0"/>
              </a:spcAft>
            </a:pPr>
            <a:r>
              <a:rPr sz="1250" b="0">
                <a:solidFill>
                  <a:srgbClr val="E6E6E6"/>
                </a:solidFill>
                <a:latin typeface="Consolas"/>
                <a:ea typeface="Consolas"/>
              </a:rPr>
              <a:t>GRANT CREATE JOB TO hr;</a:t>
            </a:r>
          </a:p>
          <a:p>
            <a:pPr>
              <a:spcAft>
                <a:spcPts val="0"/>
              </a:spcAft>
            </a:pPr>
            <a:r>
              <a:rPr sz="1250" b="0">
                <a:solidFill>
                  <a:srgbClr val="E6E6E6"/>
                </a:solidFill>
                <a:latin typeface="Consolas"/>
                <a:ea typeface="Consolas"/>
              </a:rPr>
              <a:t>GRANT SELECT ON dba_users TO hr;</a:t>
            </a:r>
          </a:p>
          <a:p>
            <a:pPr>
              <a:spcAft>
                <a:spcPts val="0"/>
              </a:spcAft>
            </a:pPr>
            <a:r>
              <a:rPr sz="1250" b="0">
                <a:solidFill>
                  <a:srgbClr val="E6E6E6"/>
                </a:solidFill>
                <a:latin typeface="Consolas"/>
                <a:ea typeface="Consolas"/>
              </a:rPr>
              <a:t>GRANT SELECT ON dba_scheduler_job_run_details TO hr;</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작업은 소유자의 권한으로 실행된다.</a:t>
            </a:r>
          </a:p>
          <a:p>
            <a:pPr>
              <a:spcAft>
                <a:spcPts val="0"/>
              </a:spcAft>
            </a:pPr>
            <a:r>
              <a:rPr sz="1250" b="0">
                <a:solidFill>
                  <a:srgbClr val="7EC699"/>
                </a:solidFill>
                <a:latin typeface="Consolas"/>
                <a:ea typeface="Consolas"/>
              </a:rPr>
              <a:t>--   HR 소유 Job 이 DBA_USERS 를 읽으려면</a:t>
            </a:r>
          </a:p>
          <a:p>
            <a:pPr>
              <a:spcAft>
                <a:spcPts val="0"/>
              </a:spcAft>
            </a:pPr>
            <a:r>
              <a:rPr sz="1250" b="0">
                <a:solidFill>
                  <a:srgbClr val="7EC699"/>
                </a:solidFill>
                <a:latin typeface="Consolas"/>
                <a:ea typeface="Consolas"/>
              </a:rPr>
              <a:t>--   HR 이 그 뷰에 대한 SELECT 권한을 직접 가져야 한다.</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-- 6장에서 배운 함정이 여기서 다시 등장한다.</a:t>
            </a:r>
          </a:p>
          <a:p>
            <a:pPr>
              <a:spcAft>
                <a:spcPts val="0"/>
              </a:spcAft>
            </a:pPr>
            <a:r>
              <a:rPr sz="1250" b="0">
                <a:solidFill>
                  <a:srgbClr val="7EC699"/>
                </a:solidFill>
                <a:latin typeface="Consolas"/>
                <a:ea typeface="Consolas"/>
              </a:rPr>
              <a:t>--   롤로 받은 권한은 정의자 권한 프로그램의 정적 SQL 에서 무시된다.</a:t>
            </a:r>
          </a:p>
          <a:p>
            <a:pPr>
              <a:spcAft>
                <a:spcPts val="0"/>
              </a:spcAft>
            </a:pPr>
            <a:r>
              <a:rPr sz="1250" b="0">
                <a:solidFill>
                  <a:srgbClr val="7EC699"/>
                </a:solidFill>
                <a:latin typeface="Consolas"/>
                <a:ea typeface="Consolas"/>
              </a:rPr>
              <a:t>--   따라서 SELECT_CATALOG_ROLE 을 줘도 프로시저는 컴파일에 실패한다.</a:t>
            </a:r>
          </a:p>
          <a:p>
            <a:pPr>
              <a:spcAft>
                <a:spcPts val="0"/>
              </a:spcAft>
            </a:pPr>
            <a:r>
              <a:rPr sz="1250" b="0">
                <a:solidFill>
                  <a:srgbClr val="7EC699"/>
                </a:solidFill>
                <a:latin typeface="Consolas"/>
                <a:ea typeface="Consolas"/>
              </a:rPr>
              <a:t>--   → 필요한 뷰만 직접 GRANT 하는 것이 정답이다.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CREATE_JOB 시그니처</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DBMS_SCHEDULER.CREATE_JOB (</a:t>
            </a:r>
          </a:p>
          <a:p>
            <a:pPr>
              <a:spcAft>
                <a:spcPts val="0"/>
              </a:spcAft>
            </a:pPr>
            <a:r>
              <a:rPr sz="1250" b="0">
                <a:solidFill>
                  <a:srgbClr val="E6E6E6"/>
                </a:solidFill>
                <a:latin typeface="Consolas"/>
                <a:ea typeface="Consolas"/>
              </a:rPr>
              <a:t>   job_name             IN VARCHAR2,</a:t>
            </a:r>
          </a:p>
          <a:p>
            <a:pPr>
              <a:spcAft>
                <a:spcPts val="0"/>
              </a:spcAft>
            </a:pPr>
            <a:r>
              <a:rPr sz="1250" b="0">
                <a:solidFill>
                  <a:srgbClr val="E6E6E6"/>
                </a:solidFill>
                <a:latin typeface="Consolas"/>
                <a:ea typeface="Consolas"/>
              </a:rPr>
              <a:t>   job_type             IN VARCHAR2,</a:t>
            </a:r>
          </a:p>
          <a:p>
            <a:pPr>
              <a:spcAft>
                <a:spcPts val="0"/>
              </a:spcAft>
            </a:pPr>
            <a:r>
              <a:rPr sz="1250" b="0">
                <a:solidFill>
                  <a:srgbClr val="E6E6E6"/>
                </a:solidFill>
                <a:latin typeface="Consolas"/>
                <a:ea typeface="Consolas"/>
              </a:rPr>
              <a:t>   job_action           IN VARCHAR2,</a:t>
            </a:r>
          </a:p>
          <a:p>
            <a:pPr>
              <a:spcAft>
                <a:spcPts val="0"/>
              </a:spcAft>
            </a:pPr>
            <a:r>
              <a:rPr sz="1250" b="0">
                <a:solidFill>
                  <a:srgbClr val="E6E6E6"/>
                </a:solidFill>
                <a:latin typeface="Consolas"/>
                <a:ea typeface="Consolas"/>
              </a:rPr>
              <a:t>   number_of_arguments  IN PLS_INTEGER DEFAULT 0,</a:t>
            </a:r>
          </a:p>
          <a:p>
            <a:pPr>
              <a:spcAft>
                <a:spcPts val="0"/>
              </a:spcAft>
            </a:pPr>
            <a:r>
              <a:rPr sz="1250" b="0">
                <a:solidFill>
                  <a:srgbClr val="E6E6E6"/>
                </a:solidFill>
                <a:latin typeface="Consolas"/>
                <a:ea typeface="Consolas"/>
              </a:rPr>
              <a:t>   start_date           IN TIMESTAMP WITH TIME ZONE DEFAULT NULL,</a:t>
            </a:r>
          </a:p>
          <a:p>
            <a:pPr>
              <a:spcAft>
                <a:spcPts val="0"/>
              </a:spcAft>
            </a:pPr>
            <a:r>
              <a:rPr sz="1250" b="0">
                <a:solidFill>
                  <a:srgbClr val="E6E6E6"/>
                </a:solidFill>
                <a:latin typeface="Consolas"/>
                <a:ea typeface="Consolas"/>
              </a:rPr>
              <a:t>   repeat_interval      IN VARCHAR2 DEFAULT NULL,</a:t>
            </a:r>
          </a:p>
          <a:p>
            <a:pPr>
              <a:spcAft>
                <a:spcPts val="0"/>
              </a:spcAft>
            </a:pPr>
            <a:r>
              <a:rPr sz="1250" b="0">
                <a:solidFill>
                  <a:srgbClr val="E6E6E6"/>
                </a:solidFill>
                <a:latin typeface="Consolas"/>
                <a:ea typeface="Consolas"/>
              </a:rPr>
              <a:t>   end_date             IN TIMESTAMP WITH TIME ZONE DEFAULT NULL,</a:t>
            </a:r>
          </a:p>
          <a:p>
            <a:pPr>
              <a:spcAft>
                <a:spcPts val="0"/>
              </a:spcAft>
            </a:pPr>
            <a:r>
              <a:rPr sz="1250" b="0">
                <a:solidFill>
                  <a:srgbClr val="E6E6E6"/>
                </a:solidFill>
                <a:latin typeface="Consolas"/>
                <a:ea typeface="Consolas"/>
              </a:rPr>
              <a:t>   job_class            IN VARCHAR2 DEFAULT 'DEFAULT_JOB_CLASS',</a:t>
            </a:r>
          </a:p>
          <a:p>
            <a:pPr>
              <a:spcAft>
                <a:spcPts val="0"/>
              </a:spcAft>
            </a:pPr>
            <a:r>
              <a:rPr sz="1250" b="0">
                <a:solidFill>
                  <a:srgbClr val="E6E6E6"/>
                </a:solidFill>
                <a:latin typeface="Consolas"/>
                <a:ea typeface="Consolas"/>
              </a:rPr>
              <a:t>   enabled              IN BOOLEAN  DEFAULT FALSE,   -- 주의</a:t>
            </a:r>
          </a:p>
          <a:p>
            <a:pPr>
              <a:spcAft>
                <a:spcPts val="0"/>
              </a:spcAft>
            </a:pPr>
            <a:r>
              <a:rPr sz="1250" b="0">
                <a:solidFill>
                  <a:srgbClr val="E6E6E6"/>
                </a:solidFill>
                <a:latin typeface="Consolas"/>
                <a:ea typeface="Consolas"/>
              </a:rPr>
              <a:t>   auto_drop            IN BOOLEAN  DEFAULT TRUE,    -- 주의</a:t>
            </a:r>
          </a:p>
          <a:p>
            <a:pPr>
              <a:spcAft>
                <a:spcPts val="0"/>
              </a:spcAft>
            </a:pPr>
            <a:r>
              <a:rPr sz="1250" b="0">
                <a:solidFill>
                  <a:srgbClr val="E6E6E6"/>
                </a:solidFill>
                <a:latin typeface="Consolas"/>
                <a:ea typeface="Consolas"/>
              </a:rPr>
              <a:t>   comments             IN VARCHAR2 DEFAULT NULL);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개의 위험한 기본값</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enabled 기본값은 FALSE</a:t>
            </a:r>
          </a:p>
          <a:p>
            <a:pPr>
              <a:spcAft>
                <a:spcPts val="600"/>
              </a:spcAft>
            </a:pPr>
            <a:r>
              <a:rPr sz="1600" b="0">
                <a:solidFill>
                  <a:srgbClr val="5A6672"/>
                </a:solidFill>
                <a:latin typeface="Malgun Gothic"/>
                <a:ea typeface="Malgun Gothic"/>
              </a:rPr>
              <a:t>    –  만들면 등록은 되지만 실행되지 않는다 — "만들었는데 안 돈다"</a:t>
            </a:r>
          </a:p>
          <a:p>
            <a:pPr>
              <a:spcAft>
                <a:spcPts val="600"/>
              </a:spcAft>
            </a:pPr>
            <a:r>
              <a:rPr sz="1600" b="0">
                <a:solidFill>
                  <a:srgbClr val="5A6672"/>
                </a:solidFill>
                <a:latin typeface="Malgun Gothic"/>
                <a:ea typeface="Malgun Gothic"/>
              </a:rPr>
              <a:t>    –  STATE 가 DISABLED 로 보이면 ENABLE 을 호출하지 않은 것이다</a:t>
            </a:r>
          </a:p>
          <a:p>
            <a:pPr>
              <a:spcAft>
                <a:spcPts val="600"/>
              </a:spcAft>
            </a:pPr>
            <a:r>
              <a:rPr sz="1800" b="0">
                <a:solidFill>
                  <a:srgbClr val="202830"/>
                </a:solidFill>
                <a:latin typeface="Malgun Gothic"/>
                <a:ea typeface="Malgun Gothic"/>
              </a:rPr>
              <a:t>•  auto_drop 기본값은 TRUE</a:t>
            </a:r>
          </a:p>
          <a:p>
            <a:pPr>
              <a:spcAft>
                <a:spcPts val="600"/>
              </a:spcAft>
            </a:pPr>
            <a:r>
              <a:rPr sz="1600" b="0">
                <a:solidFill>
                  <a:srgbClr val="5A6672"/>
                </a:solidFill>
                <a:latin typeface="Malgun Gothic"/>
                <a:ea typeface="Malgun Gothic"/>
              </a:rPr>
              <a:t>    –  repeat_interval 없는 일회성 작업은 실행 후 자기 자신을 지운다</a:t>
            </a:r>
          </a:p>
          <a:p>
            <a:pPr>
              <a:spcAft>
                <a:spcPts val="600"/>
              </a:spcAft>
            </a:pPr>
            <a:r>
              <a:rPr sz="1600" b="0">
                <a:solidFill>
                  <a:srgbClr val="5A6672"/>
                </a:solidFill>
                <a:latin typeface="Malgun Gothic"/>
                <a:ea typeface="Malgun Gothic"/>
              </a:rPr>
              <a:t>    –  "돌았는데 사라졌다" — USER_SCHEDULER_JOBS 에 아무것도 없다</a:t>
            </a:r>
          </a:p>
          <a:p>
            <a:pPr>
              <a:spcAft>
                <a:spcPts val="600"/>
              </a:spcAft>
            </a:pPr>
            <a:r>
              <a:rPr sz="1800" b="0">
                <a:solidFill>
                  <a:srgbClr val="202830"/>
                </a:solidFill>
                <a:latin typeface="Malgun Gothic"/>
                <a:ea typeface="Malgun Gothic"/>
              </a:rPr>
              <a:t>•  반복 작업은 enabled =&gt; TRUE, auto_drop =&gt; FALSE 로 명시한다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인라인 방식으로 Job 만들기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DBMS_SCHEDULER.CREATE_JOB (</a:t>
            </a:r>
          </a:p>
          <a:p>
            <a:pPr>
              <a:spcAft>
                <a:spcPts val="0"/>
              </a:spcAft>
            </a:pPr>
            <a:r>
              <a:rPr sz="1250" b="0">
                <a:solidFill>
                  <a:srgbClr val="E6E6E6"/>
                </a:solidFill>
                <a:latin typeface="Consolas"/>
                <a:ea typeface="Consolas"/>
              </a:rPr>
              <a:t>      job_name        =&gt; 'J_DAILY_USER_CHECK',</a:t>
            </a:r>
          </a:p>
          <a:p>
            <a:pPr>
              <a:spcAft>
                <a:spcPts val="0"/>
              </a:spcAft>
            </a:pPr>
            <a:r>
              <a:rPr sz="1250" b="0">
                <a:solidFill>
                  <a:srgbClr val="E6E6E6"/>
                </a:solidFill>
                <a:latin typeface="Consolas"/>
                <a:ea typeface="Consolas"/>
              </a:rPr>
              <a:t>      job_type        =&gt; 'PLSQL_BLOCK',</a:t>
            </a:r>
          </a:p>
          <a:p>
            <a:pPr>
              <a:spcAft>
                <a:spcPts val="0"/>
              </a:spcAft>
            </a:pPr>
            <a:r>
              <a:rPr sz="1250" b="0">
                <a:solidFill>
                  <a:srgbClr val="E6E6E6"/>
                </a:solidFill>
                <a:latin typeface="Consolas"/>
                <a:ea typeface="Consolas"/>
              </a:rPr>
              <a:t>      job_action      =&gt; 'BEGIN pr_check_user_status; END;',</a:t>
            </a:r>
          </a:p>
          <a:p>
            <a:pPr>
              <a:spcAft>
                <a:spcPts val="0"/>
              </a:spcAft>
            </a:pPr>
            <a:r>
              <a:rPr sz="1250" b="0">
                <a:solidFill>
                  <a:srgbClr val="E6E6E6"/>
                </a:solidFill>
                <a:latin typeface="Consolas"/>
                <a:ea typeface="Consolas"/>
              </a:rPr>
              <a:t>      start_date      =&gt; SYSTIMESTAMP,</a:t>
            </a:r>
          </a:p>
          <a:p>
            <a:pPr>
              <a:spcAft>
                <a:spcPts val="0"/>
              </a:spcAft>
            </a:pPr>
            <a:r>
              <a:rPr sz="1250" b="0">
                <a:solidFill>
                  <a:srgbClr val="E6E6E6"/>
                </a:solidFill>
                <a:latin typeface="Consolas"/>
                <a:ea typeface="Consolas"/>
              </a:rPr>
              <a:t>      repeat_interval =&gt; 'FREQ=DAILY; BYHOUR=2; BYMINUTE=0; BYSECOND=0',</a:t>
            </a:r>
          </a:p>
          <a:p>
            <a:pPr>
              <a:spcAft>
                <a:spcPts val="0"/>
              </a:spcAft>
            </a:pPr>
            <a:r>
              <a:rPr sz="1250" b="0">
                <a:solidFill>
                  <a:srgbClr val="E6E6E6"/>
                </a:solidFill>
                <a:latin typeface="Consolas"/>
                <a:ea typeface="Consolas"/>
              </a:rPr>
              <a:t>      enabled         =&gt; TRUE,      -- 기본값 FALSE 를 뒤집는다</a:t>
            </a:r>
          </a:p>
          <a:p>
            <a:pPr>
              <a:spcAft>
                <a:spcPts val="0"/>
              </a:spcAft>
            </a:pPr>
            <a:r>
              <a:rPr sz="1250" b="0">
                <a:solidFill>
                  <a:srgbClr val="E6E6E6"/>
                </a:solidFill>
                <a:latin typeface="Consolas"/>
                <a:ea typeface="Consolas"/>
              </a:rPr>
              <a:t>      auto_drop       =&gt; FALSE,     -- 반복 작업은 남겨 둔다</a:t>
            </a:r>
          </a:p>
          <a:p>
            <a:pPr>
              <a:spcAft>
                <a:spcPts val="0"/>
              </a:spcAft>
            </a:pPr>
            <a:r>
              <a:rPr sz="1250" b="0">
                <a:solidFill>
                  <a:srgbClr val="E6E6E6"/>
                </a:solidFill>
                <a:latin typeface="Consolas"/>
                <a:ea typeface="Consolas"/>
              </a:rPr>
              <a:t>      comments        =&gt; 'HR 계정 상태 일일 점검');</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생성 직후 확인 : ENABLED · STATE · NEXT_RUN_DATE 세 컬럼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job_type 값과 작성 규칙</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'PLSQL_BLOCK' — 완전한 익명 블록. BEGIN … END; 로 끝난다</a:t>
            </a:r>
          </a:p>
          <a:p>
            <a:pPr>
              <a:spcAft>
                <a:spcPts val="600"/>
              </a:spcAft>
            </a:pPr>
            <a:r>
              <a:rPr sz="1600" b="0">
                <a:solidFill>
                  <a:srgbClr val="5A6672"/>
                </a:solidFill>
                <a:latin typeface="Malgun Gothic"/>
                <a:ea typeface="Malgun Gothic"/>
              </a:rPr>
              <a:t>    –  인자를 받을 수 없으므로 값은 블록 문자열 안에 직접 넣는다</a:t>
            </a:r>
          </a:p>
          <a:p>
            <a:pPr>
              <a:spcAft>
                <a:spcPts val="600"/>
              </a:spcAft>
            </a:pPr>
            <a:r>
              <a:rPr sz="1800" b="0">
                <a:solidFill>
                  <a:srgbClr val="202830"/>
                </a:solidFill>
                <a:latin typeface="Malgun Gothic"/>
                <a:ea typeface="Malgun Gothic"/>
              </a:rPr>
              <a:t>•  'STORED_PROCEDURE' — 프로시저 이름만. 괄호도 세미콜론도 없다</a:t>
            </a:r>
          </a:p>
          <a:p>
            <a:pPr>
              <a:spcAft>
                <a:spcPts val="600"/>
              </a:spcAft>
            </a:pPr>
            <a:r>
              <a:rPr sz="1600" b="0">
                <a:solidFill>
                  <a:srgbClr val="5A6672"/>
                </a:solidFill>
                <a:latin typeface="Malgun Gothic"/>
                <a:ea typeface="Malgun Gothic"/>
              </a:rPr>
              <a:t>    –  인자는 number_of_arguments + SET_JOB_ARGUMENT_VALUE 로 전달</a:t>
            </a:r>
          </a:p>
          <a:p>
            <a:pPr>
              <a:spcAft>
                <a:spcPts val="600"/>
              </a:spcAft>
            </a:pPr>
            <a:r>
              <a:rPr sz="1800" b="0">
                <a:solidFill>
                  <a:srgbClr val="202830"/>
                </a:solidFill>
                <a:latin typeface="Malgun Gothic"/>
                <a:ea typeface="Malgun Gothic"/>
              </a:rPr>
              <a:t>•  'EXECUTABLE' — OS 실행 파일. CREATE EXTERNAL JOB 과 Credential 필요</a:t>
            </a:r>
          </a:p>
          <a:p>
            <a:pPr>
              <a:spcAft>
                <a:spcPts val="600"/>
              </a:spcAft>
            </a:pPr>
            <a:r>
              <a:rPr sz="1800" b="0">
                <a:solidFill>
                  <a:srgbClr val="202830"/>
                </a:solidFill>
                <a:latin typeface="Malgun Gothic"/>
                <a:ea typeface="Malgun Gothic"/>
              </a:rPr>
              <a:t>•  'SQL_SCRIPT' · 'EXTERNAL_SCRIPT' — 스크립트 본문 (12c 이상)</a:t>
            </a:r>
          </a:p>
          <a:p>
            <a:pPr>
              <a:spcAft>
                <a:spcPts val="600"/>
              </a:spcAft>
            </a:pPr>
            <a:r>
              <a:rPr sz="1800" b="0">
                <a:solidFill>
                  <a:srgbClr val="202830"/>
                </a:solidFill>
                <a:latin typeface="Malgun Gothic"/>
                <a:ea typeface="Malgun Gothic"/>
              </a:rPr>
              <a:t>•  'CHAIN' — 단계별 의존 관계를 갖는 복합 작업</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job_action 오작성 사례</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 job_type 오타</a:t>
            </a:r>
          </a:p>
          <a:p>
            <a:pPr>
              <a:spcAft>
                <a:spcPts val="0"/>
              </a:spcAft>
            </a:pPr>
            <a:r>
              <a:rPr sz="1250" b="0">
                <a:solidFill>
                  <a:srgbClr val="7EC699"/>
                </a:solidFill>
                <a:latin typeface="Consolas"/>
                <a:ea typeface="Consolas"/>
              </a:rPr>
              <a:t>--     job_type =&gt; 'PL/SQL_BLOCK'</a:t>
            </a:r>
          </a:p>
          <a:p>
            <a:pPr>
              <a:spcAft>
                <a:spcPts val="0"/>
              </a:spcAft>
            </a:pPr>
            <a:r>
              <a:rPr sz="1250" b="0">
                <a:solidFill>
                  <a:srgbClr val="7EC699"/>
                </a:solidFill>
                <a:latin typeface="Consolas"/>
                <a:ea typeface="Consolas"/>
              </a:rPr>
              <a:t>--     ORA-27465: invalid value PL/SQL_BLOCK for attribute JOB_TYPE</a:t>
            </a:r>
          </a:p>
          <a:p>
            <a:pPr>
              <a:spcAft>
                <a:spcPts val="0"/>
              </a:spcAft>
            </a:pPr>
            <a:r>
              <a:rPr sz="1250" b="0">
                <a:solidFill>
                  <a:srgbClr val="7EC699"/>
                </a:solidFill>
                <a:latin typeface="Consolas"/>
                <a:ea typeface="Consolas"/>
              </a:rPr>
              <a:t>--     → CREATE_JOB 호출 자체가 실패한다 (즉시 발견)</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(2) PLSQL_BLOCK 인데 블록이 아니다</a:t>
            </a:r>
          </a:p>
          <a:p>
            <a:pPr>
              <a:spcAft>
                <a:spcPts val="0"/>
              </a:spcAft>
            </a:pPr>
            <a:r>
              <a:rPr sz="1250" b="0">
                <a:solidFill>
                  <a:srgbClr val="7EC699"/>
                </a:solidFill>
                <a:latin typeface="Consolas"/>
                <a:ea typeface="Consolas"/>
              </a:rPr>
              <a:t>--     job_action =&gt; 'pr_check_user_status'</a:t>
            </a:r>
          </a:p>
          <a:p>
            <a:pPr>
              <a:spcAft>
                <a:spcPts val="0"/>
              </a:spcAft>
            </a:pPr>
            <a:r>
              <a:rPr sz="1250" b="0">
                <a:solidFill>
                  <a:srgbClr val="7EC699"/>
                </a:solidFill>
                <a:latin typeface="Consolas"/>
                <a:ea typeface="Consolas"/>
              </a:rPr>
              <a:t>--     생성 성공 → 실행 시점에 ORA-06550 / PLS-00103 (늦게 발견)</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(3) STORED_PROCEDURE 인데 괄호·세미콜론을 붙였다</a:t>
            </a:r>
          </a:p>
          <a:p>
            <a:pPr>
              <a:spcAft>
                <a:spcPts val="0"/>
              </a:spcAft>
            </a:pPr>
            <a:r>
              <a:rPr sz="1250" b="0">
                <a:solidFill>
                  <a:srgbClr val="7EC699"/>
                </a:solidFill>
                <a:latin typeface="Consolas"/>
                <a:ea typeface="Consolas"/>
              </a:rPr>
              <a:t>--     job_action =&gt; 'pr_check_user_status();'</a:t>
            </a:r>
          </a:p>
          <a:p>
            <a:pPr>
              <a:spcAft>
                <a:spcPts val="0"/>
              </a:spcAft>
            </a:pPr>
            <a:r>
              <a:rPr sz="1250" b="0">
                <a:solidFill>
                  <a:srgbClr val="7EC699"/>
                </a:solidFill>
                <a:latin typeface="Consolas"/>
                <a:ea typeface="Consolas"/>
              </a:rPr>
              <a:t>--     생성 성공 → 실행 시점에 ORA-06550</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올바른 형태</a:t>
            </a:r>
          </a:p>
          <a:p>
            <a:pPr>
              <a:spcAft>
                <a:spcPts val="0"/>
              </a:spcAft>
            </a:pPr>
            <a:r>
              <a:rPr sz="1250" b="0">
                <a:solidFill>
                  <a:srgbClr val="7EC699"/>
                </a:solidFill>
                <a:latin typeface="Consolas"/>
                <a:ea typeface="Consolas"/>
              </a:rPr>
              <a:t>--     'PLSQL_BLOCK'      + 'BEGIN pr_x; END;'</a:t>
            </a:r>
          </a:p>
          <a:p>
            <a:pPr>
              <a:spcAft>
                <a:spcPts val="0"/>
              </a:spcAft>
            </a:pPr>
            <a:r>
              <a:rPr sz="1250" b="0">
                <a:solidFill>
                  <a:srgbClr val="7EC699"/>
                </a:solidFill>
                <a:latin typeface="Consolas"/>
                <a:ea typeface="Consolas"/>
              </a:rPr>
              <a:t>--     'STORED_PROCEDURE' + 'PR_X'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5400" b="1">
                <a:solidFill>
                  <a:srgbClr val="C0392B"/>
                </a:solidFill>
                <a:latin typeface="Malgun Gothic"/>
                <a:ea typeface="Malgun Gothic"/>
              </a:rPr>
              <a:t>7.6~7.10</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Program · Schedule · Job 제어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CREATE_PROGRAM 과 DEFINE_PROGRAM_ARGUMENT</a:t>
            </a:r>
          </a:p>
          <a:p>
            <a:pPr>
              <a:spcAft>
                <a:spcPts val="600"/>
              </a:spcAft>
            </a:pPr>
            <a:r>
              <a:rPr sz="1600" b="0">
                <a:solidFill>
                  <a:srgbClr val="C5CED6"/>
                </a:solidFill>
                <a:latin typeface="Malgun Gothic"/>
                <a:ea typeface="Malgun Gothic"/>
              </a:rPr>
              <a:t>•  CREATE_SCHEDULE 와 캘린더 표현식 · EVALUATE_CALENDAR_STRING</a:t>
            </a:r>
          </a:p>
          <a:p>
            <a:pPr>
              <a:spcAft>
                <a:spcPts val="600"/>
              </a:spcAft>
            </a:pPr>
            <a:r>
              <a:rPr sz="1600" b="0">
                <a:solidFill>
                  <a:srgbClr val="C5CED6"/>
                </a:solidFill>
                <a:latin typeface="Malgun Gothic"/>
                <a:ea typeface="Malgun Gothic"/>
              </a:rPr>
              <a:t>•  Program + Schedule 조합과 관심사 분리</a:t>
            </a:r>
          </a:p>
          <a:p>
            <a:pPr>
              <a:spcAft>
                <a:spcPts val="600"/>
              </a:spcAft>
            </a:pPr>
            <a:r>
              <a:rPr sz="1600" b="0">
                <a:solidFill>
                  <a:srgbClr val="C5CED6"/>
                </a:solidFill>
                <a:latin typeface="Malgun Gothic"/>
                <a:ea typeface="Malgun Gothic"/>
              </a:rPr>
              <a:t>•  Job Attribute — max_failures · restartable · schedule_limit</a:t>
            </a:r>
          </a:p>
          <a:p>
            <a:pPr>
              <a:spcAft>
                <a:spcPts val="600"/>
              </a:spcAft>
            </a:pPr>
            <a:r>
              <a:rPr sz="1600" b="0">
                <a:solidFill>
                  <a:srgbClr val="C5CED6"/>
                </a:solidFill>
                <a:latin typeface="Malgun Gothic"/>
                <a:ea typeface="Malgun Gothic"/>
              </a:rPr>
              <a:t>•  RUN_JOB · STOP_JOB · DROP_JOB 과 대표 오류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Program 객체 만들기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DBMS_SCHEDULER.CREATE_PROGRAM (</a:t>
            </a:r>
          </a:p>
          <a:p>
            <a:pPr>
              <a:spcAft>
                <a:spcPts val="0"/>
              </a:spcAft>
            </a:pPr>
            <a:r>
              <a:rPr sz="1250" b="0">
                <a:solidFill>
                  <a:srgbClr val="E6E6E6"/>
                </a:solidFill>
                <a:latin typeface="Consolas"/>
                <a:ea typeface="Consolas"/>
              </a:rPr>
              <a:t>      program_name        =&gt; 'PRG_INVALID_CHECK',</a:t>
            </a:r>
          </a:p>
          <a:p>
            <a:pPr>
              <a:spcAft>
                <a:spcPts val="0"/>
              </a:spcAft>
            </a:pPr>
            <a:r>
              <a:rPr sz="1250" b="0">
                <a:solidFill>
                  <a:srgbClr val="E6E6E6"/>
                </a:solidFill>
                <a:latin typeface="Consolas"/>
                <a:ea typeface="Consolas"/>
              </a:rPr>
              <a:t>      program_type        =&gt; 'STORED_PROCEDURE',</a:t>
            </a:r>
          </a:p>
          <a:p>
            <a:pPr>
              <a:spcAft>
                <a:spcPts val="0"/>
              </a:spcAft>
            </a:pPr>
            <a:r>
              <a:rPr sz="1250" b="0">
                <a:solidFill>
                  <a:srgbClr val="E6E6E6"/>
                </a:solidFill>
                <a:latin typeface="Consolas"/>
                <a:ea typeface="Consolas"/>
              </a:rPr>
              <a:t>      program_action      =&gt; 'PR_CHECK_INVALID_OBJECT',</a:t>
            </a:r>
          </a:p>
          <a:p>
            <a:pPr>
              <a:spcAft>
                <a:spcPts val="0"/>
              </a:spcAft>
            </a:pPr>
            <a:r>
              <a:rPr sz="1250" b="0">
                <a:solidFill>
                  <a:srgbClr val="E6E6E6"/>
                </a:solidFill>
                <a:latin typeface="Consolas"/>
                <a:ea typeface="Consolas"/>
              </a:rPr>
              <a:t>      number_of_arguments =&gt; 1,</a:t>
            </a:r>
          </a:p>
          <a:p>
            <a:pPr>
              <a:spcAft>
                <a:spcPts val="0"/>
              </a:spcAft>
            </a:pPr>
            <a:r>
              <a:rPr sz="1250" b="0">
                <a:solidFill>
                  <a:srgbClr val="E6E6E6"/>
                </a:solidFill>
                <a:latin typeface="Consolas"/>
                <a:ea typeface="Consolas"/>
              </a:rPr>
              <a:t>      enabled             =&gt; FALSE,   -- 인자 정의 후 ENABLE</a:t>
            </a:r>
          </a:p>
          <a:p>
            <a:pPr>
              <a:spcAft>
                <a:spcPts val="0"/>
              </a:spcAft>
            </a:pPr>
            <a:r>
              <a:rPr sz="1250" b="0">
                <a:solidFill>
                  <a:srgbClr val="E6E6E6"/>
                </a:solidFill>
                <a:latin typeface="Consolas"/>
                <a:ea typeface="Consolas"/>
              </a:rPr>
              <a:t>      comments            =&gt; 'INVALID 객체 점검');</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   DBMS_SCHEDULER.DEFINE_PROGRAM_ARGUMENT (</a:t>
            </a:r>
          </a:p>
          <a:p>
            <a:pPr>
              <a:spcAft>
                <a:spcPts val="0"/>
              </a:spcAft>
            </a:pPr>
            <a:r>
              <a:rPr sz="1250" b="0">
                <a:solidFill>
                  <a:srgbClr val="E6E6E6"/>
                </a:solidFill>
                <a:latin typeface="Consolas"/>
                <a:ea typeface="Consolas"/>
              </a:rPr>
              <a:t>      program_name      =&gt; 'PRG_INVALID_CHECK',</a:t>
            </a:r>
          </a:p>
          <a:p>
            <a:pPr>
              <a:spcAft>
                <a:spcPts val="0"/>
              </a:spcAft>
            </a:pPr>
            <a:r>
              <a:rPr sz="1250" b="0">
                <a:solidFill>
                  <a:srgbClr val="E6E6E6"/>
                </a:solidFill>
                <a:latin typeface="Consolas"/>
                <a:ea typeface="Consolas"/>
              </a:rPr>
              <a:t>      argument_position =&gt; 1,</a:t>
            </a:r>
          </a:p>
          <a:p>
            <a:pPr>
              <a:spcAft>
                <a:spcPts val="0"/>
              </a:spcAft>
            </a:pPr>
            <a:r>
              <a:rPr sz="1250" b="0">
                <a:solidFill>
                  <a:srgbClr val="E6E6E6"/>
                </a:solidFill>
                <a:latin typeface="Consolas"/>
                <a:ea typeface="Consolas"/>
              </a:rPr>
              <a:t>      argument_name     =&gt; 'P_OWNER',</a:t>
            </a:r>
          </a:p>
          <a:p>
            <a:pPr>
              <a:spcAft>
                <a:spcPts val="0"/>
              </a:spcAft>
            </a:pPr>
            <a:r>
              <a:rPr sz="1250" b="0">
                <a:solidFill>
                  <a:srgbClr val="E6E6E6"/>
                </a:solidFill>
                <a:latin typeface="Consolas"/>
                <a:ea typeface="Consolas"/>
              </a:rPr>
              <a:t>      argument_type     =&gt; 'VARCHAR2',</a:t>
            </a:r>
          </a:p>
          <a:p>
            <a:pPr>
              <a:spcAft>
                <a:spcPts val="0"/>
              </a:spcAft>
            </a:pPr>
            <a:r>
              <a:rPr sz="1250" b="0">
                <a:solidFill>
                  <a:srgbClr val="E6E6E6"/>
                </a:solidFill>
                <a:latin typeface="Consolas"/>
                <a:ea typeface="Consolas"/>
              </a:rPr>
              <a:t>      default_value     =&gt; 'HR');</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   DBMS_SCHEDULER.ENABLE ('PRG_INVALID_CHECK');</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Program 확인과 ORA-27367</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USER_SCHEDULER_PROGRAMS — PROGRAM_TYPE · 인자 개수 · ENABLED</a:t>
            </a:r>
          </a:p>
          <a:p>
            <a:pPr>
              <a:spcAft>
                <a:spcPts val="600"/>
              </a:spcAft>
            </a:pPr>
            <a:r>
              <a:rPr sz="1800" b="0">
                <a:solidFill>
                  <a:srgbClr val="202830"/>
                </a:solidFill>
                <a:latin typeface="Malgun Gothic"/>
                <a:ea typeface="Malgun Gothic"/>
              </a:rPr>
              <a:t>•  USER_SCHEDULER_PROGRAM_ARGS — 인자 위치 · 타입 · 기본값</a:t>
            </a:r>
          </a:p>
          <a:p>
            <a:pPr>
              <a:spcAft>
                <a:spcPts val="600"/>
              </a:spcAft>
            </a:pPr>
            <a:r>
              <a:rPr sz="1800" b="0">
                <a:solidFill>
                  <a:srgbClr val="202830"/>
                </a:solidFill>
                <a:latin typeface="Malgun Gothic"/>
                <a:ea typeface="Malgun Gothic"/>
              </a:rPr>
              <a:t>•  Program 의 enabled 기본값도 FALSE 다</a:t>
            </a:r>
          </a:p>
          <a:p>
            <a:pPr>
              <a:spcAft>
                <a:spcPts val="600"/>
              </a:spcAft>
            </a:pPr>
            <a:r>
              <a:rPr sz="1800" b="0">
                <a:solidFill>
                  <a:srgbClr val="202830"/>
                </a:solidFill>
                <a:latin typeface="Malgun Gothic"/>
                <a:ea typeface="Malgun Gothic"/>
              </a:rPr>
              <a:t>•  비활성 Program 을 참조하는 Job 을 ENABLE 하면</a:t>
            </a:r>
          </a:p>
          <a:p>
            <a:pPr>
              <a:spcAft>
                <a:spcPts val="600"/>
              </a:spcAft>
            </a:pPr>
            <a:r>
              <a:rPr sz="1600" b="0">
                <a:solidFill>
                  <a:srgbClr val="5A6672"/>
                </a:solidFill>
                <a:latin typeface="Malgun Gothic"/>
                <a:ea typeface="Malgun Gothic"/>
              </a:rPr>
              <a:t>    –  ORA-27367: program "HR.PRG_…" associated with this job is disabled</a:t>
            </a:r>
          </a:p>
          <a:p>
            <a:pPr>
              <a:spcAft>
                <a:spcPts val="600"/>
              </a:spcAft>
            </a:pPr>
            <a:r>
              <a:rPr sz="1800" b="0">
                <a:solidFill>
                  <a:srgbClr val="202830"/>
                </a:solidFill>
                <a:latin typeface="Malgun Gothic"/>
                <a:ea typeface="Malgun Gothic"/>
              </a:rPr>
              <a:t>•  진단 순서 — 오류를 보면 먼저 PROGRAMS 뷰의 ENABLED 를 확인한다</a:t>
            </a:r>
          </a:p>
          <a:p>
            <a:pPr>
              <a:spcAft>
                <a:spcPts val="600"/>
              </a:spcAft>
            </a:pPr>
            <a:r>
              <a:rPr sz="1800" b="0">
                <a:solidFill>
                  <a:srgbClr val="202830"/>
                </a:solidFill>
                <a:latin typeface="Malgun Gothic"/>
                <a:ea typeface="Malgun Gothic"/>
              </a:rPr>
              <a:t>•  이름 오타라면 ORA-27476 does not exist 가 대신 발생한다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Schedule 객체와 캘린더 표현식</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DBMS_SCHEDULER.CREATE_SCHEDULE (</a:t>
            </a:r>
          </a:p>
          <a:p>
            <a:pPr>
              <a:spcAft>
                <a:spcPts val="0"/>
              </a:spcAft>
            </a:pPr>
            <a:r>
              <a:rPr sz="1250" b="0">
                <a:solidFill>
                  <a:srgbClr val="E6E6E6"/>
                </a:solidFill>
                <a:latin typeface="Consolas"/>
                <a:ea typeface="Consolas"/>
              </a:rPr>
              <a:t>      schedule_name   =&gt; 'SCH_NIGHTLY_02',</a:t>
            </a:r>
          </a:p>
          <a:p>
            <a:pPr>
              <a:spcAft>
                <a:spcPts val="0"/>
              </a:spcAft>
            </a:pPr>
            <a:r>
              <a:rPr sz="1250" b="0">
                <a:solidFill>
                  <a:srgbClr val="E6E6E6"/>
                </a:solidFill>
                <a:latin typeface="Consolas"/>
                <a:ea typeface="Consolas"/>
              </a:rPr>
              <a:t>      start_date      =&gt; SYSTIMESTAMP,</a:t>
            </a:r>
          </a:p>
          <a:p>
            <a:pPr>
              <a:spcAft>
                <a:spcPts val="0"/>
              </a:spcAft>
            </a:pPr>
            <a:r>
              <a:rPr sz="1250" b="0">
                <a:solidFill>
                  <a:srgbClr val="E6E6E6"/>
                </a:solidFill>
                <a:latin typeface="Consolas"/>
                <a:ea typeface="Consolas"/>
              </a:rPr>
              <a:t>      repeat_interval =&gt; 'FREQ=DAILY; BYHOUR=2; BYMINUTE=0; BYSECOND=0',</a:t>
            </a:r>
          </a:p>
          <a:p>
            <a:pPr>
              <a:spcAft>
                <a:spcPts val="0"/>
              </a:spcAft>
            </a:pPr>
            <a:r>
              <a:rPr sz="1250" b="0">
                <a:solidFill>
                  <a:srgbClr val="E6E6E6"/>
                </a:solidFill>
                <a:latin typeface="Consolas"/>
                <a:ea typeface="Consolas"/>
              </a:rPr>
              <a:t>      comments        =&gt; '야간 배치 표준 시각 02:00');</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캘린더 표현식 문법</a:t>
            </a:r>
          </a:p>
          <a:p>
            <a:pPr>
              <a:spcAft>
                <a:spcPts val="0"/>
              </a:spcAft>
            </a:pPr>
            <a:r>
              <a:rPr sz="1250" b="0">
                <a:solidFill>
                  <a:srgbClr val="7EC699"/>
                </a:solidFill>
                <a:latin typeface="Consolas"/>
                <a:ea typeface="Consolas"/>
              </a:rPr>
              <a:t>--   반드시 FREQ 로 시작하고 세미콜론으로 절을 구분한다</a:t>
            </a:r>
          </a:p>
          <a:p>
            <a:pPr>
              <a:spcAft>
                <a:spcPts val="0"/>
              </a:spcAft>
            </a:pPr>
            <a:r>
              <a:rPr sz="1250" b="0">
                <a:solidFill>
                  <a:srgbClr val="7EC699"/>
                </a:solidFill>
                <a:latin typeface="Consolas"/>
                <a:ea typeface="Consolas"/>
              </a:rPr>
              <a:t>--   FREQ  : YEARLY MONTHLY WEEKLY DAILY HOURLY MINUTELY SECONDLY</a:t>
            </a:r>
          </a:p>
          <a:p>
            <a:pPr>
              <a:spcAft>
                <a:spcPts val="0"/>
              </a:spcAft>
            </a:pPr>
            <a:r>
              <a:rPr sz="1250" b="0">
                <a:solidFill>
                  <a:srgbClr val="7EC699"/>
                </a:solidFill>
                <a:latin typeface="Consolas"/>
                <a:ea typeface="Consolas"/>
              </a:rPr>
              <a:t>--   INTERVAL : 그 주기를 몇 번에 한 번 적용할지</a:t>
            </a:r>
          </a:p>
          <a:p>
            <a:pPr>
              <a:spcAft>
                <a:spcPts val="0"/>
              </a:spcAft>
            </a:pPr>
            <a:r>
              <a:rPr sz="1250" b="0">
                <a:solidFill>
                  <a:srgbClr val="7EC699"/>
                </a:solidFill>
                <a:latin typeface="Consolas"/>
                <a:ea typeface="Consolas"/>
              </a:rPr>
              <a:t>--   BY 절 : BYMONTH BYMONTHDAY BYDAY BYHOUR BYMINUTE BYSECOND</a:t>
            </a:r>
          </a:p>
          <a:p>
            <a:pPr>
              <a:spcAft>
                <a:spcPts val="0"/>
              </a:spcAft>
            </a:pPr>
            <a:r>
              <a:rPr sz="1250" b="0">
                <a:solidFill>
                  <a:srgbClr val="7EC699"/>
                </a:solidFill>
                <a:latin typeface="Consolas"/>
                <a:ea typeface="Consolas"/>
              </a:rPr>
              <a:t>--           후보 시각을 걸러 내는 필터로 동작한다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자주 쓰는 캘린더 표현식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FREQ=DAILY; BYHOUR=2; BYMINUTE=0; BYSECOND=0 — 매일 새벽 2시</a:t>
            </a:r>
          </a:p>
          <a:p>
            <a:pPr>
              <a:spcAft>
                <a:spcPts val="600"/>
              </a:spcAft>
            </a:pPr>
            <a:r>
              <a:rPr sz="1800" b="0">
                <a:solidFill>
                  <a:srgbClr val="202830"/>
                </a:solidFill>
                <a:latin typeface="Malgun Gothic"/>
                <a:ea typeface="Malgun Gothic"/>
              </a:rPr>
              <a:t>•  FREQ=WEEKLY; BYDAY=MON; BYHOUR=7 — 매주 월요일 07시</a:t>
            </a:r>
          </a:p>
          <a:p>
            <a:pPr>
              <a:spcAft>
                <a:spcPts val="600"/>
              </a:spcAft>
            </a:pPr>
            <a:r>
              <a:rPr sz="1800" b="0">
                <a:solidFill>
                  <a:srgbClr val="202830"/>
                </a:solidFill>
                <a:latin typeface="Malgun Gothic"/>
                <a:ea typeface="Malgun Gothic"/>
              </a:rPr>
              <a:t>•  FREQ=MONTHLY; BYMONTHDAY=1; BYHOUR=1 — 매월 1일 01시</a:t>
            </a:r>
          </a:p>
          <a:p>
            <a:pPr>
              <a:spcAft>
                <a:spcPts val="600"/>
              </a:spcAft>
            </a:pPr>
            <a:r>
              <a:rPr sz="1800" b="0">
                <a:solidFill>
                  <a:srgbClr val="202830"/>
                </a:solidFill>
                <a:latin typeface="Malgun Gothic"/>
                <a:ea typeface="Malgun Gothic"/>
              </a:rPr>
              <a:t>•  FREQ=MONTHLY; BYMONTHDAY=-1 — 매월 말일 (음수는 뒤에서 센다)</a:t>
            </a:r>
          </a:p>
          <a:p>
            <a:pPr>
              <a:spcAft>
                <a:spcPts val="600"/>
              </a:spcAft>
            </a:pPr>
            <a:r>
              <a:rPr sz="1800" b="0">
                <a:solidFill>
                  <a:srgbClr val="202830"/>
                </a:solidFill>
                <a:latin typeface="Malgun Gothic"/>
                <a:ea typeface="Malgun Gothic"/>
              </a:rPr>
              <a:t>•  FREQ=MINUTELY; INTERVAL=10 — 10분마다</a:t>
            </a:r>
          </a:p>
          <a:p>
            <a:pPr>
              <a:spcAft>
                <a:spcPts val="600"/>
              </a:spcAft>
            </a:pPr>
            <a:r>
              <a:rPr sz="1800" b="0">
                <a:solidFill>
                  <a:srgbClr val="202830"/>
                </a:solidFill>
                <a:latin typeface="Malgun Gothic"/>
                <a:ea typeface="Malgun Gothic"/>
              </a:rPr>
              <a:t>•  FREQ=HOURLY; BYDAY=MON,TUE,WED,THU,FRI — 평일 매시 정각</a:t>
            </a:r>
          </a:p>
          <a:p>
            <a:pPr>
              <a:spcAft>
                <a:spcPts val="600"/>
              </a:spcAft>
            </a:pPr>
            <a:r>
              <a:rPr sz="1800" b="0">
                <a:solidFill>
                  <a:srgbClr val="202830"/>
                </a:solidFill>
                <a:latin typeface="Malgun Gothic"/>
                <a:ea typeface="Malgun Gothic"/>
              </a:rPr>
              <a:t>•  FREQ=YEARLY; BYMONTH=1,4,7,10; BYMONTHDAY=1 — 분기 첫날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표현식은 반드시 검증하고 쓴다</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DECLARE</a:t>
            </a:r>
          </a:p>
          <a:p>
            <a:pPr>
              <a:spcAft>
                <a:spcPts val="0"/>
              </a:spcAft>
            </a:pPr>
            <a:r>
              <a:rPr sz="1250" b="0">
                <a:solidFill>
                  <a:srgbClr val="E6E6E6"/>
                </a:solidFill>
                <a:latin typeface="Consolas"/>
                <a:ea typeface="Consolas"/>
              </a:rPr>
              <a:t>  2     v_next TIMESTAMP;  v_ref TIMESTAMP := SYSTIMESTAMP;</a:t>
            </a:r>
          </a:p>
          <a:p>
            <a:pPr>
              <a:spcAft>
                <a:spcPts val="0"/>
              </a:spcAft>
            </a:pPr>
            <a:r>
              <a:rPr sz="1250" b="0">
                <a:solidFill>
                  <a:srgbClr val="E6E6E6"/>
                </a:solidFill>
                <a:latin typeface="Consolas"/>
                <a:ea typeface="Consolas"/>
              </a:rPr>
              <a:t>  3  BEGIN</a:t>
            </a:r>
          </a:p>
          <a:p>
            <a:pPr>
              <a:spcAft>
                <a:spcPts val="0"/>
              </a:spcAft>
            </a:pPr>
            <a:r>
              <a:rPr sz="1250" b="0">
                <a:solidFill>
                  <a:srgbClr val="E6E6E6"/>
                </a:solidFill>
                <a:latin typeface="Consolas"/>
                <a:ea typeface="Consolas"/>
              </a:rPr>
              <a:t>  4     FOR i IN 1 .. 3 LOOP</a:t>
            </a:r>
          </a:p>
          <a:p>
            <a:pPr>
              <a:spcAft>
                <a:spcPts val="0"/>
              </a:spcAft>
            </a:pPr>
            <a:r>
              <a:rPr sz="1250" b="0">
                <a:solidFill>
                  <a:srgbClr val="E6E6E6"/>
                </a:solidFill>
                <a:latin typeface="Consolas"/>
                <a:ea typeface="Consolas"/>
              </a:rPr>
              <a:t>  5        DBMS_SCHEDULER.EVALUATE_CALENDAR_STRING (</a:t>
            </a:r>
          </a:p>
          <a:p>
            <a:pPr>
              <a:spcAft>
                <a:spcPts val="0"/>
              </a:spcAft>
            </a:pPr>
            <a:r>
              <a:rPr sz="1250" b="0">
                <a:solidFill>
                  <a:srgbClr val="E6E6E6"/>
                </a:solidFill>
                <a:latin typeface="Consolas"/>
                <a:ea typeface="Consolas"/>
              </a:rPr>
              <a:t>  6           'FREQ=WEEKLY; BYDAY=MON; BYHOUR=7',</a:t>
            </a:r>
          </a:p>
          <a:p>
            <a:pPr>
              <a:spcAft>
                <a:spcPts val="0"/>
              </a:spcAft>
            </a:pPr>
            <a:r>
              <a:rPr sz="1250" b="0">
                <a:solidFill>
                  <a:srgbClr val="E6E6E6"/>
                </a:solidFill>
                <a:latin typeface="Consolas"/>
                <a:ea typeface="Consolas"/>
              </a:rPr>
              <a:t>  7           SYSTIMESTAMP, v_ref, v_next);</a:t>
            </a:r>
          </a:p>
          <a:p>
            <a:pPr>
              <a:spcAft>
                <a:spcPts val="0"/>
              </a:spcAft>
            </a:pPr>
            <a:r>
              <a:rPr sz="1250" b="0">
                <a:solidFill>
                  <a:srgbClr val="E6E6E6"/>
                </a:solidFill>
                <a:latin typeface="Consolas"/>
                <a:ea typeface="Consolas"/>
              </a:rPr>
              <a:t>  8        DBMS_OUTPUT.PUT_LINE(i || ' : ' ||</a:t>
            </a:r>
          </a:p>
          <a:p>
            <a:pPr>
              <a:spcAft>
                <a:spcPts val="0"/>
              </a:spcAft>
            </a:pPr>
            <a:r>
              <a:rPr sz="1250" b="0">
                <a:solidFill>
                  <a:srgbClr val="E6E6E6"/>
                </a:solidFill>
                <a:latin typeface="Consolas"/>
                <a:ea typeface="Consolas"/>
              </a:rPr>
              <a:t>  9           TO_CHAR(v_next,'YYYY-MM-DD DY HH24:MI'));</a:t>
            </a:r>
          </a:p>
          <a:p>
            <a:pPr>
              <a:spcAft>
                <a:spcPts val="0"/>
              </a:spcAft>
            </a:pPr>
            <a:r>
              <a:rPr sz="1250" b="0">
                <a:solidFill>
                  <a:srgbClr val="E6E6E6"/>
                </a:solidFill>
                <a:latin typeface="Consolas"/>
                <a:ea typeface="Consolas"/>
              </a:rPr>
              <a:t> 10        v_ref := v_next;</a:t>
            </a:r>
          </a:p>
          <a:p>
            <a:pPr>
              <a:spcAft>
                <a:spcPts val="0"/>
              </a:spcAft>
            </a:pPr>
            <a:r>
              <a:rPr sz="1250" b="0">
                <a:solidFill>
                  <a:srgbClr val="E6E6E6"/>
                </a:solidFill>
                <a:latin typeface="Consolas"/>
                <a:ea typeface="Consolas"/>
              </a:rPr>
              <a:t> 11     END LOOP;</a:t>
            </a:r>
          </a:p>
          <a:p>
            <a:pPr>
              <a:spcAft>
                <a:spcPts val="0"/>
              </a:spcAft>
            </a:pPr>
            <a:r>
              <a:rPr sz="1250" b="0">
                <a:solidFill>
                  <a:srgbClr val="E6E6E6"/>
                </a:solidFill>
                <a:latin typeface="Consolas"/>
                <a:ea typeface="Consolas"/>
              </a:rPr>
              <a:t> 12  END;</a:t>
            </a:r>
          </a:p>
          <a:p>
            <a:pPr>
              <a:spcAft>
                <a:spcPts val="0"/>
              </a:spcAft>
            </a:pPr>
            <a:r>
              <a:rPr sz="1250" b="0">
                <a:solidFill>
                  <a:srgbClr val="E6E6E6"/>
                </a:solidFill>
                <a:latin typeface="Consolas"/>
                <a:ea typeface="Consolas"/>
              </a:rPr>
              <a:t> 13  /</a:t>
            </a:r>
          </a:p>
          <a:p>
            <a:pPr>
              <a:spcAft>
                <a:spcPts val="0"/>
              </a:spcAft>
            </a:pPr>
            <a:r>
              <a:rPr sz="1250" b="0">
                <a:solidFill>
                  <a:srgbClr val="E6E6E6"/>
                </a:solidFill>
                <a:latin typeface="Consolas"/>
                <a:ea typeface="Consolas"/>
              </a:rPr>
              <a:t>1 : 2026-08-24 MON 07:00</a:t>
            </a:r>
          </a:p>
          <a:p>
            <a:pPr>
              <a:spcAft>
                <a:spcPts val="0"/>
              </a:spcAft>
            </a:pPr>
            <a:r>
              <a:rPr sz="1250" b="0">
                <a:solidFill>
                  <a:srgbClr val="E6E6E6"/>
                </a:solidFill>
                <a:latin typeface="Consolas"/>
                <a:ea typeface="Consolas"/>
              </a:rPr>
              <a:t>2 : 2026-08-31 MON 07:00</a:t>
            </a:r>
          </a:p>
          <a:p>
            <a:pPr>
              <a:spcAft>
                <a:spcPts val="0"/>
              </a:spcAft>
            </a:pPr>
            <a:r>
              <a:rPr sz="1250" b="0">
                <a:solidFill>
                  <a:srgbClr val="E6E6E6"/>
                </a:solidFill>
                <a:latin typeface="Consolas"/>
                <a:ea typeface="Consolas"/>
              </a:rPr>
              <a:t>3 : 2026-09-07 MON 07:00</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문법이 틀리면 ORA-27419 로 즉시 알려 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Program 과 Schedule 을 조합한 Job</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DBMS_SCHEDULER.CREATE_JOB (</a:t>
            </a:r>
          </a:p>
          <a:p>
            <a:pPr>
              <a:spcAft>
                <a:spcPts val="0"/>
              </a:spcAft>
            </a:pPr>
            <a:r>
              <a:rPr sz="1250" b="0">
                <a:solidFill>
                  <a:srgbClr val="E6E6E6"/>
                </a:solidFill>
                <a:latin typeface="Consolas"/>
                <a:ea typeface="Consolas"/>
              </a:rPr>
              <a:t>      job_name      =&gt; 'J_INVALID_NIGHTLY',</a:t>
            </a:r>
          </a:p>
          <a:p>
            <a:pPr>
              <a:spcAft>
                <a:spcPts val="0"/>
              </a:spcAft>
            </a:pPr>
            <a:r>
              <a:rPr sz="1250" b="0">
                <a:solidFill>
                  <a:srgbClr val="E6E6E6"/>
                </a:solidFill>
                <a:latin typeface="Consolas"/>
                <a:ea typeface="Consolas"/>
              </a:rPr>
              <a:t>      program_name  =&gt; 'PRG_INVALID_CHECK',</a:t>
            </a:r>
          </a:p>
          <a:p>
            <a:pPr>
              <a:spcAft>
                <a:spcPts val="0"/>
              </a:spcAft>
            </a:pPr>
            <a:r>
              <a:rPr sz="1250" b="0">
                <a:solidFill>
                  <a:srgbClr val="E6E6E6"/>
                </a:solidFill>
                <a:latin typeface="Consolas"/>
                <a:ea typeface="Consolas"/>
              </a:rPr>
              <a:t>      schedule_name =&gt; 'SCH_NIGHTLY_02',</a:t>
            </a:r>
          </a:p>
          <a:p>
            <a:pPr>
              <a:spcAft>
                <a:spcPts val="0"/>
              </a:spcAft>
            </a:pPr>
            <a:r>
              <a:rPr sz="1250" b="0">
                <a:solidFill>
                  <a:srgbClr val="E6E6E6"/>
                </a:solidFill>
                <a:latin typeface="Consolas"/>
                <a:ea typeface="Consolas"/>
              </a:rPr>
              <a:t>      enabled       =&gt; FALSE,</a:t>
            </a:r>
          </a:p>
          <a:p>
            <a:pPr>
              <a:spcAft>
                <a:spcPts val="0"/>
              </a:spcAft>
            </a:pPr>
            <a:r>
              <a:rPr sz="1250" b="0">
                <a:solidFill>
                  <a:srgbClr val="E6E6E6"/>
                </a:solidFill>
                <a:latin typeface="Consolas"/>
                <a:ea typeface="Consolas"/>
              </a:rPr>
              <a:t>      auto_drop     =&gt; FALSE);</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 Program 기본값 대신 이 Job 만의 인자 값을 지정한다</a:t>
            </a:r>
          </a:p>
          <a:p>
            <a:pPr>
              <a:spcAft>
                <a:spcPts val="0"/>
              </a:spcAft>
            </a:pPr>
            <a:r>
              <a:rPr sz="1250" b="0">
                <a:solidFill>
                  <a:srgbClr val="E6E6E6"/>
                </a:solidFill>
                <a:latin typeface="Consolas"/>
                <a:ea typeface="Consolas"/>
              </a:rPr>
              <a:t>   DBMS_SCHEDULER.SET_JOB_ARGUMENT_VALUE ('J_INVALID_NIGHTLY', 1, 'HR');</a:t>
            </a:r>
          </a:p>
          <a:p>
            <a:pPr>
              <a:spcAft>
                <a:spcPts val="0"/>
              </a:spcAft>
            </a:pPr>
            <a:r>
              <a:rPr sz="1250" b="0">
                <a:solidFill>
                  <a:srgbClr val="E6E6E6"/>
                </a:solidFill>
                <a:latin typeface="Consolas"/>
                <a:ea typeface="Consolas"/>
              </a:rPr>
              <a:t>   DBMS_SCHEDULER.ENABLE ('J_INVALID_NIGHTLY');</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관심사 분리</a:t>
            </a:r>
          </a:p>
          <a:p>
            <a:pPr>
              <a:spcAft>
                <a:spcPts val="0"/>
              </a:spcAft>
            </a:pPr>
            <a:r>
              <a:rPr sz="1250" b="0">
                <a:solidFill>
                  <a:srgbClr val="7EC699"/>
                </a:solidFill>
                <a:latin typeface="Consolas"/>
                <a:ea typeface="Consolas"/>
              </a:rPr>
              <a:t>--   실행 로직이 바뀌면 Program 만, 실행 시각이 바뀌면 Schedule 만 고친다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실무 시나리오 · 배치 시각 30분 조정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요청 — 야간 백업이 길어져 02:00 배치 다섯 개를 02:30 으로 옮겨 달라</a:t>
            </a:r>
          </a:p>
          <a:p>
            <a:pPr>
              <a:spcAft>
                <a:spcPts val="600"/>
              </a:spcAft>
            </a:pPr>
            <a:r>
              <a:rPr sz="1800" b="0">
                <a:solidFill>
                  <a:srgbClr val="202830"/>
                </a:solidFill>
                <a:latin typeface="Malgun Gothic"/>
                <a:ea typeface="Malgun Gothic"/>
              </a:rPr>
              <a:t>•  인라인 방식이었다면</a:t>
            </a:r>
          </a:p>
          <a:p>
            <a:pPr>
              <a:spcAft>
                <a:spcPts val="600"/>
              </a:spcAft>
            </a:pPr>
            <a:r>
              <a:rPr sz="1600" b="0">
                <a:solidFill>
                  <a:srgbClr val="5A6672"/>
                </a:solidFill>
                <a:latin typeface="Malgun Gothic"/>
                <a:ea typeface="Malgun Gothic"/>
              </a:rPr>
              <a:t>    –  Job 다섯 개의 repeat_interval 을 각각 SET_ATTRIBUTE 로 수정</a:t>
            </a:r>
          </a:p>
          <a:p>
            <a:pPr>
              <a:spcAft>
                <a:spcPts val="600"/>
              </a:spcAft>
            </a:pPr>
            <a:r>
              <a:rPr sz="1600" b="0">
                <a:solidFill>
                  <a:srgbClr val="5A6672"/>
                </a:solidFill>
                <a:latin typeface="Malgun Gothic"/>
                <a:ea typeface="Malgun Gothic"/>
              </a:rPr>
              <a:t>    –  하나라도 빠뜨리면 그 작업만 백업과 충돌한다</a:t>
            </a:r>
          </a:p>
          <a:p>
            <a:pPr>
              <a:spcAft>
                <a:spcPts val="600"/>
              </a:spcAft>
            </a:pPr>
            <a:r>
              <a:rPr sz="1800" b="0">
                <a:solidFill>
                  <a:srgbClr val="202830"/>
                </a:solidFill>
                <a:latin typeface="Malgun Gothic"/>
                <a:ea typeface="Malgun Gothic"/>
              </a:rPr>
              <a:t>•  Schedule 을 분리해 두었다면</a:t>
            </a:r>
          </a:p>
          <a:p>
            <a:pPr>
              <a:spcAft>
                <a:spcPts val="600"/>
              </a:spcAft>
            </a:pPr>
            <a:r>
              <a:rPr sz="1600" b="0">
                <a:solidFill>
                  <a:srgbClr val="5A6672"/>
                </a:solidFill>
                <a:latin typeface="Malgun Gothic"/>
                <a:ea typeface="Malgun Gothic"/>
              </a:rPr>
              <a:t>    –  SCH_NIGHTLY_02 하나만 고치면 다섯 개의 NEXT_RUN_DATE 가 함께 재계산</a:t>
            </a:r>
          </a:p>
          <a:p>
            <a:pPr>
              <a:spcAft>
                <a:spcPts val="600"/>
              </a:spcAft>
            </a:pPr>
            <a:r>
              <a:rPr sz="1800" b="0">
                <a:solidFill>
                  <a:srgbClr val="202830"/>
                </a:solidFill>
                <a:latin typeface="Malgun Gothic"/>
                <a:ea typeface="Malgun Gothic"/>
              </a:rPr>
              <a:t>•  교훈 — 두 개 이상의 Job 이 시각을 공유하면 Schedule 객체로 뽑는다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실패에 견디는 Job 속성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max_failures — 연속 실패가 이 횟수면 BROKEN 이 되어 시도를 멈춘다</a:t>
            </a:r>
          </a:p>
          <a:p>
            <a:pPr>
              <a:spcAft>
                <a:spcPts val="600"/>
              </a:spcAft>
            </a:pPr>
            <a:r>
              <a:rPr sz="1800" b="0">
                <a:solidFill>
                  <a:srgbClr val="202830"/>
                </a:solidFill>
                <a:latin typeface="Malgun Gothic"/>
                <a:ea typeface="Malgun Gothic"/>
              </a:rPr>
              <a:t>•  max_runs — 총 실행 횟수 상한. 도달하면 COMPLETED</a:t>
            </a:r>
          </a:p>
          <a:p>
            <a:pPr>
              <a:spcAft>
                <a:spcPts val="600"/>
              </a:spcAft>
            </a:pPr>
            <a:r>
              <a:rPr sz="1800" b="0">
                <a:solidFill>
                  <a:srgbClr val="202830"/>
                </a:solidFill>
                <a:latin typeface="Malgun Gothic"/>
                <a:ea typeface="Malgun Gothic"/>
              </a:rPr>
              <a:t>•  restartable — 인스턴스 장애로 중단된 실행을 재시작 (기본 FALSE)</a:t>
            </a:r>
          </a:p>
          <a:p>
            <a:pPr>
              <a:spcAft>
                <a:spcPts val="600"/>
              </a:spcAft>
            </a:pPr>
            <a:r>
              <a:rPr sz="1800" b="0">
                <a:solidFill>
                  <a:srgbClr val="202830"/>
                </a:solidFill>
                <a:latin typeface="Malgun Gothic"/>
                <a:ea typeface="Malgun Gothic"/>
              </a:rPr>
              <a:t>•  schedule_limit — 예정 시각보다 이만큼 늦어지면 그 회차를 건너뛴다</a:t>
            </a:r>
          </a:p>
          <a:p>
            <a:pPr>
              <a:spcAft>
                <a:spcPts val="600"/>
              </a:spcAft>
            </a:pPr>
            <a:r>
              <a:rPr sz="1800" b="0">
                <a:solidFill>
                  <a:srgbClr val="202830"/>
                </a:solidFill>
                <a:latin typeface="Malgun Gothic"/>
                <a:ea typeface="Malgun Gothic"/>
              </a:rPr>
              <a:t>•  job_priority — 같은 시각 경합 시 1(높음) ~ 5(낮음), 기본 3</a:t>
            </a:r>
          </a:p>
          <a:p>
            <a:pPr>
              <a:spcAft>
                <a:spcPts val="600"/>
              </a:spcAft>
            </a:pPr>
            <a:r>
              <a:rPr sz="1800" b="0">
                <a:solidFill>
                  <a:srgbClr val="202830"/>
                </a:solidFill>
                <a:latin typeface="Malgun Gothic"/>
                <a:ea typeface="Malgun Gothic"/>
              </a:rPr>
              <a:t>•  logging_level — OFF · FAILED_RUNS · RUNS · FULL</a:t>
            </a:r>
          </a:p>
          <a:p>
            <a:pPr>
              <a:spcAft>
                <a:spcPts val="600"/>
              </a:spcAft>
            </a:pPr>
            <a:r>
              <a:rPr sz="1800" b="0">
                <a:solidFill>
                  <a:srgbClr val="202830"/>
                </a:solidFill>
                <a:latin typeface="Malgun Gothic"/>
                <a:ea typeface="Malgun Gothic"/>
              </a:rPr>
              <a:t>•  auto_drop — FALSE 로 두어야 이력을 나중에 확인할 수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SET_ATTRIBUTE 로 속성 조정</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DBMS_SCHEDULER.SET_ATTRIBUTE ('J_INVALID_NIGHTLY', 'max_failures', 3);</a:t>
            </a:r>
          </a:p>
          <a:p>
            <a:pPr>
              <a:spcAft>
                <a:spcPts val="0"/>
              </a:spcAft>
            </a:pPr>
            <a:r>
              <a:rPr sz="1250" b="0">
                <a:solidFill>
                  <a:srgbClr val="E6E6E6"/>
                </a:solidFill>
                <a:latin typeface="Consolas"/>
                <a:ea typeface="Consolas"/>
              </a:rPr>
              <a:t>   DBMS_SCHEDULER.SET_ATTRIBUTE ('J_INVALID_NIGHTLY', 'restartable', TRUE);</a:t>
            </a:r>
          </a:p>
          <a:p>
            <a:pPr>
              <a:spcAft>
                <a:spcPts val="0"/>
              </a:spcAft>
            </a:pPr>
            <a:r>
              <a:rPr sz="1250" b="0">
                <a:solidFill>
                  <a:srgbClr val="E6E6E6"/>
                </a:solidFill>
                <a:latin typeface="Consolas"/>
                <a:ea typeface="Consolas"/>
              </a:rPr>
              <a:t>   DBMS_SCHEDULER.SET_ATTRIBUTE ('J_INVALID_NIGHTLY', 'schedule_limit',</a:t>
            </a:r>
          </a:p>
          <a:p>
            <a:pPr>
              <a:spcAft>
                <a:spcPts val="0"/>
              </a:spcAft>
            </a:pPr>
            <a:r>
              <a:rPr sz="1250" b="0">
                <a:solidFill>
                  <a:srgbClr val="E6E6E6"/>
                </a:solidFill>
                <a:latin typeface="Consolas"/>
                <a:ea typeface="Consolas"/>
              </a:rPr>
              <a:t>                                 INTERVAL '30' MINUTE);</a:t>
            </a:r>
          </a:p>
          <a:p>
            <a:pPr>
              <a:spcAft>
                <a:spcPts val="0"/>
              </a:spcAft>
            </a:pPr>
            <a:r>
              <a:rPr sz="1250" b="0">
                <a:solidFill>
                  <a:srgbClr val="E6E6E6"/>
                </a:solidFill>
                <a:latin typeface="Consolas"/>
                <a:ea typeface="Consolas"/>
              </a:rPr>
              <a:t>   DBMS_SCHEDULER.SET_ATTRIBUTE ('J_INVALID_NIGHTLY', 'logging_level',</a:t>
            </a:r>
          </a:p>
          <a:p>
            <a:pPr>
              <a:spcAft>
                <a:spcPts val="0"/>
              </a:spcAft>
            </a:pPr>
            <a:r>
              <a:rPr sz="1250" b="0">
                <a:solidFill>
                  <a:srgbClr val="E6E6E6"/>
                </a:solidFill>
                <a:latin typeface="Consolas"/>
                <a:ea typeface="Consolas"/>
              </a:rPr>
              <a:t>                                 DBMS_SCHEDULER.LOGGING_FULL);</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 값을 지워 기본값으로 되돌릴 때</a:t>
            </a:r>
          </a:p>
          <a:p>
            <a:pPr>
              <a:spcAft>
                <a:spcPts val="0"/>
              </a:spcAft>
            </a:pPr>
            <a:r>
              <a:rPr sz="1250" b="0">
                <a:solidFill>
                  <a:srgbClr val="E6E6E6"/>
                </a:solidFill>
                <a:latin typeface="Consolas"/>
                <a:ea typeface="Consolas"/>
              </a:rPr>
              <a:t>   DBMS_SCHEDULER.SET_ATTRIBUTE_NULL ('J_INVALID_NIGHTLY', 'end_date');</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BROKEN 이 된 Job 은 원인 조치 후 ENABLE 로 되살린다</a:t>
            </a:r>
          </a:p>
          <a:p>
            <a:pPr>
              <a:spcAft>
                <a:spcPts val="0"/>
              </a:spcAft>
            </a:pPr>
            <a:r>
              <a:rPr sz="1250" b="0">
                <a:solidFill>
                  <a:srgbClr val="7EC699"/>
                </a:solidFill>
                <a:latin typeface="Consolas"/>
                <a:ea typeface="Consolas"/>
              </a:rPr>
              <a:t>--   ENABLE 시 실패 카운터도 함께 초기화된다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RUN_JOB — 동기와 비동기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동기 실행 (use_current_session 기본값 TRUE)</a:t>
            </a:r>
          </a:p>
          <a:p>
            <a:pPr>
              <a:spcAft>
                <a:spcPts val="0"/>
              </a:spcAft>
            </a:pPr>
            <a:r>
              <a:rPr sz="1250" b="0">
                <a:solidFill>
                  <a:srgbClr val="7EC699"/>
                </a:solidFill>
                <a:latin typeface="Consolas"/>
                <a:ea typeface="Consolas"/>
              </a:rPr>
              <a:t>--   내 세션에서 즉시 수행된다</a:t>
            </a:r>
          </a:p>
          <a:p>
            <a:pPr>
              <a:spcAft>
                <a:spcPts val="0"/>
              </a:spcAft>
            </a:pPr>
            <a:r>
              <a:rPr sz="1250" b="0">
                <a:solidFill>
                  <a:srgbClr val="7EC699"/>
                </a:solidFill>
                <a:latin typeface="Consolas"/>
                <a:ea typeface="Consolas"/>
              </a:rPr>
              <a:t>--   작업이 끝날 때까지 프롬프트가 돌아오지 않는다</a:t>
            </a:r>
          </a:p>
          <a:p>
            <a:pPr>
              <a:spcAft>
                <a:spcPts val="0"/>
              </a:spcAft>
            </a:pPr>
            <a:r>
              <a:rPr sz="1250" b="0">
                <a:solidFill>
                  <a:srgbClr val="7EC699"/>
                </a:solidFill>
                <a:latin typeface="Consolas"/>
                <a:ea typeface="Consolas"/>
              </a:rPr>
              <a:t>--   예외가 그대로 화면에 표시되고 DBMS_OUTPUT 도 보인다</a:t>
            </a:r>
          </a:p>
          <a:p>
            <a:pPr>
              <a:spcAft>
                <a:spcPts val="0"/>
              </a:spcAft>
            </a:pPr>
            <a:r>
              <a:rPr sz="1250" b="0">
                <a:solidFill>
                  <a:srgbClr val="7EC699"/>
                </a:solidFill>
                <a:latin typeface="Consolas"/>
                <a:ea typeface="Consolas"/>
              </a:rPr>
              <a:t>--   → 개발 중 디버깅에 가장 유용하다</a:t>
            </a:r>
          </a:p>
          <a:p>
            <a:pPr>
              <a:spcAft>
                <a:spcPts val="0"/>
              </a:spcAft>
            </a:pPr>
            <a:r>
              <a:rPr sz="1250" b="0">
                <a:solidFill>
                  <a:srgbClr val="E6E6E6"/>
                </a:solidFill>
                <a:latin typeface="Consolas"/>
                <a:ea typeface="Consolas"/>
              </a:rPr>
              <a:t>EXEC DBMS_SCHEDULER.RUN_JOB('J_INVALID_NIGHTLY');</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비동기 실행</a:t>
            </a:r>
          </a:p>
          <a:p>
            <a:pPr>
              <a:spcAft>
                <a:spcPts val="0"/>
              </a:spcAft>
            </a:pPr>
            <a:r>
              <a:rPr sz="1250" b="0">
                <a:solidFill>
                  <a:srgbClr val="7EC699"/>
                </a:solidFill>
                <a:latin typeface="Consolas"/>
                <a:ea typeface="Consolas"/>
              </a:rPr>
              <a:t>--   슬레이브가 수행하므로 프롬프트는 즉시 돌아온다</a:t>
            </a:r>
          </a:p>
          <a:p>
            <a:pPr>
              <a:spcAft>
                <a:spcPts val="0"/>
              </a:spcAft>
            </a:pPr>
            <a:r>
              <a:rPr sz="1250" b="0">
                <a:solidFill>
                  <a:srgbClr val="7EC699"/>
                </a:solidFill>
                <a:latin typeface="Consolas"/>
                <a:ea typeface="Consolas"/>
              </a:rPr>
              <a:t>--   실제 운영과 같은 환경에서 검증할 수 있다</a:t>
            </a:r>
          </a:p>
          <a:p>
            <a:pPr>
              <a:spcAft>
                <a:spcPts val="0"/>
              </a:spcAft>
            </a:pPr>
            <a:r>
              <a:rPr sz="1250" b="0">
                <a:solidFill>
                  <a:srgbClr val="7EC699"/>
                </a:solidFill>
                <a:latin typeface="Consolas"/>
                <a:ea typeface="Consolas"/>
              </a:rPr>
              <a:t>--   실행 이력은 슬레이브가 끝난 뒤에야 뷰에 나타난다</a:t>
            </a:r>
          </a:p>
          <a:p>
            <a:pPr>
              <a:spcAft>
                <a:spcPts val="0"/>
              </a:spcAft>
            </a:pPr>
            <a:r>
              <a:rPr sz="1250" b="0">
                <a:solidFill>
                  <a:srgbClr val="E6E6E6"/>
                </a:solidFill>
                <a:latin typeface="Consolas"/>
                <a:ea typeface="Consolas"/>
              </a:rPr>
              <a:t>EXEC DBMS_SCHEDULER.RUN_JOB('J_INVALID_NIGHTLY',</a:t>
            </a:r>
          </a:p>
          <a:p>
            <a:pPr>
              <a:spcAft>
                <a:spcPts val="0"/>
              </a:spcAft>
            </a:pPr>
            <a:r>
              <a:rPr sz="1250" b="0">
                <a:solidFill>
                  <a:srgbClr val="E6E6E6"/>
                </a:solidFill>
                <a:latin typeface="Consolas"/>
                <a:ea typeface="Consolas"/>
              </a:rPr>
              <a:t>                            use_current_session =&gt; FALSE);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STOP_JOB 과 DROP_JOB</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지금 돌고 있는 작업 확인이 먼저다</a:t>
            </a:r>
          </a:p>
          <a:p>
            <a:pPr>
              <a:spcAft>
                <a:spcPts val="0"/>
              </a:spcAft>
            </a:pPr>
            <a:r>
              <a:rPr sz="1250" b="0">
                <a:solidFill>
                  <a:srgbClr val="E6E6E6"/>
                </a:solidFill>
                <a:latin typeface="Consolas"/>
                <a:ea typeface="Consolas"/>
              </a:rPr>
              <a:t>SELECT job_name, session_id, elapsed_time</a:t>
            </a:r>
          </a:p>
          <a:p>
            <a:pPr>
              <a:spcAft>
                <a:spcPts val="0"/>
              </a:spcAft>
            </a:pPr>
            <a:r>
              <a:rPr sz="1250" b="0">
                <a:solidFill>
                  <a:srgbClr val="E6E6E6"/>
                </a:solidFill>
                <a:latin typeface="Consolas"/>
                <a:ea typeface="Consolas"/>
              </a:rPr>
              <a:t>  FROM user_scheduler_running_jobs;</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EXEC DBMS_SCHEDULER.STOP_JOB('J_INVALID_NIGHTLY');</a:t>
            </a:r>
          </a:p>
          <a:p>
            <a:pPr>
              <a:spcAft>
                <a:spcPts val="0"/>
              </a:spcAft>
            </a:pPr>
            <a:r>
              <a:rPr sz="1250" b="0">
                <a:solidFill>
                  <a:srgbClr val="E6E6E6"/>
                </a:solidFill>
                <a:latin typeface="Consolas"/>
                <a:ea typeface="Consolas"/>
              </a:rPr>
              <a:t>EXEC DBMS_SCHEDULER.STOP_JOB('J_INVALID_NIGHTLY', force =&gt; TRUE);</a:t>
            </a:r>
          </a:p>
          <a:p>
            <a:pPr>
              <a:spcAft>
                <a:spcPts val="0"/>
              </a:spcAft>
            </a:pPr>
            <a:r>
              <a:rPr sz="1250" b="0">
                <a:solidFill>
                  <a:srgbClr val="7EC699"/>
                </a:solidFill>
                <a:latin typeface="Consolas"/>
                <a:ea typeface="Consolas"/>
              </a:rPr>
              <a:t>--   force 는 MANAGE SCHEDULER 권한이 필요하다</a:t>
            </a:r>
          </a:p>
          <a:p>
            <a:pPr>
              <a:spcAft>
                <a:spcPts val="0"/>
              </a:spcAft>
            </a:pPr>
            <a:r>
              <a:rPr sz="1250" b="0">
                <a:solidFill>
                  <a:srgbClr val="7EC699"/>
                </a:solidFill>
                <a:latin typeface="Consolas"/>
                <a:ea typeface="Consolas"/>
              </a:rPr>
              <a:t>--   중단된 실행은 이력에 STOPPED 로 남는다</a:t>
            </a:r>
          </a:p>
          <a:p>
            <a:pPr>
              <a:spcAft>
                <a:spcPts val="0"/>
              </a:spcAft>
            </a:pPr>
            <a:r>
              <a:rPr sz="1250" b="0">
                <a:solidFill>
                  <a:srgbClr val="7EC699"/>
                </a:solidFill>
                <a:latin typeface="Consolas"/>
                <a:ea typeface="Consolas"/>
              </a:rPr>
              <a:t>--   실행 중이 아니면 ORA-27366: job "HR"."J_..." is not running</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EXEC DBMS_SCHEDULER.DROP_JOB('J_INVALID_NIGHTLY', force =&gt; TRUE);</a:t>
            </a:r>
          </a:p>
          <a:p>
            <a:pPr>
              <a:spcAft>
                <a:spcPts val="0"/>
              </a:spcAft>
            </a:pPr>
            <a:r>
              <a:rPr sz="1250" b="0">
                <a:solidFill>
                  <a:srgbClr val="7EC699"/>
                </a:solidFill>
                <a:latin typeface="Consolas"/>
                <a:ea typeface="Consolas"/>
              </a:rPr>
              <a:t>--   실행 중인데 force 없이 지우면 ORA-27478: job is running</a:t>
            </a:r>
          </a:p>
          <a:p>
            <a:pPr>
              <a:spcAft>
                <a:spcPts val="0"/>
              </a:spcAft>
            </a:pPr>
            <a:r>
              <a:rPr sz="1250" b="0">
                <a:solidFill>
                  <a:srgbClr val="7EC699"/>
                </a:solidFill>
                <a:latin typeface="Consolas"/>
                <a:ea typeface="Consolas"/>
              </a:rPr>
              <a:t>--   존재하지 않는 Job 을 지우면 ORA-27475: "..." must be a job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5400" b="1">
                <a:solidFill>
                  <a:srgbClr val="C0392B"/>
                </a:solidFill>
                <a:latin typeface="Malgun Gothic"/>
                <a:ea typeface="Malgun Gothic"/>
              </a:rPr>
              <a:t>7.11~7.13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상태 조회 · 실행 이력 · 실패 진단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USER_SCHEDULER_JOBS 의 STATE 와 FAILURE_COUNT</a:t>
            </a:r>
          </a:p>
          <a:p>
            <a:pPr>
              <a:spcAft>
                <a:spcPts val="600"/>
              </a:spcAft>
            </a:pPr>
            <a:r>
              <a:rPr sz="1600" b="0">
                <a:solidFill>
                  <a:srgbClr val="C5CED6"/>
                </a:solidFill>
                <a:latin typeface="Malgun Gothic"/>
                <a:ea typeface="Malgun Gothic"/>
              </a:rPr>
              <a:t>•  *_SCHEDULER_JOB_LOG 와 *_SCHEDULER_JOB_RUN_DETAILS</a:t>
            </a:r>
          </a:p>
          <a:p>
            <a:pPr>
              <a:spcAft>
                <a:spcPts val="600"/>
              </a:spcAft>
            </a:pPr>
            <a:r>
              <a:rPr sz="1600" b="0">
                <a:solidFill>
                  <a:srgbClr val="C5CED6"/>
                </a:solidFill>
                <a:latin typeface="Malgun Gothic"/>
                <a:ea typeface="Malgun Gothic"/>
              </a:rPr>
              <a:t>•  ADDITIONAL_INFO 로 실패 원인 규명하기</a:t>
            </a:r>
          </a:p>
          <a:p>
            <a:pPr>
              <a:spcAft>
                <a:spcPts val="600"/>
              </a:spcAft>
            </a:pPr>
            <a:r>
              <a:rPr sz="1600" b="0">
                <a:solidFill>
                  <a:srgbClr val="C5CED6"/>
                </a:solidFill>
                <a:latin typeface="Malgun Gothic"/>
                <a:ea typeface="Malgun Gothic"/>
              </a:rPr>
              <a:t>•  실패 유형 분류와 재시도 정책</a:t>
            </a:r>
          </a:p>
          <a:p>
            <a:pPr>
              <a:spcAft>
                <a:spcPts val="600"/>
              </a:spcAft>
            </a:pPr>
            <a:r>
              <a:rPr sz="1600" b="0">
                <a:solidFill>
                  <a:srgbClr val="C5CED6"/>
                </a:solidFill>
                <a:latin typeface="Malgun Gothic"/>
                <a:ea typeface="Malgun Gothic"/>
              </a:rPr>
              <a:t>•  로그 보존 기간과 이메일 알림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Job 상태 한눈에 보기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SELECT job_name, enabled, state, run_count AS runs,</a:t>
            </a:r>
          </a:p>
          <a:p>
            <a:pPr>
              <a:spcAft>
                <a:spcPts val="0"/>
              </a:spcAft>
            </a:pPr>
            <a:r>
              <a:rPr sz="1250" b="0">
                <a:solidFill>
                  <a:srgbClr val="E6E6E6"/>
                </a:solidFill>
                <a:latin typeface="Consolas"/>
                <a:ea typeface="Consolas"/>
              </a:rPr>
              <a:t>  2         failure_count AS fails,</a:t>
            </a:r>
          </a:p>
          <a:p>
            <a:pPr>
              <a:spcAft>
                <a:spcPts val="0"/>
              </a:spcAft>
            </a:pPr>
            <a:r>
              <a:rPr sz="1250" b="0">
                <a:solidFill>
                  <a:srgbClr val="E6E6E6"/>
                </a:solidFill>
                <a:latin typeface="Consolas"/>
                <a:ea typeface="Consolas"/>
              </a:rPr>
              <a:t>  3         TO_CHAR(next_run_date,'MM-DD HH24:MI') AS next_run</a:t>
            </a:r>
          </a:p>
          <a:p>
            <a:pPr>
              <a:spcAft>
                <a:spcPts val="0"/>
              </a:spcAft>
            </a:pPr>
            <a:r>
              <a:rPr sz="1250" b="0">
                <a:solidFill>
                  <a:srgbClr val="E6E6E6"/>
                </a:solidFill>
                <a:latin typeface="Consolas"/>
                <a:ea typeface="Consolas"/>
              </a:rPr>
              <a:t>  4    FROM user_scheduler_jobs ORDER BY job_name;</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JOB_NAME               ENABLED  STATE       RUNS  FAILS  NEXT_RUN</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J_DAILY_USER_CHECK     TRUE     SCHEDULED      7      0  08-20 02:00</a:t>
            </a:r>
          </a:p>
          <a:p>
            <a:pPr>
              <a:spcAft>
                <a:spcPts val="0"/>
              </a:spcAft>
            </a:pPr>
            <a:r>
              <a:rPr sz="1250" b="0">
                <a:solidFill>
                  <a:srgbClr val="E6E6E6"/>
                </a:solidFill>
                <a:latin typeface="Consolas"/>
                <a:ea typeface="Consolas"/>
              </a:rPr>
              <a:t>J_INVALID_NIGHTLY      TRUE     RUNNING        3      1</a:t>
            </a:r>
          </a:p>
          <a:p>
            <a:pPr>
              <a:spcAft>
                <a:spcPts val="0"/>
              </a:spcAft>
            </a:pPr>
            <a:r>
              <a:rPr sz="1250" b="0">
                <a:solidFill>
                  <a:srgbClr val="E6E6E6"/>
                </a:solidFill>
                <a:latin typeface="Consolas"/>
                <a:ea typeface="Consolas"/>
              </a:rPr>
              <a:t>J_ONE_SHOT             FALSE    DISABLED       0      0</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진단의 출발점은 네 컬럼</a:t>
            </a:r>
          </a:p>
          <a:p>
            <a:pPr>
              <a:spcAft>
                <a:spcPts val="0"/>
              </a:spcAft>
            </a:pPr>
            <a:r>
              <a:rPr sz="1250" b="0">
                <a:solidFill>
                  <a:srgbClr val="7EC699"/>
                </a:solidFill>
                <a:latin typeface="Consolas"/>
                <a:ea typeface="Consolas"/>
              </a:rPr>
              <a:t>--   ENABLED · STATE · NEXT_RUN_DATE · FAILURE_COUNT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STATE 값 읽는 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DISABLED — ENABLE 을 호출하지 않았거나 누가 껐다</a:t>
            </a:r>
          </a:p>
          <a:p>
            <a:pPr>
              <a:spcAft>
                <a:spcPts val="600"/>
              </a:spcAft>
            </a:pPr>
            <a:r>
              <a:rPr sz="1800" b="0">
                <a:solidFill>
                  <a:srgbClr val="202830"/>
                </a:solidFill>
                <a:latin typeface="Malgun Gothic"/>
                <a:ea typeface="Malgun Gothic"/>
              </a:rPr>
              <a:t>•  SCHEDULED — 정상. NEXT_RUN_DATE 에 실행을 기다린다</a:t>
            </a:r>
          </a:p>
          <a:p>
            <a:pPr>
              <a:spcAft>
                <a:spcPts val="600"/>
              </a:spcAft>
            </a:pPr>
            <a:r>
              <a:rPr sz="1800" b="0">
                <a:solidFill>
                  <a:srgbClr val="202830"/>
                </a:solidFill>
                <a:latin typeface="Malgun Gothic"/>
                <a:ea typeface="Malgun Gothic"/>
              </a:rPr>
              <a:t>•  RUNNING — 슬레이브가 수행 중. RUNNING_JOBS 에서 경과 시간 확인</a:t>
            </a:r>
          </a:p>
          <a:p>
            <a:pPr>
              <a:spcAft>
                <a:spcPts val="600"/>
              </a:spcAft>
            </a:pPr>
            <a:r>
              <a:rPr sz="1800" b="0">
                <a:solidFill>
                  <a:srgbClr val="202830"/>
                </a:solidFill>
                <a:latin typeface="Malgun Gothic"/>
                <a:ea typeface="Malgun Gothic"/>
              </a:rPr>
              <a:t>•  COMPLETED — end_date 또는 max_runs 도달. 더 실행하지 않는다</a:t>
            </a:r>
          </a:p>
          <a:p>
            <a:pPr>
              <a:spcAft>
                <a:spcPts val="600"/>
              </a:spcAft>
            </a:pPr>
            <a:r>
              <a:rPr sz="1800" b="0">
                <a:solidFill>
                  <a:srgbClr val="202830"/>
                </a:solidFill>
                <a:latin typeface="Malgun Gothic"/>
                <a:ea typeface="Malgun Gothic"/>
              </a:rPr>
              <a:t>•  BROKEN — 연속 실패가 max_failures 도달. 조치 후 ENABLE 필요</a:t>
            </a:r>
          </a:p>
          <a:p>
            <a:pPr>
              <a:spcAft>
                <a:spcPts val="600"/>
              </a:spcAft>
            </a:pPr>
            <a:r>
              <a:rPr sz="1800" b="0">
                <a:solidFill>
                  <a:srgbClr val="202830"/>
                </a:solidFill>
                <a:latin typeface="Malgun Gothic"/>
                <a:ea typeface="Malgun Gothic"/>
              </a:rPr>
              <a:t>•  FAILED — 일회성 작업이 실패한 채 끝났다</a:t>
            </a:r>
          </a:p>
          <a:p>
            <a:pPr>
              <a:spcAft>
                <a:spcPts val="600"/>
              </a:spcAft>
            </a:pPr>
            <a:r>
              <a:rPr sz="1800" b="0">
                <a:solidFill>
                  <a:srgbClr val="202830"/>
                </a:solidFill>
                <a:latin typeface="Malgun Gothic"/>
                <a:ea typeface="Malgun Gothic"/>
              </a:rPr>
              <a:t>•  RETRY SCHEDULED — 실패 후 재시도를 기다리는 중</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FAILURE_COUNT 의 함정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FAILURE_COUNT 는 "연속" 실패 횟수다</a:t>
            </a:r>
          </a:p>
          <a:p>
            <a:pPr>
              <a:spcAft>
                <a:spcPts val="600"/>
              </a:spcAft>
            </a:pPr>
            <a:r>
              <a:rPr sz="1600" b="0">
                <a:solidFill>
                  <a:srgbClr val="5A6672"/>
                </a:solidFill>
                <a:latin typeface="Malgun Gothic"/>
                <a:ea typeface="Malgun Gothic"/>
              </a:rPr>
              <a:t>    –  한 번이라도 성공하면 0 으로 초기화된다</a:t>
            </a:r>
          </a:p>
          <a:p>
            <a:pPr>
              <a:spcAft>
                <a:spcPts val="600"/>
              </a:spcAft>
            </a:pPr>
            <a:r>
              <a:rPr sz="1800" b="0">
                <a:solidFill>
                  <a:srgbClr val="202830"/>
                </a:solidFill>
                <a:latin typeface="Malgun Gothic"/>
                <a:ea typeface="Malgun Gothic"/>
              </a:rPr>
              <a:t>•  따라서 0 이라는 값만으로는 아무것도 보장되지 않는다</a:t>
            </a:r>
          </a:p>
          <a:p>
            <a:pPr>
              <a:spcAft>
                <a:spcPts val="600"/>
              </a:spcAft>
            </a:pPr>
            <a:r>
              <a:rPr sz="1600" b="0">
                <a:solidFill>
                  <a:srgbClr val="5A6672"/>
                </a:solidFill>
                <a:latin typeface="Malgun Gothic"/>
                <a:ea typeface="Malgun Gothic"/>
              </a:rPr>
              <a:t>    –  이틀에 한 번씩 실패해도 값은 계속 0 일 수 있다</a:t>
            </a:r>
          </a:p>
          <a:p>
            <a:pPr>
              <a:spcAft>
                <a:spcPts val="600"/>
              </a:spcAft>
            </a:pPr>
            <a:r>
              <a:rPr sz="1800" b="0">
                <a:solidFill>
                  <a:srgbClr val="202830"/>
                </a:solidFill>
                <a:latin typeface="Malgun Gothic"/>
                <a:ea typeface="Malgun Gothic"/>
              </a:rPr>
              <a:t>•  누적 실패는 실행 이력 뷰에서 세어야 한다</a:t>
            </a:r>
          </a:p>
          <a:p>
            <a:pPr>
              <a:spcAft>
                <a:spcPts val="600"/>
              </a:spcAft>
            </a:pPr>
            <a:r>
              <a:rPr sz="1600" b="0">
                <a:solidFill>
                  <a:srgbClr val="5A6672"/>
                </a:solidFill>
                <a:latin typeface="Malgun Gothic"/>
                <a:ea typeface="Malgun Gothic"/>
              </a:rPr>
              <a:t>    –  *_SCHEDULER_JOB_RUN_DETAILS 에서 STATUS='FAILED' 를 집계</a:t>
            </a:r>
          </a:p>
          <a:p>
            <a:pPr>
              <a:spcAft>
                <a:spcPts val="600"/>
              </a:spcAft>
            </a:pPr>
            <a:r>
              <a:rPr sz="1800" b="0">
                <a:solidFill>
                  <a:srgbClr val="202830"/>
                </a:solidFill>
                <a:latin typeface="Malgun Gothic"/>
                <a:ea typeface="Malgun Gothic"/>
              </a:rPr>
              <a:t>•  그래서 운영 리포트는 상태 뷰가 아니라 이력 뷰에서 만든다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계층의 실행 이력</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*_SCHEDULER_JOB_LOG — Job 에 일어난 사건 자체</a:t>
            </a:r>
          </a:p>
          <a:p>
            <a:pPr>
              <a:spcAft>
                <a:spcPts val="600"/>
              </a:spcAft>
            </a:pPr>
            <a:r>
              <a:rPr sz="1600" b="0">
                <a:solidFill>
                  <a:srgbClr val="5A6672"/>
                </a:solidFill>
                <a:latin typeface="Malgun Gothic"/>
                <a:ea typeface="Malgun Gothic"/>
              </a:rPr>
              <a:t>    –  OPERATION 컬럼에 CREATE · ENABLE · RUN · COMPLETED · DROP 이 남는다</a:t>
            </a:r>
          </a:p>
          <a:p>
            <a:pPr>
              <a:spcAft>
                <a:spcPts val="600"/>
              </a:spcAft>
            </a:pPr>
            <a:r>
              <a:rPr sz="1600" b="0">
                <a:solidFill>
                  <a:srgbClr val="5A6672"/>
                </a:solidFill>
                <a:latin typeface="Malgun Gothic"/>
                <a:ea typeface="Malgun Gothic"/>
              </a:rPr>
              <a:t>    –  "누가 언제 이 Job 을 지웠나" 같은 질문에 답한다</a:t>
            </a:r>
          </a:p>
          <a:p>
            <a:pPr>
              <a:spcAft>
                <a:spcPts val="600"/>
              </a:spcAft>
            </a:pPr>
            <a:r>
              <a:rPr sz="1800" b="0">
                <a:solidFill>
                  <a:srgbClr val="202830"/>
                </a:solidFill>
                <a:latin typeface="Malgun Gothic"/>
                <a:ea typeface="Malgun Gothic"/>
              </a:rPr>
              <a:t>•  *_SCHEDULER_JOB_RUN_DETAILS — 실행 결과에 초점</a:t>
            </a:r>
          </a:p>
          <a:p>
            <a:pPr>
              <a:spcAft>
                <a:spcPts val="600"/>
              </a:spcAft>
            </a:pPr>
            <a:r>
              <a:rPr sz="1600" b="0">
                <a:solidFill>
                  <a:srgbClr val="5A6672"/>
                </a:solidFill>
                <a:latin typeface="Malgun Gothic"/>
                <a:ea typeface="Malgun Gothic"/>
              </a:rPr>
              <a:t>    –  STATUS — SUCCEEDED · FAILED · STOPPED</a:t>
            </a:r>
          </a:p>
          <a:p>
            <a:pPr>
              <a:spcAft>
                <a:spcPts val="600"/>
              </a:spcAft>
            </a:pPr>
            <a:r>
              <a:rPr sz="1600" b="0">
                <a:solidFill>
                  <a:srgbClr val="5A6672"/>
                </a:solidFill>
                <a:latin typeface="Malgun Gothic"/>
                <a:ea typeface="Malgun Gothic"/>
              </a:rPr>
              <a:t>    –  ERROR# · ADDITIONAL_INFO — 오류 번호와 ORA- 스택 전문</a:t>
            </a:r>
          </a:p>
          <a:p>
            <a:pPr>
              <a:spcAft>
                <a:spcPts val="600"/>
              </a:spcAft>
            </a:pPr>
            <a:r>
              <a:rPr sz="1600" b="0">
                <a:solidFill>
                  <a:srgbClr val="5A6672"/>
                </a:solidFill>
                <a:latin typeface="Malgun Gothic"/>
                <a:ea typeface="Malgun Gothic"/>
              </a:rPr>
              <a:t>    –  ACTUAL_START_DATE · RUN_DURATION · CPU_USED — 지연과 성능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실행 이력 조회</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SELECT TO_CHAR(log_date,'MM-DD HH24:MI') AS log_date, status,</a:t>
            </a:r>
          </a:p>
          <a:p>
            <a:pPr>
              <a:spcAft>
                <a:spcPts val="0"/>
              </a:spcAft>
            </a:pPr>
            <a:r>
              <a:rPr sz="1250" b="0">
                <a:solidFill>
                  <a:srgbClr val="E6E6E6"/>
                </a:solidFill>
                <a:latin typeface="Consolas"/>
                <a:ea typeface="Consolas"/>
              </a:rPr>
              <a:t>  2         error# AS err, run_duration</a:t>
            </a:r>
          </a:p>
          <a:p>
            <a:pPr>
              <a:spcAft>
                <a:spcPts val="0"/>
              </a:spcAft>
            </a:pPr>
            <a:r>
              <a:rPr sz="1250" b="0">
                <a:solidFill>
                  <a:srgbClr val="E6E6E6"/>
                </a:solidFill>
                <a:latin typeface="Consolas"/>
                <a:ea typeface="Consolas"/>
              </a:rPr>
              <a:t>  3    FROM user_scheduler_job_run_details</a:t>
            </a:r>
          </a:p>
          <a:p>
            <a:pPr>
              <a:spcAft>
                <a:spcPts val="0"/>
              </a:spcAft>
            </a:pPr>
            <a:r>
              <a:rPr sz="1250" b="0">
                <a:solidFill>
                  <a:srgbClr val="E6E6E6"/>
                </a:solidFill>
                <a:latin typeface="Consolas"/>
                <a:ea typeface="Consolas"/>
              </a:rPr>
              <a:t>  4   WHERE job_name = 'J_INVALID_NIGHTLY'</a:t>
            </a:r>
          </a:p>
          <a:p>
            <a:pPr>
              <a:spcAft>
                <a:spcPts val="0"/>
              </a:spcAft>
            </a:pPr>
            <a:r>
              <a:rPr sz="1250" b="0">
                <a:solidFill>
                  <a:srgbClr val="E6E6E6"/>
                </a:solidFill>
                <a:latin typeface="Consolas"/>
                <a:ea typeface="Consolas"/>
              </a:rPr>
              <a:t>  5   ORDER BY log_date DESC;</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LOG_DATE     STATUS      ERR RUN_DURATION</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08-19 02:30  FAILED      942 +000 00:00:02</a:t>
            </a:r>
          </a:p>
          <a:p>
            <a:pPr>
              <a:spcAft>
                <a:spcPts val="0"/>
              </a:spcAft>
            </a:pPr>
            <a:r>
              <a:rPr sz="1250" b="0">
                <a:solidFill>
                  <a:srgbClr val="E6E6E6"/>
                </a:solidFill>
                <a:latin typeface="Consolas"/>
                <a:ea typeface="Consolas"/>
              </a:rPr>
              <a:t>08-18 02:30  SUCCEEDED     0 +000 00:00:06</a:t>
            </a:r>
          </a:p>
          <a:p>
            <a:pPr>
              <a:spcAft>
                <a:spcPts val="0"/>
              </a:spcAft>
            </a:pPr>
            <a:r>
              <a:rPr sz="1250" b="0">
                <a:solidFill>
                  <a:srgbClr val="E6E6E6"/>
                </a:solidFill>
                <a:latin typeface="Consolas"/>
                <a:ea typeface="Consolas"/>
              </a:rPr>
              <a:t>08-17 02:30  SUCCEEDED     0 +000 00:00:04</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실패한 회차만 소요 시간이 짧다</a:t>
            </a:r>
          </a:p>
          <a:p>
            <a:pPr>
              <a:spcAft>
                <a:spcPts val="0"/>
              </a:spcAft>
            </a:pPr>
            <a:r>
              <a:rPr sz="1250" b="0">
                <a:solidFill>
                  <a:srgbClr val="7EC699"/>
                </a:solidFill>
                <a:latin typeface="Consolas"/>
                <a:ea typeface="Consolas"/>
              </a:rPr>
              <a:t>--   → 시작하자마자 예외로 끝났다는 신호다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이력이 바로 보이지 않을 때</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RUN_JOB 을 use_current_session =&gt; FALSE 로 호출했다면 비동기다</a:t>
            </a:r>
          </a:p>
          <a:p>
            <a:pPr>
              <a:spcAft>
                <a:spcPts val="600"/>
              </a:spcAft>
            </a:pPr>
            <a:r>
              <a:rPr sz="1600" b="0">
                <a:solidFill>
                  <a:srgbClr val="5A6672"/>
                </a:solidFill>
                <a:latin typeface="Malgun Gothic"/>
                <a:ea typeface="Malgun Gothic"/>
              </a:rPr>
              <a:t>    –  프롬프트는 즉시 돌아오지만 작업은 아직 진행 중이다</a:t>
            </a:r>
          </a:p>
          <a:p>
            <a:pPr>
              <a:spcAft>
                <a:spcPts val="600"/>
              </a:spcAft>
            </a:pPr>
            <a:r>
              <a:rPr sz="1800" b="0">
                <a:solidFill>
                  <a:srgbClr val="202830"/>
                </a:solidFill>
                <a:latin typeface="Malgun Gothic"/>
                <a:ea typeface="Malgun Gothic"/>
              </a:rPr>
              <a:t>•  이력 행은 슬레이브가 끝내고 로그를 확정한 뒤에야 나타난다</a:t>
            </a:r>
          </a:p>
          <a:p>
            <a:pPr>
              <a:spcAft>
                <a:spcPts val="600"/>
              </a:spcAft>
            </a:pPr>
            <a:r>
              <a:rPr sz="1800" b="0">
                <a:solidFill>
                  <a:srgbClr val="202830"/>
                </a:solidFill>
                <a:latin typeface="Malgun Gothic"/>
                <a:ea typeface="Malgun Gothic"/>
              </a:rPr>
              <a:t>•  실행 직후 조회해서 아무것도 없다 = 실패가 아니다</a:t>
            </a:r>
          </a:p>
          <a:p>
            <a:pPr>
              <a:spcAft>
                <a:spcPts val="600"/>
              </a:spcAft>
            </a:pPr>
            <a:r>
              <a:rPr sz="1600" b="0">
                <a:solidFill>
                  <a:srgbClr val="5A6672"/>
                </a:solidFill>
                <a:latin typeface="Malgun Gothic"/>
                <a:ea typeface="Malgun Gothic"/>
              </a:rPr>
              <a:t>    –  USER_SCHEDULER_RUNNING_JOBS 에 행이 있으면 아직 도는 중</a:t>
            </a:r>
          </a:p>
          <a:p>
            <a:pPr>
              <a:spcAft>
                <a:spcPts val="600"/>
              </a:spcAft>
            </a:pPr>
            <a:r>
              <a:rPr sz="1600" b="0">
                <a:solidFill>
                  <a:srgbClr val="5A6672"/>
                </a:solidFill>
                <a:latin typeface="Malgun Gothic"/>
                <a:ea typeface="Malgun Gothic"/>
              </a:rPr>
              <a:t>    –  몇 초 기다렸다가 다시 조회하면 결과가 보인다</a:t>
            </a:r>
          </a:p>
          <a:p>
            <a:pPr>
              <a:spcAft>
                <a:spcPts val="600"/>
              </a:spcAft>
            </a:pPr>
            <a:r>
              <a:rPr sz="1800" b="0">
                <a:solidFill>
                  <a:srgbClr val="202830"/>
                </a:solidFill>
                <a:latin typeface="Malgun Gothic"/>
                <a:ea typeface="Malgun Gothic"/>
              </a:rPr>
              <a:t>•  이 지연을 오해해 Job 을 다시 만드는 것이 가장 흔한 실수다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로그 보존과 정리</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스케줄러 로그는 무한히 쌓이지 않는다</a:t>
            </a:r>
          </a:p>
          <a:p>
            <a:pPr>
              <a:spcAft>
                <a:spcPts val="0"/>
              </a:spcAft>
            </a:pPr>
            <a:r>
              <a:rPr sz="1250" b="0">
                <a:solidFill>
                  <a:srgbClr val="E6E6E6"/>
                </a:solidFill>
                <a:latin typeface="Consolas"/>
                <a:ea typeface="Consolas"/>
              </a:rPr>
              <a:t>SELECT value FROM dba_scheduler_global_attribute</a:t>
            </a:r>
          </a:p>
          <a:p>
            <a:pPr>
              <a:spcAft>
                <a:spcPts val="0"/>
              </a:spcAft>
            </a:pPr>
            <a:r>
              <a:rPr sz="1250" b="0">
                <a:solidFill>
                  <a:srgbClr val="E6E6E6"/>
                </a:solidFill>
                <a:latin typeface="Consolas"/>
                <a:ea typeface="Consolas"/>
              </a:rPr>
              <a:t> WHERE attribute_name = 'LOG_HISTORY';</a:t>
            </a:r>
          </a:p>
          <a:p>
            <a:pPr>
              <a:spcAft>
                <a:spcPts val="0"/>
              </a:spcAft>
            </a:pPr>
            <a:r>
              <a:rPr sz="1250" b="0">
                <a:solidFill>
                  <a:srgbClr val="7EC699"/>
                </a:solidFill>
                <a:latin typeface="Consolas"/>
                <a:ea typeface="Consolas"/>
              </a:rPr>
              <a:t>--   기본값 30 (일). 오라클이 매일 자동으로 오래된 로그를 정리한다</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보존 기간 변경 (MANAGE SCHEDULER 권한 필요)</a:t>
            </a:r>
          </a:p>
          <a:p>
            <a:pPr>
              <a:spcAft>
                <a:spcPts val="0"/>
              </a:spcAft>
            </a:pPr>
            <a:r>
              <a:rPr sz="1250" b="0">
                <a:solidFill>
                  <a:srgbClr val="E6E6E6"/>
                </a:solidFill>
                <a:latin typeface="Consolas"/>
                <a:ea typeface="Consolas"/>
              </a:rPr>
              <a:t>EXEC DBMS_SCHEDULER.SET_SCHEDULER_ATTRIBUTE('log_history','90')</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특정 Job 의 로그만 즉시 정리</a:t>
            </a:r>
          </a:p>
          <a:p>
            <a:pPr>
              <a:spcAft>
                <a:spcPts val="0"/>
              </a:spcAft>
            </a:pPr>
            <a:r>
              <a:rPr sz="1250" b="0">
                <a:solidFill>
                  <a:srgbClr val="E6E6E6"/>
                </a:solidFill>
                <a:latin typeface="Consolas"/>
                <a:ea typeface="Consolas"/>
              </a:rPr>
              <a:t>EXEC DBMS_SCHEDULER.PURGE_LOG(log_history =&gt; 0,</a:t>
            </a:r>
          </a:p>
          <a:p>
            <a:pPr>
              <a:spcAft>
                <a:spcPts val="0"/>
              </a:spcAft>
            </a:pPr>
            <a:r>
              <a:rPr sz="1250" b="0">
                <a:solidFill>
                  <a:srgbClr val="E6E6E6"/>
                </a:solidFill>
                <a:latin typeface="Consolas"/>
                <a:ea typeface="Consolas"/>
              </a:rPr>
              <a:t>                              job_name =&gt; 'J_ONE_SHOT')</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감사 목적으로 1년치가 필요하다면?</a:t>
            </a:r>
          </a:p>
          <a:p>
            <a:pPr>
              <a:spcAft>
                <a:spcPts val="0"/>
              </a:spcAft>
            </a:pPr>
            <a:r>
              <a:rPr sz="1250" b="0">
                <a:solidFill>
                  <a:srgbClr val="7EC699"/>
                </a:solidFill>
                <a:latin typeface="Consolas"/>
                <a:ea typeface="Consolas"/>
              </a:rPr>
              <a:t>--   → 보존 기간을 늘리거나 plsql_job_log 에 따로 적재한다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실패한 작업 찾아내기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SELECT job_name, TO_CHAR(log_date,'MM-DD HH24:MI') AS failed_at,</a:t>
            </a:r>
          </a:p>
          <a:p>
            <a:pPr>
              <a:spcAft>
                <a:spcPts val="0"/>
              </a:spcAft>
            </a:pPr>
            <a:r>
              <a:rPr sz="1250" b="0">
                <a:solidFill>
                  <a:srgbClr val="E6E6E6"/>
                </a:solidFill>
                <a:latin typeface="Consolas"/>
                <a:ea typeface="Consolas"/>
              </a:rPr>
              <a:t>       error# AS err, SUBSTR(additional_info, 1, 100) AS reason</a:t>
            </a:r>
          </a:p>
          <a:p>
            <a:pPr>
              <a:spcAft>
                <a:spcPts val="0"/>
              </a:spcAft>
            </a:pPr>
            <a:r>
              <a:rPr sz="1250" b="0">
                <a:solidFill>
                  <a:srgbClr val="E6E6E6"/>
                </a:solidFill>
                <a:latin typeface="Consolas"/>
                <a:ea typeface="Consolas"/>
              </a:rPr>
              <a:t>  FROM dba_scheduler_job_run_details</a:t>
            </a:r>
          </a:p>
          <a:p>
            <a:pPr>
              <a:spcAft>
                <a:spcPts val="0"/>
              </a:spcAft>
            </a:pPr>
            <a:r>
              <a:rPr sz="1250" b="0">
                <a:solidFill>
                  <a:srgbClr val="E6E6E6"/>
                </a:solidFill>
                <a:latin typeface="Consolas"/>
                <a:ea typeface="Consolas"/>
              </a:rPr>
              <a:t> WHERE status = 'FAILED'</a:t>
            </a:r>
          </a:p>
          <a:p>
            <a:pPr>
              <a:spcAft>
                <a:spcPts val="0"/>
              </a:spcAft>
            </a:pPr>
            <a:r>
              <a:rPr sz="1250" b="0">
                <a:solidFill>
                  <a:srgbClr val="E6E6E6"/>
                </a:solidFill>
                <a:latin typeface="Consolas"/>
                <a:ea typeface="Consolas"/>
              </a:rPr>
              <a:t>   AND log_date &gt; SYSTIMESTAMP - INTERVAL '1' DAY</a:t>
            </a:r>
          </a:p>
          <a:p>
            <a:pPr>
              <a:spcAft>
                <a:spcPts val="0"/>
              </a:spcAft>
            </a:pPr>
            <a:r>
              <a:rPr sz="1250" b="0">
                <a:solidFill>
                  <a:srgbClr val="E6E6E6"/>
                </a:solidFill>
                <a:latin typeface="Consolas"/>
                <a:ea typeface="Consolas"/>
              </a:rPr>
              <a:t> ORDER BY log_date DESC;</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JOB_NAME            FAILED_AT     ERR  REASON</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J_INVALID_NIGHTLY   08-19 02:30    942  ORA-00942: table or view does not</a:t>
            </a:r>
          </a:p>
          <a:p>
            <a:pPr>
              <a:spcAft>
                <a:spcPts val="0"/>
              </a:spcAft>
            </a:pPr>
            <a:r>
              <a:rPr sz="1250" b="0">
                <a:solidFill>
                  <a:srgbClr val="E6E6E6"/>
                </a:solidFill>
                <a:latin typeface="Consolas"/>
                <a:ea typeface="Consolas"/>
              </a:rPr>
              <a:t>                                        exist</a:t>
            </a:r>
          </a:p>
          <a:p>
            <a:pPr>
              <a:spcAft>
                <a:spcPts val="0"/>
              </a:spcAft>
            </a:pPr>
            <a:r>
              <a:rPr sz="1250" b="0">
                <a:solidFill>
                  <a:srgbClr val="E6E6E6"/>
                </a:solidFill>
                <a:latin typeface="Consolas"/>
                <a:ea typeface="Consolas"/>
              </a:rPr>
              <a:t>                                        ORA-06512: at "HR.PR_CHECK_..."</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진단 순서 : 실패 회차 → ERROR# → ADDITIONAL_INFO → 프로그램 단위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실패 유형과 재시도 정책</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코드 문제 — 오타 · 잘못된 job_action · 컴파일 실패</a:t>
            </a:r>
          </a:p>
          <a:p>
            <a:pPr>
              <a:spcAft>
                <a:spcPts val="600"/>
              </a:spcAft>
            </a:pPr>
            <a:r>
              <a:rPr sz="1600" b="0">
                <a:solidFill>
                  <a:srgbClr val="5A6672"/>
                </a:solidFill>
                <a:latin typeface="Malgun Gothic"/>
                <a:ea typeface="Malgun Gothic"/>
              </a:rPr>
              <a:t>    –  백 번 재시도해도 백 번 실패한다. 재시도는 무의미하다</a:t>
            </a:r>
          </a:p>
          <a:p>
            <a:pPr>
              <a:spcAft>
                <a:spcPts val="600"/>
              </a:spcAft>
            </a:pPr>
            <a:r>
              <a:rPr sz="1800" b="0">
                <a:solidFill>
                  <a:srgbClr val="202830"/>
                </a:solidFill>
                <a:latin typeface="Malgun Gothic"/>
                <a:ea typeface="Malgun Gothic"/>
              </a:rPr>
              <a:t>•  환경 문제 — 객체 없음 · 권한 없음 · 테이블스페이스 부족</a:t>
            </a:r>
          </a:p>
          <a:p>
            <a:pPr>
              <a:spcAft>
                <a:spcPts val="600"/>
              </a:spcAft>
            </a:pPr>
            <a:r>
              <a:rPr sz="1600" b="0">
                <a:solidFill>
                  <a:srgbClr val="5A6672"/>
                </a:solidFill>
                <a:latin typeface="Malgun Gothic"/>
                <a:ea typeface="Malgun Gothic"/>
              </a:rPr>
              <a:t>    –  조치하면 해소된다. 즉시 알림이 필요하다</a:t>
            </a:r>
          </a:p>
          <a:p>
            <a:pPr>
              <a:spcAft>
                <a:spcPts val="600"/>
              </a:spcAft>
            </a:pPr>
            <a:r>
              <a:rPr sz="1800" b="0">
                <a:solidFill>
                  <a:srgbClr val="202830"/>
                </a:solidFill>
                <a:latin typeface="Malgun Gothic"/>
                <a:ea typeface="Malgun Gothic"/>
              </a:rPr>
              <a:t>•  자원 문제 — 락 대기 · 타임아웃 · 슬레이브 부족</a:t>
            </a:r>
          </a:p>
          <a:p>
            <a:pPr>
              <a:spcAft>
                <a:spcPts val="600"/>
              </a:spcAft>
            </a:pPr>
            <a:r>
              <a:rPr sz="1600" b="0">
                <a:solidFill>
                  <a:srgbClr val="5A6672"/>
                </a:solidFill>
                <a:latin typeface="Malgun Gothic"/>
                <a:ea typeface="Malgun Gothic"/>
              </a:rPr>
              <a:t>    –  시간이 지나면 저절로 풀리는 경우가 많아 재시도가 효과적이다</a:t>
            </a:r>
          </a:p>
          <a:p>
            <a:pPr>
              <a:spcAft>
                <a:spcPts val="600"/>
              </a:spcAft>
            </a:pPr>
            <a:r>
              <a:rPr sz="1800" b="0">
                <a:solidFill>
                  <a:srgbClr val="202830"/>
                </a:solidFill>
                <a:latin typeface="Malgun Gothic"/>
                <a:ea typeface="Malgun Gothic"/>
              </a:rPr>
              <a:t>•  그래서 max_failures 로 무의미한 재시도를 반드시 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실무 시나리오 · 조용히 죽은 야간 배치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증상 — 사흘째 점검 결과 테이블이 비어 있는데 아무 알림도 없었다</a:t>
            </a:r>
          </a:p>
          <a:p>
            <a:pPr>
              <a:spcAft>
                <a:spcPts val="600"/>
              </a:spcAft>
            </a:pPr>
            <a:r>
              <a:rPr sz="1800" b="0">
                <a:solidFill>
                  <a:srgbClr val="202830"/>
                </a:solidFill>
                <a:latin typeface="Malgun Gothic"/>
                <a:ea typeface="Malgun Gothic"/>
              </a:rPr>
              <a:t>•  확인 1 — STATE 가 BROKEN, FAILURE_COUNT 가 max_failures 와 같다</a:t>
            </a:r>
          </a:p>
          <a:p>
            <a:pPr>
              <a:spcAft>
                <a:spcPts val="600"/>
              </a:spcAft>
            </a:pPr>
            <a:r>
              <a:rPr sz="1800" b="0">
                <a:solidFill>
                  <a:srgbClr val="202830"/>
                </a:solidFill>
                <a:latin typeface="Malgun Gothic"/>
                <a:ea typeface="Malgun Gothic"/>
              </a:rPr>
              <a:t>•  확인 2 — ADDITIONAL_INFO 에 ORA-01654 unable to extend index</a:t>
            </a:r>
          </a:p>
          <a:p>
            <a:pPr>
              <a:spcAft>
                <a:spcPts val="600"/>
              </a:spcAft>
            </a:pPr>
            <a:r>
              <a:rPr sz="1800" b="0">
                <a:solidFill>
                  <a:srgbClr val="202830"/>
                </a:solidFill>
                <a:latin typeface="Malgun Gothic"/>
                <a:ea typeface="Malgun Gothic"/>
              </a:rPr>
              <a:t>•  원인 — 로그 테이블 인덱스의 테이블스페이스 여유 공간 고갈</a:t>
            </a:r>
          </a:p>
          <a:p>
            <a:pPr>
              <a:spcAft>
                <a:spcPts val="600"/>
              </a:spcAft>
            </a:pPr>
            <a:r>
              <a:rPr sz="1800" b="0">
                <a:solidFill>
                  <a:srgbClr val="202830"/>
                </a:solidFill>
                <a:latin typeface="Malgun Gothic"/>
                <a:ea typeface="Malgun Gothic"/>
              </a:rPr>
              <a:t>•  조치 — 공간 확보 후 ENABLE 로 BROKEN 해제, 실패 카운터 초기화</a:t>
            </a:r>
          </a:p>
          <a:p>
            <a:pPr>
              <a:spcAft>
                <a:spcPts val="600"/>
              </a:spcAft>
            </a:pPr>
            <a:r>
              <a:rPr sz="1800" b="0">
                <a:solidFill>
                  <a:srgbClr val="202830"/>
                </a:solidFill>
                <a:latin typeface="Malgun Gothic"/>
                <a:ea typeface="Malgun Gothic"/>
              </a:rPr>
              <a:t>•  재발 방지 — 실패 이벤트에 이메일 알림을 등록한다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실패 이벤트 이메일 알림</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관리자가 한 번만 설정한다</a:t>
            </a:r>
          </a:p>
          <a:p>
            <a:pPr>
              <a:spcAft>
                <a:spcPts val="0"/>
              </a:spcAft>
            </a:pPr>
            <a:r>
              <a:rPr sz="1250" b="0">
                <a:solidFill>
                  <a:srgbClr val="E6E6E6"/>
                </a:solidFill>
                <a:latin typeface="Consolas"/>
                <a:ea typeface="Consolas"/>
              </a:rPr>
              <a:t>EXEC DBMS_SCHEDULER.SET_SCHEDULER_ATTRIBUTE(</a:t>
            </a:r>
          </a:p>
          <a:p>
            <a:pPr>
              <a:spcAft>
                <a:spcPts val="0"/>
              </a:spcAft>
            </a:pPr>
            <a:r>
              <a:rPr sz="1250" b="0">
                <a:solidFill>
                  <a:srgbClr val="E6E6E6"/>
                </a:solidFill>
                <a:latin typeface="Consolas"/>
                <a:ea typeface="Consolas"/>
              </a:rPr>
              <a:t>        'email_server','smtp.example.com:25')</a:t>
            </a:r>
          </a:p>
          <a:p>
            <a:pPr>
              <a:spcAft>
                <a:spcPts val="0"/>
              </a:spcAft>
            </a:pPr>
            <a:r>
              <a:rPr sz="1250" b="0">
                <a:solidFill>
                  <a:srgbClr val="E6E6E6"/>
                </a:solidFill>
                <a:latin typeface="Consolas"/>
                <a:ea typeface="Consolas"/>
              </a:rPr>
              <a:t>EXEC DBMS_SCHEDULER.SET_SCHEDULER_ATTRIBUTE(</a:t>
            </a:r>
          </a:p>
          <a:p>
            <a:pPr>
              <a:spcAft>
                <a:spcPts val="0"/>
              </a:spcAft>
            </a:pPr>
            <a:r>
              <a:rPr sz="1250" b="0">
                <a:solidFill>
                  <a:srgbClr val="E6E6E6"/>
                </a:solidFill>
                <a:latin typeface="Consolas"/>
                <a:ea typeface="Consolas"/>
              </a:rPr>
              <a:t>        'email_sender','dba@example.com')</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작업별 알림 등록</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DBMS_SCHEDULER.ADD_JOB_EMAIL_NOTIFICATION (</a:t>
            </a:r>
          </a:p>
          <a:p>
            <a:pPr>
              <a:spcAft>
                <a:spcPts val="0"/>
              </a:spcAft>
            </a:pPr>
            <a:r>
              <a:rPr sz="1250" b="0">
                <a:solidFill>
                  <a:srgbClr val="E6E6E6"/>
                </a:solidFill>
                <a:latin typeface="Consolas"/>
                <a:ea typeface="Consolas"/>
              </a:rPr>
              <a:t>      job_name   =&gt; 'J_INVALID_NIGHTLY',</a:t>
            </a:r>
          </a:p>
          <a:p>
            <a:pPr>
              <a:spcAft>
                <a:spcPts val="0"/>
              </a:spcAft>
            </a:pPr>
            <a:r>
              <a:rPr sz="1250" b="0">
                <a:solidFill>
                  <a:srgbClr val="E6E6E6"/>
                </a:solidFill>
                <a:latin typeface="Consolas"/>
                <a:ea typeface="Consolas"/>
              </a:rPr>
              <a:t>      recipients =&gt; 'oncall@example.com',</a:t>
            </a:r>
          </a:p>
          <a:p>
            <a:pPr>
              <a:spcAft>
                <a:spcPts val="0"/>
              </a:spcAft>
            </a:pPr>
            <a:r>
              <a:rPr sz="1250" b="0">
                <a:solidFill>
                  <a:srgbClr val="E6E6E6"/>
                </a:solidFill>
                <a:latin typeface="Consolas"/>
                <a:ea typeface="Consolas"/>
              </a:rPr>
              <a:t>      subject    =&gt; 'Scheduler %job_owner%.%job_name% : %event_type%',</a:t>
            </a:r>
          </a:p>
          <a:p>
            <a:pPr>
              <a:spcAft>
                <a:spcPts val="0"/>
              </a:spcAft>
            </a:pPr>
            <a:r>
              <a:rPr sz="1250" b="0">
                <a:solidFill>
                  <a:srgbClr val="E6E6E6"/>
                </a:solidFill>
                <a:latin typeface="Consolas"/>
                <a:ea typeface="Consolas"/>
              </a:rPr>
              <a:t>      body       =&gt; '%event_type% / %error_message%',</a:t>
            </a:r>
          </a:p>
          <a:p>
            <a:pPr>
              <a:spcAft>
                <a:spcPts val="0"/>
              </a:spcAft>
            </a:pPr>
            <a:r>
              <a:rPr sz="1250" b="0">
                <a:solidFill>
                  <a:srgbClr val="E6E6E6"/>
                </a:solidFill>
                <a:latin typeface="Consolas"/>
                <a:ea typeface="Consolas"/>
              </a:rPr>
              <a:t>      events     =&gt; 'JOB_FAILED, JOB_BROKEN');</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7EC699"/>
                </a:solidFill>
                <a:latin typeface="Consolas"/>
                <a:ea typeface="Consolas"/>
              </a:rPr>
              <a:t>-- 이벤트 : JOB_FAILED · JOB_BROKEN · JOB_OVER_MAX_DUR · JOB_SCH_LIM_REACHED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5400" b="1">
                <a:solidFill>
                  <a:srgbClr val="C0392B"/>
                </a:solidFill>
                <a:latin typeface="Malgun Gothic"/>
                <a:ea typeface="Malgun Gothic"/>
              </a:rPr>
              <a:t>7.14~7.19</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운영 자동화와 모니터링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plsql_job_log · dba_check_result 운영 로그 설계</a:t>
            </a:r>
          </a:p>
          <a:p>
            <a:pPr>
              <a:spcAft>
                <a:spcPts val="600"/>
              </a:spcAft>
            </a:pPr>
            <a:r>
              <a:rPr sz="1600" b="0">
                <a:solidFill>
                  <a:srgbClr val="C5CED6"/>
                </a:solidFill>
                <a:latin typeface="Malgun Gothic"/>
                <a:ea typeface="Malgun Gothic"/>
              </a:rPr>
              <a:t>•  자율 트랜잭션으로 로그를 안전하게 남기기</a:t>
            </a:r>
          </a:p>
          <a:p>
            <a:pPr>
              <a:spcAft>
                <a:spcPts val="600"/>
              </a:spcAft>
            </a:pPr>
            <a:r>
              <a:rPr sz="1600" b="0">
                <a:solidFill>
                  <a:srgbClr val="C5CED6"/>
                </a:solidFill>
                <a:latin typeface="Malgun Gothic"/>
                <a:ea typeface="Malgun Gothic"/>
              </a:rPr>
              <a:t>•  CHECK_ 계열 점검 프로시저 표준 구조</a:t>
            </a:r>
          </a:p>
          <a:p>
            <a:pPr>
              <a:spcAft>
                <a:spcPts val="600"/>
              </a:spcAft>
            </a:pPr>
            <a:r>
              <a:rPr sz="1600" b="0">
                <a:solidFill>
                  <a:srgbClr val="C5CED6"/>
                </a:solidFill>
                <a:latin typeface="Malgun Gothic"/>
                <a:ea typeface="Malgun Gothic"/>
              </a:rPr>
              <a:t>•  PKG_DBA_AUTOMATION 과 부분 실패 흡수</a:t>
            </a:r>
          </a:p>
          <a:p>
            <a:pPr>
              <a:spcAft>
                <a:spcPts val="600"/>
              </a:spcAft>
            </a:pPr>
            <a:r>
              <a:rPr sz="1600" b="0">
                <a:solidFill>
                  <a:srgbClr val="C5CED6"/>
                </a:solidFill>
                <a:latin typeface="Malgun Gothic"/>
                <a:ea typeface="Malgun Gothic"/>
              </a:rPr>
              <a:t>•  모니터링 리포트 다섯 축 · 수동과 자동의 차이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운영 로그 테이블 두 개</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TABLE plsql_job_log (           -- 작업 단위 요약</a:t>
            </a:r>
          </a:p>
          <a:p>
            <a:pPr>
              <a:spcAft>
                <a:spcPts val="0"/>
              </a:spcAft>
            </a:pPr>
            <a:r>
              <a:rPr sz="1250" b="0">
                <a:solidFill>
                  <a:srgbClr val="E6E6E6"/>
                </a:solidFill>
                <a:latin typeface="Consolas"/>
                <a:ea typeface="Consolas"/>
              </a:rPr>
              <a:t>    log_id        NUMBER GENERATED BY DEFAULT AS IDENTITY,</a:t>
            </a:r>
          </a:p>
          <a:p>
            <a:pPr>
              <a:spcAft>
                <a:spcPts val="0"/>
              </a:spcAft>
            </a:pPr>
            <a:r>
              <a:rPr sz="1250" b="0">
                <a:solidFill>
                  <a:srgbClr val="E6E6E6"/>
                </a:solidFill>
                <a:latin typeface="Consolas"/>
                <a:ea typeface="Consolas"/>
              </a:rPr>
              <a:t>    job_name      VARCHAR2(100),</a:t>
            </a:r>
          </a:p>
          <a:p>
            <a:pPr>
              <a:spcAft>
                <a:spcPts val="0"/>
              </a:spcAft>
            </a:pPr>
            <a:r>
              <a:rPr sz="1250" b="0">
                <a:solidFill>
                  <a:srgbClr val="E6E6E6"/>
                </a:solidFill>
                <a:latin typeface="Consolas"/>
                <a:ea typeface="Consolas"/>
              </a:rPr>
              <a:t>    start_time    TIMESTAMP,</a:t>
            </a:r>
          </a:p>
          <a:p>
            <a:pPr>
              <a:spcAft>
                <a:spcPts val="0"/>
              </a:spcAft>
            </a:pPr>
            <a:r>
              <a:rPr sz="1250" b="0">
                <a:solidFill>
                  <a:srgbClr val="E6E6E6"/>
                </a:solidFill>
                <a:latin typeface="Consolas"/>
                <a:ea typeface="Consolas"/>
              </a:rPr>
              <a:t>    end_time      TIMESTAMP,</a:t>
            </a:r>
          </a:p>
          <a:p>
            <a:pPr>
              <a:spcAft>
                <a:spcPts val="0"/>
              </a:spcAft>
            </a:pPr>
            <a:r>
              <a:rPr sz="1250" b="0">
                <a:solidFill>
                  <a:srgbClr val="E6E6E6"/>
                </a:solidFill>
                <a:latin typeface="Consolas"/>
                <a:ea typeface="Consolas"/>
              </a:rPr>
              <a:t>    status        VARCHAR2(20),</a:t>
            </a:r>
          </a:p>
          <a:p>
            <a:pPr>
              <a:spcAft>
                <a:spcPts val="0"/>
              </a:spcAft>
            </a:pPr>
            <a:r>
              <a:rPr sz="1250" b="0">
                <a:solidFill>
                  <a:srgbClr val="E6E6E6"/>
                </a:solidFill>
                <a:latin typeface="Consolas"/>
                <a:ea typeface="Consolas"/>
              </a:rPr>
              <a:t>    processed_cnt NUMBER,</a:t>
            </a:r>
          </a:p>
          <a:p>
            <a:pPr>
              <a:spcAft>
                <a:spcPts val="0"/>
              </a:spcAft>
            </a:pPr>
            <a:r>
              <a:rPr sz="1250" b="0">
                <a:solidFill>
                  <a:srgbClr val="E6E6E6"/>
                </a:solidFill>
                <a:latin typeface="Consolas"/>
                <a:ea typeface="Consolas"/>
              </a:rPr>
              <a:t>    error_code    NUMBER,</a:t>
            </a:r>
          </a:p>
          <a:p>
            <a:pPr>
              <a:spcAft>
                <a:spcPts val="0"/>
              </a:spcAft>
            </a:pPr>
            <a:r>
              <a:rPr sz="1250" b="0">
                <a:solidFill>
                  <a:srgbClr val="E6E6E6"/>
                </a:solidFill>
                <a:latin typeface="Consolas"/>
                <a:ea typeface="Consolas"/>
              </a:rPr>
              <a:t>    error_message VARCHAR2(4000),</a:t>
            </a:r>
          </a:p>
          <a:p>
            <a:pPr>
              <a:spcAft>
                <a:spcPts val="0"/>
              </a:spcAft>
            </a:pPr>
            <a:r>
              <a:rPr sz="1250" b="0">
                <a:solidFill>
                  <a:srgbClr val="E6E6E6"/>
                </a:solidFill>
                <a:latin typeface="Consolas"/>
                <a:ea typeface="Consolas"/>
              </a:rPr>
              <a:t>    created_by    VARCHAR2(100),</a:t>
            </a:r>
          </a:p>
          <a:p>
            <a:pPr>
              <a:spcAft>
                <a:spcPts val="0"/>
              </a:spcAft>
            </a:pPr>
            <a:r>
              <a:rPr sz="1250" b="0">
                <a:solidFill>
                  <a:srgbClr val="E6E6E6"/>
                </a:solidFill>
                <a:latin typeface="Consolas"/>
                <a:ea typeface="Consolas"/>
              </a:rPr>
              <a:t>    created_at    TIMESTAMP DEFAULT SYSTIMESTAMP);</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CREATE TABLE dba_check_result (        -- 점검 대상 단위 상세</a:t>
            </a:r>
          </a:p>
          <a:p>
            <a:pPr>
              <a:spcAft>
                <a:spcPts val="0"/>
              </a:spcAft>
            </a:pPr>
            <a:r>
              <a:rPr sz="1250" b="0">
                <a:solidFill>
                  <a:srgbClr val="E6E6E6"/>
                </a:solidFill>
                <a:latin typeface="Consolas"/>
                <a:ea typeface="Consolas"/>
              </a:rPr>
              <a:t>    check_id       NUMBER GENERATED BY DEFAULT AS IDENTITY,</a:t>
            </a:r>
          </a:p>
          <a:p>
            <a:pPr>
              <a:spcAft>
                <a:spcPts val="0"/>
              </a:spcAft>
            </a:pPr>
            <a:r>
              <a:rPr sz="1250" b="0">
                <a:solidFill>
                  <a:srgbClr val="E6E6E6"/>
                </a:solidFill>
                <a:latin typeface="Consolas"/>
                <a:ea typeface="Consolas"/>
              </a:rPr>
              <a:t>    check_name     VARCHAR2(100),</a:t>
            </a:r>
          </a:p>
          <a:p>
            <a:pPr>
              <a:spcAft>
                <a:spcPts val="0"/>
              </a:spcAft>
            </a:pPr>
            <a:r>
              <a:rPr sz="1250" b="0">
                <a:solidFill>
                  <a:srgbClr val="E6E6E6"/>
                </a:solidFill>
                <a:latin typeface="Consolas"/>
                <a:ea typeface="Consolas"/>
              </a:rPr>
              <a:t>    check_time     TIMESTAMP,</a:t>
            </a:r>
          </a:p>
          <a:p>
            <a:pPr>
              <a:spcAft>
                <a:spcPts val="0"/>
              </a:spcAft>
            </a:pPr>
            <a:r>
              <a:rPr sz="1250" b="0">
                <a:solidFill>
                  <a:srgbClr val="E6E6E6"/>
                </a:solidFill>
                <a:latin typeface="Consolas"/>
                <a:ea typeface="Consolas"/>
              </a:rPr>
              <a:t>    target_object  VARCHAR2(200),</a:t>
            </a:r>
          </a:p>
          <a:p>
            <a:pPr>
              <a:spcAft>
                <a:spcPts val="0"/>
              </a:spcAft>
            </a:pPr>
            <a:r>
              <a:rPr sz="1250" b="0">
                <a:solidFill>
                  <a:srgbClr val="E6E6E6"/>
                </a:solidFill>
                <a:latin typeface="Consolas"/>
                <a:ea typeface="Consolas"/>
              </a:rPr>
              <a:t>    status         VARCHAR2(20),</a:t>
            </a:r>
          </a:p>
          <a:p>
            <a:pPr>
              <a:spcAft>
                <a:spcPts val="0"/>
              </a:spcAft>
            </a:pPr>
            <a:r>
              <a:rPr sz="1250" b="0">
                <a:solidFill>
                  <a:srgbClr val="E6E6E6"/>
                </a:solidFill>
                <a:latin typeface="Consolas"/>
                <a:ea typeface="Consolas"/>
              </a:rPr>
              <a:t>    result_message VARCHAR2(4000));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자율 트랜잭션으로 로그 남기기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PROCEDURE write_operation_log (</a:t>
            </a:r>
          </a:p>
          <a:p>
            <a:pPr>
              <a:spcAft>
                <a:spcPts val="0"/>
              </a:spcAft>
            </a:pPr>
            <a:r>
              <a:rPr sz="1250" b="0">
                <a:solidFill>
                  <a:srgbClr val="E6E6E6"/>
                </a:solidFill>
                <a:latin typeface="Consolas"/>
                <a:ea typeface="Consolas"/>
              </a:rPr>
              <a:t>   p_job_name IN VARCHAR2, p_start IN TIMESTAMP, p_status IN VARCHAR2,</a:t>
            </a:r>
          </a:p>
          <a:p>
            <a:pPr>
              <a:spcAft>
                <a:spcPts val="0"/>
              </a:spcAft>
            </a:pPr>
            <a:r>
              <a:rPr sz="1250" b="0">
                <a:solidFill>
                  <a:srgbClr val="E6E6E6"/>
                </a:solidFill>
                <a:latin typeface="Consolas"/>
                <a:ea typeface="Consolas"/>
              </a:rPr>
              <a:t>   p_cnt IN NUMBER DEFAULT NULL, p_err_code IN NUMBER DEFAULT NULL,</a:t>
            </a:r>
          </a:p>
          <a:p>
            <a:pPr>
              <a:spcAft>
                <a:spcPts val="0"/>
              </a:spcAft>
            </a:pPr>
            <a:r>
              <a:rPr sz="1250" b="0">
                <a:solidFill>
                  <a:srgbClr val="E6E6E6"/>
                </a:solidFill>
                <a:latin typeface="Consolas"/>
                <a:ea typeface="Consolas"/>
              </a:rPr>
              <a:t>   p_err_msg IN VARCHAR2 DEFAULT NULL)</a:t>
            </a:r>
          </a:p>
          <a:p>
            <a:pPr>
              <a:spcAft>
                <a:spcPts val="0"/>
              </a:spcAft>
            </a:pPr>
            <a:r>
              <a:rPr sz="1250" b="0">
                <a:solidFill>
                  <a:srgbClr val="E6E6E6"/>
                </a:solidFill>
                <a:latin typeface="Consolas"/>
                <a:ea typeface="Consolas"/>
              </a:rPr>
              <a:t>IS</a:t>
            </a:r>
          </a:p>
          <a:p>
            <a:pPr>
              <a:spcAft>
                <a:spcPts val="0"/>
              </a:spcAft>
            </a:pPr>
            <a:r>
              <a:rPr sz="1250" b="0">
                <a:solidFill>
                  <a:srgbClr val="E6E6E6"/>
                </a:solidFill>
                <a:latin typeface="Consolas"/>
                <a:ea typeface="Consolas"/>
              </a:rPr>
              <a:t>   PRAGMA AUTONOMOUS_TRANSACTION;      -- 본 트랜잭션과 분리한다</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INSERT INTO plsql_job_log</a:t>
            </a:r>
          </a:p>
          <a:p>
            <a:pPr>
              <a:spcAft>
                <a:spcPts val="0"/>
              </a:spcAft>
            </a:pPr>
            <a:r>
              <a:rPr sz="1250" b="0">
                <a:solidFill>
                  <a:srgbClr val="E6E6E6"/>
                </a:solidFill>
                <a:latin typeface="Consolas"/>
                <a:ea typeface="Consolas"/>
              </a:rPr>
              <a:t>      (job_name, start_time, end_time, status,</a:t>
            </a:r>
          </a:p>
          <a:p>
            <a:pPr>
              <a:spcAft>
                <a:spcPts val="0"/>
              </a:spcAft>
            </a:pPr>
            <a:r>
              <a:rPr sz="1250" b="0">
                <a:solidFill>
                  <a:srgbClr val="E6E6E6"/>
                </a:solidFill>
                <a:latin typeface="Consolas"/>
                <a:ea typeface="Consolas"/>
              </a:rPr>
              <a:t>       processed_cnt, error_code, error_message, created_by)</a:t>
            </a:r>
          </a:p>
          <a:p>
            <a:pPr>
              <a:spcAft>
                <a:spcPts val="0"/>
              </a:spcAft>
            </a:pPr>
            <a:r>
              <a:rPr sz="1250" b="0">
                <a:solidFill>
                  <a:srgbClr val="E6E6E6"/>
                </a:solidFill>
                <a:latin typeface="Consolas"/>
                <a:ea typeface="Consolas"/>
              </a:rPr>
              <a:t>   VALUES (p_job_name, p_start, SYSTIMESTAMP, p_status,</a:t>
            </a:r>
          </a:p>
          <a:p>
            <a:pPr>
              <a:spcAft>
                <a:spcPts val="0"/>
              </a:spcAft>
            </a:pPr>
            <a:r>
              <a:rPr sz="1250" b="0">
                <a:solidFill>
                  <a:srgbClr val="E6E6E6"/>
                </a:solidFill>
                <a:latin typeface="Consolas"/>
                <a:ea typeface="Consolas"/>
              </a:rPr>
              <a:t>           p_cnt, p_err_code, SUBSTR(p_err_msg,1,4000), USER);</a:t>
            </a:r>
          </a:p>
          <a:p>
            <a:pPr>
              <a:spcAft>
                <a:spcPts val="0"/>
              </a:spcAft>
            </a:pPr>
            <a:r>
              <a:rPr sz="1250" b="0">
                <a:solidFill>
                  <a:srgbClr val="E6E6E6"/>
                </a:solidFill>
                <a:latin typeface="Consolas"/>
                <a:ea typeface="Consolas"/>
              </a:rPr>
              <a:t>   COMMIT;                              -- 반드시 종료해야 한다</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표준 점검 루틴 여섯 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CHECK_INVALID_OBJECT — 컴파일이 깨진 프로시저 · 뷰 · 패키지</a:t>
            </a:r>
          </a:p>
          <a:p>
            <a:pPr>
              <a:spcAft>
                <a:spcPts val="600"/>
              </a:spcAft>
            </a:pPr>
            <a:r>
              <a:rPr sz="1800" b="0">
                <a:solidFill>
                  <a:srgbClr val="202830"/>
                </a:solidFill>
                <a:latin typeface="Malgun Gothic"/>
                <a:ea typeface="Malgun Gothic"/>
              </a:rPr>
              <a:t>•  CHECK_USER_STATUS — LOCKED · EXPIRED · 만료 임박 계정</a:t>
            </a:r>
          </a:p>
          <a:p>
            <a:pPr>
              <a:spcAft>
                <a:spcPts val="600"/>
              </a:spcAft>
            </a:pPr>
            <a:r>
              <a:rPr sz="1800" b="0">
                <a:solidFill>
                  <a:srgbClr val="202830"/>
                </a:solidFill>
                <a:latin typeface="Malgun Gothic"/>
                <a:ea typeface="Malgun Gothic"/>
              </a:rPr>
              <a:t>•  CHECK_TABLE_STATUS — 통계 미수집 · 과도한 행 증가 · 세그먼트 이상</a:t>
            </a:r>
          </a:p>
          <a:p>
            <a:pPr>
              <a:spcAft>
                <a:spcPts val="600"/>
              </a:spcAft>
            </a:pPr>
            <a:r>
              <a:rPr sz="1800" b="0">
                <a:solidFill>
                  <a:srgbClr val="202830"/>
                </a:solidFill>
                <a:latin typeface="Malgun Gothic"/>
                <a:ea typeface="Malgun Gothic"/>
              </a:rPr>
              <a:t>•  CHECK_JOB_STATUS — BROKEN · 연속 실패 · 예정 시각 초과 작업</a:t>
            </a:r>
          </a:p>
          <a:p>
            <a:pPr>
              <a:spcAft>
                <a:spcPts val="600"/>
              </a:spcAft>
            </a:pPr>
            <a:r>
              <a:rPr sz="1800" b="0">
                <a:solidFill>
                  <a:srgbClr val="202830"/>
                </a:solidFill>
                <a:latin typeface="Malgun Gothic"/>
                <a:ea typeface="Malgun Gothic"/>
              </a:rPr>
              <a:t>•  WRITE_OPERATION_LOG — 작업 단위 요약을 plsql_job_log 에</a:t>
            </a:r>
          </a:p>
          <a:p>
            <a:pPr>
              <a:spcAft>
                <a:spcPts val="600"/>
              </a:spcAft>
            </a:pPr>
            <a:r>
              <a:rPr sz="1800" b="0">
                <a:solidFill>
                  <a:srgbClr val="202830"/>
                </a:solidFill>
                <a:latin typeface="Malgun Gothic"/>
                <a:ea typeface="Malgun Gothic"/>
              </a:rPr>
              <a:t>•  WRITE_ERROR_LOG — 예외 발생 시 SQLCODE · SQLERRM 을 기록</a:t>
            </a:r>
          </a:p>
          <a:p>
            <a:pPr>
              <a:spcAft>
                <a:spcPts val="600"/>
              </a:spcAft>
            </a:pPr>
            <a:r>
              <a:rPr sz="1800" b="0">
                <a:solidFill>
                  <a:srgbClr val="202830"/>
                </a:solidFill>
                <a:latin typeface="Malgun Gothic"/>
                <a:ea typeface="Malgun Gothic"/>
              </a:rPr>
              <a:t>•  구조는 모두 같다 — 조회 → 판정 → 기록 → 건수 반환</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CHECK_INVALID_OBJECT</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PROCEDURE check_invalid_object (</a:t>
            </a:r>
          </a:p>
          <a:p>
            <a:pPr>
              <a:spcAft>
                <a:spcPts val="0"/>
              </a:spcAft>
            </a:pPr>
            <a:r>
              <a:rPr sz="1250" b="0">
                <a:solidFill>
                  <a:srgbClr val="E6E6E6"/>
                </a:solidFill>
                <a:latin typeface="Consolas"/>
                <a:ea typeface="Consolas"/>
              </a:rPr>
              <a:t>   p_owner IN VARCHAR2 DEFAULT USER, p_cnt OUT NUMBER)</a:t>
            </a:r>
          </a:p>
          <a:p>
            <a:pPr>
              <a:spcAft>
                <a:spcPts val="0"/>
              </a:spcAft>
            </a:pPr>
            <a:r>
              <a:rPr sz="1250" b="0">
                <a:solidFill>
                  <a:srgbClr val="E6E6E6"/>
                </a:solidFill>
                <a:latin typeface="Consolas"/>
                <a:ea typeface="Consolas"/>
              </a:rPr>
              <a:t>IS</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p_cnt := 0;</a:t>
            </a:r>
          </a:p>
          <a:p>
            <a:pPr>
              <a:spcAft>
                <a:spcPts val="0"/>
              </a:spcAft>
            </a:pPr>
            <a:r>
              <a:rPr sz="1250" b="0">
                <a:solidFill>
                  <a:srgbClr val="E6E6E6"/>
                </a:solidFill>
                <a:latin typeface="Consolas"/>
                <a:ea typeface="Consolas"/>
              </a:rPr>
              <a:t>   FOR r IN (SELECT owner, object_type, object_name FROM all_objects</a:t>
            </a:r>
          </a:p>
          <a:p>
            <a:pPr>
              <a:spcAft>
                <a:spcPts val="0"/>
              </a:spcAft>
            </a:pPr>
            <a:r>
              <a:rPr sz="1250" b="0">
                <a:solidFill>
                  <a:srgbClr val="E6E6E6"/>
                </a:solidFill>
                <a:latin typeface="Consolas"/>
                <a:ea typeface="Consolas"/>
              </a:rPr>
              <a:t>              WHERE owner = UPPER(p_owner)     -- 범위를 반드시 좁힌다</a:t>
            </a:r>
          </a:p>
          <a:p>
            <a:pPr>
              <a:spcAft>
                <a:spcPts val="0"/>
              </a:spcAft>
            </a:pPr>
            <a:r>
              <a:rPr sz="1250" b="0">
                <a:solidFill>
                  <a:srgbClr val="E6E6E6"/>
                </a:solidFill>
                <a:latin typeface="Consolas"/>
                <a:ea typeface="Consolas"/>
              </a:rPr>
              <a:t>                AND status = 'INVALID')</a:t>
            </a:r>
          </a:p>
          <a:p>
            <a:pPr>
              <a:spcAft>
                <a:spcPts val="0"/>
              </a:spcAft>
            </a:pPr>
            <a:r>
              <a:rPr sz="1250" b="0">
                <a:solidFill>
                  <a:srgbClr val="E6E6E6"/>
                </a:solidFill>
                <a:latin typeface="Consolas"/>
                <a:ea typeface="Consolas"/>
              </a:rPr>
              <a:t>   LOOP</a:t>
            </a:r>
          </a:p>
          <a:p>
            <a:pPr>
              <a:spcAft>
                <a:spcPts val="0"/>
              </a:spcAft>
            </a:pPr>
            <a:r>
              <a:rPr sz="1250" b="0">
                <a:solidFill>
                  <a:srgbClr val="E6E6E6"/>
                </a:solidFill>
                <a:latin typeface="Consolas"/>
                <a:ea typeface="Consolas"/>
              </a:rPr>
              <a:t>      INSERT INTO dba_check_result</a:t>
            </a:r>
          </a:p>
          <a:p>
            <a:pPr>
              <a:spcAft>
                <a:spcPts val="0"/>
              </a:spcAft>
            </a:pPr>
            <a:r>
              <a:rPr sz="1250" b="0">
                <a:solidFill>
                  <a:srgbClr val="E6E6E6"/>
                </a:solidFill>
                <a:latin typeface="Consolas"/>
                <a:ea typeface="Consolas"/>
              </a:rPr>
              <a:t>         (check_name, check_time, target_object, status, result_message)</a:t>
            </a:r>
          </a:p>
          <a:p>
            <a:pPr>
              <a:spcAft>
                <a:spcPts val="0"/>
              </a:spcAft>
            </a:pPr>
            <a:r>
              <a:rPr sz="1250" b="0">
                <a:solidFill>
                  <a:srgbClr val="E6E6E6"/>
                </a:solidFill>
                <a:latin typeface="Consolas"/>
                <a:ea typeface="Consolas"/>
              </a:rPr>
              <a:t>      VALUES ('CHECK_INVALID_OBJECT', SYSTIMESTAMP,</a:t>
            </a:r>
          </a:p>
          <a:p>
            <a:pPr>
              <a:spcAft>
                <a:spcPts val="0"/>
              </a:spcAft>
            </a:pPr>
            <a:r>
              <a:rPr sz="1250" b="0">
                <a:solidFill>
                  <a:srgbClr val="E6E6E6"/>
                </a:solidFill>
                <a:latin typeface="Consolas"/>
                <a:ea typeface="Consolas"/>
              </a:rPr>
              <a:t>              r.owner || '.' || r.object_name, 'WARN',</a:t>
            </a:r>
          </a:p>
          <a:p>
            <a:pPr>
              <a:spcAft>
                <a:spcPts val="0"/>
              </a:spcAft>
            </a:pPr>
            <a:r>
              <a:rPr sz="1250" b="0">
                <a:solidFill>
                  <a:srgbClr val="E6E6E6"/>
                </a:solidFill>
                <a:latin typeface="Consolas"/>
                <a:ea typeface="Consolas"/>
              </a:rPr>
              <a:t>              r.object_type || ' 이 INVALID 상태입니다');</a:t>
            </a:r>
          </a:p>
          <a:p>
            <a:pPr>
              <a:spcAft>
                <a:spcPts val="0"/>
              </a:spcAft>
            </a:pPr>
            <a:r>
              <a:rPr sz="1250" b="0">
                <a:solidFill>
                  <a:srgbClr val="E6E6E6"/>
                </a:solidFill>
                <a:latin typeface="Consolas"/>
                <a:ea typeface="Consolas"/>
              </a:rPr>
              <a:t>      p_cnt := p_cnt + 1;</a:t>
            </a:r>
          </a:p>
          <a:p>
            <a:pPr>
              <a:spcAft>
                <a:spcPts val="0"/>
              </a:spcAft>
            </a:pPr>
            <a:r>
              <a:rPr sz="1250" b="0">
                <a:solidFill>
                  <a:srgbClr val="E6E6E6"/>
                </a:solidFill>
                <a:latin typeface="Consolas"/>
                <a:ea typeface="Consolas"/>
              </a:rPr>
              <a:t>   END LOOP;</a:t>
            </a:r>
          </a:p>
          <a:p>
            <a:pPr>
              <a:spcAft>
                <a:spcPts val="0"/>
              </a:spcAft>
            </a:pPr>
            <a:r>
              <a:rPr sz="1250" b="0">
                <a:solidFill>
                  <a:srgbClr val="E6E6E6"/>
                </a:solidFill>
                <a:latin typeface="Consolas"/>
                <a:ea typeface="Consolas"/>
              </a:rPr>
              <a:t>   COMMIT;</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CHECK_USER_STATUS 와 컴파일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DBA_USERS 의 ACCOUNT_STATUS · EXPIRY_DATE 로 계정을 점검한다</a:t>
            </a:r>
          </a:p>
          <a:p>
            <a:pPr>
              <a:spcAft>
                <a:spcPts val="600"/>
              </a:spcAft>
            </a:pPr>
            <a:r>
              <a:rPr sz="1600" b="0">
                <a:solidFill>
                  <a:srgbClr val="5A6672"/>
                </a:solidFill>
                <a:latin typeface="Malgun Gothic"/>
                <a:ea typeface="Malgun Gothic"/>
              </a:rPr>
              <a:t>    –  OPEN 이 아니거나 14일 안에 만료되는 계정을 찾는다</a:t>
            </a:r>
          </a:p>
          <a:p>
            <a:pPr>
              <a:spcAft>
                <a:spcPts val="600"/>
              </a:spcAft>
            </a:pPr>
            <a:r>
              <a:rPr sz="1800" b="0">
                <a:solidFill>
                  <a:srgbClr val="202830"/>
                </a:solidFill>
                <a:latin typeface="Malgun Gothic"/>
                <a:ea typeface="Malgun Gothic"/>
              </a:rPr>
              <a:t>•  HR 에게 DBA_USERS 권한이 없으면 컴파일 자체가 실패한다</a:t>
            </a:r>
          </a:p>
          <a:p>
            <a:pPr>
              <a:spcAft>
                <a:spcPts val="600"/>
              </a:spcAft>
            </a:pPr>
            <a:r>
              <a:rPr sz="1600" b="0">
                <a:solidFill>
                  <a:srgbClr val="5A6672"/>
                </a:solidFill>
                <a:latin typeface="Malgun Gothic"/>
                <a:ea typeface="Malgun Gothic"/>
              </a:rPr>
              <a:t>    –  Warning: Procedure created with compilation errors</a:t>
            </a:r>
          </a:p>
          <a:p>
            <a:pPr>
              <a:spcAft>
                <a:spcPts val="600"/>
              </a:spcAft>
            </a:pPr>
            <a:r>
              <a:rPr sz="1600" b="0">
                <a:solidFill>
                  <a:srgbClr val="5A6672"/>
                </a:solidFill>
                <a:latin typeface="Malgun Gothic"/>
                <a:ea typeface="Malgun Gothic"/>
              </a:rPr>
              <a:t>    –  SHOW ERRORS → PL/SQL: ORA-00942: table or view does not exist</a:t>
            </a:r>
          </a:p>
          <a:p>
            <a:pPr>
              <a:spcAft>
                <a:spcPts val="600"/>
              </a:spcAft>
            </a:pPr>
            <a:r>
              <a:rPr sz="1800" b="0">
                <a:solidFill>
                  <a:srgbClr val="202830"/>
                </a:solidFill>
                <a:latin typeface="Malgun Gothic"/>
                <a:ea typeface="Malgun Gothic"/>
              </a:rPr>
              <a:t>•  정적 SQL 은 컴파일 시점에 객체 존재와 권한을 검사하기 때문이다</a:t>
            </a:r>
          </a:p>
          <a:p>
            <a:pPr>
              <a:spcAft>
                <a:spcPts val="600"/>
              </a:spcAft>
            </a:pPr>
            <a:r>
              <a:rPr sz="1800" b="0">
                <a:solidFill>
                  <a:srgbClr val="202830"/>
                </a:solidFill>
                <a:latin typeface="Malgun Gothic"/>
                <a:ea typeface="Malgun Gothic"/>
              </a:rPr>
              <a:t>•  해결 — 롤이 아니라 GRANT SELECT ON dba_users TO hr 로 직접 부여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PKG_DBA_AUTOMATION 명세</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PACKAGE pkg_dba_automation AS</a:t>
            </a:r>
          </a:p>
          <a:p>
            <a:pPr>
              <a:spcAft>
                <a:spcPts val="0"/>
              </a:spcAft>
            </a:pPr>
            <a:r>
              <a:rPr sz="1250" b="0">
                <a:solidFill>
                  <a:srgbClr val="7EC699"/>
                </a:solidFill>
                <a:latin typeface="Consolas"/>
                <a:ea typeface="Consolas"/>
              </a:rPr>
              <a:t>   -- 개별 점검 : 각각 처리 건수를 돌려준다</a:t>
            </a:r>
          </a:p>
          <a:p>
            <a:pPr>
              <a:spcAft>
                <a:spcPts val="0"/>
              </a:spcAft>
            </a:pPr>
            <a:r>
              <a:rPr sz="1250" b="0">
                <a:solidFill>
                  <a:srgbClr val="E6E6E6"/>
                </a:solidFill>
                <a:latin typeface="Consolas"/>
                <a:ea typeface="Consolas"/>
              </a:rPr>
              <a:t>   PROCEDURE check_invalid_object (p_owner IN VARCHAR2 DEFAULT USER,</a:t>
            </a:r>
          </a:p>
          <a:p>
            <a:pPr>
              <a:spcAft>
                <a:spcPts val="0"/>
              </a:spcAft>
            </a:pPr>
            <a:r>
              <a:rPr sz="1250" b="0">
                <a:solidFill>
                  <a:srgbClr val="E6E6E6"/>
                </a:solidFill>
                <a:latin typeface="Consolas"/>
                <a:ea typeface="Consolas"/>
              </a:rPr>
              <a:t>                                   p_cnt OUT NUMBER);</a:t>
            </a:r>
          </a:p>
          <a:p>
            <a:pPr>
              <a:spcAft>
                <a:spcPts val="0"/>
              </a:spcAft>
            </a:pPr>
            <a:r>
              <a:rPr sz="1250" b="0">
                <a:solidFill>
                  <a:srgbClr val="E6E6E6"/>
                </a:solidFill>
                <a:latin typeface="Consolas"/>
                <a:ea typeface="Consolas"/>
              </a:rPr>
              <a:t>   PROCEDURE check_user_status (p_cnt OUT NUMBER);</a:t>
            </a:r>
          </a:p>
          <a:p>
            <a:pPr>
              <a:spcAft>
                <a:spcPts val="0"/>
              </a:spcAft>
            </a:pPr>
            <a:r>
              <a:rPr sz="1250" b="0">
                <a:solidFill>
                  <a:srgbClr val="E6E6E6"/>
                </a:solidFill>
                <a:latin typeface="Consolas"/>
                <a:ea typeface="Consolas"/>
              </a:rPr>
              <a:t>   PROCEDURE check_hr_data     (p_cnt OUT NUMBER);</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 로그 : 자율 트랜잭션으로 즉시 확정</a:t>
            </a:r>
          </a:p>
          <a:p>
            <a:pPr>
              <a:spcAft>
                <a:spcPts val="0"/>
              </a:spcAft>
            </a:pPr>
            <a:r>
              <a:rPr sz="1250" b="0">
                <a:solidFill>
                  <a:srgbClr val="E6E6E6"/>
                </a:solidFill>
                <a:latin typeface="Consolas"/>
                <a:ea typeface="Consolas"/>
              </a:rPr>
              <a:t>   PROCEDURE write_log       (p_job_name IN VARCHAR2, p_start IN TIMESTAMP,</a:t>
            </a:r>
          </a:p>
          <a:p>
            <a:pPr>
              <a:spcAft>
                <a:spcPts val="0"/>
              </a:spcAft>
            </a:pPr>
            <a:r>
              <a:rPr sz="1250" b="0">
                <a:solidFill>
                  <a:srgbClr val="E6E6E6"/>
                </a:solidFill>
                <a:latin typeface="Consolas"/>
                <a:ea typeface="Consolas"/>
              </a:rPr>
              <a:t>                              p_status IN VARCHAR2, p_cnt IN NUMBER);</a:t>
            </a:r>
          </a:p>
          <a:p>
            <a:pPr>
              <a:spcAft>
                <a:spcPts val="0"/>
              </a:spcAft>
            </a:pPr>
            <a:r>
              <a:rPr sz="1250" b="0">
                <a:solidFill>
                  <a:srgbClr val="E6E6E6"/>
                </a:solidFill>
                <a:latin typeface="Consolas"/>
                <a:ea typeface="Consolas"/>
              </a:rPr>
              <a:t>   PROCEDURE write_error_log (p_job_name IN VARCHAR2, p_start IN TIMESTAMP,</a:t>
            </a:r>
          </a:p>
          <a:p>
            <a:pPr>
              <a:spcAft>
                <a:spcPts val="0"/>
              </a:spcAft>
            </a:pPr>
            <a:r>
              <a:rPr sz="1250" b="0">
                <a:solidFill>
                  <a:srgbClr val="E6E6E6"/>
                </a:solidFill>
                <a:latin typeface="Consolas"/>
                <a:ea typeface="Consolas"/>
              </a:rPr>
              <a:t>                              p_code IN NUMBER, p_msg IN VARCHAR2);</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 통합 진입점 : 스케줄러는 이것만 알면 된다</a:t>
            </a:r>
          </a:p>
          <a:p>
            <a:pPr>
              <a:spcAft>
                <a:spcPts val="0"/>
              </a:spcAft>
            </a:pPr>
            <a:r>
              <a:rPr sz="1250" b="0">
                <a:solidFill>
                  <a:srgbClr val="E6E6E6"/>
                </a:solidFill>
                <a:latin typeface="Consolas"/>
                <a:ea typeface="Consolas"/>
              </a:rPr>
              <a:t>   PROCEDURE run_all_check;</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RUN_ALL_CHECK 의 예외 설계</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   PROCEDURE run_all_check IS</a:t>
            </a:r>
          </a:p>
          <a:p>
            <a:pPr>
              <a:spcAft>
                <a:spcPts val="0"/>
              </a:spcAft>
            </a:pPr>
            <a:r>
              <a:rPr sz="1250" b="0">
                <a:solidFill>
                  <a:srgbClr val="E6E6E6"/>
                </a:solidFill>
                <a:latin typeface="Consolas"/>
                <a:ea typeface="Consolas"/>
              </a:rPr>
              <a:t>      v_start TIMESTAMP := SYSTIMESTAMP;</a:t>
            </a:r>
          </a:p>
          <a:p>
            <a:pPr>
              <a:spcAft>
                <a:spcPts val="0"/>
              </a:spcAft>
            </a:pPr>
            <a:r>
              <a:rPr sz="1250" b="0">
                <a:solidFill>
                  <a:srgbClr val="E6E6E6"/>
                </a:solidFill>
                <a:latin typeface="Consolas"/>
                <a:ea typeface="Consolas"/>
              </a:rPr>
              <a:t>      v_cnt   NUMBER;   v_fail PLS_INTEGER := 0;</a:t>
            </a:r>
          </a:p>
          <a:p>
            <a:pPr>
              <a:spcAft>
                <a:spcPts val="0"/>
              </a:spcAft>
            </a:pPr>
            <a:r>
              <a:rPr sz="1250" b="0">
                <a:solidFill>
                  <a:srgbClr val="E6E6E6"/>
                </a:solidFill>
                <a:latin typeface="Consolas"/>
                <a:ea typeface="Consolas"/>
              </a:rPr>
              <a:t>   BEGIN</a:t>
            </a:r>
          </a:p>
          <a:p>
            <a:pPr>
              <a:spcAft>
                <a:spcPts val="0"/>
              </a:spcAft>
            </a:pPr>
            <a:r>
              <a:rPr sz="1250" b="0">
                <a:solidFill>
                  <a:srgbClr val="E6E6E6"/>
                </a:solidFill>
                <a:latin typeface="Consolas"/>
                <a:ea typeface="Consolas"/>
              </a:rPr>
              <a:t>      BEGIN                              -- 점검마다 개별 블록으로 감싼다</a:t>
            </a:r>
          </a:p>
          <a:p>
            <a:pPr>
              <a:spcAft>
                <a:spcPts val="0"/>
              </a:spcAft>
            </a:pPr>
            <a:r>
              <a:rPr sz="1250" b="0">
                <a:solidFill>
                  <a:srgbClr val="E6E6E6"/>
                </a:solidFill>
                <a:latin typeface="Consolas"/>
                <a:ea typeface="Consolas"/>
              </a:rPr>
              <a:t>         check_invalid_object(USER, v_cnt);</a:t>
            </a:r>
          </a:p>
          <a:p>
            <a:pPr>
              <a:spcAft>
                <a:spcPts val="0"/>
              </a:spcAft>
            </a:pPr>
            <a:r>
              <a:rPr sz="1250" b="0">
                <a:solidFill>
                  <a:srgbClr val="E6E6E6"/>
                </a:solidFill>
                <a:latin typeface="Consolas"/>
                <a:ea typeface="Consolas"/>
              </a:rPr>
              <a:t>         write_log('CHECK_INVALID_OBJECT', v_start, 'SUCCESS', v_cnt);</a:t>
            </a:r>
          </a:p>
          <a:p>
            <a:pPr>
              <a:spcAft>
                <a:spcPts val="0"/>
              </a:spcAft>
            </a:pPr>
            <a:r>
              <a:rPr sz="1250" b="0">
                <a:solidFill>
                  <a:srgbClr val="E6E6E6"/>
                </a:solidFill>
                <a:latin typeface="Consolas"/>
                <a:ea typeface="Consolas"/>
              </a:rPr>
              <a:t>      EXCEPTION WHEN OTHERS THEN</a:t>
            </a:r>
          </a:p>
          <a:p>
            <a:pPr>
              <a:spcAft>
                <a:spcPts val="0"/>
              </a:spcAft>
            </a:pPr>
            <a:r>
              <a:rPr sz="1250" b="0">
                <a:solidFill>
                  <a:srgbClr val="E6E6E6"/>
                </a:solidFill>
                <a:latin typeface="Consolas"/>
                <a:ea typeface="Consolas"/>
              </a:rPr>
              <a:t>         v_fail := v_fail + 1;</a:t>
            </a:r>
          </a:p>
          <a:p>
            <a:pPr>
              <a:spcAft>
                <a:spcPts val="0"/>
              </a:spcAft>
            </a:pPr>
            <a:r>
              <a:rPr sz="1250" b="0">
                <a:solidFill>
                  <a:srgbClr val="E6E6E6"/>
                </a:solidFill>
                <a:latin typeface="Consolas"/>
                <a:ea typeface="Consolas"/>
              </a:rPr>
              <a:t>         write_error_log('CHECK_INVALID_OBJECT', v_start, SQLCODE, SQLERRM);</a:t>
            </a:r>
          </a:p>
          <a:p>
            <a:pPr>
              <a:spcAft>
                <a:spcPts val="0"/>
              </a:spcAft>
            </a:pPr>
            <a:r>
              <a:rPr sz="1250" b="0">
                <a:solidFill>
                  <a:srgbClr val="E6E6E6"/>
                </a:solidFill>
                <a:latin typeface="Consolas"/>
                <a:ea typeface="Consolas"/>
              </a:rPr>
              <a:t>      END;</a:t>
            </a:r>
          </a:p>
          <a:p>
            <a:pPr>
              <a:spcAft>
                <a:spcPts val="0"/>
              </a:spcAft>
            </a:pPr>
            <a:r>
              <a:rPr sz="1250" b="0">
                <a:solidFill>
                  <a:srgbClr val="7EC699"/>
                </a:solidFill>
                <a:latin typeface="Consolas"/>
                <a:ea typeface="Consolas"/>
              </a:rPr>
              <a:t>      -- CHECK_USER_STATUS · CHECK_HR_DATA 도 같은 형태로 감싼다</a:t>
            </a:r>
          </a:p>
          <a:p>
            <a:pPr>
              <a:spcAft>
                <a:spcPts val="0"/>
              </a:spcAft>
            </a:pPr>
            <a:r>
              <a:rPr sz="1250" b="0">
                <a:solidFill>
                  <a:srgbClr val="E6E6E6"/>
                </a:solidFill>
                <a:latin typeface="Consolas"/>
                <a:ea typeface="Consolas"/>
              </a:rPr>
              <a:t/>
            </a:r>
          </a:p>
          <a:p>
            <a:pPr>
              <a:spcAft>
                <a:spcPts val="0"/>
              </a:spcAft>
            </a:pPr>
            <a:r>
              <a:rPr sz="1250" b="0">
                <a:solidFill>
                  <a:srgbClr val="E6E6E6"/>
                </a:solidFill>
                <a:latin typeface="Consolas"/>
                <a:ea typeface="Consolas"/>
              </a:rPr>
              <a:t>      write_log('RUN_ALL_CHECK', v_start,</a:t>
            </a:r>
          </a:p>
          <a:p>
            <a:pPr>
              <a:spcAft>
                <a:spcPts val="0"/>
              </a:spcAft>
            </a:pPr>
            <a:r>
              <a:rPr sz="1250" b="0">
                <a:solidFill>
                  <a:srgbClr val="E6E6E6"/>
                </a:solidFill>
                <a:latin typeface="Consolas"/>
                <a:ea typeface="Consolas"/>
              </a:rPr>
              <a:t>                CASE WHEN v_fail = 0 THEN 'SUCCESS' ELSE 'PARTIAL' END, v_fail);</a:t>
            </a:r>
          </a:p>
          <a:p>
            <a:pPr>
              <a:spcAft>
                <a:spcPts val="0"/>
              </a:spcAft>
            </a:pPr>
            <a:r>
              <a:rPr sz="1250" b="0">
                <a:solidFill>
                  <a:srgbClr val="E6E6E6"/>
                </a:solidFill>
                <a:latin typeface="Consolas"/>
                <a:ea typeface="Consolas"/>
              </a:rPr>
              <a:t>      IF v_fail &gt; 0 THEN</a:t>
            </a:r>
          </a:p>
          <a:p>
            <a:pPr>
              <a:spcAft>
                <a:spcPts val="0"/>
              </a:spcAft>
            </a:pPr>
            <a:r>
              <a:rPr sz="1250" b="0">
                <a:solidFill>
                  <a:srgbClr val="E6E6E6"/>
                </a:solidFill>
                <a:latin typeface="Consolas"/>
                <a:ea typeface="Consolas"/>
              </a:rPr>
              <a:t>         RAISE_APPLICATION_ERROR(-20001, v_fail || '개 점검이 실패했습니다');</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   END run_all_check;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모니터링의 다섯 가지 질문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어제 작업들이 다 성공했는가 — 작업별 성공률</a:t>
            </a:r>
          </a:p>
          <a:p>
            <a:pPr>
              <a:spcAft>
                <a:spcPts val="600"/>
              </a:spcAft>
            </a:pPr>
            <a:r>
              <a:rPr sz="1800" b="0">
                <a:solidFill>
                  <a:srgbClr val="202830"/>
                </a:solidFill>
                <a:latin typeface="Malgun Gothic"/>
                <a:ea typeface="Malgun Gothic"/>
              </a:rPr>
              <a:t>•  평소보다 오래 걸린 작업이 있는가 — 실행 시간 추세</a:t>
            </a:r>
          </a:p>
          <a:p>
            <a:pPr>
              <a:spcAft>
                <a:spcPts val="600"/>
              </a:spcAft>
            </a:pPr>
            <a:r>
              <a:rPr sz="1800" b="0">
                <a:solidFill>
                  <a:srgbClr val="202830"/>
                </a:solidFill>
                <a:latin typeface="Malgun Gothic"/>
                <a:ea typeface="Malgun Gothic"/>
              </a:rPr>
              <a:t>•  처리 건수가 갑자기 변한 작업이 있는가 — 전일 대비 증감</a:t>
            </a:r>
          </a:p>
          <a:p>
            <a:pPr>
              <a:spcAft>
                <a:spcPts val="600"/>
              </a:spcAft>
            </a:pPr>
            <a:r>
              <a:rPr sz="1800" b="0">
                <a:solidFill>
                  <a:srgbClr val="202830"/>
                </a:solidFill>
                <a:latin typeface="Malgun Gothic"/>
                <a:ea typeface="Malgun Gothic"/>
              </a:rPr>
              <a:t>•  어떤 오류가 반복되는가 — 오류 코드 순위</a:t>
            </a:r>
          </a:p>
          <a:p>
            <a:pPr>
              <a:spcAft>
                <a:spcPts val="600"/>
              </a:spcAft>
            </a:pPr>
            <a:r>
              <a:rPr sz="1800" b="0">
                <a:solidFill>
                  <a:srgbClr val="202830"/>
                </a:solidFill>
                <a:latin typeface="Malgun Gothic"/>
                <a:ea typeface="Malgun Gothic"/>
              </a:rPr>
              <a:t>•  가장 최근 실행 결과는 무엇인가 — 작업별 최신 한 행</a:t>
            </a:r>
          </a:p>
          <a:p>
            <a:pPr>
              <a:spcAft>
                <a:spcPts val="600"/>
              </a:spcAft>
            </a:pPr>
            <a:r>
              <a:rPr sz="1800" b="0">
                <a:solidFill>
                  <a:srgbClr val="202830"/>
                </a:solidFill>
                <a:latin typeface="Malgun Gothic"/>
                <a:ea typeface="Malgun Gothic"/>
              </a:rPr>
              <a:t>•  다섯 질의를 만들어 두면 그대로 대시보드가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성공률과 조용한 실패 감지</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 작업별 성공률 : 최근 7일</a:t>
            </a:r>
          </a:p>
          <a:p>
            <a:pPr>
              <a:spcAft>
                <a:spcPts val="0"/>
              </a:spcAft>
            </a:pPr>
            <a:r>
              <a:rPr sz="1250" b="0">
                <a:solidFill>
                  <a:srgbClr val="E6E6E6"/>
                </a:solidFill>
                <a:latin typeface="Consolas"/>
                <a:ea typeface="Consolas"/>
              </a:rPr>
              <a:t>SELECT job_name, COUNT(*) AS total_runs,</a:t>
            </a:r>
          </a:p>
          <a:p>
            <a:pPr>
              <a:spcAft>
                <a:spcPts val="0"/>
              </a:spcAft>
            </a:pPr>
            <a:r>
              <a:rPr sz="1250" b="0">
                <a:solidFill>
                  <a:srgbClr val="E6E6E6"/>
                </a:solidFill>
                <a:latin typeface="Consolas"/>
                <a:ea typeface="Consolas"/>
              </a:rPr>
              <a:t>       ROUND(100 * SUM(CASE WHEN status='SUCCESS' THEN 1 ELSE 0 END)</a:t>
            </a:r>
          </a:p>
          <a:p>
            <a:pPr>
              <a:spcAft>
                <a:spcPts val="0"/>
              </a:spcAft>
            </a:pPr>
            <a:r>
              <a:rPr sz="1250" b="0">
                <a:solidFill>
                  <a:srgbClr val="E6E6E6"/>
                </a:solidFill>
                <a:latin typeface="Consolas"/>
                <a:ea typeface="Consolas"/>
              </a:rPr>
              <a:t>             / COUNT(*), 1) AS success_rate</a:t>
            </a:r>
          </a:p>
          <a:p>
            <a:pPr>
              <a:spcAft>
                <a:spcPts val="0"/>
              </a:spcAft>
            </a:pPr>
            <a:r>
              <a:rPr sz="1250" b="0">
                <a:solidFill>
                  <a:srgbClr val="E6E6E6"/>
                </a:solidFill>
                <a:latin typeface="Consolas"/>
                <a:ea typeface="Consolas"/>
              </a:rPr>
              <a:t>  FROM plsql_job_log</a:t>
            </a:r>
          </a:p>
          <a:p>
            <a:pPr>
              <a:spcAft>
                <a:spcPts val="0"/>
              </a:spcAft>
            </a:pPr>
            <a:r>
              <a:rPr sz="1250" b="0">
                <a:solidFill>
                  <a:srgbClr val="E6E6E6"/>
                </a:solidFill>
                <a:latin typeface="Consolas"/>
                <a:ea typeface="Consolas"/>
              </a:rPr>
              <a:t> WHERE start_time &gt; SYSTIMESTAMP - INTERVAL '7' DAY</a:t>
            </a:r>
          </a:p>
          <a:p>
            <a:pPr>
              <a:spcAft>
                <a:spcPts val="0"/>
              </a:spcAft>
            </a:pPr>
            <a:r>
              <a:rPr sz="1250" b="0">
                <a:solidFill>
                  <a:srgbClr val="E6E6E6"/>
                </a:solidFill>
                <a:latin typeface="Consolas"/>
                <a:ea typeface="Consolas"/>
              </a:rPr>
              <a:t> GROUP BY job_name ORDER BY success_rate;</a:t>
            </a:r>
          </a:p>
          <a:p>
            <a:pPr>
              <a:spcAft>
                <a:spcPts val="0"/>
              </a:spcAft>
            </a:pPr>
            <a:r>
              <a:rPr sz="1250" b="0">
                <a:solidFill>
                  <a:srgbClr val="E6E6E6"/>
                </a:solidFill>
                <a:latin typeface="Consolas"/>
                <a:ea typeface="Consolas"/>
              </a:rPr>
              <a:t/>
            </a:r>
          </a:p>
          <a:p>
            <a:pPr>
              <a:spcAft>
                <a:spcPts val="0"/>
              </a:spcAft>
            </a:pPr>
            <a:r>
              <a:rPr sz="1250" b="0">
                <a:solidFill>
                  <a:srgbClr val="7EC699"/>
                </a:solidFill>
                <a:latin typeface="Consolas"/>
                <a:ea typeface="Consolas"/>
              </a:rPr>
              <a:t>-- (2) 처리 건수의 전일 대비 변화 : 조용한 실패를 잡는다</a:t>
            </a:r>
          </a:p>
          <a:p>
            <a:pPr>
              <a:spcAft>
                <a:spcPts val="0"/>
              </a:spcAft>
            </a:pPr>
            <a:r>
              <a:rPr sz="1250" b="0">
                <a:solidFill>
                  <a:srgbClr val="E6E6E6"/>
                </a:solidFill>
                <a:latin typeface="Consolas"/>
                <a:ea typeface="Consolas"/>
              </a:rPr>
              <a:t>SELECT job_name, run_day, processed_cnt,</a:t>
            </a:r>
          </a:p>
          <a:p>
            <a:pPr>
              <a:spcAft>
                <a:spcPts val="0"/>
              </a:spcAft>
            </a:pPr>
            <a:r>
              <a:rPr sz="1250" b="0">
                <a:solidFill>
                  <a:srgbClr val="E6E6E6"/>
                </a:solidFill>
                <a:latin typeface="Consolas"/>
                <a:ea typeface="Consolas"/>
              </a:rPr>
              <a:t>       processed_cnt - LAG(processed_cnt) OVER</a:t>
            </a:r>
          </a:p>
          <a:p>
            <a:pPr>
              <a:spcAft>
                <a:spcPts val="0"/>
              </a:spcAft>
            </a:pPr>
            <a:r>
              <a:rPr sz="1250" b="0">
                <a:solidFill>
                  <a:srgbClr val="E6E6E6"/>
                </a:solidFill>
                <a:latin typeface="Consolas"/>
                <a:ea typeface="Consolas"/>
              </a:rPr>
              <a:t>          (PARTITION BY job_name ORDER BY run_day) AS diff</a:t>
            </a:r>
          </a:p>
          <a:p>
            <a:pPr>
              <a:spcAft>
                <a:spcPts val="0"/>
              </a:spcAft>
            </a:pPr>
            <a:r>
              <a:rPr sz="1250" b="0">
                <a:solidFill>
                  <a:srgbClr val="E6E6E6"/>
                </a:solidFill>
                <a:latin typeface="Consolas"/>
                <a:ea typeface="Consolas"/>
              </a:rPr>
              <a:t>  FROM (SELECT job_name, TRUNC(start_time) AS run_day,</a:t>
            </a:r>
          </a:p>
          <a:p>
            <a:pPr>
              <a:spcAft>
                <a:spcPts val="0"/>
              </a:spcAft>
            </a:pPr>
            <a:r>
              <a:rPr sz="1250" b="0">
                <a:solidFill>
                  <a:srgbClr val="E6E6E6"/>
                </a:solidFill>
                <a:latin typeface="Consolas"/>
                <a:ea typeface="Consolas"/>
              </a:rPr>
              <a:t>               SUM(processed_cnt) AS processed_cnt</a:t>
            </a:r>
          </a:p>
          <a:p>
            <a:pPr>
              <a:spcAft>
                <a:spcPts val="0"/>
              </a:spcAft>
            </a:pPr>
            <a:r>
              <a:rPr sz="1250" b="0">
                <a:solidFill>
                  <a:srgbClr val="E6E6E6"/>
                </a:solidFill>
                <a:latin typeface="Consolas"/>
                <a:ea typeface="Consolas"/>
              </a:rPr>
              <a:t>          FROM plsql_job_log GROUP BY job_name, TRUNC(start_time))</a:t>
            </a:r>
          </a:p>
          <a:p>
            <a:pPr>
              <a:spcAft>
                <a:spcPts val="0"/>
              </a:spcAft>
            </a:pPr>
            <a:r>
              <a:rPr sz="1250" b="0">
                <a:solidFill>
                  <a:srgbClr val="E6E6E6"/>
                </a:solidFill>
                <a:latin typeface="Consolas"/>
                <a:ea typeface="Consolas"/>
              </a:rPr>
              <a:t> ORDER BY job_name, run_day;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수동 실행과 자동 실행의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세션 — 수동은 내 세션, 자동은 슬레이브가 새로 여는 세션</a:t>
            </a:r>
          </a:p>
          <a:p>
            <a:pPr>
              <a:spcAft>
                <a:spcPts val="600"/>
              </a:spcAft>
            </a:pPr>
            <a:r>
              <a:rPr sz="1800" b="0">
                <a:solidFill>
                  <a:srgbClr val="202830"/>
                </a:solidFill>
                <a:latin typeface="Malgun Gothic"/>
                <a:ea typeface="Malgun Gothic"/>
              </a:rPr>
              <a:t>•  권한 — 자동에서는 롤 권한이 아니라 직접 부여 권한만 신뢰할 수 있다</a:t>
            </a:r>
          </a:p>
          <a:p>
            <a:pPr>
              <a:spcAft>
                <a:spcPts val="600"/>
              </a:spcAft>
            </a:pPr>
            <a:r>
              <a:rPr sz="1800" b="0">
                <a:solidFill>
                  <a:srgbClr val="202830"/>
                </a:solidFill>
                <a:latin typeface="Malgun Gothic"/>
                <a:ea typeface="Malgun Gothic"/>
              </a:rPr>
              <a:t>•  출력 — DBMS_OUTPUT 은 자동 실행에서 어디에도 표시되지 않는다</a:t>
            </a:r>
          </a:p>
          <a:p>
            <a:pPr>
              <a:spcAft>
                <a:spcPts val="600"/>
              </a:spcAft>
            </a:pPr>
            <a:r>
              <a:rPr sz="1800" b="0">
                <a:solidFill>
                  <a:srgbClr val="202830"/>
                </a:solidFill>
                <a:latin typeface="Malgun Gothic"/>
                <a:ea typeface="Malgun Gothic"/>
              </a:rPr>
              <a:t>•  날짜 형식 — 포맷을 생략하면 NLS 차이로 ORA-01861 이 날 수 있다</a:t>
            </a:r>
          </a:p>
          <a:p>
            <a:pPr>
              <a:spcAft>
                <a:spcPts val="600"/>
              </a:spcAft>
            </a:pPr>
            <a:r>
              <a:rPr sz="1800" b="0">
                <a:solidFill>
                  <a:srgbClr val="202830"/>
                </a:solidFill>
                <a:latin typeface="Malgun Gothic"/>
                <a:ea typeface="Malgun Gothic"/>
              </a:rPr>
              <a:t>•  미확정 데이터 — COMMIT 하지 않은 객체와 행은 작업이 보지 못한다</a:t>
            </a:r>
          </a:p>
          <a:p>
            <a:pPr>
              <a:spcAft>
                <a:spcPts val="600"/>
              </a:spcAft>
            </a:pPr>
            <a:r>
              <a:rPr sz="1800" b="0">
                <a:solidFill>
                  <a:srgbClr val="202830"/>
                </a:solidFill>
                <a:latin typeface="Malgun Gothic"/>
                <a:ea typeface="Malgun Gothic"/>
              </a:rPr>
              <a:t>•  예외 — 화면이 아니라 ADDITIONAL_INFO 에만 남는다</a:t>
            </a:r>
          </a:p>
          <a:p>
            <a:pPr>
              <a:spcAft>
                <a:spcPts val="600"/>
              </a:spcAft>
            </a:pPr>
            <a:r>
              <a:rPr sz="1800" b="0">
                <a:solidFill>
                  <a:srgbClr val="202830"/>
                </a:solidFill>
                <a:latin typeface="Malgun Gothic"/>
                <a:ea typeface="Malgun Gothic"/>
              </a:rPr>
              <a:t>•  → 자동화 코드는 처음부터 화면 없는 환경을 전제로 작성한다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장에서 만난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ORA-27465 — job_type 문자열 오타. 값 목록 재확인</a:t>
            </a:r>
          </a:p>
          <a:p>
            <a:pPr>
              <a:spcAft>
                <a:spcPts val="600"/>
              </a:spcAft>
            </a:pPr>
            <a:r>
              <a:rPr sz="1800" b="0">
                <a:solidFill>
                  <a:srgbClr val="202830"/>
                </a:solidFill>
                <a:latin typeface="Malgun Gothic"/>
                <a:ea typeface="Malgun Gothic"/>
              </a:rPr>
              <a:t>•  ORA-27477 — 같은 이름의 Job · Program · Schedule 또는 테이블 존재</a:t>
            </a:r>
          </a:p>
          <a:p>
            <a:pPr>
              <a:spcAft>
                <a:spcPts val="600"/>
              </a:spcAft>
            </a:pPr>
            <a:r>
              <a:rPr sz="1800" b="0">
                <a:solidFill>
                  <a:srgbClr val="202830"/>
                </a:solidFill>
                <a:latin typeface="Malgun Gothic"/>
                <a:ea typeface="Malgun Gothic"/>
              </a:rPr>
              <a:t>•  ORA-27475 must be a job — 없는 Job 을 DROP · RUN 했다</a:t>
            </a:r>
          </a:p>
          <a:p>
            <a:pPr>
              <a:spcAft>
                <a:spcPts val="600"/>
              </a:spcAft>
            </a:pPr>
            <a:r>
              <a:rPr sz="1800" b="0">
                <a:solidFill>
                  <a:srgbClr val="202830"/>
                </a:solidFill>
                <a:latin typeface="Malgun Gothic"/>
                <a:ea typeface="Malgun Gothic"/>
              </a:rPr>
              <a:t>•  ORA-27476 does not exist — Program · Schedule 이름 오타</a:t>
            </a:r>
          </a:p>
          <a:p>
            <a:pPr>
              <a:spcAft>
                <a:spcPts val="600"/>
              </a:spcAft>
            </a:pPr>
            <a:r>
              <a:rPr sz="1800" b="0">
                <a:solidFill>
                  <a:srgbClr val="202830"/>
                </a:solidFill>
                <a:latin typeface="Malgun Gothic"/>
                <a:ea typeface="Malgun Gothic"/>
              </a:rPr>
              <a:t>•  ORA-27366 / ORA-27478 — 안 도는 Job 을 STOP, 도는 Job 을 force 없이 DROP</a:t>
            </a:r>
          </a:p>
          <a:p>
            <a:pPr>
              <a:spcAft>
                <a:spcPts val="600"/>
              </a:spcAft>
            </a:pPr>
            <a:r>
              <a:rPr sz="1800" b="0">
                <a:solidFill>
                  <a:srgbClr val="202830"/>
                </a:solidFill>
                <a:latin typeface="Malgun Gothic"/>
                <a:ea typeface="Malgun Gothic"/>
              </a:rPr>
              <a:t>•  ORA-27367 — Program 을 ENABLE 하지 않았다</a:t>
            </a:r>
          </a:p>
          <a:p>
            <a:pPr>
              <a:spcAft>
                <a:spcPts val="600"/>
              </a:spcAft>
            </a:pPr>
            <a:r>
              <a:rPr sz="1800" b="0">
                <a:solidFill>
                  <a:srgbClr val="202830"/>
                </a:solidFill>
                <a:latin typeface="Malgun Gothic"/>
                <a:ea typeface="Malgun Gothic"/>
              </a:rPr>
              <a:t>•  ORA-27486 — CREATE JOB 권한이 없다</a:t>
            </a:r>
          </a:p>
          <a:p>
            <a:pPr>
              <a:spcAft>
                <a:spcPts val="600"/>
              </a:spcAft>
            </a:pPr>
            <a:r>
              <a:rPr sz="1800" b="0">
                <a:solidFill>
                  <a:srgbClr val="202830"/>
                </a:solidFill>
                <a:latin typeface="Malgun Gothic"/>
                <a:ea typeface="Malgun Gothic"/>
              </a:rPr>
              <a:t>•  ORA-06519 — 자율 트랜잭션에 COMMIT 이 없다</a:t>
            </a:r>
          </a:p>
          <a:p>
            <a:pPr>
              <a:spcAft>
                <a:spcPts val="600"/>
              </a:spcAft>
            </a:pPr>
            <a:r>
              <a:rPr sz="1800" b="0">
                <a:solidFill>
                  <a:srgbClr val="202830"/>
                </a:solidFill>
                <a:latin typeface="Malgun Gothic"/>
                <a:ea typeface="Malgun Gothic"/>
              </a:rPr>
              <a:t>•  ORA-00942 (ADDITIONAL_INFO 안) — 객체 없음 · 권한 없음 · 미확정</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이해도 점검 퀴즈</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 CREATE_JOB 의 enabled · auto_drop 기본값과 그로 인한 두 가지 증상은?</a:t>
            </a:r>
          </a:p>
          <a:p>
            <a:pPr>
              <a:spcAft>
                <a:spcPts val="600"/>
              </a:spcAft>
            </a:pPr>
            <a:r>
              <a:rPr sz="1800" b="0">
                <a:solidFill>
                  <a:srgbClr val="202830"/>
                </a:solidFill>
                <a:latin typeface="Malgun Gothic"/>
                <a:ea typeface="Malgun Gothic"/>
              </a:rPr>
              <a:t>•  2. PLSQL_BLOCK 과 STORED_PROCEDURE 의 job_action 작성 규칙 차이는?</a:t>
            </a:r>
          </a:p>
          <a:p>
            <a:pPr>
              <a:spcAft>
                <a:spcPts val="600"/>
              </a:spcAft>
            </a:pPr>
            <a:r>
              <a:rPr sz="1800" b="0">
                <a:solidFill>
                  <a:srgbClr val="202830"/>
                </a:solidFill>
                <a:latin typeface="Malgun Gothic"/>
                <a:ea typeface="Malgun Gothic"/>
              </a:rPr>
              <a:t>•  3. 매주 월요일 07시 표현식과 실행 전 검증 방법은?</a:t>
            </a:r>
          </a:p>
          <a:p>
            <a:pPr>
              <a:spcAft>
                <a:spcPts val="600"/>
              </a:spcAft>
            </a:pPr>
            <a:r>
              <a:rPr sz="1800" b="0">
                <a:solidFill>
                  <a:srgbClr val="202830"/>
                </a:solidFill>
                <a:latin typeface="Malgun Gothic"/>
                <a:ea typeface="Malgun Gothic"/>
              </a:rPr>
              <a:t>•  4. FAILURE_COUNT 가 0 이라고 실패가 없었다고 말할 수 없는 이유는?</a:t>
            </a:r>
          </a:p>
          <a:p>
            <a:pPr>
              <a:spcAft>
                <a:spcPts val="600"/>
              </a:spcAft>
            </a:pPr>
            <a:r>
              <a:rPr sz="1800" b="0">
                <a:solidFill>
                  <a:srgbClr val="202830"/>
                </a:solidFill>
                <a:latin typeface="Malgun Gothic"/>
                <a:ea typeface="Malgun Gothic"/>
              </a:rPr>
              <a:t>•  5. 로그 프로시저에 자율 트랜잭션을 쓰는 이유 둘과 필수 규칙은?</a:t>
            </a:r>
          </a:p>
          <a:p>
            <a:pPr>
              <a:spcAft>
                <a:spcPts val="600"/>
              </a:spcAft>
            </a:pPr>
            <a:r>
              <a:rPr sz="1800" b="0">
                <a:solidFill>
                  <a:srgbClr val="202830"/>
                </a:solidFill>
                <a:latin typeface="Malgun Gothic"/>
                <a:ea typeface="Malgun Gothic"/>
              </a:rPr>
              <a:t>•  6. RUN_ALL_CHECK 이 예외를 흡수하면서도 재전파하는 이유는?</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19c 에서 DBMS_JOB 은 사용 중단. 신규 작업은 DBMS_SCHEDULER 로 만든다</a:t>
            </a:r>
          </a:p>
          <a:p>
            <a:pPr>
              <a:spcAft>
                <a:spcPts val="600"/>
              </a:spcAft>
            </a:pPr>
            <a:r>
              <a:rPr sz="1800" b="0">
                <a:solidFill>
                  <a:srgbClr val="202830"/>
                </a:solidFill>
                <a:latin typeface="Malgun Gothic"/>
                <a:ea typeface="Malgun Gothic"/>
              </a:rPr>
              <a:t>•  작업은 슬레이브의 별도 세션에서 돈다 — 출력 · 권한 · 미확정 데이터 주의</a:t>
            </a:r>
          </a:p>
          <a:p>
            <a:pPr>
              <a:spcAft>
                <a:spcPts val="600"/>
              </a:spcAft>
            </a:pPr>
            <a:r>
              <a:rPr sz="1800" b="0">
                <a:solidFill>
                  <a:srgbClr val="202830"/>
                </a:solidFill>
                <a:latin typeface="Malgun Gothic"/>
                <a:ea typeface="Malgun Gothic"/>
              </a:rPr>
              <a:t>•  CREATE_JOB 의 enabled 는 FALSE, auto_drop 은 TRUE 가 기본값이다</a:t>
            </a:r>
          </a:p>
          <a:p>
            <a:pPr>
              <a:spcAft>
                <a:spcPts val="600"/>
              </a:spcAft>
            </a:pPr>
            <a:r>
              <a:rPr sz="1800" b="0">
                <a:solidFill>
                  <a:srgbClr val="202830"/>
                </a:solidFill>
                <a:latin typeface="Malgun Gothic"/>
                <a:ea typeface="Malgun Gothic"/>
              </a:rPr>
              <a:t>•  Program · Schedule 분리로 실행 내용과 시각을 독립적으로 관리한다</a:t>
            </a:r>
          </a:p>
          <a:p>
            <a:pPr>
              <a:spcAft>
                <a:spcPts val="600"/>
              </a:spcAft>
            </a:pPr>
            <a:r>
              <a:rPr sz="1800" b="0">
                <a:solidFill>
                  <a:srgbClr val="202830"/>
                </a:solidFill>
                <a:latin typeface="Malgun Gothic"/>
                <a:ea typeface="Malgun Gothic"/>
              </a:rPr>
              <a:t>•  max_failures · schedule_limit 이 실패에 견디는 배치를 만든다</a:t>
            </a:r>
          </a:p>
          <a:p>
            <a:pPr>
              <a:spcAft>
                <a:spcPts val="600"/>
              </a:spcAft>
            </a:pPr>
            <a:r>
              <a:rPr sz="1800" b="0">
                <a:solidFill>
                  <a:srgbClr val="202830"/>
                </a:solidFill>
                <a:latin typeface="Malgun Gothic"/>
                <a:ea typeface="Malgun Gothic"/>
              </a:rPr>
              <a:t>•  실패 원인은 ERROR# 가 아니라 ADDITIONAL_INFO 에서 확인한다</a:t>
            </a:r>
          </a:p>
          <a:p>
            <a:pPr>
              <a:spcAft>
                <a:spcPts val="600"/>
              </a:spcAft>
            </a:pPr>
            <a:r>
              <a:rPr sz="1800" b="0">
                <a:solidFill>
                  <a:srgbClr val="202830"/>
                </a:solidFill>
                <a:latin typeface="Malgun Gothic"/>
                <a:ea typeface="Malgun Gothic"/>
              </a:rPr>
              <a:t>•  업무 지표는 plsql_job_log · dba_check_result 에 자율 트랜잭션으로 남긴다</a:t>
            </a:r>
          </a:p>
          <a:p>
            <a:pPr>
              <a:spcAft>
                <a:spcPts val="600"/>
              </a:spcAft>
            </a:pPr>
            <a:r>
              <a:rPr sz="1800" b="0">
                <a:solidFill>
                  <a:srgbClr val="202830"/>
                </a:solidFill>
                <a:latin typeface="Malgun Gothic"/>
                <a:ea typeface="Malgun Gothic"/>
              </a:rPr>
              <a:t>•  RUN_ALL_CHECK 은 부분 실패를 흡수하되 마지막에 재전파한다</a:t>
            </a:r>
          </a:p>
          <a:p>
            <a:pPr>
              <a:spcAft>
                <a:spcPts val="600"/>
              </a:spcAft>
            </a:pPr>
            <a:r>
              <a:rPr sz="1800" b="0">
                <a:solidFill>
                  <a:srgbClr val="202830"/>
                </a:solidFill>
                <a:latin typeface="Malgun Gothic"/>
                <a:ea typeface="Malgun Gothic"/>
              </a:rPr>
              <a:t>•  처리 건수가 0 이 된 성공은 조용한 실패다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개요 — 8개 트랜스크립트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01  CREATE_JOB 으로 Job 생성 (ORA-27465 · ORA-27477)</a:t>
            </a:r>
          </a:p>
          <a:p>
            <a:pPr>
              <a:spcAft>
                <a:spcPts val="600"/>
              </a:spcAft>
            </a:pPr>
            <a:r>
              <a:rPr sz="1800" b="0">
                <a:solidFill>
                  <a:srgbClr val="202830"/>
                </a:solidFill>
                <a:latin typeface="Malgun Gothic"/>
                <a:ea typeface="Malgun Gothic"/>
              </a:rPr>
              <a:t>•  02  Program · Schedule 분리 생성과 Job 연결 (ORA-27476 · ORA-27367)</a:t>
            </a:r>
          </a:p>
          <a:p>
            <a:pPr>
              <a:spcAft>
                <a:spcPts val="600"/>
              </a:spcAft>
            </a:pPr>
            <a:r>
              <a:rPr sz="1800" b="0">
                <a:solidFill>
                  <a:srgbClr val="202830"/>
                </a:solidFill>
                <a:latin typeface="Malgun Gothic"/>
                <a:ea typeface="Malgun Gothic"/>
              </a:rPr>
              <a:t>•  03  RUN_JOB / STOP_JOB / DROP_JOB (ORA-27366 · ORA-27475 · ORA-27478)</a:t>
            </a:r>
          </a:p>
          <a:p>
            <a:pPr>
              <a:spcAft>
                <a:spcPts val="600"/>
              </a:spcAft>
            </a:pPr>
            <a:r>
              <a:rPr sz="1800" b="0">
                <a:solidFill>
                  <a:srgbClr val="202830"/>
                </a:solidFill>
                <a:latin typeface="Malgun Gothic"/>
                <a:ea typeface="Malgun Gothic"/>
              </a:rPr>
              <a:t>•  04  실행 이력 조회 JOB_RUN_DETAILS (ORA-00904 · 비동기 로그 지연)</a:t>
            </a:r>
          </a:p>
          <a:p>
            <a:pPr>
              <a:spcAft>
                <a:spcPts val="600"/>
              </a:spcAft>
            </a:pPr>
            <a:r>
              <a:rPr sz="1800" b="0">
                <a:solidFill>
                  <a:srgbClr val="202830"/>
                </a:solidFill>
                <a:latin typeface="Malgun Gothic"/>
                <a:ea typeface="Malgun Gothic"/>
              </a:rPr>
              <a:t>•  05  실패 Job 확인과 오류 로그 기록 (ADDITIONAL_INFO 추적)</a:t>
            </a:r>
          </a:p>
          <a:p>
            <a:pPr>
              <a:spcAft>
                <a:spcPts val="600"/>
              </a:spcAft>
            </a:pPr>
            <a:r>
              <a:rPr sz="1800" b="0">
                <a:solidFill>
                  <a:srgbClr val="202830"/>
                </a:solidFill>
                <a:latin typeface="Malgun Gothic"/>
                <a:ea typeface="Malgun Gothic"/>
              </a:rPr>
              <a:t>•  06  plsql_job_log · dba_check_result 운영 로그 (자율 트랜잭션)</a:t>
            </a:r>
          </a:p>
          <a:p>
            <a:pPr>
              <a:spcAft>
                <a:spcPts val="600"/>
              </a:spcAft>
            </a:pPr>
            <a:r>
              <a:rPr sz="1800" b="0">
                <a:solidFill>
                  <a:srgbClr val="202830"/>
                </a:solidFill>
                <a:latin typeface="Malgun Gothic"/>
                <a:ea typeface="Malgun Gothic"/>
              </a:rPr>
              <a:t>•  07  CHECK_INVALID_OBJECT · CHECK_USER_STATUS (컴파일 ORA-00942)</a:t>
            </a:r>
          </a:p>
          <a:p>
            <a:pPr>
              <a:spcAft>
                <a:spcPts val="600"/>
              </a:spcAft>
            </a:pPr>
            <a:r>
              <a:rPr sz="1800" b="0">
                <a:solidFill>
                  <a:srgbClr val="202830"/>
                </a:solidFill>
                <a:latin typeface="Malgun Gothic"/>
                <a:ea typeface="Malgun Gothic"/>
              </a:rPr>
              <a:t>•  08  PKG_DBA_AUTOMATION 통합 실행 (PLS-00323 · 부분 실패 전파)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